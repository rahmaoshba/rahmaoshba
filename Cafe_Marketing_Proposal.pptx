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2.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33733bff-e9df-b0c2-3dc2-4376b8d3825b}">
          <p14:sldIdLst>
            <p14:sldId id="256"/>
            <p14:sldId id="257"/>
          </p14:sldIdLst>
        </p14:section>
        <p14:section name="Problem" id="{92c6a357-9071-3fab-a54b-7fa77c1daa9e}">
          <p14:sldIdLst>
            <p14:sldId id="258"/>
          </p14:sldIdLst>
        </p14:section>
        <p14:section name="Solution" id="{579ec1d9-eeec-67e5-85e3-53d1b045bee1}">
          <p14:sldIdLst>
            <p14:sldId id="259"/>
            <p14:sldId id="260"/>
          </p14:sldIdLst>
        </p14:section>
        <p14:section name="Budget and Timeline" id="{1aaccea8-3f76-2192-f254-b5ce94dde054}">
          <p14:sldIdLst>
            <p14:sldId id="261"/>
            <p14:sldId id="262"/>
          </p14:sldIdLst>
        </p14:section>
        <p14:section name="Results" id="{2bf6baa4-62cb-c82a-1b23-212b4545c333}">
          <p14:sldIdLst>
            <p14:sldId id="263"/>
            <p14:sldId id="264"/>
            <p14:sldId id="265"/>
            <p14:sldId id="266"/>
          </p14:sldIdLst>
        </p14:section>
        <p14:section name="Why Us" id="{66f9dc16-9b36-10ed-7ac9-95150426782c}">
          <p14:sldIdLst>
            <p14:sldId id="267"/>
          </p14:sldIdLst>
        </p14:section>
        <p14:section name="Conclusion" id="{463fe7da-3c4c-fa5e-3a2b-8bd82a3fba89}">
          <p14:sldIdLst>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Budget</c:v>
                </c:pt>
              </c:strCache>
            </c:strRef>
          </c:tx>
          <c:spPr>
            <a:solidFill>
              <a:schemeClr val="accent1"/>
            </a:solidFill>
            <a:ln w="9525" cap="flat">
              <a:solidFill>
                <a:srgbClr val="F9F9F9"/>
              </a:solidFill>
              <a:prstDash val="solid"/>
              <a:round/>
            </a:ln>
            <a:effectLst/>
          </c:spPr>
          <c:dPt>
            <c:idx val="0"/>
            <c:bubble3D val="0"/>
            <c:spPr>
              <a:solidFill>
                <a:srgbClr val="2E1F17"/>
              </a:solidFill>
              <a:ln w="25400" cap="flat">
                <a:solidFill>
                  <a:srgbClr val="FFFFFF"/>
                </a:solidFill>
                <a:prstDash val="solid"/>
                <a:round/>
              </a:ln>
              <a:effectLst/>
            </c:spPr>
          </c:dPt>
          <c:dPt>
            <c:idx val="1"/>
            <c:bubble3D val="0"/>
            <c:spPr>
              <a:solidFill>
                <a:srgbClr val="C27A3A"/>
              </a:solidFill>
              <a:ln w="25400" cap="flat">
                <a:solidFill>
                  <a:srgbClr val="FFFFFF"/>
                </a:solidFill>
                <a:prstDash val="solid"/>
                <a:round/>
              </a:ln>
              <a:effectLst/>
            </c:spPr>
          </c:dPt>
          <c:dPt>
            <c:idx val="2"/>
            <c:bubble3D val="0"/>
            <c:spPr>
              <a:solidFill>
                <a:srgbClr val="5B7F5E"/>
              </a:solidFill>
              <a:ln w="25400" cap="flat">
                <a:solidFill>
                  <a:srgbClr val="FFFFFF"/>
                </a:solidFill>
                <a:prstDash val="solid"/>
                <a:round/>
              </a:ln>
              <a:effectLst/>
            </c:spPr>
          </c:dPt>
          <c:dPt>
            <c:idx val="3"/>
            <c:bubble3D val="0"/>
            <c:spPr>
              <a:solidFill>
                <a:srgbClr val="E8C9A6"/>
              </a:solidFill>
              <a:ln w="254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Social media management</c:v>
                </c:pt>
                <c:pt idx="1">
                  <c:v>Paid advertising</c:v>
                </c:pt>
                <c:pt idx="2">
                  <c:v>Content creation</c:v>
                </c:pt>
                <c:pt idx="3">
                  <c:v>Reporting and optimization</c:v>
                </c:pt>
              </c:strCache>
            </c:strRef>
          </c:cat>
          <c:val>
            <c:numRef>
              <c:f>Sheet1!$B$2:$B$5</c:f>
              <c:numCache>
                <c:ptCount val="4"/>
                <c:pt idx="0">
                  <c:v>5000</c:v>
                </c:pt>
                <c:pt idx="1">
                  <c:v>4000</c:v>
                </c:pt>
                <c:pt idx="2">
                  <c:v>3000</c:v>
                </c:pt>
                <c:pt idx="3">
                  <c:v>1000</c:v>
                </c:pt>
              </c:numCache>
            </c:numRef>
          </c:val>
        </c:ser>
        <c:firstSliceAng val="0"/>
        <c:holeSize val="62"/>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2E1F17"/>
                </a:solidFill>
                <a:latin typeface="+mn-lt"/>
              </a:defRPr>
            </a:pPr>
            <a:r>
              <a:rPr sz="1200" b="0" i="0" u="none" strike="noStrike">
                <a:solidFill>
                  <a:srgbClr val="2E1F17"/>
                </a:solidFill>
                <a:latin typeface="+mn-lt"/>
              </a:rPr>
              <a:t>Monthly profit vs. cost (EGP)</a:t>
            </a:r>
          </a:p>
        </c:rich>
      </c:tx>
      <c:layout/>
      <c:overlay val="0"/>
    </c:title>
    <c:autoTitleDeleted val="0"/>
    <c:plotArea>
      <c:layout/>
      <c:barChart>
        <c:barDir val="bar"/>
        <c:grouping val="clustered"/>
        <c:varyColors val="0"/>
        <c:ser>
          <c:idx val="0"/>
          <c:order val="0"/>
          <c:tx>
            <c:strRef>
              <c:f>Sheet1!$B$1</c:f>
              <c:strCache>
                <c:ptCount val="1"/>
                <c:pt idx="0">
                  <c:v>EGP per month</c:v>
                </c:pt>
              </c:strCache>
            </c:strRef>
          </c:tx>
          <c:spPr>
            <a:solidFill>
              <a:srgbClr val="C27A3A"/>
            </a:solidFill>
            <a:effectLst/>
          </c:spPr>
          <c:invertIfNegative val="0"/>
          <c:dLbls>
            <c:numFmt formatCode="#,##0" sourceLinked="0"/>
            <c:txPr>
              <a:bodyPr/>
              <a:lstStyle/>
              <a:p>
                <a:pPr>
                  <a:defRPr b="1" i="0" strike="noStrike" sz="1200" u="none">
                    <a:solidFill>
                      <a:srgbClr val="2E1F17"/>
                    </a:solidFill>
                    <a:latin typeface="+mn-lt"/>
                  </a:defRPr>
                </a:pPr>
              </a:p>
            </c:txPr>
            <c:showLegendKey val="0"/>
            <c:showVal val="1"/>
            <c:showCatName val="0"/>
            <c:showSerName val="0"/>
            <c:showPercent val="0"/>
            <c:showBubbleSize val="0"/>
            <c:showLeaderLines val="0"/>
          </c:dLbls>
          <c:dPt>
            <c:idx val="0"/>
            <c:invertIfNegative val="0"/>
            <c:bubble3D val="0"/>
            <c:spPr>
              <a:solidFill>
                <a:srgbClr val="C27A3A"/>
              </a:solidFill>
              <a:effectLst/>
            </c:spPr>
          </c:dPt>
          <c:dPt>
            <c:idx val="1"/>
            <c:invertIfNegative val="0"/>
            <c:bubble3D val="0"/>
            <c:spPr>
              <a:solidFill>
                <a:srgbClr val="8C7F76"/>
              </a:solidFill>
              <a:effectLst/>
            </c:spPr>
          </c:dPt>
          <c:cat>
            <c:multiLvlStrRef>
              <c:f>Sheet1!$A$2:$A$3</c:f>
              <c:multiLvlStrCache>
                <c:ptCount val="2"/>
                <c:lvl>
                  <c:pt idx="0">
                    <c:v>You gain at target</c:v>
                  </c:pt>
                  <c:pt idx="1">
                    <c:v>You invest</c:v>
                  </c:pt>
                </c:lvl>
              </c:multiLvlStrCache>
            </c:multiLvlStrRef>
          </c:cat>
          <c:val>
            <c:numRef>
              <c:f>Sheet1!$B$2:$B$3</c:f>
              <c:numCache>
                <c:formatCode>General</c:formatCode>
                <c:ptCount val="2"/>
                <c:pt idx="0">
                  <c:v>30000</c:v>
                </c:pt>
                <c:pt idx="1">
                  <c:v>13000</c:v>
                </c:pt>
              </c:numCache>
            </c:numRef>
          </c:val>
        </c:ser>
        <c:dLbls>
          <c:numFmt formatCode="#,##0" sourceLinked="0"/>
          <c:txPr>
            <a:bodyPr/>
            <a:lstStyle/>
            <a:p>
              <a:pPr>
                <a:defRPr b="1" i="0" strike="noStrike" sz="1200" u="none">
                  <a:solidFill>
                    <a:srgbClr val="2E1F17"/>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2E1F17"/>
                </a:solidFill>
                <a:latin typeface="+mn-lt"/>
              </a:defRPr>
            </a:pPr>
            <a:endParaRPr lang="en-US"/>
          </a:p>
        </c:txPr>
        <c:crossAx val="2094734552"/>
        <c:crosses val="autoZero"/>
        <c:auto val="1"/>
        <c:lblAlgn val="ctr"/>
        <c:noMultiLvlLbl val="1"/>
      </c:catAx>
      <c:valAx>
        <c:axId val="2094734552"/>
        <c:scaling>
          <c:orientation val="minMax"/>
          <c:max val="3600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yourselves and Pulse Marketing.
"Today we'll show you how we can help The Daily Cup reach more customers and grow its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marketing agency wants to help The Daily Cup grow its business.
Our goals are to:
- Increase brand awareness.
- Attract more customers.
- Increase sales.
- Improve social media presence.
We will use social media, online advertising, and creative content to achieve these goals (shown in the picture).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café may face some challenges:
- Low brand awareness.
- Few followers and low engagement on social media.
- Strong competition from other cafés.
- Difficulty attracting new customers.
- Low sales during some periods.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agency offers four main services:
- Social Media Management: create regular posts, reels, and stories.
- Paid Advertising: run Facebook and Instagram ads.
- Content Creation: take attractive photos and videos of products.
- Promotions: offer discounts and special deals to attract customers.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will follow five simple steps:
1. Research the market and competitors.
2. Identify the target audience.
3. Create a monthly content plan.
4. Publish content and launch advertisements.
5. Measure results and improve the campaign.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budget:
- Social media management: 5,000 EGP
- Paid advertising: 4,000 EGP
- Content creation: 3,000 EGP
- Reporting and optimization: 1,000 EGP
Total: 13,000 EGP per month.
This is a proposed budget for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Week 1: Research and planning.
Week 2: Content creation.
Week 3: Launch marketing campaigns.
Week 4: Measure results and improve.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with our agency will help the café:
- Reach more people.
- Attract new customers.
- Build a strong brand.
- Improve customer engagement.
- Increase the chance of higher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our targets for the first month:
- 40,000+ people in the area see The Daily Cup through ads and content.
- 500+ new Instagram followers.
- 100+ messages, calls and direction requests.
- 10 extra customers every day by the end of the month.
We don't hide anything: every week the owner receives a simple report with reach, followers, messages, visits and sales.
Targets are based on a 4,000 EGP monthly ad budget and are confirmed after we review the café's current numbers in week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slide for the owner: the plan pays for itself.
- Each customer spends about 150 EGP. After ingredients, the café keeps about 100 EGP.
- 13,000 EGP divided by 100 EGP = 130 customers a month, which is less than 5 extra customers a day.
- Our target is 10 extra customers a day: 10 × 30 days × 100 EGP = about 30,000 EGP extra profit per month, more than double the cost.
Ask the owner: "Do you think 5 more customers a day is possible with better marketing?"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first month, we plan to:
- Work with local food influencers.
- Launch loyalty programs for regular customers.
- Create seasonal offers.
- Expand successful advertising campaigns.
- Develop a long-term marketing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the owner should choose us:
- Café specialists: we focus on cafés and restaurants, so we know what brings people in.
- Your own team: one dedicated account manager for The Daily Cup.
- Weekly reports: the owner sees exactly what their money does.
The bottom row removes the risk for the owner:
- No long-term contract: month to month, they stay because it works.
- Free audit: we review their pages for free in week 1.
- Reach guarantee: if we miss the reach target, we run the ads for an extra week at no 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Summary: The Daily Cup gets more visibility, more customers and more sales, and the plan pays for itself with less than 5 extra customers a day.
Clear next steps (shown on the right):
1. Approve the proposal today.
2. We do a free audit of the café's pages in week 1.
3. The first content and ads go live in week 2.
Bonus: if they start this month, they get a free professional photo shoot of the menu.
Our agency is ready to help The Daily Cup grow and reach more customers. Let's grow together!
Thank the owner and open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4389120" cy="320040"/>
          </a:xfrm>
          <a:prstGeom prst="rect">
            <a:avLst/>
          </a:prstGeom>
          <a:noFill/>
          <a:ln/>
        </p:spPr>
        <p:txBody>
          <a:bodyPr wrap="square" rtlCol="0"/>
          <a:lstStyle>
            <a:lvl1pPr indent="0" marL="0">
              <a:buNone/>
              <a:defRPr lang="en-US" sz="1200" b="1" spc="300" kern="0" dirty="0">
                <a:solidFill>
                  <a:schemeClr val="accent2"/>
                </a:solidFill>
              </a:defRPr>
            </a:lvl1pPr>
          </a:lstStyle>
          <a:p>
            <a:pPr indent="0" marL="0">
              <a:buNone/>
            </a:pPr>
            <a:endParaRPr lang="en-US" sz="1200" dirty="0"/>
          </a:p>
        </p:txBody>
      </p:sp>
      <p:sp>
        <p:nvSpPr>
          <p:cNvPr id="3" name="Text 0"/>
          <p:cNvSpPr/>
          <p:nvPr>
            <p:ph idx="101" type="title" hasCustomPrompt="1"/>
          </p:nvPr>
        </p:nvSpPr>
        <p:spPr>
          <a:xfrm>
            <a:off x="548640" y="1325880"/>
            <a:ext cx="4389120" cy="14630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2880360"/>
            <a:ext cx="4206240" cy="1005840"/>
          </a:xfrm>
          <a:prstGeom prst="rect">
            <a:avLst/>
          </a:prstGeom>
          <a:noFill/>
          <a:ln/>
        </p:spPr>
        <p:txBody>
          <a:bodyPr wrap="square" rtlCol="0"/>
          <a:lstStyle>
            <a:lvl1pPr algn="l" indent="0" marL="0">
              <a:buNone/>
              <a:defRPr lang="en-US" sz="1500" dirty="0">
                <a:solidFill>
                  <a:schemeClr val="accent2"/>
                </a:solidFill>
              </a:defRPr>
            </a:lvl1pPr>
          </a:lstStyle>
          <a:p>
            <a:pPr algn="l" indent="0" marL="0">
              <a:buNone/>
            </a:pPr>
            <a:endParaRPr lang="en-US" sz="15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rtlCol="0"/>
          <a:lstStyle>
            <a:lvl1pPr indent="0" marL="0">
              <a:buNone/>
              <a:defRPr lang="en-US" sz="1100" b="1" spc="200" kern="0" dirty="0">
                <a:solidFill>
                  <a:schemeClr val="accent1"/>
                </a:solidFill>
              </a:defRPr>
            </a:lvl1pPr>
          </a:lstStyle>
          <a:p>
            <a:pPr indent="0" marL="0">
              <a:buNone/>
            </a:pP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457200" y="4800600"/>
            <a:ext cx="5486400" cy="228600"/>
          </a:xfrm>
          <a:prstGeom prst="rect">
            <a:avLst/>
          </a:prstGeom>
          <a:noFill/>
          <a:ln/>
        </p:spPr>
        <p:txBody>
          <a:bodyPr wrap="square" lIns="0" tIns="0" rIns="0" bIns="0" rtlCol="0" anchor="ctr"/>
          <a:lstStyle/>
          <a:p>
            <a:pPr indent="0" marL="0">
              <a:buNone/>
            </a:pPr>
            <a:r>
              <a:rPr lang="en-US" sz="1000" dirty="0">
                <a:solidFill>
                  <a:schemeClr val="accent5"/>
                </a:solidFill>
              </a:rPr>
              <a:t>Pulse Marketing  |  Digital Marketing Proposal for The Daily Cup</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3.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3.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3.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3.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3.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4389120" cy="320040"/>
          </a:xfrm>
          <a:prstGeom prst="rect">
            <a:avLst/>
          </a:prstGeom>
          <a:noFill/>
          <a:ln/>
        </p:spPr>
        <p:txBody>
          <a:bodyPr wrap="square" lIns="0" tIns="0" rIns="0" bIns="0" rtlCol="0"/>
          <a:lstStyle/>
          <a:p>
            <a:pPr indent="0" marL="0">
              <a:buNone/>
            </a:pPr>
            <a:r>
              <a:rPr lang="en-US" sz="1200" b="1" spc="300" kern="0" dirty="0">
                <a:solidFill>
                  <a:schemeClr val="accent2"/>
                </a:solidFill>
              </a:rPr>
              <a:t>PRESENTED BY PULSE MARKETING</a:t>
            </a:r>
            <a:endParaRPr lang="en-US" sz="1200" dirty="0"/>
          </a:p>
        </p:txBody>
      </p:sp>
      <p:sp>
        <p:nvSpPr>
          <p:cNvPr id="3" name="Text 0"/>
          <p:cNvSpPr/>
          <p:nvPr>
            <p:ph idx="101" type="title" hasCustomPrompt="1"/>
          </p:nvPr>
        </p:nvSpPr>
        <p:spPr>
          <a:xfrm>
            <a:off x="548640" y="1325880"/>
            <a:ext cx="4389120" cy="14630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Digital Marketing Proposal</a:t>
            </a:r>
            <a:endParaRPr lang="en-US" sz="4000" dirty="0"/>
          </a:p>
        </p:txBody>
      </p:sp>
      <p:sp>
        <p:nvSpPr>
          <p:cNvPr id="4" name="Text 0"/>
          <p:cNvSpPr/>
          <p:nvPr>
            <p:ph idx="102" type="body" hasCustomPrompt="1"/>
          </p:nvPr>
        </p:nvSpPr>
        <p:spPr>
          <a:xfrm>
            <a:off x="548640" y="2880360"/>
            <a:ext cx="4206240" cy="1005840"/>
          </a:xfrm>
          <a:prstGeom prst="rect">
            <a:avLst/>
          </a:prstGeom>
          <a:noFill/>
          <a:ln/>
        </p:spPr>
        <p:txBody>
          <a:bodyPr wrap="square" lIns="0" tIns="0" rIns="0" bIns="0" rtlCol="0" anchor="t"/>
          <a:lstStyle/>
          <a:p>
            <a:pPr algn="l" indent="0" marL="0">
              <a:buNone/>
            </a:pPr>
            <a:r>
              <a:rPr lang="en-US" sz="1500" dirty="0">
                <a:solidFill>
                  <a:schemeClr val="accent2"/>
                </a:solidFill>
              </a:rPr>
              <a:t>For The Daily Cup Café</a:t>
            </a:r>
            <a:endParaRPr lang="en-US" sz="1500" dirty="0"/>
          </a:p>
        </p:txBody>
      </p:sp>
      <p:pic>
        <p:nvPicPr>
          <p:cNvPr id="5" name="Café illustration" descr="Café illustration">    </p:cNvPr>
          <p:cNvPicPr>
            <a:picLocks noChangeAspect="1"/>
          </p:cNvPicPr>
          <p:nvPr/>
        </p:nvPicPr>
        <p:blipFill>
          <a:blip r:embed="rId1"/>
          <a:stretch>
            <a:fillRect/>
          </a:stretch>
        </p:blipFill>
        <p:spPr>
          <a:xfrm>
            <a:off x="5166360" y="594360"/>
            <a:ext cx="3520440" cy="3931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01  EXECUTIVE SUMMARY</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Executive Summary</a:t>
            </a:r>
            <a:endParaRPr lang="en-US" sz="3200" dirty="0"/>
          </a:p>
        </p:txBody>
      </p:sp>
      <p:pic>
        <p:nvPicPr>
          <p:cNvPr id="4" name="Social media, online ads and content illustration" descr="Social media, online ads and content illustration">    </p:cNvPr>
          <p:cNvPicPr>
            <a:picLocks noChangeAspect="1"/>
          </p:cNvPicPr>
          <p:nvPr/>
        </p:nvPicPr>
        <p:blipFill>
          <a:blip r:embed="rId1"/>
          <a:stretch>
            <a:fillRect/>
          </a:stretch>
        </p:blipFill>
        <p:spPr>
          <a:xfrm>
            <a:off x="457200" y="1325880"/>
            <a:ext cx="3566160" cy="3291840"/>
          </a:xfrm>
          <a:prstGeom prst="rect">
            <a:avLst/>
          </a:prstGeom>
        </p:spPr>
      </p:pic>
      <p:sp>
        <p:nvSpPr>
          <p:cNvPr id="5" name="Goal statement"/>
          <p:cNvSpPr txBox="1"/>
          <p:nvPr/>
        </p:nvSpPr>
        <p:spPr>
          <a:xfrm>
            <a:off x="4389120" y="1325880"/>
            <a:ext cx="4297680" cy="45720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Our goal: help The Daily Cup grow</a:t>
            </a:r>
            <a:endParaRPr lang="en-US" sz="2000" dirty="0"/>
          </a:p>
        </p:txBody>
      </p:sp>
      <p:sp>
        <p:nvSpPr>
          <p:cNvPr id="6" name="Increase brand awareness circle"/>
          <p:cNvSpPr/>
          <p:nvPr/>
        </p:nvSpPr>
        <p:spPr>
          <a:xfrm>
            <a:off x="4389120" y="2011680"/>
            <a:ext cx="457200" cy="457200"/>
          </a:xfrm>
          <a:prstGeom prst="ellipse">
            <a:avLst/>
          </a:prstGeom>
          <a:solidFill>
            <a:schemeClr val="accent1"/>
          </a:solidFill>
          <a:ln/>
        </p:spPr>
      </p:sp>
      <p:pic>
        <p:nvPicPr>
          <p:cNvPr id="7" name="Increase brand awareness icon" descr="Increase brand awareness">    </p:cNvPr>
          <p:cNvPicPr>
            <a:picLocks noChangeAspect="1"/>
          </p:cNvPicPr>
          <p:nvPr/>
        </p:nvPicPr>
        <p:blipFill>
          <a:blip r:embed="rId2"/>
          <a:stretch>
            <a:fillRect/>
          </a:stretch>
        </p:blipFill>
        <p:spPr>
          <a:xfrm>
            <a:off x="4512564" y="2135124"/>
            <a:ext cx="210312" cy="210312"/>
          </a:xfrm>
          <a:prstGeom prst="rect">
            <a:avLst/>
          </a:prstGeom>
        </p:spPr>
      </p:pic>
      <p:sp>
        <p:nvSpPr>
          <p:cNvPr id="8" name="Row text 1"/>
          <p:cNvSpPr txBox="1"/>
          <p:nvPr/>
        </p:nvSpPr>
        <p:spPr>
          <a:xfrm>
            <a:off x="5029200" y="2011680"/>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Increase brand awareness</a:t>
            </a:r>
            <a:endParaRPr lang="en-US" sz="1600" dirty="0"/>
          </a:p>
        </p:txBody>
      </p:sp>
      <p:sp>
        <p:nvSpPr>
          <p:cNvPr id="9" name="Attract more customers circle"/>
          <p:cNvSpPr/>
          <p:nvPr/>
        </p:nvSpPr>
        <p:spPr>
          <a:xfrm>
            <a:off x="4389120" y="2670048"/>
            <a:ext cx="457200" cy="457200"/>
          </a:xfrm>
          <a:prstGeom prst="ellipse">
            <a:avLst/>
          </a:prstGeom>
          <a:solidFill>
            <a:schemeClr val="accent1"/>
          </a:solidFill>
          <a:ln/>
        </p:spPr>
      </p:sp>
      <p:pic>
        <p:nvPicPr>
          <p:cNvPr id="10" name="Attract more customers icon" descr="Attract more customers">    </p:cNvPr>
          <p:cNvPicPr>
            <a:picLocks noChangeAspect="1"/>
          </p:cNvPicPr>
          <p:nvPr/>
        </p:nvPicPr>
        <p:blipFill>
          <a:blip r:embed="rId3"/>
          <a:stretch>
            <a:fillRect/>
          </a:stretch>
        </p:blipFill>
        <p:spPr>
          <a:xfrm>
            <a:off x="4512564" y="2793492"/>
            <a:ext cx="210312" cy="210312"/>
          </a:xfrm>
          <a:prstGeom prst="rect">
            <a:avLst/>
          </a:prstGeom>
        </p:spPr>
      </p:pic>
      <p:sp>
        <p:nvSpPr>
          <p:cNvPr id="11" name="Row text 2"/>
          <p:cNvSpPr txBox="1"/>
          <p:nvPr/>
        </p:nvSpPr>
        <p:spPr>
          <a:xfrm>
            <a:off x="5029200" y="2670048"/>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Attract more customers</a:t>
            </a:r>
            <a:endParaRPr lang="en-US" sz="1600" dirty="0"/>
          </a:p>
        </p:txBody>
      </p:sp>
      <p:sp>
        <p:nvSpPr>
          <p:cNvPr id="12" name="Increase sales circle"/>
          <p:cNvSpPr/>
          <p:nvPr/>
        </p:nvSpPr>
        <p:spPr>
          <a:xfrm>
            <a:off x="4389120" y="3328416"/>
            <a:ext cx="457200" cy="457200"/>
          </a:xfrm>
          <a:prstGeom prst="ellipse">
            <a:avLst/>
          </a:prstGeom>
          <a:solidFill>
            <a:schemeClr val="accent1"/>
          </a:solidFill>
          <a:ln/>
        </p:spPr>
      </p:sp>
      <p:pic>
        <p:nvPicPr>
          <p:cNvPr id="13" name="Increase sales icon" descr="Increase sales">    </p:cNvPr>
          <p:cNvPicPr>
            <a:picLocks noChangeAspect="1"/>
          </p:cNvPicPr>
          <p:nvPr/>
        </p:nvPicPr>
        <p:blipFill>
          <a:blip r:embed="rId4"/>
          <a:stretch>
            <a:fillRect/>
          </a:stretch>
        </p:blipFill>
        <p:spPr>
          <a:xfrm>
            <a:off x="4512564" y="3451860"/>
            <a:ext cx="210312" cy="210312"/>
          </a:xfrm>
          <a:prstGeom prst="rect">
            <a:avLst/>
          </a:prstGeom>
        </p:spPr>
      </p:pic>
      <p:sp>
        <p:nvSpPr>
          <p:cNvPr id="14" name="Row text 3"/>
          <p:cNvSpPr txBox="1"/>
          <p:nvPr/>
        </p:nvSpPr>
        <p:spPr>
          <a:xfrm>
            <a:off x="5029200" y="3328416"/>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Increase sales</a:t>
            </a:r>
            <a:endParaRPr lang="en-US" sz="1600" dirty="0"/>
          </a:p>
        </p:txBody>
      </p:sp>
      <p:sp>
        <p:nvSpPr>
          <p:cNvPr id="15" name="Improve social media presence circle"/>
          <p:cNvSpPr/>
          <p:nvPr/>
        </p:nvSpPr>
        <p:spPr>
          <a:xfrm>
            <a:off x="4389120" y="3986784"/>
            <a:ext cx="457200" cy="457200"/>
          </a:xfrm>
          <a:prstGeom prst="ellipse">
            <a:avLst/>
          </a:prstGeom>
          <a:solidFill>
            <a:schemeClr val="accent1"/>
          </a:solidFill>
          <a:ln/>
        </p:spPr>
      </p:sp>
      <p:pic>
        <p:nvPicPr>
          <p:cNvPr id="16" name="Improve social media presence icon" descr="Improve social media presence">    </p:cNvPr>
          <p:cNvPicPr>
            <a:picLocks noChangeAspect="1"/>
          </p:cNvPicPr>
          <p:nvPr/>
        </p:nvPicPr>
        <p:blipFill>
          <a:blip r:embed="rId5"/>
          <a:stretch>
            <a:fillRect/>
          </a:stretch>
        </p:blipFill>
        <p:spPr>
          <a:xfrm>
            <a:off x="4512564" y="4110228"/>
            <a:ext cx="210312" cy="210312"/>
          </a:xfrm>
          <a:prstGeom prst="rect">
            <a:avLst/>
          </a:prstGeom>
        </p:spPr>
      </p:pic>
      <p:sp>
        <p:nvSpPr>
          <p:cNvPr id="17" name="Row text 4"/>
          <p:cNvSpPr txBox="1"/>
          <p:nvPr/>
        </p:nvSpPr>
        <p:spPr>
          <a:xfrm>
            <a:off x="5029200" y="3986784"/>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Improve social media presence</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02  PROBLEM STATEMENT</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Challenges</a:t>
            </a:r>
            <a:endParaRPr lang="en-US" sz="3200" dirty="0"/>
          </a:p>
        </p:txBody>
      </p:sp>
      <p:sp>
        <p:nvSpPr>
          <p:cNvPr id="4" name="Low brand awareness circle"/>
          <p:cNvSpPr/>
          <p:nvPr/>
        </p:nvSpPr>
        <p:spPr>
          <a:xfrm>
            <a:off x="457200" y="1325880"/>
            <a:ext cx="457200" cy="457200"/>
          </a:xfrm>
          <a:prstGeom prst="ellipse">
            <a:avLst/>
          </a:prstGeom>
          <a:solidFill>
            <a:schemeClr val="accent3"/>
          </a:solidFill>
          <a:ln/>
        </p:spPr>
      </p:sp>
      <p:pic>
        <p:nvPicPr>
          <p:cNvPr id="5" name="Low brand awareness icon" descr="Low brand awareness">    </p:cNvPr>
          <p:cNvPicPr>
            <a:picLocks noChangeAspect="1"/>
          </p:cNvPicPr>
          <p:nvPr/>
        </p:nvPicPr>
        <p:blipFill>
          <a:blip r:embed="rId1"/>
          <a:stretch>
            <a:fillRect/>
          </a:stretch>
        </p:blipFill>
        <p:spPr>
          <a:xfrm>
            <a:off x="580644" y="1449324"/>
            <a:ext cx="210312" cy="210312"/>
          </a:xfrm>
          <a:prstGeom prst="rect">
            <a:avLst/>
          </a:prstGeom>
        </p:spPr>
      </p:pic>
      <p:sp>
        <p:nvSpPr>
          <p:cNvPr id="6" name="Row text 1"/>
          <p:cNvSpPr txBox="1"/>
          <p:nvPr/>
        </p:nvSpPr>
        <p:spPr>
          <a:xfrm>
            <a:off x="1097280" y="1325880"/>
            <a:ext cx="3840480" cy="457200"/>
          </a:xfrm>
          <a:prstGeom prst="rect">
            <a:avLst/>
          </a:prstGeom>
          <a:noFill/>
          <a:ln/>
        </p:spPr>
        <p:txBody>
          <a:bodyPr wrap="square" lIns="0" tIns="0" rIns="0" bIns="0" rtlCol="0" anchor="ctr"/>
          <a:lstStyle/>
          <a:p>
            <a:pPr indent="0" marL="0">
              <a:buNone/>
            </a:pPr>
            <a:r>
              <a:rPr lang="en-US" sz="1600" b="1" dirty="0">
                <a:solidFill>
                  <a:schemeClr val="tx2"/>
                </a:solidFill>
              </a:rPr>
              <a:t>Low brand awareness</a:t>
            </a:r>
            <a:endParaRPr lang="en-US" sz="1600" dirty="0"/>
          </a:p>
        </p:txBody>
      </p:sp>
      <p:sp>
        <p:nvSpPr>
          <p:cNvPr id="7" name="Few followers, low engagement circle"/>
          <p:cNvSpPr/>
          <p:nvPr/>
        </p:nvSpPr>
        <p:spPr>
          <a:xfrm>
            <a:off x="457200" y="1984248"/>
            <a:ext cx="457200" cy="457200"/>
          </a:xfrm>
          <a:prstGeom prst="ellipse">
            <a:avLst/>
          </a:prstGeom>
          <a:solidFill>
            <a:schemeClr val="accent3"/>
          </a:solidFill>
          <a:ln/>
        </p:spPr>
      </p:sp>
      <p:pic>
        <p:nvPicPr>
          <p:cNvPr id="8" name="Few followers, low engagement icon" descr="Few followers, low engagement">    </p:cNvPr>
          <p:cNvPicPr>
            <a:picLocks noChangeAspect="1"/>
          </p:cNvPicPr>
          <p:nvPr/>
        </p:nvPicPr>
        <p:blipFill>
          <a:blip r:embed="rId2"/>
          <a:stretch>
            <a:fillRect/>
          </a:stretch>
        </p:blipFill>
        <p:spPr>
          <a:xfrm>
            <a:off x="580644" y="2107692"/>
            <a:ext cx="210312" cy="210312"/>
          </a:xfrm>
          <a:prstGeom prst="rect">
            <a:avLst/>
          </a:prstGeom>
        </p:spPr>
      </p:pic>
      <p:sp>
        <p:nvSpPr>
          <p:cNvPr id="9" name="Row text 2"/>
          <p:cNvSpPr txBox="1"/>
          <p:nvPr/>
        </p:nvSpPr>
        <p:spPr>
          <a:xfrm>
            <a:off x="1097280" y="1984248"/>
            <a:ext cx="3840480" cy="457200"/>
          </a:xfrm>
          <a:prstGeom prst="rect">
            <a:avLst/>
          </a:prstGeom>
          <a:noFill/>
          <a:ln/>
        </p:spPr>
        <p:txBody>
          <a:bodyPr wrap="square" lIns="0" tIns="0" rIns="0" bIns="0" rtlCol="0" anchor="ctr"/>
          <a:lstStyle/>
          <a:p>
            <a:pPr indent="0" marL="0">
              <a:buNone/>
            </a:pPr>
            <a:r>
              <a:rPr lang="en-US" sz="1600" b="1" dirty="0">
                <a:solidFill>
                  <a:schemeClr val="tx2"/>
                </a:solidFill>
              </a:rPr>
              <a:t>Few followers, low engagement</a:t>
            </a:r>
            <a:endParaRPr lang="en-US" sz="1600" dirty="0"/>
          </a:p>
        </p:txBody>
      </p:sp>
      <p:sp>
        <p:nvSpPr>
          <p:cNvPr id="10" name="Strong competition from other cafés circle"/>
          <p:cNvSpPr/>
          <p:nvPr/>
        </p:nvSpPr>
        <p:spPr>
          <a:xfrm>
            <a:off x="457200" y="2642616"/>
            <a:ext cx="457200" cy="457200"/>
          </a:xfrm>
          <a:prstGeom prst="ellipse">
            <a:avLst/>
          </a:prstGeom>
          <a:solidFill>
            <a:schemeClr val="accent3"/>
          </a:solidFill>
          <a:ln/>
        </p:spPr>
      </p:sp>
      <p:pic>
        <p:nvPicPr>
          <p:cNvPr id="11" name="Strong competition from other cafés icon" descr="Strong competition from other cafés">    </p:cNvPr>
          <p:cNvPicPr>
            <a:picLocks noChangeAspect="1"/>
          </p:cNvPicPr>
          <p:nvPr/>
        </p:nvPicPr>
        <p:blipFill>
          <a:blip r:embed="rId3"/>
          <a:stretch>
            <a:fillRect/>
          </a:stretch>
        </p:blipFill>
        <p:spPr>
          <a:xfrm>
            <a:off x="580644" y="2766060"/>
            <a:ext cx="210312" cy="210312"/>
          </a:xfrm>
          <a:prstGeom prst="rect">
            <a:avLst/>
          </a:prstGeom>
        </p:spPr>
      </p:pic>
      <p:sp>
        <p:nvSpPr>
          <p:cNvPr id="12" name="Row text 3"/>
          <p:cNvSpPr txBox="1"/>
          <p:nvPr/>
        </p:nvSpPr>
        <p:spPr>
          <a:xfrm>
            <a:off x="1097280" y="2642616"/>
            <a:ext cx="3840480" cy="457200"/>
          </a:xfrm>
          <a:prstGeom prst="rect">
            <a:avLst/>
          </a:prstGeom>
          <a:noFill/>
          <a:ln/>
        </p:spPr>
        <p:txBody>
          <a:bodyPr wrap="square" lIns="0" tIns="0" rIns="0" bIns="0" rtlCol="0" anchor="ctr"/>
          <a:lstStyle/>
          <a:p>
            <a:pPr indent="0" marL="0">
              <a:buNone/>
            </a:pPr>
            <a:r>
              <a:rPr lang="en-US" sz="1600" b="1" dirty="0">
                <a:solidFill>
                  <a:schemeClr val="tx2"/>
                </a:solidFill>
              </a:rPr>
              <a:t>Strong competition from other cafés</a:t>
            </a:r>
            <a:endParaRPr lang="en-US" sz="1600" dirty="0"/>
          </a:p>
        </p:txBody>
      </p:sp>
      <p:sp>
        <p:nvSpPr>
          <p:cNvPr id="13" name="Hard to attract new customers circle"/>
          <p:cNvSpPr/>
          <p:nvPr/>
        </p:nvSpPr>
        <p:spPr>
          <a:xfrm>
            <a:off x="457200" y="3300984"/>
            <a:ext cx="457200" cy="457200"/>
          </a:xfrm>
          <a:prstGeom prst="ellipse">
            <a:avLst/>
          </a:prstGeom>
          <a:solidFill>
            <a:schemeClr val="accent3"/>
          </a:solidFill>
          <a:ln/>
        </p:spPr>
      </p:sp>
      <p:pic>
        <p:nvPicPr>
          <p:cNvPr id="14" name="Hard to attract new customers icon" descr="Hard to attract new customers">    </p:cNvPr>
          <p:cNvPicPr>
            <a:picLocks noChangeAspect="1"/>
          </p:cNvPicPr>
          <p:nvPr/>
        </p:nvPicPr>
        <p:blipFill>
          <a:blip r:embed="rId4"/>
          <a:stretch>
            <a:fillRect/>
          </a:stretch>
        </p:blipFill>
        <p:spPr>
          <a:xfrm>
            <a:off x="580644" y="3424428"/>
            <a:ext cx="210312" cy="210312"/>
          </a:xfrm>
          <a:prstGeom prst="rect">
            <a:avLst/>
          </a:prstGeom>
        </p:spPr>
      </p:pic>
      <p:sp>
        <p:nvSpPr>
          <p:cNvPr id="15" name="Row text 4"/>
          <p:cNvSpPr txBox="1"/>
          <p:nvPr/>
        </p:nvSpPr>
        <p:spPr>
          <a:xfrm>
            <a:off x="1097280" y="3300984"/>
            <a:ext cx="3840480" cy="457200"/>
          </a:xfrm>
          <a:prstGeom prst="rect">
            <a:avLst/>
          </a:prstGeom>
          <a:noFill/>
          <a:ln/>
        </p:spPr>
        <p:txBody>
          <a:bodyPr wrap="square" lIns="0" tIns="0" rIns="0" bIns="0" rtlCol="0" anchor="ctr"/>
          <a:lstStyle/>
          <a:p>
            <a:pPr indent="0" marL="0">
              <a:buNone/>
            </a:pPr>
            <a:r>
              <a:rPr lang="en-US" sz="1600" b="1" dirty="0">
                <a:solidFill>
                  <a:schemeClr val="tx2"/>
                </a:solidFill>
              </a:rPr>
              <a:t>Hard to attract new customers</a:t>
            </a:r>
            <a:endParaRPr lang="en-US" sz="1600" dirty="0"/>
          </a:p>
        </p:txBody>
      </p:sp>
      <p:sp>
        <p:nvSpPr>
          <p:cNvPr id="16" name="Low sales in some periods circle"/>
          <p:cNvSpPr/>
          <p:nvPr/>
        </p:nvSpPr>
        <p:spPr>
          <a:xfrm>
            <a:off x="457200" y="3959352"/>
            <a:ext cx="457200" cy="457200"/>
          </a:xfrm>
          <a:prstGeom prst="ellipse">
            <a:avLst/>
          </a:prstGeom>
          <a:solidFill>
            <a:schemeClr val="accent3"/>
          </a:solidFill>
          <a:ln/>
        </p:spPr>
      </p:sp>
      <p:pic>
        <p:nvPicPr>
          <p:cNvPr id="17" name="Low sales in some periods icon" descr="Low sales in some periods">    </p:cNvPr>
          <p:cNvPicPr>
            <a:picLocks noChangeAspect="1"/>
          </p:cNvPicPr>
          <p:nvPr/>
        </p:nvPicPr>
        <p:blipFill>
          <a:blip r:embed="rId5"/>
          <a:stretch>
            <a:fillRect/>
          </a:stretch>
        </p:blipFill>
        <p:spPr>
          <a:xfrm>
            <a:off x="580644" y="4082796"/>
            <a:ext cx="210312" cy="210312"/>
          </a:xfrm>
          <a:prstGeom prst="rect">
            <a:avLst/>
          </a:prstGeom>
        </p:spPr>
      </p:pic>
      <p:sp>
        <p:nvSpPr>
          <p:cNvPr id="18" name="Row text 5"/>
          <p:cNvSpPr txBox="1"/>
          <p:nvPr/>
        </p:nvSpPr>
        <p:spPr>
          <a:xfrm>
            <a:off x="1097280" y="3959352"/>
            <a:ext cx="3840480" cy="457200"/>
          </a:xfrm>
          <a:prstGeom prst="rect">
            <a:avLst/>
          </a:prstGeom>
          <a:noFill/>
          <a:ln/>
        </p:spPr>
        <p:txBody>
          <a:bodyPr wrap="square" lIns="0" tIns="0" rIns="0" bIns="0" rtlCol="0" anchor="ctr"/>
          <a:lstStyle/>
          <a:p>
            <a:pPr indent="0" marL="0">
              <a:buNone/>
            </a:pPr>
            <a:r>
              <a:rPr lang="en-US" sz="1600" b="1" dirty="0">
                <a:solidFill>
                  <a:schemeClr val="tx2"/>
                </a:solidFill>
              </a:rPr>
              <a:t>Low sales in some periods</a:t>
            </a:r>
            <a:endParaRPr lang="en-US" sz="1600" dirty="0"/>
          </a:p>
        </p:txBody>
      </p:sp>
      <p:pic>
        <p:nvPicPr>
          <p:cNvPr id="19" name="Weak social media illustration" descr="Weak social media illustration">    </p:cNvPr>
          <p:cNvPicPr>
            <a:picLocks noChangeAspect="1"/>
          </p:cNvPicPr>
          <p:nvPr/>
        </p:nvPicPr>
        <p:blipFill>
          <a:blip r:embed="rId6"/>
          <a:stretch>
            <a:fillRect/>
          </a:stretch>
        </p:blipFill>
        <p:spPr>
          <a:xfrm>
            <a:off x="5120640" y="1325880"/>
            <a:ext cx="3566160" cy="3291840"/>
          </a:xfrm>
          <a:prstGeom prst="rect">
            <a:avLst/>
          </a:prstGeom>
        </p:spPr>
      </p:pic>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03  PROPOSED SOLUTION</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Our Four Main Services</a:t>
            </a:r>
            <a:endParaRPr lang="en-US" sz="3200" dirty="0"/>
          </a:p>
        </p:txBody>
      </p:sp>
      <p:sp>
        <p:nvSpPr>
          <p:cNvPr id="4" name="Service card 1"/>
          <p:cNvSpPr/>
          <p:nvPr/>
        </p:nvSpPr>
        <p:spPr>
          <a:xfrm>
            <a:off x="457200" y="1325880"/>
            <a:ext cx="1920240" cy="3200400"/>
          </a:xfrm>
          <a:prstGeom prst="roundRect">
            <a:avLst>
              <a:gd name="adj" fmla="val 5714"/>
            </a:avLst>
          </a:prstGeom>
          <a:solidFill>
            <a:schemeClr val="bg2"/>
          </a:solidFill>
          <a:ln/>
        </p:spPr>
      </p:sp>
      <p:pic>
        <p:nvPicPr>
          <p:cNvPr id="5" name="Social Media Management illustration" descr="Social Media Management illustration">    </p:cNvPr>
          <p:cNvPicPr>
            <a:picLocks noChangeAspect="1"/>
          </p:cNvPicPr>
          <p:nvPr/>
        </p:nvPicPr>
        <p:blipFill>
          <a:blip r:embed="rId1"/>
          <a:stretch>
            <a:fillRect/>
          </a:stretch>
        </p:blipFill>
        <p:spPr>
          <a:xfrm>
            <a:off x="548640" y="1417320"/>
            <a:ext cx="1737360" cy="1600200"/>
          </a:xfrm>
          <a:prstGeom prst="rect">
            <a:avLst/>
          </a:prstGeom>
        </p:spPr>
      </p:pic>
      <p:sp>
        <p:nvSpPr>
          <p:cNvPr id="6" name="Service title 1"/>
          <p:cNvSpPr txBox="1"/>
          <p:nvPr/>
        </p:nvSpPr>
        <p:spPr>
          <a:xfrm>
            <a:off x="594360" y="3154680"/>
            <a:ext cx="1645920" cy="548640"/>
          </a:xfrm>
          <a:prstGeom prst="rect">
            <a:avLst/>
          </a:prstGeom>
          <a:noFill/>
          <a:ln/>
        </p:spPr>
        <p:txBody>
          <a:bodyPr wrap="square" lIns="0" tIns="0" rIns="0" bIns="0" rtlCol="0" anchor="t"/>
          <a:lstStyle/>
          <a:p>
            <a:pPr indent="0" marL="0">
              <a:buNone/>
            </a:pPr>
            <a:r>
              <a:rPr lang="en-US" sz="1500" b="1" dirty="0">
                <a:solidFill>
                  <a:schemeClr val="tx2"/>
                </a:solidFill>
              </a:rPr>
              <a:t>Social Media Management</a:t>
            </a:r>
            <a:endParaRPr lang="en-US" sz="1500" dirty="0"/>
          </a:p>
        </p:txBody>
      </p:sp>
      <p:sp>
        <p:nvSpPr>
          <p:cNvPr id="7" name="Service text 1"/>
          <p:cNvSpPr txBox="1"/>
          <p:nvPr/>
        </p:nvSpPr>
        <p:spPr>
          <a:xfrm>
            <a:off x="594360" y="3730752"/>
            <a:ext cx="1645920" cy="731520"/>
          </a:xfrm>
          <a:prstGeom prst="rect">
            <a:avLst/>
          </a:prstGeom>
          <a:noFill/>
          <a:ln/>
        </p:spPr>
        <p:txBody>
          <a:bodyPr wrap="square" lIns="0" tIns="0" rIns="0" bIns="0" rtlCol="0" anchor="t"/>
          <a:lstStyle/>
          <a:p>
            <a:pPr indent="0" marL="0">
              <a:buNone/>
            </a:pPr>
            <a:r>
              <a:rPr lang="en-US" sz="1300" dirty="0">
                <a:solidFill>
                  <a:schemeClr val="tx1"/>
                </a:solidFill>
              </a:rPr>
              <a:t>12 posts, 8 reels and daily stories a month</a:t>
            </a:r>
            <a:endParaRPr lang="en-US" sz="1300" dirty="0"/>
          </a:p>
        </p:txBody>
      </p:sp>
      <p:sp>
        <p:nvSpPr>
          <p:cNvPr id="8" name="Service card 2"/>
          <p:cNvSpPr/>
          <p:nvPr/>
        </p:nvSpPr>
        <p:spPr>
          <a:xfrm>
            <a:off x="2560320" y="1325880"/>
            <a:ext cx="1920240" cy="3200400"/>
          </a:xfrm>
          <a:prstGeom prst="roundRect">
            <a:avLst>
              <a:gd name="adj" fmla="val 5714"/>
            </a:avLst>
          </a:prstGeom>
          <a:solidFill>
            <a:schemeClr val="bg2"/>
          </a:solidFill>
          <a:ln/>
        </p:spPr>
      </p:sp>
      <p:pic>
        <p:nvPicPr>
          <p:cNvPr id="9" name="Paid Advertising illustration" descr="Paid Advertising illustration">    </p:cNvPr>
          <p:cNvPicPr>
            <a:picLocks noChangeAspect="1"/>
          </p:cNvPicPr>
          <p:nvPr/>
        </p:nvPicPr>
        <p:blipFill>
          <a:blip r:embed="rId2"/>
          <a:stretch>
            <a:fillRect/>
          </a:stretch>
        </p:blipFill>
        <p:spPr>
          <a:xfrm>
            <a:off x="2651760" y="1417320"/>
            <a:ext cx="1737360" cy="1600200"/>
          </a:xfrm>
          <a:prstGeom prst="rect">
            <a:avLst/>
          </a:prstGeom>
        </p:spPr>
      </p:pic>
      <p:sp>
        <p:nvSpPr>
          <p:cNvPr id="10" name="Service title 2"/>
          <p:cNvSpPr txBox="1"/>
          <p:nvPr/>
        </p:nvSpPr>
        <p:spPr>
          <a:xfrm>
            <a:off x="2697480" y="3154680"/>
            <a:ext cx="1645920" cy="548640"/>
          </a:xfrm>
          <a:prstGeom prst="rect">
            <a:avLst/>
          </a:prstGeom>
          <a:noFill/>
          <a:ln/>
        </p:spPr>
        <p:txBody>
          <a:bodyPr wrap="square" lIns="0" tIns="0" rIns="0" bIns="0" rtlCol="0" anchor="t"/>
          <a:lstStyle/>
          <a:p>
            <a:pPr indent="0" marL="0">
              <a:buNone/>
            </a:pPr>
            <a:r>
              <a:rPr lang="en-US" sz="1500" b="1" dirty="0">
                <a:solidFill>
                  <a:schemeClr val="tx2"/>
                </a:solidFill>
              </a:rPr>
              <a:t>Paid Advertising</a:t>
            </a:r>
            <a:endParaRPr lang="en-US" sz="1500" dirty="0"/>
          </a:p>
        </p:txBody>
      </p:sp>
      <p:sp>
        <p:nvSpPr>
          <p:cNvPr id="11" name="Service text 2"/>
          <p:cNvSpPr txBox="1"/>
          <p:nvPr/>
        </p:nvSpPr>
        <p:spPr>
          <a:xfrm>
            <a:off x="2697480" y="3730752"/>
            <a:ext cx="1645920" cy="731520"/>
          </a:xfrm>
          <a:prstGeom prst="rect">
            <a:avLst/>
          </a:prstGeom>
          <a:noFill/>
          <a:ln/>
        </p:spPr>
        <p:txBody>
          <a:bodyPr wrap="square" lIns="0" tIns="0" rIns="0" bIns="0" rtlCol="0" anchor="t"/>
          <a:lstStyle/>
          <a:p>
            <a:pPr indent="0" marL="0">
              <a:buNone/>
            </a:pPr>
            <a:r>
              <a:rPr lang="en-US" sz="1300" dirty="0">
                <a:solidFill>
                  <a:schemeClr val="tx1"/>
                </a:solidFill>
              </a:rPr>
              <a:t>Targeted Facebook and Instagram ads near the café</a:t>
            </a:r>
            <a:endParaRPr lang="en-US" sz="1300" dirty="0"/>
          </a:p>
        </p:txBody>
      </p:sp>
      <p:sp>
        <p:nvSpPr>
          <p:cNvPr id="12" name="Service card 3"/>
          <p:cNvSpPr/>
          <p:nvPr/>
        </p:nvSpPr>
        <p:spPr>
          <a:xfrm>
            <a:off x="4663440" y="1325880"/>
            <a:ext cx="1920240" cy="3200400"/>
          </a:xfrm>
          <a:prstGeom prst="roundRect">
            <a:avLst>
              <a:gd name="adj" fmla="val 5714"/>
            </a:avLst>
          </a:prstGeom>
          <a:solidFill>
            <a:schemeClr val="bg2"/>
          </a:solidFill>
          <a:ln/>
        </p:spPr>
      </p:sp>
      <p:pic>
        <p:nvPicPr>
          <p:cNvPr id="13" name="Content Creation illustration" descr="Content Creation illustration">    </p:cNvPr>
          <p:cNvPicPr>
            <a:picLocks noChangeAspect="1"/>
          </p:cNvPicPr>
          <p:nvPr/>
        </p:nvPicPr>
        <p:blipFill>
          <a:blip r:embed="rId3"/>
          <a:stretch>
            <a:fillRect/>
          </a:stretch>
        </p:blipFill>
        <p:spPr>
          <a:xfrm>
            <a:off x="4754880" y="1417320"/>
            <a:ext cx="1737360" cy="1600200"/>
          </a:xfrm>
          <a:prstGeom prst="rect">
            <a:avLst/>
          </a:prstGeom>
        </p:spPr>
      </p:pic>
      <p:sp>
        <p:nvSpPr>
          <p:cNvPr id="14" name="Service title 3"/>
          <p:cNvSpPr txBox="1"/>
          <p:nvPr/>
        </p:nvSpPr>
        <p:spPr>
          <a:xfrm>
            <a:off x="4800600" y="3154680"/>
            <a:ext cx="1645920" cy="548640"/>
          </a:xfrm>
          <a:prstGeom prst="rect">
            <a:avLst/>
          </a:prstGeom>
          <a:noFill/>
          <a:ln/>
        </p:spPr>
        <p:txBody>
          <a:bodyPr wrap="square" lIns="0" tIns="0" rIns="0" bIns="0" rtlCol="0" anchor="t"/>
          <a:lstStyle/>
          <a:p>
            <a:pPr indent="0" marL="0">
              <a:buNone/>
            </a:pPr>
            <a:r>
              <a:rPr lang="en-US" sz="1500" b="1" dirty="0">
                <a:solidFill>
                  <a:schemeClr val="tx2"/>
                </a:solidFill>
              </a:rPr>
              <a:t>Content Creation</a:t>
            </a:r>
            <a:endParaRPr lang="en-US" sz="1500" dirty="0"/>
          </a:p>
        </p:txBody>
      </p:sp>
      <p:sp>
        <p:nvSpPr>
          <p:cNvPr id="15" name="Service text 3"/>
          <p:cNvSpPr txBox="1"/>
          <p:nvPr/>
        </p:nvSpPr>
        <p:spPr>
          <a:xfrm>
            <a:off x="4800600" y="3730752"/>
            <a:ext cx="1645920" cy="731520"/>
          </a:xfrm>
          <a:prstGeom prst="rect">
            <a:avLst/>
          </a:prstGeom>
          <a:noFill/>
          <a:ln/>
        </p:spPr>
        <p:txBody>
          <a:bodyPr wrap="square" lIns="0" tIns="0" rIns="0" bIns="0" rtlCol="0" anchor="t"/>
          <a:lstStyle/>
          <a:p>
            <a:pPr indent="0" marL="0">
              <a:buNone/>
            </a:pPr>
            <a:r>
              <a:rPr lang="en-US" sz="1300" dirty="0">
                <a:solidFill>
                  <a:schemeClr val="tx1"/>
                </a:solidFill>
              </a:rPr>
              <a:t>A professional photo and video shoot every month</a:t>
            </a:r>
            <a:endParaRPr lang="en-US" sz="1300" dirty="0"/>
          </a:p>
        </p:txBody>
      </p:sp>
      <p:sp>
        <p:nvSpPr>
          <p:cNvPr id="16" name="Service card 4"/>
          <p:cNvSpPr/>
          <p:nvPr/>
        </p:nvSpPr>
        <p:spPr>
          <a:xfrm>
            <a:off x="6766560" y="1325880"/>
            <a:ext cx="1920240" cy="3200400"/>
          </a:xfrm>
          <a:prstGeom prst="roundRect">
            <a:avLst>
              <a:gd name="adj" fmla="val 5714"/>
            </a:avLst>
          </a:prstGeom>
          <a:solidFill>
            <a:schemeClr val="bg2"/>
          </a:solidFill>
          <a:ln/>
        </p:spPr>
      </p:sp>
      <p:pic>
        <p:nvPicPr>
          <p:cNvPr id="17" name="Promotions illustration" descr="Promotions illustration">    </p:cNvPr>
          <p:cNvPicPr>
            <a:picLocks noChangeAspect="1"/>
          </p:cNvPicPr>
          <p:nvPr/>
        </p:nvPicPr>
        <p:blipFill>
          <a:blip r:embed="rId4"/>
          <a:stretch>
            <a:fillRect/>
          </a:stretch>
        </p:blipFill>
        <p:spPr>
          <a:xfrm>
            <a:off x="6858000" y="1417320"/>
            <a:ext cx="1737360" cy="1600200"/>
          </a:xfrm>
          <a:prstGeom prst="rect">
            <a:avLst/>
          </a:prstGeom>
        </p:spPr>
      </p:pic>
      <p:sp>
        <p:nvSpPr>
          <p:cNvPr id="18" name="Service title 4"/>
          <p:cNvSpPr txBox="1"/>
          <p:nvPr/>
        </p:nvSpPr>
        <p:spPr>
          <a:xfrm>
            <a:off x="6903720" y="3154680"/>
            <a:ext cx="1645920" cy="548640"/>
          </a:xfrm>
          <a:prstGeom prst="rect">
            <a:avLst/>
          </a:prstGeom>
          <a:noFill/>
          <a:ln/>
        </p:spPr>
        <p:txBody>
          <a:bodyPr wrap="square" lIns="0" tIns="0" rIns="0" bIns="0" rtlCol="0" anchor="t"/>
          <a:lstStyle/>
          <a:p>
            <a:pPr indent="0" marL="0">
              <a:buNone/>
            </a:pPr>
            <a:r>
              <a:rPr lang="en-US" sz="1500" b="1" dirty="0">
                <a:solidFill>
                  <a:schemeClr val="tx2"/>
                </a:solidFill>
              </a:rPr>
              <a:t>Promotions</a:t>
            </a:r>
            <a:endParaRPr lang="en-US" sz="1500" dirty="0"/>
          </a:p>
        </p:txBody>
      </p:sp>
      <p:sp>
        <p:nvSpPr>
          <p:cNvPr id="19" name="Service text 4"/>
          <p:cNvSpPr txBox="1"/>
          <p:nvPr/>
        </p:nvSpPr>
        <p:spPr>
          <a:xfrm>
            <a:off x="6903720" y="3730752"/>
            <a:ext cx="1645920" cy="731520"/>
          </a:xfrm>
          <a:prstGeom prst="rect">
            <a:avLst/>
          </a:prstGeom>
          <a:noFill/>
          <a:ln/>
        </p:spPr>
        <p:txBody>
          <a:bodyPr wrap="square" lIns="0" tIns="0" rIns="0" bIns="0" rtlCol="0" anchor="t"/>
          <a:lstStyle/>
          <a:p>
            <a:pPr indent="0" marL="0">
              <a:buNone/>
            </a:pPr>
            <a:r>
              <a:rPr lang="en-US" sz="1300" dirty="0">
                <a:solidFill>
                  <a:schemeClr val="tx1"/>
                </a:solidFill>
              </a:rPr>
              <a:t>2 special offers a month to bring people in</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04  IMPLEMENTATION PLAN</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Five Simple Steps</a:t>
            </a:r>
            <a:endParaRPr lang="en-US" sz="3200" dirty="0"/>
          </a:p>
        </p:txBody>
      </p:sp>
      <p:sp>
        <p:nvSpPr>
          <p:cNvPr id="4" name="Step connector"/>
          <p:cNvSpPr/>
          <p:nvPr/>
        </p:nvSpPr>
        <p:spPr>
          <a:xfrm>
            <a:off x="1280160" y="1965960"/>
            <a:ext cx="6583680" cy="0"/>
          </a:xfrm>
          <a:prstGeom prst="line">
            <a:avLst/>
          </a:prstGeom>
          <a:noFill/>
          <a:ln w="38100">
            <a:solidFill>
              <a:srgbClr val="E8C9A6"/>
            </a:solidFill>
            <a:prstDash val="solid"/>
          </a:ln>
        </p:spPr>
      </p:sp>
      <p:sp>
        <p:nvSpPr>
          <p:cNvPr id="5" name="Research circle"/>
          <p:cNvSpPr/>
          <p:nvPr/>
        </p:nvSpPr>
        <p:spPr>
          <a:xfrm>
            <a:off x="822960" y="1508760"/>
            <a:ext cx="914400" cy="914400"/>
          </a:xfrm>
          <a:prstGeom prst="ellipse">
            <a:avLst/>
          </a:prstGeom>
          <a:solidFill>
            <a:schemeClr val="tx2"/>
          </a:solidFill>
          <a:ln/>
        </p:spPr>
      </p:sp>
      <p:pic>
        <p:nvPicPr>
          <p:cNvPr id="6" name="Research icon" descr="Research">    </p:cNvPr>
          <p:cNvPicPr>
            <a:picLocks noChangeAspect="1"/>
          </p:cNvPicPr>
          <p:nvPr/>
        </p:nvPicPr>
        <p:blipFill>
          <a:blip r:embed="rId1"/>
          <a:stretch>
            <a:fillRect/>
          </a:stretch>
        </p:blipFill>
        <p:spPr>
          <a:xfrm>
            <a:off x="1069848" y="1755648"/>
            <a:ext cx="420624" cy="420624"/>
          </a:xfrm>
          <a:prstGeom prst="rect">
            <a:avLst/>
          </a:prstGeom>
        </p:spPr>
      </p:pic>
      <p:sp>
        <p:nvSpPr>
          <p:cNvPr id="7" name="Step badge 1"/>
          <p:cNvSpPr/>
          <p:nvPr/>
        </p:nvSpPr>
        <p:spPr>
          <a:xfrm>
            <a:off x="1463040" y="1463040"/>
            <a:ext cx="329184" cy="329184"/>
          </a:xfrm>
          <a:prstGeom prst="ellipse">
            <a:avLst/>
          </a:prstGeom>
          <a:solidFill>
            <a:schemeClr val="accent2"/>
          </a:solidFill>
          <a:ln w="25400">
            <a:solidFill>
              <a:srgbClr val="FFFFFF"/>
            </a:solidFill>
            <a:prstDash val="solid"/>
          </a:ln>
        </p:spPr>
      </p:sp>
      <p:sp>
        <p:nvSpPr>
          <p:cNvPr id="8" name="Step number 1"/>
          <p:cNvSpPr txBox="1"/>
          <p:nvPr/>
        </p:nvSpPr>
        <p:spPr>
          <a:xfrm>
            <a:off x="1463040" y="146304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1</a:t>
            </a:r>
            <a:endParaRPr lang="en-US" sz="1200" dirty="0"/>
          </a:p>
        </p:txBody>
      </p:sp>
      <p:sp>
        <p:nvSpPr>
          <p:cNvPr id="9" name="Step title 1"/>
          <p:cNvSpPr txBox="1"/>
          <p:nvPr/>
        </p:nvSpPr>
        <p:spPr>
          <a:xfrm>
            <a:off x="548640" y="260604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Research</a:t>
            </a:r>
            <a:endParaRPr lang="en-US" sz="1600" dirty="0"/>
          </a:p>
        </p:txBody>
      </p:sp>
      <p:sp>
        <p:nvSpPr>
          <p:cNvPr id="10" name="Step text 1"/>
          <p:cNvSpPr txBox="1"/>
          <p:nvPr/>
        </p:nvSpPr>
        <p:spPr>
          <a:xfrm>
            <a:off x="548640" y="2971800"/>
            <a:ext cx="1463040" cy="548640"/>
          </a:xfrm>
          <a:prstGeom prst="rect">
            <a:avLst/>
          </a:prstGeom>
          <a:noFill/>
          <a:ln/>
        </p:spPr>
        <p:txBody>
          <a:bodyPr wrap="square" lIns="0" tIns="0" rIns="0" bIns="0" rtlCol="0" anchor="t"/>
          <a:lstStyle/>
          <a:p>
            <a:pPr algn="ctr" indent="0" marL="0">
              <a:buNone/>
            </a:pPr>
            <a:r>
              <a:rPr lang="en-US" sz="1300" dirty="0">
                <a:solidFill>
                  <a:schemeClr val="tx1"/>
                </a:solidFill>
              </a:rPr>
              <a:t>Market and competitors</a:t>
            </a:r>
            <a:endParaRPr lang="en-US" sz="1300" dirty="0"/>
          </a:p>
        </p:txBody>
      </p:sp>
      <p:sp>
        <p:nvSpPr>
          <p:cNvPr id="11" name="Audience circle"/>
          <p:cNvSpPr/>
          <p:nvPr/>
        </p:nvSpPr>
        <p:spPr>
          <a:xfrm>
            <a:off x="2468880" y="1508760"/>
            <a:ext cx="914400" cy="914400"/>
          </a:xfrm>
          <a:prstGeom prst="ellipse">
            <a:avLst/>
          </a:prstGeom>
          <a:solidFill>
            <a:schemeClr val="tx2"/>
          </a:solidFill>
          <a:ln/>
        </p:spPr>
      </p:sp>
      <p:pic>
        <p:nvPicPr>
          <p:cNvPr id="12" name="Audience icon" descr="Audience">    </p:cNvPr>
          <p:cNvPicPr>
            <a:picLocks noChangeAspect="1"/>
          </p:cNvPicPr>
          <p:nvPr/>
        </p:nvPicPr>
        <p:blipFill>
          <a:blip r:embed="rId2"/>
          <a:stretch>
            <a:fillRect/>
          </a:stretch>
        </p:blipFill>
        <p:spPr>
          <a:xfrm>
            <a:off x="2715768" y="1755648"/>
            <a:ext cx="420624" cy="420624"/>
          </a:xfrm>
          <a:prstGeom prst="rect">
            <a:avLst/>
          </a:prstGeom>
        </p:spPr>
      </p:pic>
      <p:sp>
        <p:nvSpPr>
          <p:cNvPr id="13" name="Step badge 2"/>
          <p:cNvSpPr/>
          <p:nvPr/>
        </p:nvSpPr>
        <p:spPr>
          <a:xfrm>
            <a:off x="3108960" y="1463040"/>
            <a:ext cx="329184" cy="329184"/>
          </a:xfrm>
          <a:prstGeom prst="ellipse">
            <a:avLst/>
          </a:prstGeom>
          <a:solidFill>
            <a:schemeClr val="accent2"/>
          </a:solidFill>
          <a:ln w="25400">
            <a:solidFill>
              <a:srgbClr val="FFFFFF"/>
            </a:solidFill>
            <a:prstDash val="solid"/>
          </a:ln>
        </p:spPr>
      </p:sp>
      <p:sp>
        <p:nvSpPr>
          <p:cNvPr id="14" name="Step number 2"/>
          <p:cNvSpPr txBox="1"/>
          <p:nvPr/>
        </p:nvSpPr>
        <p:spPr>
          <a:xfrm>
            <a:off x="3108960" y="146304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2</a:t>
            </a:r>
            <a:endParaRPr lang="en-US" sz="1200" dirty="0"/>
          </a:p>
        </p:txBody>
      </p:sp>
      <p:sp>
        <p:nvSpPr>
          <p:cNvPr id="15" name="Step title 2"/>
          <p:cNvSpPr txBox="1"/>
          <p:nvPr/>
        </p:nvSpPr>
        <p:spPr>
          <a:xfrm>
            <a:off x="2194560" y="260604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Audience</a:t>
            </a:r>
            <a:endParaRPr lang="en-US" sz="1600" dirty="0"/>
          </a:p>
        </p:txBody>
      </p:sp>
      <p:sp>
        <p:nvSpPr>
          <p:cNvPr id="16" name="Step text 2"/>
          <p:cNvSpPr txBox="1"/>
          <p:nvPr/>
        </p:nvSpPr>
        <p:spPr>
          <a:xfrm>
            <a:off x="2194560" y="2971800"/>
            <a:ext cx="1463040" cy="548640"/>
          </a:xfrm>
          <a:prstGeom prst="rect">
            <a:avLst/>
          </a:prstGeom>
          <a:noFill/>
          <a:ln/>
        </p:spPr>
        <p:txBody>
          <a:bodyPr wrap="square" lIns="0" tIns="0" rIns="0" bIns="0" rtlCol="0" anchor="t"/>
          <a:lstStyle/>
          <a:p>
            <a:pPr algn="ctr" indent="0" marL="0">
              <a:buNone/>
            </a:pPr>
            <a:r>
              <a:rPr lang="en-US" sz="1300" dirty="0">
                <a:solidFill>
                  <a:schemeClr val="tx1"/>
                </a:solidFill>
              </a:rPr>
              <a:t>Identify who to target</a:t>
            </a:r>
            <a:endParaRPr lang="en-US" sz="1300" dirty="0"/>
          </a:p>
        </p:txBody>
      </p:sp>
      <p:sp>
        <p:nvSpPr>
          <p:cNvPr id="17" name="Content Plan circle"/>
          <p:cNvSpPr/>
          <p:nvPr/>
        </p:nvSpPr>
        <p:spPr>
          <a:xfrm>
            <a:off x="4114800" y="1508760"/>
            <a:ext cx="914400" cy="914400"/>
          </a:xfrm>
          <a:prstGeom prst="ellipse">
            <a:avLst/>
          </a:prstGeom>
          <a:solidFill>
            <a:schemeClr val="tx2"/>
          </a:solidFill>
          <a:ln/>
        </p:spPr>
      </p:sp>
      <p:pic>
        <p:nvPicPr>
          <p:cNvPr id="18" name="Content Plan icon" descr="Content Plan">    </p:cNvPr>
          <p:cNvPicPr>
            <a:picLocks noChangeAspect="1"/>
          </p:cNvPicPr>
          <p:nvPr/>
        </p:nvPicPr>
        <p:blipFill>
          <a:blip r:embed="rId3"/>
          <a:stretch>
            <a:fillRect/>
          </a:stretch>
        </p:blipFill>
        <p:spPr>
          <a:xfrm>
            <a:off x="4361688" y="1755648"/>
            <a:ext cx="420624" cy="420624"/>
          </a:xfrm>
          <a:prstGeom prst="rect">
            <a:avLst/>
          </a:prstGeom>
        </p:spPr>
      </p:pic>
      <p:sp>
        <p:nvSpPr>
          <p:cNvPr id="19" name="Step badge 3"/>
          <p:cNvSpPr/>
          <p:nvPr/>
        </p:nvSpPr>
        <p:spPr>
          <a:xfrm>
            <a:off x="4754880" y="1463040"/>
            <a:ext cx="329184" cy="329184"/>
          </a:xfrm>
          <a:prstGeom prst="ellipse">
            <a:avLst/>
          </a:prstGeom>
          <a:solidFill>
            <a:schemeClr val="accent2"/>
          </a:solidFill>
          <a:ln w="25400">
            <a:solidFill>
              <a:srgbClr val="FFFFFF"/>
            </a:solidFill>
            <a:prstDash val="solid"/>
          </a:ln>
        </p:spPr>
      </p:sp>
      <p:sp>
        <p:nvSpPr>
          <p:cNvPr id="20" name="Step number 3"/>
          <p:cNvSpPr txBox="1"/>
          <p:nvPr/>
        </p:nvSpPr>
        <p:spPr>
          <a:xfrm>
            <a:off x="4754880" y="146304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3</a:t>
            </a:r>
            <a:endParaRPr lang="en-US" sz="1200" dirty="0"/>
          </a:p>
        </p:txBody>
      </p:sp>
      <p:sp>
        <p:nvSpPr>
          <p:cNvPr id="21" name="Step title 3"/>
          <p:cNvSpPr txBox="1"/>
          <p:nvPr/>
        </p:nvSpPr>
        <p:spPr>
          <a:xfrm>
            <a:off x="3840480" y="260604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Content Plan</a:t>
            </a:r>
            <a:endParaRPr lang="en-US" sz="1600" dirty="0"/>
          </a:p>
        </p:txBody>
      </p:sp>
      <p:sp>
        <p:nvSpPr>
          <p:cNvPr id="22" name="Step text 3"/>
          <p:cNvSpPr txBox="1"/>
          <p:nvPr/>
        </p:nvSpPr>
        <p:spPr>
          <a:xfrm>
            <a:off x="3840480" y="2971800"/>
            <a:ext cx="1463040" cy="548640"/>
          </a:xfrm>
          <a:prstGeom prst="rect">
            <a:avLst/>
          </a:prstGeom>
          <a:noFill/>
          <a:ln/>
        </p:spPr>
        <p:txBody>
          <a:bodyPr wrap="square" lIns="0" tIns="0" rIns="0" bIns="0" rtlCol="0" anchor="t"/>
          <a:lstStyle/>
          <a:p>
            <a:pPr algn="ctr" indent="0" marL="0">
              <a:buNone/>
            </a:pPr>
            <a:r>
              <a:rPr lang="en-US" sz="1300" dirty="0">
                <a:solidFill>
                  <a:schemeClr val="tx1"/>
                </a:solidFill>
              </a:rPr>
              <a:t>A plan for the month</a:t>
            </a:r>
            <a:endParaRPr lang="en-US" sz="1300" dirty="0"/>
          </a:p>
        </p:txBody>
      </p:sp>
      <p:sp>
        <p:nvSpPr>
          <p:cNvPr id="23" name="Launch circle"/>
          <p:cNvSpPr/>
          <p:nvPr/>
        </p:nvSpPr>
        <p:spPr>
          <a:xfrm>
            <a:off x="5760720" y="1508760"/>
            <a:ext cx="914400" cy="914400"/>
          </a:xfrm>
          <a:prstGeom prst="ellipse">
            <a:avLst/>
          </a:prstGeom>
          <a:solidFill>
            <a:schemeClr val="accent1"/>
          </a:solidFill>
          <a:ln/>
        </p:spPr>
      </p:sp>
      <p:pic>
        <p:nvPicPr>
          <p:cNvPr id="24" name="Launch icon" descr="Launch">    </p:cNvPr>
          <p:cNvPicPr>
            <a:picLocks noChangeAspect="1"/>
          </p:cNvPicPr>
          <p:nvPr/>
        </p:nvPicPr>
        <p:blipFill>
          <a:blip r:embed="rId4"/>
          <a:stretch>
            <a:fillRect/>
          </a:stretch>
        </p:blipFill>
        <p:spPr>
          <a:xfrm>
            <a:off x="6007608" y="1755648"/>
            <a:ext cx="420624" cy="420624"/>
          </a:xfrm>
          <a:prstGeom prst="rect">
            <a:avLst/>
          </a:prstGeom>
        </p:spPr>
      </p:pic>
      <p:sp>
        <p:nvSpPr>
          <p:cNvPr id="25" name="Step badge 4"/>
          <p:cNvSpPr/>
          <p:nvPr/>
        </p:nvSpPr>
        <p:spPr>
          <a:xfrm>
            <a:off x="6400800" y="1463040"/>
            <a:ext cx="329184" cy="329184"/>
          </a:xfrm>
          <a:prstGeom prst="ellipse">
            <a:avLst/>
          </a:prstGeom>
          <a:solidFill>
            <a:schemeClr val="accent2"/>
          </a:solidFill>
          <a:ln w="25400">
            <a:solidFill>
              <a:srgbClr val="FFFFFF"/>
            </a:solidFill>
            <a:prstDash val="solid"/>
          </a:ln>
        </p:spPr>
      </p:sp>
      <p:sp>
        <p:nvSpPr>
          <p:cNvPr id="26" name="Step number 4"/>
          <p:cNvSpPr txBox="1"/>
          <p:nvPr/>
        </p:nvSpPr>
        <p:spPr>
          <a:xfrm>
            <a:off x="6400800" y="146304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4</a:t>
            </a:r>
            <a:endParaRPr lang="en-US" sz="1200" dirty="0"/>
          </a:p>
        </p:txBody>
      </p:sp>
      <p:sp>
        <p:nvSpPr>
          <p:cNvPr id="27" name="Step title 4"/>
          <p:cNvSpPr txBox="1"/>
          <p:nvPr/>
        </p:nvSpPr>
        <p:spPr>
          <a:xfrm>
            <a:off x="5486400" y="260604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Launch</a:t>
            </a:r>
            <a:endParaRPr lang="en-US" sz="1600" dirty="0"/>
          </a:p>
        </p:txBody>
      </p:sp>
      <p:sp>
        <p:nvSpPr>
          <p:cNvPr id="28" name="Step text 4"/>
          <p:cNvSpPr txBox="1"/>
          <p:nvPr/>
        </p:nvSpPr>
        <p:spPr>
          <a:xfrm>
            <a:off x="5486400" y="2971800"/>
            <a:ext cx="1463040" cy="548640"/>
          </a:xfrm>
          <a:prstGeom prst="rect">
            <a:avLst/>
          </a:prstGeom>
          <a:noFill/>
          <a:ln/>
        </p:spPr>
        <p:txBody>
          <a:bodyPr wrap="square" lIns="0" tIns="0" rIns="0" bIns="0" rtlCol="0" anchor="t"/>
          <a:lstStyle/>
          <a:p>
            <a:pPr algn="ctr" indent="0" marL="0">
              <a:buNone/>
            </a:pPr>
            <a:r>
              <a:rPr lang="en-US" sz="1300" dirty="0">
                <a:solidFill>
                  <a:schemeClr val="tx1"/>
                </a:solidFill>
              </a:rPr>
              <a:t>Publish content and ads</a:t>
            </a:r>
            <a:endParaRPr lang="en-US" sz="1300" dirty="0"/>
          </a:p>
        </p:txBody>
      </p:sp>
      <p:sp>
        <p:nvSpPr>
          <p:cNvPr id="29" name="Measure circle"/>
          <p:cNvSpPr/>
          <p:nvPr/>
        </p:nvSpPr>
        <p:spPr>
          <a:xfrm>
            <a:off x="7406640" y="1508760"/>
            <a:ext cx="914400" cy="914400"/>
          </a:xfrm>
          <a:prstGeom prst="ellipse">
            <a:avLst/>
          </a:prstGeom>
          <a:solidFill>
            <a:schemeClr val="accent4"/>
          </a:solidFill>
          <a:ln/>
        </p:spPr>
      </p:sp>
      <p:pic>
        <p:nvPicPr>
          <p:cNvPr id="30" name="Measure icon" descr="Measure">    </p:cNvPr>
          <p:cNvPicPr>
            <a:picLocks noChangeAspect="1"/>
          </p:cNvPicPr>
          <p:nvPr/>
        </p:nvPicPr>
        <p:blipFill>
          <a:blip r:embed="rId5"/>
          <a:stretch>
            <a:fillRect/>
          </a:stretch>
        </p:blipFill>
        <p:spPr>
          <a:xfrm>
            <a:off x="7653528" y="1755648"/>
            <a:ext cx="420624" cy="420624"/>
          </a:xfrm>
          <a:prstGeom prst="rect">
            <a:avLst/>
          </a:prstGeom>
        </p:spPr>
      </p:pic>
      <p:sp>
        <p:nvSpPr>
          <p:cNvPr id="31" name="Step badge 5"/>
          <p:cNvSpPr/>
          <p:nvPr/>
        </p:nvSpPr>
        <p:spPr>
          <a:xfrm>
            <a:off x="8046720" y="1463040"/>
            <a:ext cx="329184" cy="329184"/>
          </a:xfrm>
          <a:prstGeom prst="ellipse">
            <a:avLst/>
          </a:prstGeom>
          <a:solidFill>
            <a:schemeClr val="accent2"/>
          </a:solidFill>
          <a:ln w="25400">
            <a:solidFill>
              <a:srgbClr val="FFFFFF"/>
            </a:solidFill>
            <a:prstDash val="solid"/>
          </a:ln>
        </p:spPr>
      </p:sp>
      <p:sp>
        <p:nvSpPr>
          <p:cNvPr id="32" name="Step number 5"/>
          <p:cNvSpPr txBox="1"/>
          <p:nvPr/>
        </p:nvSpPr>
        <p:spPr>
          <a:xfrm>
            <a:off x="8046720" y="1463040"/>
            <a:ext cx="329184" cy="329184"/>
          </a:xfrm>
          <a:prstGeom prst="rect">
            <a:avLst/>
          </a:prstGeom>
          <a:noFill/>
          <a:ln/>
        </p:spPr>
        <p:txBody>
          <a:bodyPr wrap="square" lIns="0" tIns="0" rIns="0" bIns="0" rtlCol="0" anchor="ctr"/>
          <a:lstStyle/>
          <a:p>
            <a:pPr algn="ctr" indent="0" marL="0">
              <a:buNone/>
            </a:pPr>
            <a:r>
              <a:rPr lang="en-US" sz="1200" b="1" dirty="0">
                <a:solidFill>
                  <a:schemeClr val="tx2"/>
                </a:solidFill>
              </a:rPr>
              <a:t>5</a:t>
            </a:r>
            <a:endParaRPr lang="en-US" sz="1200" dirty="0"/>
          </a:p>
        </p:txBody>
      </p:sp>
      <p:sp>
        <p:nvSpPr>
          <p:cNvPr id="33" name="Step title 5"/>
          <p:cNvSpPr txBox="1"/>
          <p:nvPr/>
        </p:nvSpPr>
        <p:spPr>
          <a:xfrm>
            <a:off x="7132320" y="2606040"/>
            <a:ext cx="1463040" cy="365760"/>
          </a:xfrm>
          <a:prstGeom prst="rect">
            <a:avLst/>
          </a:prstGeom>
          <a:noFill/>
          <a:ln/>
        </p:spPr>
        <p:txBody>
          <a:bodyPr wrap="square" lIns="0" tIns="0" rIns="0" bIns="0" rtlCol="0" anchor="ctr"/>
          <a:lstStyle/>
          <a:p>
            <a:pPr algn="ctr" indent="0" marL="0">
              <a:buNone/>
            </a:pPr>
            <a:r>
              <a:rPr lang="en-US" sz="1600" b="1" dirty="0">
                <a:solidFill>
                  <a:schemeClr val="tx2"/>
                </a:solidFill>
              </a:rPr>
              <a:t>Measure</a:t>
            </a:r>
            <a:endParaRPr lang="en-US" sz="1600" dirty="0"/>
          </a:p>
        </p:txBody>
      </p:sp>
      <p:sp>
        <p:nvSpPr>
          <p:cNvPr id="34" name="Step text 5"/>
          <p:cNvSpPr txBox="1"/>
          <p:nvPr/>
        </p:nvSpPr>
        <p:spPr>
          <a:xfrm>
            <a:off x="7132320" y="2971800"/>
            <a:ext cx="1463040" cy="548640"/>
          </a:xfrm>
          <a:prstGeom prst="rect">
            <a:avLst/>
          </a:prstGeom>
          <a:noFill/>
          <a:ln/>
        </p:spPr>
        <p:txBody>
          <a:bodyPr wrap="square" lIns="0" tIns="0" rIns="0" bIns="0" rtlCol="0" anchor="t"/>
          <a:lstStyle/>
          <a:p>
            <a:pPr algn="ctr" indent="0" marL="0">
              <a:buNone/>
            </a:pPr>
            <a:r>
              <a:rPr lang="en-US" sz="1300" dirty="0">
                <a:solidFill>
                  <a:schemeClr val="tx1"/>
                </a:solidFill>
              </a:rPr>
              <a:t>Track results and improve</a:t>
            </a:r>
            <a:endParaRPr lang="en-US" sz="1300" dirty="0"/>
          </a:p>
        </p:txBody>
      </p:sp>
      <p:sp>
        <p:nvSpPr>
          <p:cNvPr id="35" name="Repeat note box"/>
          <p:cNvSpPr/>
          <p:nvPr/>
        </p:nvSpPr>
        <p:spPr>
          <a:xfrm>
            <a:off x="2103120" y="3886200"/>
            <a:ext cx="4937760" cy="548640"/>
          </a:xfrm>
          <a:prstGeom prst="roundRect">
            <a:avLst>
              <a:gd name="adj" fmla="val 50000"/>
            </a:avLst>
          </a:prstGeom>
          <a:solidFill>
            <a:schemeClr val="bg2"/>
          </a:solidFill>
          <a:ln/>
        </p:spPr>
      </p:sp>
      <p:pic>
        <p:nvPicPr>
          <p:cNvPr id="36" name="Repeat icon" descr="preencoded.png">    </p:cNvPr>
          <p:cNvPicPr>
            <a:picLocks noChangeAspect="1"/>
          </p:cNvPicPr>
          <p:nvPr/>
        </p:nvPicPr>
        <p:blipFill>
          <a:blip r:embed="rId6"/>
          <a:stretch>
            <a:fillRect/>
          </a:stretch>
        </p:blipFill>
        <p:spPr>
          <a:xfrm>
            <a:off x="2331720" y="4023360"/>
            <a:ext cx="274320" cy="274320"/>
          </a:xfrm>
          <a:prstGeom prst="rect">
            <a:avLst/>
          </a:prstGeom>
        </p:spPr>
      </p:pic>
      <p:sp>
        <p:nvSpPr>
          <p:cNvPr id="37" name="Repeat note"/>
          <p:cNvSpPr txBox="1"/>
          <p:nvPr/>
        </p:nvSpPr>
        <p:spPr>
          <a:xfrm>
            <a:off x="2743200" y="3886200"/>
            <a:ext cx="4206240" cy="548640"/>
          </a:xfrm>
          <a:prstGeom prst="rect">
            <a:avLst/>
          </a:prstGeom>
          <a:noFill/>
          <a:ln/>
        </p:spPr>
        <p:txBody>
          <a:bodyPr wrap="square" lIns="0" tIns="0" rIns="0" bIns="0" rtlCol="0" anchor="ctr"/>
          <a:lstStyle/>
          <a:p>
            <a:pPr indent="0" marL="0">
              <a:buNone/>
            </a:pPr>
            <a:r>
              <a:rPr lang="en-US" sz="1400" dirty="0">
                <a:solidFill>
                  <a:schemeClr val="tx2"/>
                </a:solidFill>
              </a:rPr>
              <a:t>What we learn in step 5 improves next month's plan</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05  BUDGET</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Monthly Budget</a:t>
            </a:r>
            <a:endParaRPr lang="en-US" sz="3200" dirty="0"/>
          </a:p>
        </p:txBody>
      </p:sp>
      <p:graphicFrame>
        <p:nvGraphicFramePr>
          <p:cNvPr id="4" name="Budget doughnut" descr=""/>
          <p:cNvGraphicFramePr/>
          <p:nvPr/>
        </p:nvGraphicFramePr>
        <p:xfrm>
          <a:off x="548640" y="1280160"/>
          <a:ext cx="3383280" cy="3383280"/>
        </p:xfrm>
        <a:graphic xmlns:a="http://schemas.openxmlformats.org/drawingml/2006/main">
          <a:graphicData uri="http://schemas.openxmlformats.org/drawingml/2006/chart">
            <c:chart xmlns:c="http://schemas.openxmlformats.org/drawingml/2006/chart" r:id="rId1"/>
          </a:graphicData>
        </a:graphic>
      </p:graphicFrame>
      <p:sp>
        <p:nvSpPr>
          <p:cNvPr id="5" name="Budget total center"/>
          <p:cNvSpPr txBox="1"/>
          <p:nvPr/>
        </p:nvSpPr>
        <p:spPr>
          <a:xfrm>
            <a:off x="1234440" y="2514600"/>
            <a:ext cx="2011680" cy="91440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13,000</a:t>
            </a:r>
            <a:endParaRPr lang="en-US" sz="3000" dirty="0"/>
          </a:p>
          <a:p>
            <a:pPr algn="ctr" indent="0" marL="0">
              <a:buNone/>
            </a:pPr>
            <a:r>
              <a:rPr lang="en-US" sz="1300" dirty="0">
                <a:solidFill>
                  <a:schemeClr val="accent5"/>
                </a:solidFill>
              </a:rPr>
              <a:t>EGP / month</a:t>
            </a:r>
            <a:endParaRPr lang="en-US" sz="3000" dirty="0"/>
          </a:p>
        </p:txBody>
      </p:sp>
      <p:sp>
        <p:nvSpPr>
          <p:cNvPr id="6" name="Legend dot 1"/>
          <p:cNvSpPr/>
          <p:nvPr/>
        </p:nvSpPr>
        <p:spPr>
          <a:xfrm>
            <a:off x="4480560" y="1591056"/>
            <a:ext cx="219456" cy="219456"/>
          </a:xfrm>
          <a:prstGeom prst="ellipse">
            <a:avLst/>
          </a:prstGeom>
          <a:solidFill>
            <a:srgbClr val="2E1F17"/>
          </a:solidFill>
          <a:ln/>
        </p:spPr>
      </p:sp>
      <p:sp>
        <p:nvSpPr>
          <p:cNvPr id="7" name="Budget item 1"/>
          <p:cNvSpPr txBox="1"/>
          <p:nvPr/>
        </p:nvSpPr>
        <p:spPr>
          <a:xfrm>
            <a:off x="4846320" y="1463040"/>
            <a:ext cx="2651760" cy="475488"/>
          </a:xfrm>
          <a:prstGeom prst="rect">
            <a:avLst/>
          </a:prstGeom>
          <a:noFill/>
          <a:ln/>
        </p:spPr>
        <p:txBody>
          <a:bodyPr wrap="square" lIns="0" tIns="0" rIns="0" bIns="0" rtlCol="0" anchor="ctr"/>
          <a:lstStyle/>
          <a:p>
            <a:pPr indent="0" marL="0">
              <a:buNone/>
            </a:pPr>
            <a:r>
              <a:rPr lang="en-US" sz="1500" dirty="0">
                <a:solidFill>
                  <a:schemeClr val="tx1"/>
                </a:solidFill>
              </a:rPr>
              <a:t>Social media management</a:t>
            </a:r>
            <a:endParaRPr lang="en-US" sz="1500" dirty="0"/>
          </a:p>
        </p:txBody>
      </p:sp>
      <p:sp>
        <p:nvSpPr>
          <p:cNvPr id="8" name="Budget amount 1"/>
          <p:cNvSpPr txBox="1"/>
          <p:nvPr/>
        </p:nvSpPr>
        <p:spPr>
          <a:xfrm>
            <a:off x="7223760" y="1463040"/>
            <a:ext cx="1463040" cy="475488"/>
          </a:xfrm>
          <a:prstGeom prst="rect">
            <a:avLst/>
          </a:prstGeom>
          <a:noFill/>
          <a:ln/>
        </p:spPr>
        <p:txBody>
          <a:bodyPr wrap="square" lIns="0" tIns="0" rIns="0" bIns="0" rtlCol="0" anchor="ctr"/>
          <a:lstStyle/>
          <a:p>
            <a:pPr algn="r" indent="0" marL="0">
              <a:buNone/>
            </a:pPr>
            <a:r>
              <a:rPr lang="en-US" sz="1500" b="1" dirty="0">
                <a:solidFill>
                  <a:schemeClr val="tx2"/>
                </a:solidFill>
              </a:rPr>
              <a:t>5,000 EGP</a:t>
            </a:r>
            <a:endParaRPr lang="en-US" sz="1500" dirty="0"/>
          </a:p>
        </p:txBody>
      </p:sp>
      <p:sp>
        <p:nvSpPr>
          <p:cNvPr id="9" name="Legend dot 2"/>
          <p:cNvSpPr/>
          <p:nvPr/>
        </p:nvSpPr>
        <p:spPr>
          <a:xfrm>
            <a:off x="4480560" y="2157984"/>
            <a:ext cx="219456" cy="219456"/>
          </a:xfrm>
          <a:prstGeom prst="ellipse">
            <a:avLst/>
          </a:prstGeom>
          <a:solidFill>
            <a:srgbClr val="C27A3A"/>
          </a:solidFill>
          <a:ln/>
        </p:spPr>
      </p:sp>
      <p:sp>
        <p:nvSpPr>
          <p:cNvPr id="10" name="Budget item 2"/>
          <p:cNvSpPr txBox="1"/>
          <p:nvPr/>
        </p:nvSpPr>
        <p:spPr>
          <a:xfrm>
            <a:off x="4846320" y="2029968"/>
            <a:ext cx="2651760" cy="475488"/>
          </a:xfrm>
          <a:prstGeom prst="rect">
            <a:avLst/>
          </a:prstGeom>
          <a:noFill/>
          <a:ln/>
        </p:spPr>
        <p:txBody>
          <a:bodyPr wrap="square" lIns="0" tIns="0" rIns="0" bIns="0" rtlCol="0" anchor="ctr"/>
          <a:lstStyle/>
          <a:p>
            <a:pPr indent="0" marL="0">
              <a:buNone/>
            </a:pPr>
            <a:r>
              <a:rPr lang="en-US" sz="1500" dirty="0">
                <a:solidFill>
                  <a:schemeClr val="tx1"/>
                </a:solidFill>
              </a:rPr>
              <a:t>Paid advertising</a:t>
            </a:r>
            <a:endParaRPr lang="en-US" sz="1500" dirty="0"/>
          </a:p>
        </p:txBody>
      </p:sp>
      <p:sp>
        <p:nvSpPr>
          <p:cNvPr id="11" name="Budget amount 2"/>
          <p:cNvSpPr txBox="1"/>
          <p:nvPr/>
        </p:nvSpPr>
        <p:spPr>
          <a:xfrm>
            <a:off x="7223760" y="2029968"/>
            <a:ext cx="1463040" cy="475488"/>
          </a:xfrm>
          <a:prstGeom prst="rect">
            <a:avLst/>
          </a:prstGeom>
          <a:noFill/>
          <a:ln/>
        </p:spPr>
        <p:txBody>
          <a:bodyPr wrap="square" lIns="0" tIns="0" rIns="0" bIns="0" rtlCol="0" anchor="ctr"/>
          <a:lstStyle/>
          <a:p>
            <a:pPr algn="r" indent="0" marL="0">
              <a:buNone/>
            </a:pPr>
            <a:r>
              <a:rPr lang="en-US" sz="1500" b="1" dirty="0">
                <a:solidFill>
                  <a:schemeClr val="tx2"/>
                </a:solidFill>
              </a:rPr>
              <a:t>4,000 EGP</a:t>
            </a:r>
            <a:endParaRPr lang="en-US" sz="1500" dirty="0"/>
          </a:p>
        </p:txBody>
      </p:sp>
      <p:sp>
        <p:nvSpPr>
          <p:cNvPr id="12" name="Legend dot 3"/>
          <p:cNvSpPr/>
          <p:nvPr/>
        </p:nvSpPr>
        <p:spPr>
          <a:xfrm>
            <a:off x="4480560" y="2724912"/>
            <a:ext cx="219456" cy="219456"/>
          </a:xfrm>
          <a:prstGeom prst="ellipse">
            <a:avLst/>
          </a:prstGeom>
          <a:solidFill>
            <a:srgbClr val="5B7F5E"/>
          </a:solidFill>
          <a:ln/>
        </p:spPr>
      </p:sp>
      <p:sp>
        <p:nvSpPr>
          <p:cNvPr id="13" name="Budget item 3"/>
          <p:cNvSpPr txBox="1"/>
          <p:nvPr/>
        </p:nvSpPr>
        <p:spPr>
          <a:xfrm>
            <a:off x="4846320" y="2596896"/>
            <a:ext cx="2651760" cy="475488"/>
          </a:xfrm>
          <a:prstGeom prst="rect">
            <a:avLst/>
          </a:prstGeom>
          <a:noFill/>
          <a:ln/>
        </p:spPr>
        <p:txBody>
          <a:bodyPr wrap="square" lIns="0" tIns="0" rIns="0" bIns="0" rtlCol="0" anchor="ctr"/>
          <a:lstStyle/>
          <a:p>
            <a:pPr indent="0" marL="0">
              <a:buNone/>
            </a:pPr>
            <a:r>
              <a:rPr lang="en-US" sz="1500" dirty="0">
                <a:solidFill>
                  <a:schemeClr val="tx1"/>
                </a:solidFill>
              </a:rPr>
              <a:t>Content creation</a:t>
            </a:r>
            <a:endParaRPr lang="en-US" sz="1500" dirty="0"/>
          </a:p>
        </p:txBody>
      </p:sp>
      <p:sp>
        <p:nvSpPr>
          <p:cNvPr id="14" name="Budget amount 3"/>
          <p:cNvSpPr txBox="1"/>
          <p:nvPr/>
        </p:nvSpPr>
        <p:spPr>
          <a:xfrm>
            <a:off x="7223760" y="2596896"/>
            <a:ext cx="1463040" cy="475488"/>
          </a:xfrm>
          <a:prstGeom prst="rect">
            <a:avLst/>
          </a:prstGeom>
          <a:noFill/>
          <a:ln/>
        </p:spPr>
        <p:txBody>
          <a:bodyPr wrap="square" lIns="0" tIns="0" rIns="0" bIns="0" rtlCol="0" anchor="ctr"/>
          <a:lstStyle/>
          <a:p>
            <a:pPr algn="r" indent="0" marL="0">
              <a:buNone/>
            </a:pPr>
            <a:r>
              <a:rPr lang="en-US" sz="1500" b="1" dirty="0">
                <a:solidFill>
                  <a:schemeClr val="tx2"/>
                </a:solidFill>
              </a:rPr>
              <a:t>3,000 EGP</a:t>
            </a:r>
            <a:endParaRPr lang="en-US" sz="1500" dirty="0"/>
          </a:p>
        </p:txBody>
      </p:sp>
      <p:sp>
        <p:nvSpPr>
          <p:cNvPr id="15" name="Legend dot 4"/>
          <p:cNvSpPr/>
          <p:nvPr/>
        </p:nvSpPr>
        <p:spPr>
          <a:xfrm>
            <a:off x="4480560" y="3291840"/>
            <a:ext cx="219456" cy="219456"/>
          </a:xfrm>
          <a:prstGeom prst="ellipse">
            <a:avLst/>
          </a:prstGeom>
          <a:solidFill>
            <a:srgbClr val="E8C9A6"/>
          </a:solidFill>
          <a:ln/>
        </p:spPr>
      </p:sp>
      <p:sp>
        <p:nvSpPr>
          <p:cNvPr id="16" name="Budget item 4"/>
          <p:cNvSpPr txBox="1"/>
          <p:nvPr/>
        </p:nvSpPr>
        <p:spPr>
          <a:xfrm>
            <a:off x="4846320" y="3163824"/>
            <a:ext cx="2651760" cy="475488"/>
          </a:xfrm>
          <a:prstGeom prst="rect">
            <a:avLst/>
          </a:prstGeom>
          <a:noFill/>
          <a:ln/>
        </p:spPr>
        <p:txBody>
          <a:bodyPr wrap="square" lIns="0" tIns="0" rIns="0" bIns="0" rtlCol="0" anchor="ctr"/>
          <a:lstStyle/>
          <a:p>
            <a:pPr indent="0" marL="0">
              <a:buNone/>
            </a:pPr>
            <a:r>
              <a:rPr lang="en-US" sz="1500" dirty="0">
                <a:solidFill>
                  <a:schemeClr val="tx1"/>
                </a:solidFill>
              </a:rPr>
              <a:t>Reporting and optimization</a:t>
            </a:r>
            <a:endParaRPr lang="en-US" sz="1500" dirty="0"/>
          </a:p>
        </p:txBody>
      </p:sp>
      <p:sp>
        <p:nvSpPr>
          <p:cNvPr id="17" name="Budget amount 4"/>
          <p:cNvSpPr txBox="1"/>
          <p:nvPr/>
        </p:nvSpPr>
        <p:spPr>
          <a:xfrm>
            <a:off x="7223760" y="3163824"/>
            <a:ext cx="1463040" cy="475488"/>
          </a:xfrm>
          <a:prstGeom prst="rect">
            <a:avLst/>
          </a:prstGeom>
          <a:noFill/>
          <a:ln/>
        </p:spPr>
        <p:txBody>
          <a:bodyPr wrap="square" lIns="0" tIns="0" rIns="0" bIns="0" rtlCol="0" anchor="ctr"/>
          <a:lstStyle/>
          <a:p>
            <a:pPr algn="r" indent="0" marL="0">
              <a:buNone/>
            </a:pPr>
            <a:r>
              <a:rPr lang="en-US" sz="1500" b="1" dirty="0">
                <a:solidFill>
                  <a:schemeClr val="tx2"/>
                </a:solidFill>
              </a:rPr>
              <a:t>1,000 EGP</a:t>
            </a:r>
            <a:endParaRPr lang="en-US" sz="1500" dirty="0"/>
          </a:p>
        </p:txBody>
      </p:sp>
      <p:sp>
        <p:nvSpPr>
          <p:cNvPr id="18" name="Total box"/>
          <p:cNvSpPr/>
          <p:nvPr/>
        </p:nvSpPr>
        <p:spPr>
          <a:xfrm>
            <a:off x="4389120" y="3767328"/>
            <a:ext cx="4297680" cy="502920"/>
          </a:xfrm>
          <a:prstGeom prst="roundRect">
            <a:avLst>
              <a:gd name="adj" fmla="val 18182"/>
            </a:avLst>
          </a:prstGeom>
          <a:solidFill>
            <a:schemeClr val="tx2"/>
          </a:solidFill>
          <a:ln/>
        </p:spPr>
      </p:sp>
      <p:sp>
        <p:nvSpPr>
          <p:cNvPr id="19" name="Total label"/>
          <p:cNvSpPr txBox="1"/>
          <p:nvPr/>
        </p:nvSpPr>
        <p:spPr>
          <a:xfrm>
            <a:off x="4572000" y="3767328"/>
            <a:ext cx="2560320" cy="502920"/>
          </a:xfrm>
          <a:prstGeom prst="rect">
            <a:avLst/>
          </a:prstGeom>
          <a:noFill/>
          <a:ln/>
        </p:spPr>
        <p:txBody>
          <a:bodyPr wrap="square" lIns="0" tIns="0" rIns="0" bIns="0" rtlCol="0" anchor="ctr"/>
          <a:lstStyle/>
          <a:p>
            <a:pPr indent="0" marL="0">
              <a:buNone/>
            </a:pPr>
            <a:r>
              <a:rPr lang="en-US" sz="1500" b="1" dirty="0">
                <a:solidFill>
                  <a:schemeClr val="bg1"/>
                </a:solidFill>
              </a:rPr>
              <a:t>Total</a:t>
            </a:r>
            <a:endParaRPr lang="en-US" sz="1500" dirty="0"/>
          </a:p>
        </p:txBody>
      </p:sp>
      <p:sp>
        <p:nvSpPr>
          <p:cNvPr id="20" name="Total value"/>
          <p:cNvSpPr txBox="1"/>
          <p:nvPr/>
        </p:nvSpPr>
        <p:spPr>
          <a:xfrm>
            <a:off x="6949440" y="3767328"/>
            <a:ext cx="1600200" cy="502920"/>
          </a:xfrm>
          <a:prstGeom prst="rect">
            <a:avLst/>
          </a:prstGeom>
          <a:noFill/>
          <a:ln/>
        </p:spPr>
        <p:txBody>
          <a:bodyPr wrap="square" lIns="0" tIns="0" rIns="0" bIns="0" rtlCol="0" anchor="ctr"/>
          <a:lstStyle/>
          <a:p>
            <a:pPr algn="r" indent="0" marL="0">
              <a:buNone/>
            </a:pPr>
            <a:r>
              <a:rPr lang="en-US" sz="1500" b="1" dirty="0">
                <a:solidFill>
                  <a:schemeClr val="accent2"/>
                </a:solidFill>
              </a:rPr>
              <a:t>13,000 EGP</a:t>
            </a:r>
            <a:endParaRPr lang="en-US" sz="1500" dirty="0"/>
          </a:p>
        </p:txBody>
      </p:sp>
      <p:sp>
        <p:nvSpPr>
          <p:cNvPr id="21" name="Budget footnote"/>
          <p:cNvSpPr txBox="1"/>
          <p:nvPr/>
        </p:nvSpPr>
        <p:spPr>
          <a:xfrm>
            <a:off x="4389120" y="4343400"/>
            <a:ext cx="4297680" cy="274320"/>
          </a:xfrm>
          <a:prstGeom prst="rect">
            <a:avLst/>
          </a:prstGeom>
          <a:noFill/>
          <a:ln/>
        </p:spPr>
        <p:txBody>
          <a:bodyPr wrap="square" lIns="0" tIns="0" rIns="0" bIns="0" rtlCol="0" anchor="t"/>
          <a:lstStyle/>
          <a:p>
            <a:pPr indent="0" marL="0">
              <a:buNone/>
            </a:pPr>
            <a:r>
              <a:rPr lang="en-US" sz="1000" dirty="0">
                <a:solidFill>
                  <a:schemeClr val="accent5"/>
                </a:solidFill>
              </a:rPr>
              <a:t>This is a proposed budget for the presentation.</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06  TIMELINE</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First Month</a:t>
            </a:r>
            <a:endParaRPr lang="en-US" sz="3200" dirty="0"/>
          </a:p>
        </p:txBody>
      </p:sp>
      <p:sp>
        <p:nvSpPr>
          <p:cNvPr id="4" name="Timeline line"/>
          <p:cNvSpPr/>
          <p:nvPr/>
        </p:nvSpPr>
        <p:spPr>
          <a:xfrm>
            <a:off x="1485900" y="2103120"/>
            <a:ext cx="6172200" cy="0"/>
          </a:xfrm>
          <a:prstGeom prst="line">
            <a:avLst/>
          </a:prstGeom>
          <a:noFill/>
          <a:ln w="38100">
            <a:solidFill>
              <a:srgbClr val="E8C9A6"/>
            </a:solidFill>
            <a:prstDash val="dash"/>
          </a:ln>
        </p:spPr>
      </p:sp>
      <p:sp>
        <p:nvSpPr>
          <p:cNvPr id="5" name="Week pill 1"/>
          <p:cNvSpPr/>
          <p:nvPr/>
        </p:nvSpPr>
        <p:spPr>
          <a:xfrm>
            <a:off x="982980" y="1298448"/>
            <a:ext cx="1005840" cy="310896"/>
          </a:xfrm>
          <a:prstGeom prst="roundRect">
            <a:avLst>
              <a:gd name="adj" fmla="val 50000"/>
            </a:avLst>
          </a:prstGeom>
          <a:solidFill>
            <a:schemeClr val="accent4"/>
          </a:solidFill>
          <a:ln/>
        </p:spPr>
      </p:sp>
      <p:sp>
        <p:nvSpPr>
          <p:cNvPr id="6" name="Week label 1"/>
          <p:cNvSpPr txBox="1"/>
          <p:nvPr/>
        </p:nvSpPr>
        <p:spPr>
          <a:xfrm>
            <a:off x="982980" y="1298448"/>
            <a:ext cx="1005840" cy="310896"/>
          </a:xfrm>
          <a:prstGeom prst="rect">
            <a:avLst/>
          </a:prstGeom>
          <a:noFill/>
          <a:ln/>
        </p:spPr>
        <p:txBody>
          <a:bodyPr wrap="square" lIns="0" tIns="0" rIns="0" bIns="0" rtlCol="0" anchor="ctr"/>
          <a:lstStyle/>
          <a:p>
            <a:pPr algn="ctr" indent="0" marL="0">
              <a:buNone/>
            </a:pPr>
            <a:r>
              <a:rPr lang="en-US" sz="1100" b="1" spc="100" kern="0" dirty="0">
                <a:solidFill>
                  <a:schemeClr val="bg1"/>
                </a:solidFill>
              </a:rPr>
              <a:t>WEEK 1</a:t>
            </a:r>
            <a:endParaRPr lang="en-US" sz="1100" dirty="0"/>
          </a:p>
        </p:txBody>
      </p:sp>
      <p:sp>
        <p:nvSpPr>
          <p:cNvPr id="7" name="Research and planning circle"/>
          <p:cNvSpPr/>
          <p:nvPr/>
        </p:nvSpPr>
        <p:spPr>
          <a:xfrm>
            <a:off x="1101852" y="1719072"/>
            <a:ext cx="768096" cy="768096"/>
          </a:xfrm>
          <a:prstGeom prst="ellipse">
            <a:avLst/>
          </a:prstGeom>
          <a:solidFill>
            <a:schemeClr val="tx2"/>
          </a:solidFill>
          <a:ln/>
        </p:spPr>
      </p:sp>
      <p:pic>
        <p:nvPicPr>
          <p:cNvPr id="8" name="Research and planning icon" descr="Research and planning">    </p:cNvPr>
          <p:cNvPicPr>
            <a:picLocks noChangeAspect="1"/>
          </p:cNvPicPr>
          <p:nvPr/>
        </p:nvPicPr>
        <p:blipFill>
          <a:blip r:embed="rId1"/>
          <a:stretch>
            <a:fillRect/>
          </a:stretch>
        </p:blipFill>
        <p:spPr>
          <a:xfrm>
            <a:off x="1309238" y="1926458"/>
            <a:ext cx="353324" cy="353324"/>
          </a:xfrm>
          <a:prstGeom prst="rect">
            <a:avLst/>
          </a:prstGeom>
        </p:spPr>
      </p:pic>
      <p:sp>
        <p:nvSpPr>
          <p:cNvPr id="9" name="Week pill 2"/>
          <p:cNvSpPr/>
          <p:nvPr/>
        </p:nvSpPr>
        <p:spPr>
          <a:xfrm>
            <a:off x="3040380" y="1298448"/>
            <a:ext cx="1005840" cy="310896"/>
          </a:xfrm>
          <a:prstGeom prst="roundRect">
            <a:avLst>
              <a:gd name="adj" fmla="val 50000"/>
            </a:avLst>
          </a:prstGeom>
          <a:solidFill>
            <a:schemeClr val="accent4"/>
          </a:solidFill>
          <a:ln/>
        </p:spPr>
      </p:sp>
      <p:sp>
        <p:nvSpPr>
          <p:cNvPr id="10" name="Week label 2"/>
          <p:cNvSpPr txBox="1"/>
          <p:nvPr/>
        </p:nvSpPr>
        <p:spPr>
          <a:xfrm>
            <a:off x="3040380" y="1298448"/>
            <a:ext cx="1005840" cy="310896"/>
          </a:xfrm>
          <a:prstGeom prst="rect">
            <a:avLst/>
          </a:prstGeom>
          <a:noFill/>
          <a:ln/>
        </p:spPr>
        <p:txBody>
          <a:bodyPr wrap="square" lIns="0" tIns="0" rIns="0" bIns="0" rtlCol="0" anchor="ctr"/>
          <a:lstStyle/>
          <a:p>
            <a:pPr algn="ctr" indent="0" marL="0">
              <a:buNone/>
            </a:pPr>
            <a:r>
              <a:rPr lang="en-US" sz="1100" b="1" spc="100" kern="0" dirty="0">
                <a:solidFill>
                  <a:schemeClr val="bg1"/>
                </a:solidFill>
              </a:rPr>
              <a:t>WEEK 2</a:t>
            </a:r>
            <a:endParaRPr lang="en-US" sz="1100" dirty="0"/>
          </a:p>
        </p:txBody>
      </p:sp>
      <p:sp>
        <p:nvSpPr>
          <p:cNvPr id="11" name="Content creation circle"/>
          <p:cNvSpPr/>
          <p:nvPr/>
        </p:nvSpPr>
        <p:spPr>
          <a:xfrm>
            <a:off x="3159252" y="1719072"/>
            <a:ext cx="768096" cy="768096"/>
          </a:xfrm>
          <a:prstGeom prst="ellipse">
            <a:avLst/>
          </a:prstGeom>
          <a:solidFill>
            <a:schemeClr val="tx2"/>
          </a:solidFill>
          <a:ln/>
        </p:spPr>
      </p:sp>
      <p:pic>
        <p:nvPicPr>
          <p:cNvPr id="12" name="Content creation icon" descr="Content creation">    </p:cNvPr>
          <p:cNvPicPr>
            <a:picLocks noChangeAspect="1"/>
          </p:cNvPicPr>
          <p:nvPr/>
        </p:nvPicPr>
        <p:blipFill>
          <a:blip r:embed="rId2"/>
          <a:stretch>
            <a:fillRect/>
          </a:stretch>
        </p:blipFill>
        <p:spPr>
          <a:xfrm>
            <a:off x="3366638" y="1926458"/>
            <a:ext cx="353324" cy="353324"/>
          </a:xfrm>
          <a:prstGeom prst="rect">
            <a:avLst/>
          </a:prstGeom>
        </p:spPr>
      </p:pic>
      <p:sp>
        <p:nvSpPr>
          <p:cNvPr id="13" name="Week pill 3"/>
          <p:cNvSpPr/>
          <p:nvPr/>
        </p:nvSpPr>
        <p:spPr>
          <a:xfrm>
            <a:off x="5097780" y="1298448"/>
            <a:ext cx="1005840" cy="310896"/>
          </a:xfrm>
          <a:prstGeom prst="roundRect">
            <a:avLst>
              <a:gd name="adj" fmla="val 50000"/>
            </a:avLst>
          </a:prstGeom>
          <a:solidFill>
            <a:schemeClr val="accent4"/>
          </a:solidFill>
          <a:ln/>
        </p:spPr>
      </p:sp>
      <p:sp>
        <p:nvSpPr>
          <p:cNvPr id="14" name="Week label 3"/>
          <p:cNvSpPr txBox="1"/>
          <p:nvPr/>
        </p:nvSpPr>
        <p:spPr>
          <a:xfrm>
            <a:off x="5097780" y="1298448"/>
            <a:ext cx="1005840" cy="310896"/>
          </a:xfrm>
          <a:prstGeom prst="rect">
            <a:avLst/>
          </a:prstGeom>
          <a:noFill/>
          <a:ln/>
        </p:spPr>
        <p:txBody>
          <a:bodyPr wrap="square" lIns="0" tIns="0" rIns="0" bIns="0" rtlCol="0" anchor="ctr"/>
          <a:lstStyle/>
          <a:p>
            <a:pPr algn="ctr" indent="0" marL="0">
              <a:buNone/>
            </a:pPr>
            <a:r>
              <a:rPr lang="en-US" sz="1100" b="1" spc="100" kern="0" dirty="0">
                <a:solidFill>
                  <a:schemeClr val="bg1"/>
                </a:solidFill>
              </a:rPr>
              <a:t>WEEK 3</a:t>
            </a:r>
            <a:endParaRPr lang="en-US" sz="1100" dirty="0"/>
          </a:p>
        </p:txBody>
      </p:sp>
      <p:sp>
        <p:nvSpPr>
          <p:cNvPr id="15" name="Launch marketing campaigns circle"/>
          <p:cNvSpPr/>
          <p:nvPr/>
        </p:nvSpPr>
        <p:spPr>
          <a:xfrm>
            <a:off x="5216652" y="1719072"/>
            <a:ext cx="768096" cy="768096"/>
          </a:xfrm>
          <a:prstGeom prst="ellipse">
            <a:avLst/>
          </a:prstGeom>
          <a:solidFill>
            <a:schemeClr val="accent1"/>
          </a:solidFill>
          <a:ln/>
        </p:spPr>
      </p:sp>
      <p:pic>
        <p:nvPicPr>
          <p:cNvPr id="16" name="Launch marketing campaigns icon" descr="Launch marketing campaigns">    </p:cNvPr>
          <p:cNvPicPr>
            <a:picLocks noChangeAspect="1"/>
          </p:cNvPicPr>
          <p:nvPr/>
        </p:nvPicPr>
        <p:blipFill>
          <a:blip r:embed="rId3"/>
          <a:stretch>
            <a:fillRect/>
          </a:stretch>
        </p:blipFill>
        <p:spPr>
          <a:xfrm>
            <a:off x="5424038" y="1926458"/>
            <a:ext cx="353324" cy="353324"/>
          </a:xfrm>
          <a:prstGeom prst="rect">
            <a:avLst/>
          </a:prstGeom>
        </p:spPr>
      </p:pic>
      <p:sp>
        <p:nvSpPr>
          <p:cNvPr id="17" name="Week pill 4"/>
          <p:cNvSpPr/>
          <p:nvPr/>
        </p:nvSpPr>
        <p:spPr>
          <a:xfrm>
            <a:off x="7155180" y="1298448"/>
            <a:ext cx="1005840" cy="310896"/>
          </a:xfrm>
          <a:prstGeom prst="roundRect">
            <a:avLst>
              <a:gd name="adj" fmla="val 50000"/>
            </a:avLst>
          </a:prstGeom>
          <a:solidFill>
            <a:schemeClr val="accent4"/>
          </a:solidFill>
          <a:ln/>
        </p:spPr>
      </p:sp>
      <p:sp>
        <p:nvSpPr>
          <p:cNvPr id="18" name="Week label 4"/>
          <p:cNvSpPr txBox="1"/>
          <p:nvPr/>
        </p:nvSpPr>
        <p:spPr>
          <a:xfrm>
            <a:off x="7155180" y="1298448"/>
            <a:ext cx="1005840" cy="310896"/>
          </a:xfrm>
          <a:prstGeom prst="rect">
            <a:avLst/>
          </a:prstGeom>
          <a:noFill/>
          <a:ln/>
        </p:spPr>
        <p:txBody>
          <a:bodyPr wrap="square" lIns="0" tIns="0" rIns="0" bIns="0" rtlCol="0" anchor="ctr"/>
          <a:lstStyle/>
          <a:p>
            <a:pPr algn="ctr" indent="0" marL="0">
              <a:buNone/>
            </a:pPr>
            <a:r>
              <a:rPr lang="en-US" sz="1100" b="1" spc="100" kern="0" dirty="0">
                <a:solidFill>
                  <a:schemeClr val="bg1"/>
                </a:solidFill>
              </a:rPr>
              <a:t>WEEK 4</a:t>
            </a:r>
            <a:endParaRPr lang="en-US" sz="1100" dirty="0"/>
          </a:p>
        </p:txBody>
      </p:sp>
      <p:sp>
        <p:nvSpPr>
          <p:cNvPr id="19" name="Measure results and improve circle"/>
          <p:cNvSpPr/>
          <p:nvPr/>
        </p:nvSpPr>
        <p:spPr>
          <a:xfrm>
            <a:off x="7274052" y="1719072"/>
            <a:ext cx="768096" cy="768096"/>
          </a:xfrm>
          <a:prstGeom prst="ellipse">
            <a:avLst/>
          </a:prstGeom>
          <a:solidFill>
            <a:schemeClr val="tx2"/>
          </a:solidFill>
          <a:ln/>
        </p:spPr>
      </p:sp>
      <p:pic>
        <p:nvPicPr>
          <p:cNvPr id="20" name="Measure results and improve icon" descr="Measure results and improve">    </p:cNvPr>
          <p:cNvPicPr>
            <a:picLocks noChangeAspect="1"/>
          </p:cNvPicPr>
          <p:nvPr/>
        </p:nvPicPr>
        <p:blipFill>
          <a:blip r:embed="rId4"/>
          <a:stretch>
            <a:fillRect/>
          </a:stretch>
        </p:blipFill>
        <p:spPr>
          <a:xfrm>
            <a:off x="7481438" y="1926458"/>
            <a:ext cx="353324" cy="353324"/>
          </a:xfrm>
          <a:prstGeom prst="rect">
            <a:avLst/>
          </a:prstGeom>
        </p:spPr>
      </p:pic>
      <p:sp>
        <p:nvSpPr>
          <p:cNvPr id="21" name="Week card 1"/>
          <p:cNvSpPr/>
          <p:nvPr/>
        </p:nvSpPr>
        <p:spPr>
          <a:xfrm>
            <a:off x="571500" y="2743200"/>
            <a:ext cx="1828800" cy="1783080"/>
          </a:xfrm>
          <a:prstGeom prst="roundRect">
            <a:avLst>
              <a:gd name="adj" fmla="val 6154"/>
            </a:avLst>
          </a:prstGeom>
          <a:solidFill>
            <a:schemeClr val="bg2"/>
          </a:solidFill>
          <a:ln/>
        </p:spPr>
      </p:sp>
      <p:pic>
        <p:nvPicPr>
          <p:cNvPr id="22" name="Research and planning illustration" descr="Research and planning illustration">    </p:cNvPr>
          <p:cNvPicPr>
            <a:picLocks noChangeAspect="1"/>
          </p:cNvPicPr>
          <p:nvPr/>
        </p:nvPicPr>
        <p:blipFill>
          <a:blip r:embed="rId5"/>
          <a:stretch>
            <a:fillRect/>
          </a:stretch>
        </p:blipFill>
        <p:spPr>
          <a:xfrm>
            <a:off x="662940" y="2834640"/>
            <a:ext cx="1645920" cy="960120"/>
          </a:xfrm>
          <a:prstGeom prst="rect">
            <a:avLst/>
          </a:prstGeom>
        </p:spPr>
      </p:pic>
      <p:sp>
        <p:nvSpPr>
          <p:cNvPr id="23" name="Week title 1"/>
          <p:cNvSpPr txBox="1"/>
          <p:nvPr/>
        </p:nvSpPr>
        <p:spPr>
          <a:xfrm>
            <a:off x="708660" y="3886200"/>
            <a:ext cx="1554480" cy="548640"/>
          </a:xfrm>
          <a:prstGeom prst="rect">
            <a:avLst/>
          </a:prstGeom>
          <a:noFill/>
          <a:ln/>
        </p:spPr>
        <p:txBody>
          <a:bodyPr wrap="square" lIns="0" tIns="0" rIns="0" bIns="0" rtlCol="0" anchor="t"/>
          <a:lstStyle/>
          <a:p>
            <a:pPr indent="0" marL="0">
              <a:buNone/>
            </a:pPr>
            <a:r>
              <a:rPr lang="en-US" sz="1400" b="1" dirty="0">
                <a:solidFill>
                  <a:schemeClr val="tx2"/>
                </a:solidFill>
              </a:rPr>
              <a:t>Research and planning</a:t>
            </a:r>
            <a:endParaRPr lang="en-US" sz="1400" dirty="0"/>
          </a:p>
        </p:txBody>
      </p:sp>
      <p:sp>
        <p:nvSpPr>
          <p:cNvPr id="24" name="Week card 2"/>
          <p:cNvSpPr/>
          <p:nvPr/>
        </p:nvSpPr>
        <p:spPr>
          <a:xfrm>
            <a:off x="2628900" y="2743200"/>
            <a:ext cx="1828800" cy="1783080"/>
          </a:xfrm>
          <a:prstGeom prst="roundRect">
            <a:avLst>
              <a:gd name="adj" fmla="val 6154"/>
            </a:avLst>
          </a:prstGeom>
          <a:solidFill>
            <a:schemeClr val="bg2"/>
          </a:solidFill>
          <a:ln/>
        </p:spPr>
      </p:sp>
      <p:pic>
        <p:nvPicPr>
          <p:cNvPr id="25" name="Content creation illustration" descr="Content creation illustration">    </p:cNvPr>
          <p:cNvPicPr>
            <a:picLocks noChangeAspect="1"/>
          </p:cNvPicPr>
          <p:nvPr/>
        </p:nvPicPr>
        <p:blipFill>
          <a:blip r:embed="rId6"/>
          <a:stretch>
            <a:fillRect/>
          </a:stretch>
        </p:blipFill>
        <p:spPr>
          <a:xfrm>
            <a:off x="2720340" y="2834640"/>
            <a:ext cx="1645920" cy="960120"/>
          </a:xfrm>
          <a:prstGeom prst="rect">
            <a:avLst/>
          </a:prstGeom>
        </p:spPr>
      </p:pic>
      <p:sp>
        <p:nvSpPr>
          <p:cNvPr id="26" name="Week title 2"/>
          <p:cNvSpPr txBox="1"/>
          <p:nvPr/>
        </p:nvSpPr>
        <p:spPr>
          <a:xfrm>
            <a:off x="2766060" y="3886200"/>
            <a:ext cx="1554480" cy="548640"/>
          </a:xfrm>
          <a:prstGeom prst="rect">
            <a:avLst/>
          </a:prstGeom>
          <a:noFill/>
          <a:ln/>
        </p:spPr>
        <p:txBody>
          <a:bodyPr wrap="square" lIns="0" tIns="0" rIns="0" bIns="0" rtlCol="0" anchor="t"/>
          <a:lstStyle/>
          <a:p>
            <a:pPr indent="0" marL="0">
              <a:buNone/>
            </a:pPr>
            <a:r>
              <a:rPr lang="en-US" sz="1400" b="1" dirty="0">
                <a:solidFill>
                  <a:schemeClr val="tx2"/>
                </a:solidFill>
              </a:rPr>
              <a:t>Content creation</a:t>
            </a:r>
            <a:endParaRPr lang="en-US" sz="1400" dirty="0"/>
          </a:p>
        </p:txBody>
      </p:sp>
      <p:sp>
        <p:nvSpPr>
          <p:cNvPr id="27" name="Week card 3"/>
          <p:cNvSpPr/>
          <p:nvPr/>
        </p:nvSpPr>
        <p:spPr>
          <a:xfrm>
            <a:off x="4686300" y="2743200"/>
            <a:ext cx="1828800" cy="1783080"/>
          </a:xfrm>
          <a:prstGeom prst="roundRect">
            <a:avLst>
              <a:gd name="adj" fmla="val 6154"/>
            </a:avLst>
          </a:prstGeom>
          <a:solidFill>
            <a:schemeClr val="bg2"/>
          </a:solidFill>
          <a:ln/>
        </p:spPr>
      </p:sp>
      <p:pic>
        <p:nvPicPr>
          <p:cNvPr id="28" name="Launch marketing campaigns illustration" descr="Launch marketing campaigns illustration">    </p:cNvPr>
          <p:cNvPicPr>
            <a:picLocks noChangeAspect="1"/>
          </p:cNvPicPr>
          <p:nvPr/>
        </p:nvPicPr>
        <p:blipFill>
          <a:blip r:embed="rId7"/>
          <a:stretch>
            <a:fillRect/>
          </a:stretch>
        </p:blipFill>
        <p:spPr>
          <a:xfrm>
            <a:off x="4777740" y="2834640"/>
            <a:ext cx="1645920" cy="960120"/>
          </a:xfrm>
          <a:prstGeom prst="rect">
            <a:avLst/>
          </a:prstGeom>
        </p:spPr>
      </p:pic>
      <p:sp>
        <p:nvSpPr>
          <p:cNvPr id="29" name="Week title 3"/>
          <p:cNvSpPr txBox="1"/>
          <p:nvPr/>
        </p:nvSpPr>
        <p:spPr>
          <a:xfrm>
            <a:off x="4823460" y="3886200"/>
            <a:ext cx="1554480" cy="548640"/>
          </a:xfrm>
          <a:prstGeom prst="rect">
            <a:avLst/>
          </a:prstGeom>
          <a:noFill/>
          <a:ln/>
        </p:spPr>
        <p:txBody>
          <a:bodyPr wrap="square" lIns="0" tIns="0" rIns="0" bIns="0" rtlCol="0" anchor="t"/>
          <a:lstStyle/>
          <a:p>
            <a:pPr indent="0" marL="0">
              <a:buNone/>
            </a:pPr>
            <a:r>
              <a:rPr lang="en-US" sz="1400" b="1" dirty="0">
                <a:solidFill>
                  <a:schemeClr val="tx2"/>
                </a:solidFill>
              </a:rPr>
              <a:t>Launch marketing campaigns</a:t>
            </a:r>
            <a:endParaRPr lang="en-US" sz="1400" dirty="0"/>
          </a:p>
        </p:txBody>
      </p:sp>
      <p:sp>
        <p:nvSpPr>
          <p:cNvPr id="30" name="Week card 4"/>
          <p:cNvSpPr/>
          <p:nvPr/>
        </p:nvSpPr>
        <p:spPr>
          <a:xfrm>
            <a:off x="6743700" y="2743200"/>
            <a:ext cx="1828800" cy="1783080"/>
          </a:xfrm>
          <a:prstGeom prst="roundRect">
            <a:avLst>
              <a:gd name="adj" fmla="val 6154"/>
            </a:avLst>
          </a:prstGeom>
          <a:solidFill>
            <a:schemeClr val="bg2"/>
          </a:solidFill>
          <a:ln/>
        </p:spPr>
      </p:sp>
      <p:pic>
        <p:nvPicPr>
          <p:cNvPr id="31" name="Measure results and improve illustration" descr="Measure results and improve illustration">    </p:cNvPr>
          <p:cNvPicPr>
            <a:picLocks noChangeAspect="1"/>
          </p:cNvPicPr>
          <p:nvPr/>
        </p:nvPicPr>
        <p:blipFill>
          <a:blip r:embed="rId8"/>
          <a:stretch>
            <a:fillRect/>
          </a:stretch>
        </p:blipFill>
        <p:spPr>
          <a:xfrm>
            <a:off x="6835140" y="2834640"/>
            <a:ext cx="1645920" cy="960120"/>
          </a:xfrm>
          <a:prstGeom prst="rect">
            <a:avLst/>
          </a:prstGeom>
        </p:spPr>
      </p:pic>
      <p:sp>
        <p:nvSpPr>
          <p:cNvPr id="32" name="Week title 4"/>
          <p:cNvSpPr txBox="1"/>
          <p:nvPr/>
        </p:nvSpPr>
        <p:spPr>
          <a:xfrm>
            <a:off x="6880860" y="3886200"/>
            <a:ext cx="1554480" cy="548640"/>
          </a:xfrm>
          <a:prstGeom prst="rect">
            <a:avLst/>
          </a:prstGeom>
          <a:noFill/>
          <a:ln/>
        </p:spPr>
        <p:txBody>
          <a:bodyPr wrap="square" lIns="0" tIns="0" rIns="0" bIns="0" rtlCol="0" anchor="t"/>
          <a:lstStyle/>
          <a:p>
            <a:pPr indent="0" marL="0">
              <a:buNone/>
            </a:pPr>
            <a:r>
              <a:rPr lang="en-US" sz="1400" b="1" dirty="0">
                <a:solidFill>
                  <a:schemeClr val="tx2"/>
                </a:solidFill>
              </a:rPr>
              <a:t>Measure results and improve</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07  BENEFITS</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How the Café Benefits</a:t>
            </a:r>
            <a:endParaRPr lang="en-US" sz="3200" dirty="0"/>
          </a:p>
        </p:txBody>
      </p:sp>
      <p:pic>
        <p:nvPicPr>
          <p:cNvPr id="4" name="Happy customers illustration" descr="Happy customers illustration">    </p:cNvPr>
          <p:cNvPicPr>
            <a:picLocks noChangeAspect="1"/>
          </p:cNvPicPr>
          <p:nvPr/>
        </p:nvPicPr>
        <p:blipFill>
          <a:blip r:embed="rId1"/>
          <a:stretch>
            <a:fillRect/>
          </a:stretch>
        </p:blipFill>
        <p:spPr>
          <a:xfrm>
            <a:off x="457200" y="1325880"/>
            <a:ext cx="3566160" cy="3291840"/>
          </a:xfrm>
          <a:prstGeom prst="rect">
            <a:avLst/>
          </a:prstGeom>
        </p:spPr>
      </p:pic>
      <p:sp>
        <p:nvSpPr>
          <p:cNvPr id="5" name="Reach more people circle"/>
          <p:cNvSpPr/>
          <p:nvPr/>
        </p:nvSpPr>
        <p:spPr>
          <a:xfrm>
            <a:off x="4389120" y="1325880"/>
            <a:ext cx="457200" cy="457200"/>
          </a:xfrm>
          <a:prstGeom prst="ellipse">
            <a:avLst/>
          </a:prstGeom>
          <a:solidFill>
            <a:schemeClr val="accent4"/>
          </a:solidFill>
          <a:ln/>
        </p:spPr>
      </p:sp>
      <p:pic>
        <p:nvPicPr>
          <p:cNvPr id="6" name="Reach more people icon" descr="Reach more people">    </p:cNvPr>
          <p:cNvPicPr>
            <a:picLocks noChangeAspect="1"/>
          </p:cNvPicPr>
          <p:nvPr/>
        </p:nvPicPr>
        <p:blipFill>
          <a:blip r:embed="rId2"/>
          <a:stretch>
            <a:fillRect/>
          </a:stretch>
        </p:blipFill>
        <p:spPr>
          <a:xfrm>
            <a:off x="4512564" y="1449324"/>
            <a:ext cx="210312" cy="210312"/>
          </a:xfrm>
          <a:prstGeom prst="rect">
            <a:avLst/>
          </a:prstGeom>
        </p:spPr>
      </p:pic>
      <p:sp>
        <p:nvSpPr>
          <p:cNvPr id="7" name="Row text 1"/>
          <p:cNvSpPr txBox="1"/>
          <p:nvPr/>
        </p:nvSpPr>
        <p:spPr>
          <a:xfrm>
            <a:off x="5029200" y="1325880"/>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Reach more people</a:t>
            </a:r>
            <a:endParaRPr lang="en-US" sz="1600" dirty="0"/>
          </a:p>
        </p:txBody>
      </p:sp>
      <p:sp>
        <p:nvSpPr>
          <p:cNvPr id="8" name="Attract new customers circle"/>
          <p:cNvSpPr/>
          <p:nvPr/>
        </p:nvSpPr>
        <p:spPr>
          <a:xfrm>
            <a:off x="4389120" y="1984248"/>
            <a:ext cx="457200" cy="457200"/>
          </a:xfrm>
          <a:prstGeom prst="ellipse">
            <a:avLst/>
          </a:prstGeom>
          <a:solidFill>
            <a:schemeClr val="accent4"/>
          </a:solidFill>
          <a:ln/>
        </p:spPr>
      </p:sp>
      <p:pic>
        <p:nvPicPr>
          <p:cNvPr id="9" name="Attract new customers icon" descr="Attract new customers">    </p:cNvPr>
          <p:cNvPicPr>
            <a:picLocks noChangeAspect="1"/>
          </p:cNvPicPr>
          <p:nvPr/>
        </p:nvPicPr>
        <p:blipFill>
          <a:blip r:embed="rId3"/>
          <a:stretch>
            <a:fillRect/>
          </a:stretch>
        </p:blipFill>
        <p:spPr>
          <a:xfrm>
            <a:off x="4512564" y="2107692"/>
            <a:ext cx="210312" cy="210312"/>
          </a:xfrm>
          <a:prstGeom prst="rect">
            <a:avLst/>
          </a:prstGeom>
        </p:spPr>
      </p:pic>
      <p:sp>
        <p:nvSpPr>
          <p:cNvPr id="10" name="Row text 2"/>
          <p:cNvSpPr txBox="1"/>
          <p:nvPr/>
        </p:nvSpPr>
        <p:spPr>
          <a:xfrm>
            <a:off x="5029200" y="1984248"/>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Attract new customers</a:t>
            </a:r>
            <a:endParaRPr lang="en-US" sz="1600" dirty="0"/>
          </a:p>
        </p:txBody>
      </p:sp>
      <p:sp>
        <p:nvSpPr>
          <p:cNvPr id="11" name="Build a strong brand circle"/>
          <p:cNvSpPr/>
          <p:nvPr/>
        </p:nvSpPr>
        <p:spPr>
          <a:xfrm>
            <a:off x="4389120" y="2642616"/>
            <a:ext cx="457200" cy="457200"/>
          </a:xfrm>
          <a:prstGeom prst="ellipse">
            <a:avLst/>
          </a:prstGeom>
          <a:solidFill>
            <a:schemeClr val="accent4"/>
          </a:solidFill>
          <a:ln/>
        </p:spPr>
      </p:sp>
      <p:pic>
        <p:nvPicPr>
          <p:cNvPr id="12" name="Build a strong brand icon" descr="Build a strong brand">    </p:cNvPr>
          <p:cNvPicPr>
            <a:picLocks noChangeAspect="1"/>
          </p:cNvPicPr>
          <p:nvPr/>
        </p:nvPicPr>
        <p:blipFill>
          <a:blip r:embed="rId4"/>
          <a:stretch>
            <a:fillRect/>
          </a:stretch>
        </p:blipFill>
        <p:spPr>
          <a:xfrm>
            <a:off x="4512564" y="2766060"/>
            <a:ext cx="210312" cy="210312"/>
          </a:xfrm>
          <a:prstGeom prst="rect">
            <a:avLst/>
          </a:prstGeom>
        </p:spPr>
      </p:pic>
      <p:sp>
        <p:nvSpPr>
          <p:cNvPr id="13" name="Row text 3"/>
          <p:cNvSpPr txBox="1"/>
          <p:nvPr/>
        </p:nvSpPr>
        <p:spPr>
          <a:xfrm>
            <a:off x="5029200" y="2642616"/>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Build a strong brand</a:t>
            </a:r>
            <a:endParaRPr lang="en-US" sz="1600" dirty="0"/>
          </a:p>
        </p:txBody>
      </p:sp>
      <p:sp>
        <p:nvSpPr>
          <p:cNvPr id="14" name="Improve customer engagement circle"/>
          <p:cNvSpPr/>
          <p:nvPr/>
        </p:nvSpPr>
        <p:spPr>
          <a:xfrm>
            <a:off x="4389120" y="3300984"/>
            <a:ext cx="457200" cy="457200"/>
          </a:xfrm>
          <a:prstGeom prst="ellipse">
            <a:avLst/>
          </a:prstGeom>
          <a:solidFill>
            <a:schemeClr val="accent4"/>
          </a:solidFill>
          <a:ln/>
        </p:spPr>
      </p:sp>
      <p:pic>
        <p:nvPicPr>
          <p:cNvPr id="15" name="Improve customer engagement icon" descr="Improve customer engagement">    </p:cNvPr>
          <p:cNvPicPr>
            <a:picLocks noChangeAspect="1"/>
          </p:cNvPicPr>
          <p:nvPr/>
        </p:nvPicPr>
        <p:blipFill>
          <a:blip r:embed="rId5"/>
          <a:stretch>
            <a:fillRect/>
          </a:stretch>
        </p:blipFill>
        <p:spPr>
          <a:xfrm>
            <a:off x="4512564" y="3424428"/>
            <a:ext cx="210312" cy="210312"/>
          </a:xfrm>
          <a:prstGeom prst="rect">
            <a:avLst/>
          </a:prstGeom>
        </p:spPr>
      </p:pic>
      <p:sp>
        <p:nvSpPr>
          <p:cNvPr id="16" name="Row text 4"/>
          <p:cNvSpPr txBox="1"/>
          <p:nvPr/>
        </p:nvSpPr>
        <p:spPr>
          <a:xfrm>
            <a:off x="5029200" y="3300984"/>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Improve customer engagement</a:t>
            </a:r>
            <a:endParaRPr lang="en-US" sz="1600" dirty="0"/>
          </a:p>
        </p:txBody>
      </p:sp>
      <p:sp>
        <p:nvSpPr>
          <p:cNvPr id="17" name="Better chance of higher sales circle"/>
          <p:cNvSpPr/>
          <p:nvPr/>
        </p:nvSpPr>
        <p:spPr>
          <a:xfrm>
            <a:off x="4389120" y="3959352"/>
            <a:ext cx="457200" cy="457200"/>
          </a:xfrm>
          <a:prstGeom prst="ellipse">
            <a:avLst/>
          </a:prstGeom>
          <a:solidFill>
            <a:schemeClr val="accent4"/>
          </a:solidFill>
          <a:ln/>
        </p:spPr>
      </p:sp>
      <p:pic>
        <p:nvPicPr>
          <p:cNvPr id="18" name="Better chance of higher sales icon" descr="Better chance of higher sales">    </p:cNvPr>
          <p:cNvPicPr>
            <a:picLocks noChangeAspect="1"/>
          </p:cNvPicPr>
          <p:nvPr/>
        </p:nvPicPr>
        <p:blipFill>
          <a:blip r:embed="rId6"/>
          <a:stretch>
            <a:fillRect/>
          </a:stretch>
        </p:blipFill>
        <p:spPr>
          <a:xfrm>
            <a:off x="4512564" y="4082796"/>
            <a:ext cx="210312" cy="210312"/>
          </a:xfrm>
          <a:prstGeom prst="rect">
            <a:avLst/>
          </a:prstGeom>
        </p:spPr>
      </p:pic>
      <p:sp>
        <p:nvSpPr>
          <p:cNvPr id="19" name="Row text 5"/>
          <p:cNvSpPr txBox="1"/>
          <p:nvPr/>
        </p:nvSpPr>
        <p:spPr>
          <a:xfrm>
            <a:off x="5029200" y="3959352"/>
            <a:ext cx="3657600" cy="457200"/>
          </a:xfrm>
          <a:prstGeom prst="rect">
            <a:avLst/>
          </a:prstGeom>
          <a:noFill/>
          <a:ln/>
        </p:spPr>
        <p:txBody>
          <a:bodyPr wrap="square" lIns="0" tIns="0" rIns="0" bIns="0" rtlCol="0" anchor="ctr"/>
          <a:lstStyle/>
          <a:p>
            <a:pPr indent="0" marL="0">
              <a:buNone/>
            </a:pPr>
            <a:r>
              <a:rPr lang="en-US" sz="1600" b="1" dirty="0">
                <a:solidFill>
                  <a:schemeClr val="tx2"/>
                </a:solidFill>
              </a:rPr>
              <a:t>Better chance of higher sales</a:t>
            </a:r>
            <a:endParaRPr lang="en-US" sz="16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08  EXPECTED RESULTS</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Our Month-One Targets</a:t>
            </a:r>
            <a:endParaRPr lang="en-US" sz="3200" dirty="0"/>
          </a:p>
        </p:txBody>
      </p:sp>
      <p:sp>
        <p:nvSpPr>
          <p:cNvPr id="4" name="Target card 1"/>
          <p:cNvSpPr/>
          <p:nvPr/>
        </p:nvSpPr>
        <p:spPr>
          <a:xfrm>
            <a:off x="457200" y="1325880"/>
            <a:ext cx="1920240" cy="1874520"/>
          </a:xfrm>
          <a:prstGeom prst="roundRect">
            <a:avLst>
              <a:gd name="adj" fmla="val 5854"/>
            </a:avLst>
          </a:prstGeom>
          <a:solidFill>
            <a:schemeClr val="bg2"/>
          </a:solidFill>
          <a:ln/>
        </p:spPr>
      </p:sp>
      <p:sp>
        <p:nvSpPr>
          <p:cNvPr id="5" name="Target 1 circle"/>
          <p:cNvSpPr/>
          <p:nvPr/>
        </p:nvSpPr>
        <p:spPr>
          <a:xfrm>
            <a:off x="640080" y="1481328"/>
            <a:ext cx="475488" cy="475488"/>
          </a:xfrm>
          <a:prstGeom prst="ellipse">
            <a:avLst/>
          </a:prstGeom>
          <a:solidFill>
            <a:schemeClr val="tx2"/>
          </a:solidFill>
          <a:ln/>
        </p:spPr>
      </p:sp>
      <p:pic>
        <p:nvPicPr>
          <p:cNvPr id="6" name="Target 1 icon" descr="Target 1">    </p:cNvPr>
          <p:cNvPicPr>
            <a:picLocks noChangeAspect="1"/>
          </p:cNvPicPr>
          <p:nvPr/>
        </p:nvPicPr>
        <p:blipFill>
          <a:blip r:embed="rId1"/>
          <a:stretch>
            <a:fillRect/>
          </a:stretch>
        </p:blipFill>
        <p:spPr>
          <a:xfrm>
            <a:off x="768462" y="1609710"/>
            <a:ext cx="218724" cy="218724"/>
          </a:xfrm>
          <a:prstGeom prst="rect">
            <a:avLst/>
          </a:prstGeom>
        </p:spPr>
      </p:pic>
      <p:sp>
        <p:nvSpPr>
          <p:cNvPr id="7" name="Target value 1"/>
          <p:cNvSpPr txBox="1"/>
          <p:nvPr/>
        </p:nvSpPr>
        <p:spPr>
          <a:xfrm>
            <a:off x="640080" y="2057400"/>
            <a:ext cx="160020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40K+</a:t>
            </a:r>
            <a:endParaRPr lang="en-US" sz="3400" dirty="0"/>
          </a:p>
        </p:txBody>
      </p:sp>
      <p:sp>
        <p:nvSpPr>
          <p:cNvPr id="8" name="Target label 1"/>
          <p:cNvSpPr txBox="1"/>
          <p:nvPr/>
        </p:nvSpPr>
        <p:spPr>
          <a:xfrm>
            <a:off x="640080" y="2633472"/>
            <a:ext cx="1600200" cy="502920"/>
          </a:xfrm>
          <a:prstGeom prst="rect">
            <a:avLst/>
          </a:prstGeom>
          <a:noFill/>
          <a:ln/>
        </p:spPr>
        <p:txBody>
          <a:bodyPr wrap="square" lIns="0" tIns="0" rIns="0" bIns="0" rtlCol="0" anchor="t"/>
          <a:lstStyle/>
          <a:p>
            <a:pPr indent="0" marL="0">
              <a:buNone/>
            </a:pPr>
            <a:r>
              <a:rPr lang="en-US" sz="1200" dirty="0">
                <a:solidFill>
                  <a:schemeClr val="tx2"/>
                </a:solidFill>
              </a:rPr>
              <a:t>people nearby see The Daily Cup</a:t>
            </a:r>
            <a:endParaRPr lang="en-US" sz="1200" dirty="0"/>
          </a:p>
        </p:txBody>
      </p:sp>
      <p:sp>
        <p:nvSpPr>
          <p:cNvPr id="9" name="Target card 2"/>
          <p:cNvSpPr/>
          <p:nvPr/>
        </p:nvSpPr>
        <p:spPr>
          <a:xfrm>
            <a:off x="2560320" y="1325880"/>
            <a:ext cx="1920240" cy="1874520"/>
          </a:xfrm>
          <a:prstGeom prst="roundRect">
            <a:avLst>
              <a:gd name="adj" fmla="val 5854"/>
            </a:avLst>
          </a:prstGeom>
          <a:solidFill>
            <a:schemeClr val="bg2"/>
          </a:solidFill>
          <a:ln/>
        </p:spPr>
      </p:sp>
      <p:sp>
        <p:nvSpPr>
          <p:cNvPr id="10" name="Target 2 circle"/>
          <p:cNvSpPr/>
          <p:nvPr/>
        </p:nvSpPr>
        <p:spPr>
          <a:xfrm>
            <a:off x="2743200" y="1481328"/>
            <a:ext cx="475488" cy="475488"/>
          </a:xfrm>
          <a:prstGeom prst="ellipse">
            <a:avLst/>
          </a:prstGeom>
          <a:solidFill>
            <a:schemeClr val="tx2"/>
          </a:solidFill>
          <a:ln/>
        </p:spPr>
      </p:sp>
      <p:pic>
        <p:nvPicPr>
          <p:cNvPr id="11" name="Target 2 icon" descr="Target 2">    </p:cNvPr>
          <p:cNvPicPr>
            <a:picLocks noChangeAspect="1"/>
          </p:cNvPicPr>
          <p:nvPr/>
        </p:nvPicPr>
        <p:blipFill>
          <a:blip r:embed="rId2"/>
          <a:stretch>
            <a:fillRect/>
          </a:stretch>
        </p:blipFill>
        <p:spPr>
          <a:xfrm>
            <a:off x="2871582" y="1609710"/>
            <a:ext cx="218724" cy="218724"/>
          </a:xfrm>
          <a:prstGeom prst="rect">
            <a:avLst/>
          </a:prstGeom>
        </p:spPr>
      </p:pic>
      <p:sp>
        <p:nvSpPr>
          <p:cNvPr id="12" name="Target value 2"/>
          <p:cNvSpPr txBox="1"/>
          <p:nvPr/>
        </p:nvSpPr>
        <p:spPr>
          <a:xfrm>
            <a:off x="2743200" y="2057400"/>
            <a:ext cx="160020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+500</a:t>
            </a:r>
            <a:endParaRPr lang="en-US" sz="3400" dirty="0"/>
          </a:p>
        </p:txBody>
      </p:sp>
      <p:sp>
        <p:nvSpPr>
          <p:cNvPr id="13" name="Target label 2"/>
          <p:cNvSpPr txBox="1"/>
          <p:nvPr/>
        </p:nvSpPr>
        <p:spPr>
          <a:xfrm>
            <a:off x="2743200" y="2633472"/>
            <a:ext cx="1600200" cy="502920"/>
          </a:xfrm>
          <a:prstGeom prst="rect">
            <a:avLst/>
          </a:prstGeom>
          <a:noFill/>
          <a:ln/>
        </p:spPr>
        <p:txBody>
          <a:bodyPr wrap="square" lIns="0" tIns="0" rIns="0" bIns="0" rtlCol="0" anchor="t"/>
          <a:lstStyle/>
          <a:p>
            <a:pPr indent="0" marL="0">
              <a:buNone/>
            </a:pPr>
            <a:r>
              <a:rPr lang="en-US" sz="1200" dirty="0">
                <a:solidFill>
                  <a:schemeClr val="tx2"/>
                </a:solidFill>
              </a:rPr>
              <a:t>new Instagram followers</a:t>
            </a:r>
            <a:endParaRPr lang="en-US" sz="1200" dirty="0"/>
          </a:p>
        </p:txBody>
      </p:sp>
      <p:sp>
        <p:nvSpPr>
          <p:cNvPr id="14" name="Target card 3"/>
          <p:cNvSpPr/>
          <p:nvPr/>
        </p:nvSpPr>
        <p:spPr>
          <a:xfrm>
            <a:off x="4663440" y="1325880"/>
            <a:ext cx="1920240" cy="1874520"/>
          </a:xfrm>
          <a:prstGeom prst="roundRect">
            <a:avLst>
              <a:gd name="adj" fmla="val 5854"/>
            </a:avLst>
          </a:prstGeom>
          <a:solidFill>
            <a:schemeClr val="bg2"/>
          </a:solidFill>
          <a:ln/>
        </p:spPr>
      </p:sp>
      <p:sp>
        <p:nvSpPr>
          <p:cNvPr id="15" name="Target 3 circle"/>
          <p:cNvSpPr/>
          <p:nvPr/>
        </p:nvSpPr>
        <p:spPr>
          <a:xfrm>
            <a:off x="4846320" y="1481328"/>
            <a:ext cx="475488" cy="475488"/>
          </a:xfrm>
          <a:prstGeom prst="ellipse">
            <a:avLst/>
          </a:prstGeom>
          <a:solidFill>
            <a:schemeClr val="tx2"/>
          </a:solidFill>
          <a:ln/>
        </p:spPr>
      </p:sp>
      <p:pic>
        <p:nvPicPr>
          <p:cNvPr id="16" name="Target 3 icon" descr="Target 3">    </p:cNvPr>
          <p:cNvPicPr>
            <a:picLocks noChangeAspect="1"/>
          </p:cNvPicPr>
          <p:nvPr/>
        </p:nvPicPr>
        <p:blipFill>
          <a:blip r:embed="rId3"/>
          <a:stretch>
            <a:fillRect/>
          </a:stretch>
        </p:blipFill>
        <p:spPr>
          <a:xfrm>
            <a:off x="4974702" y="1609710"/>
            <a:ext cx="218724" cy="218724"/>
          </a:xfrm>
          <a:prstGeom prst="rect">
            <a:avLst/>
          </a:prstGeom>
        </p:spPr>
      </p:pic>
      <p:sp>
        <p:nvSpPr>
          <p:cNvPr id="17" name="Target value 3"/>
          <p:cNvSpPr txBox="1"/>
          <p:nvPr/>
        </p:nvSpPr>
        <p:spPr>
          <a:xfrm>
            <a:off x="4846320" y="2057400"/>
            <a:ext cx="1600200" cy="548640"/>
          </a:xfrm>
          <a:prstGeom prst="rect">
            <a:avLst/>
          </a:prstGeom>
          <a:noFill/>
          <a:ln/>
        </p:spPr>
        <p:txBody>
          <a:bodyPr wrap="square" lIns="0" tIns="0" rIns="0" bIns="0" rtlCol="0" anchor="ctr"/>
          <a:lstStyle/>
          <a:p>
            <a:pPr indent="0" marL="0">
              <a:buNone/>
            </a:pPr>
            <a:r>
              <a:rPr lang="en-US" sz="3400" b="1" dirty="0">
                <a:solidFill>
                  <a:schemeClr val="accent1"/>
                </a:solidFill>
                <a:latin typeface="Cambria" pitchFamily="34" charset="0"/>
                <a:ea typeface="Cambria" pitchFamily="34" charset="-122"/>
                <a:cs typeface="Cambria" pitchFamily="34" charset="-120"/>
              </a:rPr>
              <a:t>100+</a:t>
            </a:r>
            <a:endParaRPr lang="en-US" sz="3400" dirty="0"/>
          </a:p>
        </p:txBody>
      </p:sp>
      <p:sp>
        <p:nvSpPr>
          <p:cNvPr id="18" name="Target label 3"/>
          <p:cNvSpPr txBox="1"/>
          <p:nvPr/>
        </p:nvSpPr>
        <p:spPr>
          <a:xfrm>
            <a:off x="4846320" y="2633472"/>
            <a:ext cx="1600200" cy="502920"/>
          </a:xfrm>
          <a:prstGeom prst="rect">
            <a:avLst/>
          </a:prstGeom>
          <a:noFill/>
          <a:ln/>
        </p:spPr>
        <p:txBody>
          <a:bodyPr wrap="square" lIns="0" tIns="0" rIns="0" bIns="0" rtlCol="0" anchor="t"/>
          <a:lstStyle/>
          <a:p>
            <a:pPr indent="0" marL="0">
              <a:buNone/>
            </a:pPr>
            <a:r>
              <a:rPr lang="en-US" sz="1200" dirty="0">
                <a:solidFill>
                  <a:schemeClr val="tx2"/>
                </a:solidFill>
              </a:rPr>
              <a:t>messages, calls and direction requests</a:t>
            </a:r>
            <a:endParaRPr lang="en-US" sz="1200" dirty="0"/>
          </a:p>
        </p:txBody>
      </p:sp>
      <p:sp>
        <p:nvSpPr>
          <p:cNvPr id="19" name="Target card 4"/>
          <p:cNvSpPr/>
          <p:nvPr/>
        </p:nvSpPr>
        <p:spPr>
          <a:xfrm>
            <a:off x="6766560" y="1325880"/>
            <a:ext cx="1920240" cy="1874520"/>
          </a:xfrm>
          <a:prstGeom prst="roundRect">
            <a:avLst>
              <a:gd name="adj" fmla="val 5854"/>
            </a:avLst>
          </a:prstGeom>
          <a:solidFill>
            <a:schemeClr val="accent4"/>
          </a:solidFill>
          <a:ln/>
        </p:spPr>
      </p:sp>
      <p:sp>
        <p:nvSpPr>
          <p:cNvPr id="20" name="Target 4 circle"/>
          <p:cNvSpPr/>
          <p:nvPr/>
        </p:nvSpPr>
        <p:spPr>
          <a:xfrm>
            <a:off x="6949440" y="1481328"/>
            <a:ext cx="475488" cy="475488"/>
          </a:xfrm>
          <a:prstGeom prst="ellipse">
            <a:avLst/>
          </a:prstGeom>
          <a:solidFill>
            <a:schemeClr val="bg1"/>
          </a:solidFill>
          <a:ln/>
        </p:spPr>
      </p:sp>
      <p:pic>
        <p:nvPicPr>
          <p:cNvPr id="21" name="Target 4 icon" descr="Target 4">    </p:cNvPr>
          <p:cNvPicPr>
            <a:picLocks noChangeAspect="1"/>
          </p:cNvPicPr>
          <p:nvPr/>
        </p:nvPicPr>
        <p:blipFill>
          <a:blip r:embed="rId4"/>
          <a:stretch>
            <a:fillRect/>
          </a:stretch>
        </p:blipFill>
        <p:spPr>
          <a:xfrm>
            <a:off x="7077822" y="1609710"/>
            <a:ext cx="218724" cy="218724"/>
          </a:xfrm>
          <a:prstGeom prst="rect">
            <a:avLst/>
          </a:prstGeom>
        </p:spPr>
      </p:pic>
      <p:sp>
        <p:nvSpPr>
          <p:cNvPr id="22" name="Target value 4"/>
          <p:cNvSpPr txBox="1"/>
          <p:nvPr/>
        </p:nvSpPr>
        <p:spPr>
          <a:xfrm>
            <a:off x="6949440" y="2057400"/>
            <a:ext cx="1600200" cy="548640"/>
          </a:xfrm>
          <a:prstGeom prst="rect">
            <a:avLst/>
          </a:prstGeom>
          <a:noFill/>
          <a:ln/>
        </p:spPr>
        <p:txBody>
          <a:bodyPr wrap="square" lIns="0" tIns="0" rIns="0" bIns="0" rtlCol="0" anchor="ctr"/>
          <a:lstStyle/>
          <a:p>
            <a:pPr indent="0" marL="0">
              <a:buNone/>
            </a:pPr>
            <a:r>
              <a:rPr lang="en-US" sz="3400" b="1" dirty="0">
                <a:solidFill>
                  <a:schemeClr val="bg1"/>
                </a:solidFill>
                <a:latin typeface="Cambria" pitchFamily="34" charset="0"/>
                <a:ea typeface="Cambria" pitchFamily="34" charset="-122"/>
                <a:cs typeface="Cambria" pitchFamily="34" charset="-120"/>
              </a:rPr>
              <a:t>+10</a:t>
            </a:r>
            <a:endParaRPr lang="en-US" sz="3400" dirty="0"/>
          </a:p>
        </p:txBody>
      </p:sp>
      <p:sp>
        <p:nvSpPr>
          <p:cNvPr id="23" name="Target label 4"/>
          <p:cNvSpPr txBox="1"/>
          <p:nvPr/>
        </p:nvSpPr>
        <p:spPr>
          <a:xfrm>
            <a:off x="6949440" y="2633472"/>
            <a:ext cx="1600200" cy="502920"/>
          </a:xfrm>
          <a:prstGeom prst="rect">
            <a:avLst/>
          </a:prstGeom>
          <a:noFill/>
          <a:ln/>
        </p:spPr>
        <p:txBody>
          <a:bodyPr wrap="square" lIns="0" tIns="0" rIns="0" bIns="0" rtlCol="0" anchor="t"/>
          <a:lstStyle/>
          <a:p>
            <a:pPr indent="0" marL="0">
              <a:buNone/>
            </a:pPr>
            <a:r>
              <a:rPr lang="en-US" sz="1200" dirty="0">
                <a:solidFill>
                  <a:schemeClr val="bg1"/>
                </a:solidFill>
              </a:rPr>
              <a:t>extra customers every day</a:t>
            </a:r>
            <a:endParaRPr lang="en-US" sz="1200" dirty="0"/>
          </a:p>
        </p:txBody>
      </p:sp>
      <p:sp>
        <p:nvSpPr>
          <p:cNvPr id="24" name="Report box"/>
          <p:cNvSpPr/>
          <p:nvPr/>
        </p:nvSpPr>
        <p:spPr>
          <a:xfrm>
            <a:off x="457200" y="3383280"/>
            <a:ext cx="8229600" cy="868680"/>
          </a:xfrm>
          <a:prstGeom prst="roundRect">
            <a:avLst>
              <a:gd name="adj" fmla="val 12632"/>
            </a:avLst>
          </a:prstGeom>
          <a:solidFill>
            <a:schemeClr val="tx2"/>
          </a:solidFill>
          <a:ln/>
        </p:spPr>
      </p:sp>
      <p:sp>
        <p:nvSpPr>
          <p:cNvPr id="25" name="Weekly report circle"/>
          <p:cNvSpPr/>
          <p:nvPr/>
        </p:nvSpPr>
        <p:spPr>
          <a:xfrm>
            <a:off x="685800" y="3538728"/>
            <a:ext cx="548640" cy="548640"/>
          </a:xfrm>
          <a:prstGeom prst="ellipse">
            <a:avLst/>
          </a:prstGeom>
          <a:solidFill>
            <a:schemeClr val="accent4"/>
          </a:solidFill>
          <a:ln/>
        </p:spPr>
      </p:sp>
      <p:pic>
        <p:nvPicPr>
          <p:cNvPr id="26" name="Weekly report icon" descr="Weekly report">    </p:cNvPr>
          <p:cNvPicPr>
            <a:picLocks noChangeAspect="1"/>
          </p:cNvPicPr>
          <p:nvPr/>
        </p:nvPicPr>
        <p:blipFill>
          <a:blip r:embed="rId5"/>
          <a:stretch>
            <a:fillRect/>
          </a:stretch>
        </p:blipFill>
        <p:spPr>
          <a:xfrm>
            <a:off x="833933" y="3686861"/>
            <a:ext cx="252374" cy="252374"/>
          </a:xfrm>
          <a:prstGeom prst="rect">
            <a:avLst/>
          </a:prstGeom>
        </p:spPr>
      </p:pic>
      <p:sp>
        <p:nvSpPr>
          <p:cNvPr id="27" name="Report text"/>
          <p:cNvSpPr txBox="1"/>
          <p:nvPr/>
        </p:nvSpPr>
        <p:spPr>
          <a:xfrm>
            <a:off x="1463040" y="3383280"/>
            <a:ext cx="7040880" cy="868680"/>
          </a:xfrm>
          <a:prstGeom prst="rect">
            <a:avLst/>
          </a:prstGeom>
          <a:noFill/>
          <a:ln/>
        </p:spPr>
        <p:txBody>
          <a:bodyPr wrap="square" lIns="0" tIns="0" rIns="0" bIns="0" rtlCol="0" anchor="ctr"/>
          <a:lstStyle/>
          <a:p>
            <a:pPr indent="0" marL="0">
              <a:buNone/>
            </a:pPr>
            <a:r>
              <a:rPr lang="en-US" sz="1700" b="1" dirty="0">
                <a:solidFill>
                  <a:schemeClr val="bg1"/>
                </a:solidFill>
              </a:rPr>
              <a:t>You see every number, every week</a:t>
            </a:r>
            <a:endParaRPr lang="en-US" sz="1700" dirty="0"/>
          </a:p>
          <a:p>
            <a:pPr indent="0" marL="0">
              <a:buNone/>
            </a:pPr>
            <a:r>
              <a:rPr lang="en-US" sz="1300" dirty="0">
                <a:solidFill>
                  <a:schemeClr val="accent2"/>
                </a:solidFill>
              </a:rPr>
              <a:t>A simple weekly report: reach, followers, messages, visits and sales</a:t>
            </a:r>
            <a:endParaRPr lang="en-US" sz="1700" dirty="0"/>
          </a:p>
        </p:txBody>
      </p:sp>
      <p:sp>
        <p:nvSpPr>
          <p:cNvPr id="28" name="Targets footnote"/>
          <p:cNvSpPr txBox="1"/>
          <p:nvPr/>
        </p:nvSpPr>
        <p:spPr>
          <a:xfrm>
            <a:off x="457200" y="43434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Targets are based on a 4,000 EGP monthly ad budget and are confirmed after the week-1 review.</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09  RETURN ON INVESTMENT</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The Plan Pays for Itself</a:t>
            </a:r>
            <a:endParaRPr lang="en-US" sz="3200" dirty="0"/>
          </a:p>
        </p:txBody>
      </p:sp>
      <p:sp>
        <p:nvSpPr>
          <p:cNvPr id="4" name="Equation box 1"/>
          <p:cNvSpPr/>
          <p:nvPr/>
        </p:nvSpPr>
        <p:spPr>
          <a:xfrm>
            <a:off x="457200" y="1325880"/>
            <a:ext cx="2438430" cy="1143000"/>
          </a:xfrm>
          <a:prstGeom prst="roundRect">
            <a:avLst>
              <a:gd name="adj" fmla="val 9600"/>
            </a:avLst>
          </a:prstGeom>
          <a:solidFill>
            <a:schemeClr val="bg2"/>
          </a:solidFill>
          <a:ln/>
        </p:spPr>
      </p:sp>
      <p:sp>
        <p:nvSpPr>
          <p:cNvPr id="5" name="Equation text 1"/>
          <p:cNvSpPr txBox="1"/>
          <p:nvPr/>
        </p:nvSpPr>
        <p:spPr>
          <a:xfrm>
            <a:off x="640080" y="1325880"/>
            <a:ext cx="2072670" cy="114300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13,000 EGP</a:t>
            </a:r>
            <a:endParaRPr lang="en-US" sz="2800" dirty="0"/>
          </a:p>
          <a:p>
            <a:pPr algn="ctr" indent="0" marL="0">
              <a:buNone/>
            </a:pPr>
            <a:r>
              <a:rPr lang="en-US" sz="1300" dirty="0">
                <a:solidFill>
                  <a:schemeClr val="accent5"/>
                </a:solidFill>
              </a:rPr>
              <a:t>monthly investment</a:t>
            </a:r>
            <a:endParaRPr lang="en-US" sz="2800" dirty="0"/>
          </a:p>
        </p:txBody>
      </p:sp>
      <p:sp>
        <p:nvSpPr>
          <p:cNvPr id="6" name="Operator 1"/>
          <p:cNvSpPr txBox="1"/>
          <p:nvPr/>
        </p:nvSpPr>
        <p:spPr>
          <a:xfrm>
            <a:off x="2895630" y="1325880"/>
            <a:ext cx="457200" cy="1143000"/>
          </a:xfrm>
          <a:prstGeom prst="rect">
            <a:avLst/>
          </a:prstGeom>
          <a:noFill/>
          <a:ln/>
        </p:spPr>
        <p:txBody>
          <a:bodyPr wrap="square" lIns="0" tIns="0" rIns="0" bIns="0" rtlCol="0" anchor="ctr"/>
          <a:lstStyle/>
          <a:p>
            <a:pPr algn="ctr" indent="0" marL="0">
              <a:buNone/>
            </a:pPr>
            <a:r>
              <a:rPr lang="en-US" sz="3000" b="1" dirty="0">
                <a:solidFill>
                  <a:schemeClr val="accent1"/>
                </a:solidFill>
              </a:rPr>
              <a:t>÷</a:t>
            </a:r>
            <a:endParaRPr lang="en-US" sz="3000" dirty="0"/>
          </a:p>
        </p:txBody>
      </p:sp>
      <p:sp>
        <p:nvSpPr>
          <p:cNvPr id="7" name="Equation box 2"/>
          <p:cNvSpPr/>
          <p:nvPr/>
        </p:nvSpPr>
        <p:spPr>
          <a:xfrm>
            <a:off x="3352830" y="1325880"/>
            <a:ext cx="2438430" cy="1143000"/>
          </a:xfrm>
          <a:prstGeom prst="roundRect">
            <a:avLst>
              <a:gd name="adj" fmla="val 9600"/>
            </a:avLst>
          </a:prstGeom>
          <a:solidFill>
            <a:schemeClr val="bg2"/>
          </a:solidFill>
          <a:ln/>
        </p:spPr>
      </p:sp>
      <p:sp>
        <p:nvSpPr>
          <p:cNvPr id="8" name="Equation text 2"/>
          <p:cNvSpPr txBox="1"/>
          <p:nvPr/>
        </p:nvSpPr>
        <p:spPr>
          <a:xfrm>
            <a:off x="3535710" y="1325880"/>
            <a:ext cx="2072670" cy="1143000"/>
          </a:xfrm>
          <a:prstGeom prst="rect">
            <a:avLst/>
          </a:prstGeom>
          <a:noFill/>
          <a:ln/>
        </p:spPr>
        <p:txBody>
          <a:bodyPr wrap="square" lIns="0" tIns="0" rIns="0" bIns="0" rtlCol="0" anchor="ctr"/>
          <a:lstStyle/>
          <a:p>
            <a:pPr algn="ctr" indent="0" marL="0">
              <a:buNone/>
            </a:pPr>
            <a:r>
              <a:rPr lang="en-US" sz="2800" b="1" dirty="0">
                <a:solidFill>
                  <a:schemeClr val="tx2"/>
                </a:solidFill>
                <a:latin typeface="Cambria" pitchFamily="34" charset="0"/>
                <a:ea typeface="Cambria" pitchFamily="34" charset="-122"/>
                <a:cs typeface="Cambria" pitchFamily="34" charset="-120"/>
              </a:rPr>
              <a:t>100 EGP</a:t>
            </a:r>
            <a:endParaRPr lang="en-US" sz="2800" dirty="0"/>
          </a:p>
          <a:p>
            <a:pPr algn="ctr" indent="0" marL="0">
              <a:buNone/>
            </a:pPr>
            <a:r>
              <a:rPr lang="en-US" sz="1300" dirty="0">
                <a:solidFill>
                  <a:schemeClr val="accent5"/>
                </a:solidFill>
              </a:rPr>
              <a:t>profit per customer*</a:t>
            </a:r>
            <a:endParaRPr lang="en-US" sz="2800" dirty="0"/>
          </a:p>
        </p:txBody>
      </p:sp>
      <p:sp>
        <p:nvSpPr>
          <p:cNvPr id="9" name="Operator 2"/>
          <p:cNvSpPr txBox="1"/>
          <p:nvPr/>
        </p:nvSpPr>
        <p:spPr>
          <a:xfrm>
            <a:off x="5791261" y="1325880"/>
            <a:ext cx="457200" cy="1143000"/>
          </a:xfrm>
          <a:prstGeom prst="rect">
            <a:avLst/>
          </a:prstGeom>
          <a:noFill/>
          <a:ln/>
        </p:spPr>
        <p:txBody>
          <a:bodyPr wrap="square" lIns="0" tIns="0" rIns="0" bIns="0" rtlCol="0" anchor="ctr"/>
          <a:lstStyle/>
          <a:p>
            <a:pPr algn="ctr" indent="0" marL="0">
              <a:buNone/>
            </a:pPr>
            <a:r>
              <a:rPr lang="en-US" sz="3000" b="1" dirty="0">
                <a:solidFill>
                  <a:schemeClr val="accent1"/>
                </a:solidFill>
              </a:rPr>
              <a:t>=</a:t>
            </a:r>
            <a:endParaRPr lang="en-US" sz="3000" dirty="0"/>
          </a:p>
        </p:txBody>
      </p:sp>
      <p:sp>
        <p:nvSpPr>
          <p:cNvPr id="10" name="Equation box 3"/>
          <p:cNvSpPr/>
          <p:nvPr/>
        </p:nvSpPr>
        <p:spPr>
          <a:xfrm>
            <a:off x="6248461" y="1325880"/>
            <a:ext cx="2438430" cy="1143000"/>
          </a:xfrm>
          <a:prstGeom prst="roundRect">
            <a:avLst>
              <a:gd name="adj" fmla="val 9600"/>
            </a:avLst>
          </a:prstGeom>
          <a:solidFill>
            <a:schemeClr val="tx2"/>
          </a:solidFill>
          <a:ln/>
        </p:spPr>
      </p:sp>
      <p:sp>
        <p:nvSpPr>
          <p:cNvPr id="11" name="Equation text 3"/>
          <p:cNvSpPr txBox="1"/>
          <p:nvPr/>
        </p:nvSpPr>
        <p:spPr>
          <a:xfrm>
            <a:off x="6431341" y="1325880"/>
            <a:ext cx="2072670" cy="114300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130</a:t>
            </a:r>
            <a:endParaRPr lang="en-US" sz="2800" dirty="0"/>
          </a:p>
          <a:p>
            <a:pPr algn="ctr" indent="0" marL="0">
              <a:buNone/>
            </a:pPr>
            <a:r>
              <a:rPr lang="en-US" sz="1300" dirty="0">
                <a:solidFill>
                  <a:schemeClr val="accent2"/>
                </a:solidFill>
              </a:rPr>
              <a:t>customers a month</a:t>
            </a:r>
            <a:endParaRPr lang="en-US" sz="2800" dirty="0"/>
          </a:p>
        </p:txBody>
      </p:sp>
      <p:sp>
        <p:nvSpPr>
          <p:cNvPr id="12" name="Break-even callout"/>
          <p:cNvSpPr/>
          <p:nvPr/>
        </p:nvSpPr>
        <p:spPr>
          <a:xfrm>
            <a:off x="457200" y="2697480"/>
            <a:ext cx="3840480" cy="1600200"/>
          </a:xfrm>
          <a:prstGeom prst="roundRect">
            <a:avLst>
              <a:gd name="adj" fmla="val 6857"/>
            </a:avLst>
          </a:prstGeom>
          <a:solidFill>
            <a:schemeClr val="accent4"/>
          </a:solidFill>
          <a:ln/>
        </p:spPr>
      </p:sp>
      <p:sp>
        <p:nvSpPr>
          <p:cNvPr id="13" name="Break-even text"/>
          <p:cNvSpPr txBox="1"/>
          <p:nvPr/>
        </p:nvSpPr>
        <p:spPr>
          <a:xfrm>
            <a:off x="685800" y="2697480"/>
            <a:ext cx="3429000" cy="160020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Less than 5</a:t>
            </a:r>
            <a:endParaRPr lang="en-US" sz="3200" dirty="0"/>
          </a:p>
          <a:p>
            <a:pPr indent="0" marL="0">
              <a:buNone/>
            </a:pPr>
            <a:r>
              <a:rPr lang="en-US" sz="1500" dirty="0">
                <a:solidFill>
                  <a:schemeClr val="bg1"/>
                </a:solidFill>
              </a:rPr>
              <a:t>extra customers a day covers the full cost. Our target is 10.</a:t>
            </a:r>
            <a:endParaRPr lang="en-US" sz="3200" dirty="0"/>
          </a:p>
        </p:txBody>
      </p:sp>
      <p:graphicFrame>
        <p:nvGraphicFramePr>
          <p:cNvPr id="14" name="Investment vs gain chart" descr=""/>
          <p:cNvGraphicFramePr/>
          <p:nvPr/>
        </p:nvGraphicFramePr>
        <p:xfrm>
          <a:off x="4526280" y="2606040"/>
          <a:ext cx="4160520" cy="1783080"/>
        </p:xfrm>
        <a:graphic xmlns:a="http://schemas.openxmlformats.org/drawingml/2006/main">
          <a:graphicData uri="http://schemas.openxmlformats.org/drawingml/2006/chart">
            <c:chart xmlns:c="http://schemas.openxmlformats.org/drawingml/2006/chart" r:id="rId1"/>
          </a:graphicData>
        </a:graphic>
      </p:graphicFrame>
      <p:sp>
        <p:nvSpPr>
          <p:cNvPr id="15" name="ROI footnote"/>
          <p:cNvSpPr txBox="1"/>
          <p:nvPr/>
        </p:nvSpPr>
        <p:spPr>
          <a:xfrm>
            <a:off x="457200" y="43891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*Assumes an average bill of 150 EGP and about 65% margin after ingredients. At target: 10 customers × 30 days × 100 EGP = 30,000 EGP.</a:t>
            </a:r>
            <a:endParaRPr lang="en-US" sz="10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10  FUTURE WORK</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After the First Month</a:t>
            </a:r>
            <a:endParaRPr lang="en-US" sz="3200" dirty="0"/>
          </a:p>
        </p:txBody>
      </p:sp>
      <p:sp>
        <p:nvSpPr>
          <p:cNvPr id="4" name="Growth step 1"/>
          <p:cNvSpPr/>
          <p:nvPr/>
        </p:nvSpPr>
        <p:spPr>
          <a:xfrm>
            <a:off x="457200" y="3383280"/>
            <a:ext cx="1517904" cy="1143000"/>
          </a:xfrm>
          <a:prstGeom prst="roundRect">
            <a:avLst>
              <a:gd name="adj" fmla="val 8000"/>
            </a:avLst>
          </a:prstGeom>
          <a:solidFill>
            <a:schemeClr val="bg2"/>
          </a:solidFill>
          <a:ln/>
        </p:spPr>
      </p:sp>
      <p:sp>
        <p:nvSpPr>
          <p:cNvPr id="5" name="Food influencers circle"/>
          <p:cNvSpPr/>
          <p:nvPr/>
        </p:nvSpPr>
        <p:spPr>
          <a:xfrm>
            <a:off x="941832" y="2724912"/>
            <a:ext cx="548640" cy="548640"/>
          </a:xfrm>
          <a:prstGeom prst="ellipse">
            <a:avLst/>
          </a:prstGeom>
          <a:solidFill>
            <a:schemeClr val="accent1"/>
          </a:solidFill>
          <a:ln/>
        </p:spPr>
      </p:sp>
      <p:pic>
        <p:nvPicPr>
          <p:cNvPr id="6" name="Food influencers icon" descr="Food influencers">    </p:cNvPr>
          <p:cNvPicPr>
            <a:picLocks noChangeAspect="1"/>
          </p:cNvPicPr>
          <p:nvPr/>
        </p:nvPicPr>
        <p:blipFill>
          <a:blip r:embed="rId1"/>
          <a:stretch>
            <a:fillRect/>
          </a:stretch>
        </p:blipFill>
        <p:spPr>
          <a:xfrm>
            <a:off x="1089965" y="2873045"/>
            <a:ext cx="252374" cy="252374"/>
          </a:xfrm>
          <a:prstGeom prst="rect">
            <a:avLst/>
          </a:prstGeom>
        </p:spPr>
      </p:pic>
      <p:sp>
        <p:nvSpPr>
          <p:cNvPr id="7" name="Growth text 1"/>
          <p:cNvSpPr txBox="1"/>
          <p:nvPr/>
        </p:nvSpPr>
        <p:spPr>
          <a:xfrm>
            <a:off x="566928" y="3493008"/>
            <a:ext cx="1298448" cy="685800"/>
          </a:xfrm>
          <a:prstGeom prst="rect">
            <a:avLst/>
          </a:prstGeom>
          <a:noFill/>
          <a:ln/>
        </p:spPr>
        <p:txBody>
          <a:bodyPr wrap="square" lIns="0" tIns="0" rIns="0" bIns="0" rtlCol="0" anchor="t"/>
          <a:lstStyle/>
          <a:p>
            <a:pPr indent="0" marL="0">
              <a:buNone/>
            </a:pPr>
            <a:r>
              <a:rPr lang="en-US" sz="1400" b="1" dirty="0">
                <a:solidFill>
                  <a:schemeClr val="tx2"/>
                </a:solidFill>
              </a:rPr>
              <a:t>Food influencers</a:t>
            </a:r>
            <a:endParaRPr lang="en-US" sz="1400" dirty="0"/>
          </a:p>
        </p:txBody>
      </p:sp>
      <p:sp>
        <p:nvSpPr>
          <p:cNvPr id="8" name="Growth step 2"/>
          <p:cNvSpPr/>
          <p:nvPr/>
        </p:nvSpPr>
        <p:spPr>
          <a:xfrm>
            <a:off x="2139696" y="3090672"/>
            <a:ext cx="1517904" cy="1435608"/>
          </a:xfrm>
          <a:prstGeom prst="roundRect">
            <a:avLst>
              <a:gd name="adj" fmla="val 6369"/>
            </a:avLst>
          </a:prstGeom>
          <a:solidFill>
            <a:schemeClr val="accent2"/>
          </a:solidFill>
          <a:ln/>
        </p:spPr>
      </p:sp>
      <p:sp>
        <p:nvSpPr>
          <p:cNvPr id="9" name="Loyalty programs circle"/>
          <p:cNvSpPr/>
          <p:nvPr/>
        </p:nvSpPr>
        <p:spPr>
          <a:xfrm>
            <a:off x="2624328" y="2432304"/>
            <a:ext cx="548640" cy="548640"/>
          </a:xfrm>
          <a:prstGeom prst="ellipse">
            <a:avLst/>
          </a:prstGeom>
          <a:solidFill>
            <a:schemeClr val="accent1"/>
          </a:solidFill>
          <a:ln/>
        </p:spPr>
      </p:sp>
      <p:pic>
        <p:nvPicPr>
          <p:cNvPr id="10" name="Loyalty programs icon" descr="Loyalty programs">    </p:cNvPr>
          <p:cNvPicPr>
            <a:picLocks noChangeAspect="1"/>
          </p:cNvPicPr>
          <p:nvPr/>
        </p:nvPicPr>
        <p:blipFill>
          <a:blip r:embed="rId2"/>
          <a:stretch>
            <a:fillRect/>
          </a:stretch>
        </p:blipFill>
        <p:spPr>
          <a:xfrm>
            <a:off x="2772461" y="2580437"/>
            <a:ext cx="252374" cy="252374"/>
          </a:xfrm>
          <a:prstGeom prst="rect">
            <a:avLst/>
          </a:prstGeom>
        </p:spPr>
      </p:pic>
      <p:sp>
        <p:nvSpPr>
          <p:cNvPr id="11" name="Growth text 2"/>
          <p:cNvSpPr txBox="1"/>
          <p:nvPr/>
        </p:nvSpPr>
        <p:spPr>
          <a:xfrm>
            <a:off x="2249424" y="3200400"/>
            <a:ext cx="1298448" cy="685800"/>
          </a:xfrm>
          <a:prstGeom prst="rect">
            <a:avLst/>
          </a:prstGeom>
          <a:noFill/>
          <a:ln/>
        </p:spPr>
        <p:txBody>
          <a:bodyPr wrap="square" lIns="0" tIns="0" rIns="0" bIns="0" rtlCol="0" anchor="t"/>
          <a:lstStyle/>
          <a:p>
            <a:pPr indent="0" marL="0">
              <a:buNone/>
            </a:pPr>
            <a:r>
              <a:rPr lang="en-US" sz="1400" b="1" dirty="0">
                <a:solidFill>
                  <a:schemeClr val="tx2"/>
                </a:solidFill>
              </a:rPr>
              <a:t>Loyalty programs</a:t>
            </a:r>
            <a:endParaRPr lang="en-US" sz="1400" dirty="0"/>
          </a:p>
        </p:txBody>
      </p:sp>
      <p:sp>
        <p:nvSpPr>
          <p:cNvPr id="12" name="Growth step 3"/>
          <p:cNvSpPr/>
          <p:nvPr/>
        </p:nvSpPr>
        <p:spPr>
          <a:xfrm>
            <a:off x="3822192" y="2798064"/>
            <a:ext cx="1517904" cy="1728216"/>
          </a:xfrm>
          <a:prstGeom prst="roundRect">
            <a:avLst>
              <a:gd name="adj" fmla="val 6024"/>
            </a:avLst>
          </a:prstGeom>
          <a:solidFill>
            <a:schemeClr val="accent4"/>
          </a:solidFill>
          <a:ln/>
        </p:spPr>
      </p:sp>
      <p:sp>
        <p:nvSpPr>
          <p:cNvPr id="13" name="Seasonal offers circle"/>
          <p:cNvSpPr/>
          <p:nvPr/>
        </p:nvSpPr>
        <p:spPr>
          <a:xfrm>
            <a:off x="4306824" y="2139696"/>
            <a:ext cx="548640" cy="548640"/>
          </a:xfrm>
          <a:prstGeom prst="ellipse">
            <a:avLst/>
          </a:prstGeom>
          <a:solidFill>
            <a:schemeClr val="accent1"/>
          </a:solidFill>
          <a:ln/>
        </p:spPr>
      </p:sp>
      <p:pic>
        <p:nvPicPr>
          <p:cNvPr id="14" name="Seasonal offers icon" descr="Seasonal offers">    </p:cNvPr>
          <p:cNvPicPr>
            <a:picLocks noChangeAspect="1"/>
          </p:cNvPicPr>
          <p:nvPr/>
        </p:nvPicPr>
        <p:blipFill>
          <a:blip r:embed="rId3"/>
          <a:stretch>
            <a:fillRect/>
          </a:stretch>
        </p:blipFill>
        <p:spPr>
          <a:xfrm>
            <a:off x="4454957" y="2287829"/>
            <a:ext cx="252374" cy="252374"/>
          </a:xfrm>
          <a:prstGeom prst="rect">
            <a:avLst/>
          </a:prstGeom>
        </p:spPr>
      </p:pic>
      <p:sp>
        <p:nvSpPr>
          <p:cNvPr id="15" name="Growth text 3"/>
          <p:cNvSpPr txBox="1"/>
          <p:nvPr/>
        </p:nvSpPr>
        <p:spPr>
          <a:xfrm>
            <a:off x="3931920" y="2907792"/>
            <a:ext cx="1298448" cy="685800"/>
          </a:xfrm>
          <a:prstGeom prst="rect">
            <a:avLst/>
          </a:prstGeom>
          <a:noFill/>
          <a:ln/>
        </p:spPr>
        <p:txBody>
          <a:bodyPr wrap="square" lIns="0" tIns="0" rIns="0" bIns="0" rtlCol="0" anchor="t"/>
          <a:lstStyle/>
          <a:p>
            <a:pPr indent="0" marL="0">
              <a:buNone/>
            </a:pPr>
            <a:r>
              <a:rPr lang="en-US" sz="1400" b="1" dirty="0">
                <a:solidFill>
                  <a:schemeClr val="bg1"/>
                </a:solidFill>
              </a:rPr>
              <a:t>Seasonal offers</a:t>
            </a:r>
            <a:endParaRPr lang="en-US" sz="1400" dirty="0"/>
          </a:p>
        </p:txBody>
      </p:sp>
      <p:sp>
        <p:nvSpPr>
          <p:cNvPr id="16" name="Growth step 4"/>
          <p:cNvSpPr/>
          <p:nvPr/>
        </p:nvSpPr>
        <p:spPr>
          <a:xfrm>
            <a:off x="5504688" y="2505456"/>
            <a:ext cx="1517904" cy="2020824"/>
          </a:xfrm>
          <a:prstGeom prst="roundRect">
            <a:avLst>
              <a:gd name="adj" fmla="val 6024"/>
            </a:avLst>
          </a:prstGeom>
          <a:solidFill>
            <a:schemeClr val="accent3"/>
          </a:solidFill>
          <a:ln/>
        </p:spPr>
      </p:sp>
      <p:sp>
        <p:nvSpPr>
          <p:cNvPr id="17" name="Expand the best ads circle"/>
          <p:cNvSpPr/>
          <p:nvPr/>
        </p:nvSpPr>
        <p:spPr>
          <a:xfrm>
            <a:off x="5989320" y="1847088"/>
            <a:ext cx="548640" cy="548640"/>
          </a:xfrm>
          <a:prstGeom prst="ellipse">
            <a:avLst/>
          </a:prstGeom>
          <a:solidFill>
            <a:schemeClr val="accent1"/>
          </a:solidFill>
          <a:ln/>
        </p:spPr>
      </p:sp>
      <p:pic>
        <p:nvPicPr>
          <p:cNvPr id="18" name="Expand the best ads icon" descr="Expand the best ads">    </p:cNvPr>
          <p:cNvPicPr>
            <a:picLocks noChangeAspect="1"/>
          </p:cNvPicPr>
          <p:nvPr/>
        </p:nvPicPr>
        <p:blipFill>
          <a:blip r:embed="rId4"/>
          <a:stretch>
            <a:fillRect/>
          </a:stretch>
        </p:blipFill>
        <p:spPr>
          <a:xfrm>
            <a:off x="6137453" y="1995221"/>
            <a:ext cx="252374" cy="252374"/>
          </a:xfrm>
          <a:prstGeom prst="rect">
            <a:avLst/>
          </a:prstGeom>
        </p:spPr>
      </p:pic>
      <p:sp>
        <p:nvSpPr>
          <p:cNvPr id="19" name="Growth text 4"/>
          <p:cNvSpPr txBox="1"/>
          <p:nvPr/>
        </p:nvSpPr>
        <p:spPr>
          <a:xfrm>
            <a:off x="5614416" y="2615184"/>
            <a:ext cx="1298448" cy="685800"/>
          </a:xfrm>
          <a:prstGeom prst="rect">
            <a:avLst/>
          </a:prstGeom>
          <a:noFill/>
          <a:ln/>
        </p:spPr>
        <p:txBody>
          <a:bodyPr wrap="square" lIns="0" tIns="0" rIns="0" bIns="0" rtlCol="0" anchor="t"/>
          <a:lstStyle/>
          <a:p>
            <a:pPr indent="0" marL="0">
              <a:buNone/>
            </a:pPr>
            <a:r>
              <a:rPr lang="en-US" sz="1400" b="1" dirty="0">
                <a:solidFill>
                  <a:schemeClr val="bg1"/>
                </a:solidFill>
              </a:rPr>
              <a:t>Expand the best ads</a:t>
            </a:r>
            <a:endParaRPr lang="en-US" sz="1400" dirty="0"/>
          </a:p>
        </p:txBody>
      </p:sp>
      <p:sp>
        <p:nvSpPr>
          <p:cNvPr id="20" name="Growth step 5"/>
          <p:cNvSpPr/>
          <p:nvPr/>
        </p:nvSpPr>
        <p:spPr>
          <a:xfrm>
            <a:off x="7187184" y="2212848"/>
            <a:ext cx="1517904" cy="2313432"/>
          </a:xfrm>
          <a:prstGeom prst="roundRect">
            <a:avLst>
              <a:gd name="adj" fmla="val 6024"/>
            </a:avLst>
          </a:prstGeom>
          <a:solidFill>
            <a:schemeClr val="tx2"/>
          </a:solidFill>
          <a:ln/>
        </p:spPr>
      </p:sp>
      <p:sp>
        <p:nvSpPr>
          <p:cNvPr id="21" name="Long-term strategy circle"/>
          <p:cNvSpPr/>
          <p:nvPr/>
        </p:nvSpPr>
        <p:spPr>
          <a:xfrm>
            <a:off x="7671816" y="1554480"/>
            <a:ext cx="548640" cy="548640"/>
          </a:xfrm>
          <a:prstGeom prst="ellipse">
            <a:avLst/>
          </a:prstGeom>
          <a:solidFill>
            <a:schemeClr val="accent1"/>
          </a:solidFill>
          <a:ln/>
        </p:spPr>
      </p:sp>
      <p:pic>
        <p:nvPicPr>
          <p:cNvPr id="22" name="Long-term strategy icon" descr="Long-term strategy">    </p:cNvPr>
          <p:cNvPicPr>
            <a:picLocks noChangeAspect="1"/>
          </p:cNvPicPr>
          <p:nvPr/>
        </p:nvPicPr>
        <p:blipFill>
          <a:blip r:embed="rId5"/>
          <a:stretch>
            <a:fillRect/>
          </a:stretch>
        </p:blipFill>
        <p:spPr>
          <a:xfrm>
            <a:off x="7819949" y="1702613"/>
            <a:ext cx="252374" cy="252374"/>
          </a:xfrm>
          <a:prstGeom prst="rect">
            <a:avLst/>
          </a:prstGeom>
        </p:spPr>
      </p:pic>
      <p:sp>
        <p:nvSpPr>
          <p:cNvPr id="23" name="Growth text 5"/>
          <p:cNvSpPr txBox="1"/>
          <p:nvPr/>
        </p:nvSpPr>
        <p:spPr>
          <a:xfrm>
            <a:off x="7296912" y="2322576"/>
            <a:ext cx="1298448" cy="685800"/>
          </a:xfrm>
          <a:prstGeom prst="rect">
            <a:avLst/>
          </a:prstGeom>
          <a:noFill/>
          <a:ln/>
        </p:spPr>
        <p:txBody>
          <a:bodyPr wrap="square" lIns="0" tIns="0" rIns="0" bIns="0" rtlCol="0" anchor="t"/>
          <a:lstStyle/>
          <a:p>
            <a:pPr indent="0" marL="0">
              <a:buNone/>
            </a:pPr>
            <a:r>
              <a:rPr lang="en-US" sz="1400" b="1" dirty="0">
                <a:solidFill>
                  <a:schemeClr val="bg1"/>
                </a:solidFill>
              </a:rPr>
              <a:t>Long-term strategy</a:t>
            </a:r>
            <a:endParaRPr lang="en-US" sz="14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74320"/>
            <a:ext cx="8229600" cy="274320"/>
          </a:xfrm>
          <a:prstGeom prst="rect">
            <a:avLst/>
          </a:prstGeom>
          <a:noFill/>
          <a:ln/>
        </p:spPr>
        <p:txBody>
          <a:bodyPr wrap="square" lIns="0" tIns="0" rIns="0" bIns="0" rtlCol="0"/>
          <a:lstStyle/>
          <a:p>
            <a:pPr indent="0" marL="0">
              <a:buNone/>
            </a:pPr>
            <a:r>
              <a:rPr lang="en-US" sz="1100" b="1" spc="200" kern="0" dirty="0">
                <a:solidFill>
                  <a:schemeClr val="accent1"/>
                </a:solidFill>
              </a:rPr>
              <a:t>11  WHY CHOOSE US</a:t>
            </a:r>
            <a:endParaRPr lang="en-US" sz="1100" dirty="0"/>
          </a:p>
        </p:txBody>
      </p:sp>
      <p:sp>
        <p:nvSpPr>
          <p:cNvPr id="3" name="Text 0"/>
          <p:cNvSpPr/>
          <p:nvPr>
            <p:ph idx="101" type="title" hasCustomPrompt="1"/>
          </p:nvPr>
        </p:nvSpPr>
        <p:spPr>
          <a:xfrm>
            <a:off x="457200" y="530352"/>
            <a:ext cx="8229600" cy="640080"/>
          </a:xfrm>
          <a:prstGeom prst="rect">
            <a:avLst/>
          </a:prstGeom>
          <a:noFill/>
          <a:ln/>
        </p:spPr>
        <p:txBody>
          <a:bodyPr wrap="square" lIns="0" tIns="0" rIns="0" bIns="0" rtlCol="0" anchor="t"/>
          <a:lstStyle/>
          <a:p>
            <a:pPr algn="l" indent="0" marL="0">
              <a:buNone/>
            </a:pPr>
            <a:r>
              <a:rPr lang="en-US" sz="3200" b="1" dirty="0">
                <a:solidFill>
                  <a:schemeClr val="tx2"/>
                </a:solidFill>
                <a:latin typeface="Cambria" pitchFamily="34" charset="0"/>
                <a:ea typeface="Cambria" pitchFamily="34" charset="-122"/>
                <a:cs typeface="Cambria" pitchFamily="34" charset="-120"/>
              </a:rPr>
              <a:t>Why Pulse Marketing</a:t>
            </a:r>
            <a:endParaRPr lang="en-US" sz="3200" dirty="0"/>
          </a:p>
        </p:txBody>
      </p:sp>
      <p:sp>
        <p:nvSpPr>
          <p:cNvPr id="4" name="Reason card 1"/>
          <p:cNvSpPr/>
          <p:nvPr/>
        </p:nvSpPr>
        <p:spPr>
          <a:xfrm>
            <a:off x="457200" y="1325880"/>
            <a:ext cx="2606040" cy="1463040"/>
          </a:xfrm>
          <a:prstGeom prst="roundRect">
            <a:avLst>
              <a:gd name="adj" fmla="val 7500"/>
            </a:avLst>
          </a:prstGeom>
          <a:solidFill>
            <a:schemeClr val="bg2"/>
          </a:solidFill>
          <a:ln/>
        </p:spPr>
      </p:sp>
      <p:sp>
        <p:nvSpPr>
          <p:cNvPr id="5" name="Café specialists circle"/>
          <p:cNvSpPr/>
          <p:nvPr/>
        </p:nvSpPr>
        <p:spPr>
          <a:xfrm>
            <a:off x="640080" y="1527048"/>
            <a:ext cx="502920" cy="502920"/>
          </a:xfrm>
          <a:prstGeom prst="ellipse">
            <a:avLst/>
          </a:prstGeom>
          <a:solidFill>
            <a:schemeClr val="accent1"/>
          </a:solidFill>
          <a:ln/>
        </p:spPr>
      </p:sp>
      <p:pic>
        <p:nvPicPr>
          <p:cNvPr id="6" name="Café specialists icon" descr="Café specialists">    </p:cNvPr>
          <p:cNvPicPr>
            <a:picLocks noChangeAspect="1"/>
          </p:cNvPicPr>
          <p:nvPr/>
        </p:nvPicPr>
        <p:blipFill>
          <a:blip r:embed="rId1"/>
          <a:stretch>
            <a:fillRect/>
          </a:stretch>
        </p:blipFill>
        <p:spPr>
          <a:xfrm>
            <a:off x="775868" y="1662836"/>
            <a:ext cx="231343" cy="231343"/>
          </a:xfrm>
          <a:prstGeom prst="rect">
            <a:avLst/>
          </a:prstGeom>
        </p:spPr>
      </p:pic>
      <p:sp>
        <p:nvSpPr>
          <p:cNvPr id="7" name="Reason title 1"/>
          <p:cNvSpPr txBox="1"/>
          <p:nvPr/>
        </p:nvSpPr>
        <p:spPr>
          <a:xfrm>
            <a:off x="1280160" y="1527048"/>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Café specialists</a:t>
            </a:r>
            <a:endParaRPr lang="en-US" sz="1500" dirty="0"/>
          </a:p>
        </p:txBody>
      </p:sp>
      <p:sp>
        <p:nvSpPr>
          <p:cNvPr id="8" name="Reason text 1"/>
          <p:cNvSpPr txBox="1"/>
          <p:nvPr/>
        </p:nvSpPr>
        <p:spPr>
          <a:xfrm>
            <a:off x="640080" y="2148840"/>
            <a:ext cx="2286000" cy="566928"/>
          </a:xfrm>
          <a:prstGeom prst="rect">
            <a:avLst/>
          </a:prstGeom>
          <a:noFill/>
          <a:ln/>
        </p:spPr>
        <p:txBody>
          <a:bodyPr wrap="square" lIns="0" tIns="0" rIns="0" bIns="0" rtlCol="0" anchor="t"/>
          <a:lstStyle/>
          <a:p>
            <a:pPr indent="0" marL="0">
              <a:buNone/>
            </a:pPr>
            <a:r>
              <a:rPr lang="en-US" sz="1300" dirty="0">
                <a:solidFill>
                  <a:schemeClr val="tx1"/>
                </a:solidFill>
              </a:rPr>
              <a:t>We know what brings people into a café</a:t>
            </a:r>
            <a:endParaRPr lang="en-US" sz="1300" dirty="0"/>
          </a:p>
        </p:txBody>
      </p:sp>
      <p:sp>
        <p:nvSpPr>
          <p:cNvPr id="9" name="Reason card 2"/>
          <p:cNvSpPr/>
          <p:nvPr/>
        </p:nvSpPr>
        <p:spPr>
          <a:xfrm>
            <a:off x="3268980" y="1325880"/>
            <a:ext cx="2606040" cy="1463040"/>
          </a:xfrm>
          <a:prstGeom prst="roundRect">
            <a:avLst>
              <a:gd name="adj" fmla="val 7500"/>
            </a:avLst>
          </a:prstGeom>
          <a:solidFill>
            <a:schemeClr val="bg2"/>
          </a:solidFill>
          <a:ln/>
        </p:spPr>
      </p:sp>
      <p:sp>
        <p:nvSpPr>
          <p:cNvPr id="10" name="Your own team circle"/>
          <p:cNvSpPr/>
          <p:nvPr/>
        </p:nvSpPr>
        <p:spPr>
          <a:xfrm>
            <a:off x="3451860" y="1527048"/>
            <a:ext cx="502920" cy="502920"/>
          </a:xfrm>
          <a:prstGeom prst="ellipse">
            <a:avLst/>
          </a:prstGeom>
          <a:solidFill>
            <a:schemeClr val="accent1"/>
          </a:solidFill>
          <a:ln/>
        </p:spPr>
      </p:sp>
      <p:pic>
        <p:nvPicPr>
          <p:cNvPr id="11" name="Your own team icon" descr="Your own team">    </p:cNvPr>
          <p:cNvPicPr>
            <a:picLocks noChangeAspect="1"/>
          </p:cNvPicPr>
          <p:nvPr/>
        </p:nvPicPr>
        <p:blipFill>
          <a:blip r:embed="rId2"/>
          <a:stretch>
            <a:fillRect/>
          </a:stretch>
        </p:blipFill>
        <p:spPr>
          <a:xfrm>
            <a:off x="3587648" y="1662836"/>
            <a:ext cx="231343" cy="231343"/>
          </a:xfrm>
          <a:prstGeom prst="rect">
            <a:avLst/>
          </a:prstGeom>
        </p:spPr>
      </p:pic>
      <p:sp>
        <p:nvSpPr>
          <p:cNvPr id="12" name="Reason title 2"/>
          <p:cNvSpPr txBox="1"/>
          <p:nvPr/>
        </p:nvSpPr>
        <p:spPr>
          <a:xfrm>
            <a:off x="4091940" y="1527048"/>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Your own team</a:t>
            </a:r>
            <a:endParaRPr lang="en-US" sz="1500" dirty="0"/>
          </a:p>
        </p:txBody>
      </p:sp>
      <p:sp>
        <p:nvSpPr>
          <p:cNvPr id="13" name="Reason text 2"/>
          <p:cNvSpPr txBox="1"/>
          <p:nvPr/>
        </p:nvSpPr>
        <p:spPr>
          <a:xfrm>
            <a:off x="3451860" y="2148840"/>
            <a:ext cx="2286000" cy="566928"/>
          </a:xfrm>
          <a:prstGeom prst="rect">
            <a:avLst/>
          </a:prstGeom>
          <a:noFill/>
          <a:ln/>
        </p:spPr>
        <p:txBody>
          <a:bodyPr wrap="square" lIns="0" tIns="0" rIns="0" bIns="0" rtlCol="0" anchor="t"/>
          <a:lstStyle/>
          <a:p>
            <a:pPr indent="0" marL="0">
              <a:buNone/>
            </a:pPr>
            <a:r>
              <a:rPr lang="en-US" sz="1300" dirty="0">
                <a:solidFill>
                  <a:schemeClr val="tx1"/>
                </a:solidFill>
              </a:rPr>
              <a:t>A dedicated manager for The Daily Cup</a:t>
            </a:r>
            <a:endParaRPr lang="en-US" sz="1300" dirty="0"/>
          </a:p>
        </p:txBody>
      </p:sp>
      <p:sp>
        <p:nvSpPr>
          <p:cNvPr id="14" name="Reason card 3"/>
          <p:cNvSpPr/>
          <p:nvPr/>
        </p:nvSpPr>
        <p:spPr>
          <a:xfrm>
            <a:off x="6080760" y="1325880"/>
            <a:ext cx="2606040" cy="1463040"/>
          </a:xfrm>
          <a:prstGeom prst="roundRect">
            <a:avLst>
              <a:gd name="adj" fmla="val 7500"/>
            </a:avLst>
          </a:prstGeom>
          <a:solidFill>
            <a:schemeClr val="bg2"/>
          </a:solidFill>
          <a:ln/>
        </p:spPr>
      </p:sp>
      <p:sp>
        <p:nvSpPr>
          <p:cNvPr id="15" name="Weekly reports circle"/>
          <p:cNvSpPr/>
          <p:nvPr/>
        </p:nvSpPr>
        <p:spPr>
          <a:xfrm>
            <a:off x="6263640" y="1527048"/>
            <a:ext cx="502920" cy="502920"/>
          </a:xfrm>
          <a:prstGeom prst="ellipse">
            <a:avLst/>
          </a:prstGeom>
          <a:solidFill>
            <a:schemeClr val="accent1"/>
          </a:solidFill>
          <a:ln/>
        </p:spPr>
      </p:sp>
      <p:pic>
        <p:nvPicPr>
          <p:cNvPr id="16" name="Weekly reports icon" descr="Weekly reports">    </p:cNvPr>
          <p:cNvPicPr>
            <a:picLocks noChangeAspect="1"/>
          </p:cNvPicPr>
          <p:nvPr/>
        </p:nvPicPr>
        <p:blipFill>
          <a:blip r:embed="rId3"/>
          <a:stretch>
            <a:fillRect/>
          </a:stretch>
        </p:blipFill>
        <p:spPr>
          <a:xfrm>
            <a:off x="6399428" y="1662836"/>
            <a:ext cx="231343" cy="231343"/>
          </a:xfrm>
          <a:prstGeom prst="rect">
            <a:avLst/>
          </a:prstGeom>
        </p:spPr>
      </p:pic>
      <p:sp>
        <p:nvSpPr>
          <p:cNvPr id="17" name="Reason title 3"/>
          <p:cNvSpPr txBox="1"/>
          <p:nvPr/>
        </p:nvSpPr>
        <p:spPr>
          <a:xfrm>
            <a:off x="6903720" y="1527048"/>
            <a:ext cx="1691640" cy="502920"/>
          </a:xfrm>
          <a:prstGeom prst="rect">
            <a:avLst/>
          </a:prstGeom>
          <a:noFill/>
          <a:ln/>
        </p:spPr>
        <p:txBody>
          <a:bodyPr wrap="square" lIns="0" tIns="0" rIns="0" bIns="0" rtlCol="0" anchor="ctr"/>
          <a:lstStyle/>
          <a:p>
            <a:pPr indent="0" marL="0">
              <a:buNone/>
            </a:pPr>
            <a:r>
              <a:rPr lang="en-US" sz="1500" b="1" dirty="0">
                <a:solidFill>
                  <a:schemeClr val="tx2"/>
                </a:solidFill>
              </a:rPr>
              <a:t>Weekly reports</a:t>
            </a:r>
            <a:endParaRPr lang="en-US" sz="1500" dirty="0"/>
          </a:p>
        </p:txBody>
      </p:sp>
      <p:sp>
        <p:nvSpPr>
          <p:cNvPr id="18" name="Reason text 3"/>
          <p:cNvSpPr txBox="1"/>
          <p:nvPr/>
        </p:nvSpPr>
        <p:spPr>
          <a:xfrm>
            <a:off x="6263640" y="2148840"/>
            <a:ext cx="2286000" cy="566928"/>
          </a:xfrm>
          <a:prstGeom prst="rect">
            <a:avLst/>
          </a:prstGeom>
          <a:noFill/>
          <a:ln/>
        </p:spPr>
        <p:txBody>
          <a:bodyPr wrap="square" lIns="0" tIns="0" rIns="0" bIns="0" rtlCol="0" anchor="t"/>
          <a:lstStyle/>
          <a:p>
            <a:pPr indent="0" marL="0">
              <a:buNone/>
            </a:pPr>
            <a:r>
              <a:rPr lang="en-US" sz="1300" dirty="0">
                <a:solidFill>
                  <a:schemeClr val="tx1"/>
                </a:solidFill>
              </a:rPr>
              <a:t>See exactly what your money does</a:t>
            </a:r>
            <a:endParaRPr lang="en-US" sz="1300" dirty="0"/>
          </a:p>
        </p:txBody>
      </p:sp>
      <p:sp>
        <p:nvSpPr>
          <p:cNvPr id="19" name="Reason card 4"/>
          <p:cNvSpPr/>
          <p:nvPr/>
        </p:nvSpPr>
        <p:spPr>
          <a:xfrm>
            <a:off x="457200" y="2971800"/>
            <a:ext cx="2606040" cy="1463040"/>
          </a:xfrm>
          <a:prstGeom prst="roundRect">
            <a:avLst>
              <a:gd name="adj" fmla="val 7500"/>
            </a:avLst>
          </a:prstGeom>
          <a:solidFill>
            <a:schemeClr val="tx2"/>
          </a:solidFill>
          <a:ln/>
        </p:spPr>
      </p:sp>
      <p:sp>
        <p:nvSpPr>
          <p:cNvPr id="20" name="No long-term contract circle"/>
          <p:cNvSpPr/>
          <p:nvPr/>
        </p:nvSpPr>
        <p:spPr>
          <a:xfrm>
            <a:off x="640080" y="3172968"/>
            <a:ext cx="502920" cy="502920"/>
          </a:xfrm>
          <a:prstGeom prst="ellipse">
            <a:avLst/>
          </a:prstGeom>
          <a:solidFill>
            <a:schemeClr val="accent4"/>
          </a:solidFill>
          <a:ln/>
        </p:spPr>
      </p:sp>
      <p:pic>
        <p:nvPicPr>
          <p:cNvPr id="21" name="No long-term contract icon" descr="No long-term contract">    </p:cNvPr>
          <p:cNvPicPr>
            <a:picLocks noChangeAspect="1"/>
          </p:cNvPicPr>
          <p:nvPr/>
        </p:nvPicPr>
        <p:blipFill>
          <a:blip r:embed="rId4"/>
          <a:stretch>
            <a:fillRect/>
          </a:stretch>
        </p:blipFill>
        <p:spPr>
          <a:xfrm>
            <a:off x="775868" y="3308756"/>
            <a:ext cx="231343" cy="231343"/>
          </a:xfrm>
          <a:prstGeom prst="rect">
            <a:avLst/>
          </a:prstGeom>
        </p:spPr>
      </p:pic>
      <p:sp>
        <p:nvSpPr>
          <p:cNvPr id="22" name="Reason title 4"/>
          <p:cNvSpPr txBox="1"/>
          <p:nvPr/>
        </p:nvSpPr>
        <p:spPr>
          <a:xfrm>
            <a:off x="1280160" y="3172968"/>
            <a:ext cx="1691640" cy="502920"/>
          </a:xfrm>
          <a:prstGeom prst="rect">
            <a:avLst/>
          </a:prstGeom>
          <a:noFill/>
          <a:ln/>
        </p:spPr>
        <p:txBody>
          <a:bodyPr wrap="square" lIns="0" tIns="0" rIns="0" bIns="0" rtlCol="0" anchor="ctr"/>
          <a:lstStyle/>
          <a:p>
            <a:pPr indent="0" marL="0">
              <a:buNone/>
            </a:pPr>
            <a:r>
              <a:rPr lang="en-US" sz="1500" b="1" dirty="0">
                <a:solidFill>
                  <a:schemeClr val="bg1"/>
                </a:solidFill>
              </a:rPr>
              <a:t>No long-term contract</a:t>
            </a:r>
            <a:endParaRPr lang="en-US" sz="1500" dirty="0"/>
          </a:p>
        </p:txBody>
      </p:sp>
      <p:sp>
        <p:nvSpPr>
          <p:cNvPr id="23" name="Reason text 4"/>
          <p:cNvSpPr txBox="1"/>
          <p:nvPr/>
        </p:nvSpPr>
        <p:spPr>
          <a:xfrm>
            <a:off x="640080" y="3794760"/>
            <a:ext cx="2286000" cy="566928"/>
          </a:xfrm>
          <a:prstGeom prst="rect">
            <a:avLst/>
          </a:prstGeom>
          <a:noFill/>
          <a:ln/>
        </p:spPr>
        <p:txBody>
          <a:bodyPr wrap="square" lIns="0" tIns="0" rIns="0" bIns="0" rtlCol="0" anchor="t"/>
          <a:lstStyle/>
          <a:p>
            <a:pPr indent="0" marL="0">
              <a:buNone/>
            </a:pPr>
            <a:r>
              <a:rPr lang="en-US" sz="1300" dirty="0">
                <a:solidFill>
                  <a:schemeClr val="accent2"/>
                </a:solidFill>
              </a:rPr>
              <a:t>Month to month: stay because it works</a:t>
            </a:r>
            <a:endParaRPr lang="en-US" sz="1300" dirty="0"/>
          </a:p>
        </p:txBody>
      </p:sp>
      <p:sp>
        <p:nvSpPr>
          <p:cNvPr id="24" name="Reason card 5"/>
          <p:cNvSpPr/>
          <p:nvPr/>
        </p:nvSpPr>
        <p:spPr>
          <a:xfrm>
            <a:off x="3268980" y="2971800"/>
            <a:ext cx="2606040" cy="1463040"/>
          </a:xfrm>
          <a:prstGeom prst="roundRect">
            <a:avLst>
              <a:gd name="adj" fmla="val 7500"/>
            </a:avLst>
          </a:prstGeom>
          <a:solidFill>
            <a:schemeClr val="tx2"/>
          </a:solidFill>
          <a:ln/>
        </p:spPr>
      </p:sp>
      <p:sp>
        <p:nvSpPr>
          <p:cNvPr id="25" name="Free audit circle"/>
          <p:cNvSpPr/>
          <p:nvPr/>
        </p:nvSpPr>
        <p:spPr>
          <a:xfrm>
            <a:off x="3451860" y="3172968"/>
            <a:ext cx="502920" cy="502920"/>
          </a:xfrm>
          <a:prstGeom prst="ellipse">
            <a:avLst/>
          </a:prstGeom>
          <a:solidFill>
            <a:schemeClr val="accent4"/>
          </a:solidFill>
          <a:ln/>
        </p:spPr>
      </p:sp>
      <p:pic>
        <p:nvPicPr>
          <p:cNvPr id="26" name="Free audit icon" descr="Free audit">    </p:cNvPr>
          <p:cNvPicPr>
            <a:picLocks noChangeAspect="1"/>
          </p:cNvPicPr>
          <p:nvPr/>
        </p:nvPicPr>
        <p:blipFill>
          <a:blip r:embed="rId5"/>
          <a:stretch>
            <a:fillRect/>
          </a:stretch>
        </p:blipFill>
        <p:spPr>
          <a:xfrm>
            <a:off x="3587648" y="3308756"/>
            <a:ext cx="231343" cy="231343"/>
          </a:xfrm>
          <a:prstGeom prst="rect">
            <a:avLst/>
          </a:prstGeom>
        </p:spPr>
      </p:pic>
      <p:sp>
        <p:nvSpPr>
          <p:cNvPr id="27" name="Reason title 5"/>
          <p:cNvSpPr txBox="1"/>
          <p:nvPr/>
        </p:nvSpPr>
        <p:spPr>
          <a:xfrm>
            <a:off x="4091940" y="3172968"/>
            <a:ext cx="1691640" cy="502920"/>
          </a:xfrm>
          <a:prstGeom prst="rect">
            <a:avLst/>
          </a:prstGeom>
          <a:noFill/>
          <a:ln/>
        </p:spPr>
        <p:txBody>
          <a:bodyPr wrap="square" lIns="0" tIns="0" rIns="0" bIns="0" rtlCol="0" anchor="ctr"/>
          <a:lstStyle/>
          <a:p>
            <a:pPr indent="0" marL="0">
              <a:buNone/>
            </a:pPr>
            <a:r>
              <a:rPr lang="en-US" sz="1500" b="1" dirty="0">
                <a:solidFill>
                  <a:schemeClr val="bg1"/>
                </a:solidFill>
              </a:rPr>
              <a:t>Free audit</a:t>
            </a:r>
            <a:endParaRPr lang="en-US" sz="1500" dirty="0"/>
          </a:p>
        </p:txBody>
      </p:sp>
      <p:sp>
        <p:nvSpPr>
          <p:cNvPr id="28" name="Reason text 5"/>
          <p:cNvSpPr txBox="1"/>
          <p:nvPr/>
        </p:nvSpPr>
        <p:spPr>
          <a:xfrm>
            <a:off x="3451860" y="3794760"/>
            <a:ext cx="2286000" cy="566928"/>
          </a:xfrm>
          <a:prstGeom prst="rect">
            <a:avLst/>
          </a:prstGeom>
          <a:noFill/>
          <a:ln/>
        </p:spPr>
        <p:txBody>
          <a:bodyPr wrap="square" lIns="0" tIns="0" rIns="0" bIns="0" rtlCol="0" anchor="t"/>
          <a:lstStyle/>
          <a:p>
            <a:pPr indent="0" marL="0">
              <a:buNone/>
            </a:pPr>
            <a:r>
              <a:rPr lang="en-US" sz="1300" dirty="0">
                <a:solidFill>
                  <a:schemeClr val="accent2"/>
                </a:solidFill>
              </a:rPr>
              <a:t>A free review of your pages in week 1</a:t>
            </a:r>
            <a:endParaRPr lang="en-US" sz="1300" dirty="0"/>
          </a:p>
        </p:txBody>
      </p:sp>
      <p:sp>
        <p:nvSpPr>
          <p:cNvPr id="29" name="Reason card 6"/>
          <p:cNvSpPr/>
          <p:nvPr/>
        </p:nvSpPr>
        <p:spPr>
          <a:xfrm>
            <a:off x="6080760" y="2971800"/>
            <a:ext cx="2606040" cy="1463040"/>
          </a:xfrm>
          <a:prstGeom prst="roundRect">
            <a:avLst>
              <a:gd name="adj" fmla="val 7500"/>
            </a:avLst>
          </a:prstGeom>
          <a:solidFill>
            <a:schemeClr val="tx2"/>
          </a:solidFill>
          <a:ln/>
        </p:spPr>
      </p:sp>
      <p:sp>
        <p:nvSpPr>
          <p:cNvPr id="30" name="Reach guarantee circle"/>
          <p:cNvSpPr/>
          <p:nvPr/>
        </p:nvSpPr>
        <p:spPr>
          <a:xfrm>
            <a:off x="6263640" y="3172968"/>
            <a:ext cx="502920" cy="502920"/>
          </a:xfrm>
          <a:prstGeom prst="ellipse">
            <a:avLst/>
          </a:prstGeom>
          <a:solidFill>
            <a:schemeClr val="accent4"/>
          </a:solidFill>
          <a:ln/>
        </p:spPr>
      </p:sp>
      <p:pic>
        <p:nvPicPr>
          <p:cNvPr id="31" name="Reach guarantee icon" descr="Reach guarantee">    </p:cNvPr>
          <p:cNvPicPr>
            <a:picLocks noChangeAspect="1"/>
          </p:cNvPicPr>
          <p:nvPr/>
        </p:nvPicPr>
        <p:blipFill>
          <a:blip r:embed="rId6"/>
          <a:stretch>
            <a:fillRect/>
          </a:stretch>
        </p:blipFill>
        <p:spPr>
          <a:xfrm>
            <a:off x="6399428" y="3308756"/>
            <a:ext cx="231343" cy="231343"/>
          </a:xfrm>
          <a:prstGeom prst="rect">
            <a:avLst/>
          </a:prstGeom>
        </p:spPr>
      </p:pic>
      <p:sp>
        <p:nvSpPr>
          <p:cNvPr id="32" name="Reason title 6"/>
          <p:cNvSpPr txBox="1"/>
          <p:nvPr/>
        </p:nvSpPr>
        <p:spPr>
          <a:xfrm>
            <a:off x="6903720" y="3172968"/>
            <a:ext cx="1691640" cy="502920"/>
          </a:xfrm>
          <a:prstGeom prst="rect">
            <a:avLst/>
          </a:prstGeom>
          <a:noFill/>
          <a:ln/>
        </p:spPr>
        <p:txBody>
          <a:bodyPr wrap="square" lIns="0" tIns="0" rIns="0" bIns="0" rtlCol="0" anchor="ctr"/>
          <a:lstStyle/>
          <a:p>
            <a:pPr indent="0" marL="0">
              <a:buNone/>
            </a:pPr>
            <a:r>
              <a:rPr lang="en-US" sz="1500" b="1" dirty="0">
                <a:solidFill>
                  <a:schemeClr val="bg1"/>
                </a:solidFill>
              </a:rPr>
              <a:t>Reach guarantee</a:t>
            </a:r>
            <a:endParaRPr lang="en-US" sz="1500" dirty="0"/>
          </a:p>
        </p:txBody>
      </p:sp>
      <p:sp>
        <p:nvSpPr>
          <p:cNvPr id="33" name="Reason text 6"/>
          <p:cNvSpPr txBox="1"/>
          <p:nvPr/>
        </p:nvSpPr>
        <p:spPr>
          <a:xfrm>
            <a:off x="6263640" y="3794760"/>
            <a:ext cx="2286000" cy="566928"/>
          </a:xfrm>
          <a:prstGeom prst="rect">
            <a:avLst/>
          </a:prstGeom>
          <a:noFill/>
          <a:ln/>
        </p:spPr>
        <p:txBody>
          <a:bodyPr wrap="square" lIns="0" tIns="0" rIns="0" bIns="0" rtlCol="0" anchor="t"/>
          <a:lstStyle/>
          <a:p>
            <a:pPr indent="0" marL="0">
              <a:buNone/>
            </a:pPr>
            <a:r>
              <a:rPr lang="en-US" sz="1300" dirty="0">
                <a:solidFill>
                  <a:schemeClr val="accent2"/>
                </a:solidFill>
              </a:rPr>
              <a:t>Miss the reach target? An extra week of ads at no fee</a:t>
            </a:r>
            <a:endParaRPr lang="en-US" sz="1300" dirty="0"/>
          </a:p>
        </p:txBody>
      </p:sp>
      <p:sp>
        <p:nvSpPr>
          <p:cNvPr id="25" name="Slide Number Placeholder 0"/>
          <p:cNvSpPr>
            <a:spLocks noGrp="1"/>
          </p:cNvSpPr>
          <p:nvPr>
            <p:ph type="sldNum" sz="quarter" idx="4294967295"/>
          </p:nvPr>
        </p:nvSpPr>
        <p:spPr>
          <a:xfrm>
            <a:off x="8229600" y="4800600"/>
            <a:ext cx="457200" cy="2286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914400"/>
            <a:ext cx="4389120" cy="320040"/>
          </a:xfrm>
          <a:prstGeom prst="rect">
            <a:avLst/>
          </a:prstGeom>
          <a:noFill/>
          <a:ln/>
        </p:spPr>
        <p:txBody>
          <a:bodyPr wrap="square" lIns="0" tIns="0" rIns="0" bIns="0" rtlCol="0"/>
          <a:lstStyle/>
          <a:p>
            <a:pPr indent="0" marL="0">
              <a:buNone/>
            </a:pPr>
            <a:r>
              <a:rPr lang="en-US" sz="1200" b="1" spc="300" kern="0" dirty="0">
                <a:solidFill>
                  <a:schemeClr val="accent2"/>
                </a:solidFill>
              </a:rPr>
              <a:t>12  CONCLUSION</a:t>
            </a:r>
            <a:endParaRPr lang="en-US" sz="1200" dirty="0"/>
          </a:p>
        </p:txBody>
      </p:sp>
      <p:sp>
        <p:nvSpPr>
          <p:cNvPr id="3" name="Text 0"/>
          <p:cNvSpPr/>
          <p:nvPr>
            <p:ph idx="101" type="title" hasCustomPrompt="1"/>
          </p:nvPr>
        </p:nvSpPr>
        <p:spPr>
          <a:xfrm>
            <a:off x="548640" y="1325880"/>
            <a:ext cx="4389120" cy="14630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Let's Grow Together!</a:t>
            </a:r>
            <a:endParaRPr lang="en-US" sz="4000" dirty="0"/>
          </a:p>
        </p:txBody>
      </p:sp>
      <p:sp>
        <p:nvSpPr>
          <p:cNvPr id="4" name="Text 0"/>
          <p:cNvSpPr/>
          <p:nvPr>
            <p:ph idx="102" type="body" hasCustomPrompt="1"/>
          </p:nvPr>
        </p:nvSpPr>
        <p:spPr>
          <a:xfrm>
            <a:off x="548640" y="2880360"/>
            <a:ext cx="4206240" cy="1005840"/>
          </a:xfrm>
          <a:prstGeom prst="rect">
            <a:avLst/>
          </a:prstGeom>
          <a:noFill/>
          <a:ln/>
        </p:spPr>
        <p:txBody>
          <a:bodyPr wrap="square" lIns="0" tIns="0" rIns="0" bIns="0" rtlCol="0" anchor="t"/>
          <a:lstStyle/>
          <a:p>
            <a:pPr algn="l" indent="0" marL="0">
              <a:buNone/>
            </a:pPr>
            <a:r>
              <a:rPr lang="en-US" sz="1500" dirty="0">
                <a:solidFill>
                  <a:schemeClr val="accent2"/>
                </a:solidFill>
              </a:rPr>
              <a:t>Start this month and see results within 30 days.</a:t>
            </a:r>
            <a:endParaRPr lang="en-US" sz="1500" dirty="0"/>
          </a:p>
        </p:txBody>
      </p:sp>
      <p:sp>
        <p:nvSpPr>
          <p:cNvPr id="5" name="Offer badge"/>
          <p:cNvSpPr/>
          <p:nvPr/>
        </p:nvSpPr>
        <p:spPr>
          <a:xfrm>
            <a:off x="548640" y="3429000"/>
            <a:ext cx="4206240" cy="548640"/>
          </a:xfrm>
          <a:prstGeom prst="roundRect">
            <a:avLst>
              <a:gd name="adj" fmla="val 50000"/>
            </a:avLst>
          </a:prstGeom>
          <a:solidFill>
            <a:schemeClr val="accent1"/>
          </a:solidFill>
          <a:ln/>
        </p:spPr>
      </p:sp>
      <p:pic>
        <p:nvPicPr>
          <p:cNvPr id="6" name="Offer icon" descr="preencoded.png">    </p:cNvPr>
          <p:cNvPicPr>
            <a:picLocks noChangeAspect="1"/>
          </p:cNvPicPr>
          <p:nvPr/>
        </p:nvPicPr>
        <p:blipFill>
          <a:blip r:embed="rId1"/>
          <a:stretch>
            <a:fillRect/>
          </a:stretch>
        </p:blipFill>
        <p:spPr>
          <a:xfrm>
            <a:off x="731520" y="3547872"/>
            <a:ext cx="310896" cy="310896"/>
          </a:xfrm>
          <a:prstGeom prst="rect">
            <a:avLst/>
          </a:prstGeom>
        </p:spPr>
      </p:pic>
      <p:sp>
        <p:nvSpPr>
          <p:cNvPr id="7" name="Offer text"/>
          <p:cNvSpPr txBox="1"/>
          <p:nvPr/>
        </p:nvSpPr>
        <p:spPr>
          <a:xfrm>
            <a:off x="1188720" y="3429000"/>
            <a:ext cx="3474720" cy="548640"/>
          </a:xfrm>
          <a:prstGeom prst="rect">
            <a:avLst/>
          </a:prstGeom>
          <a:noFill/>
          <a:ln/>
        </p:spPr>
        <p:txBody>
          <a:bodyPr wrap="square" lIns="0" tIns="0" rIns="0" bIns="0" rtlCol="0" anchor="ctr"/>
          <a:lstStyle/>
          <a:p>
            <a:pPr indent="0" marL="0">
              <a:buNone/>
            </a:pPr>
            <a:r>
              <a:rPr lang="en-US" sz="1400" b="1" dirty="0">
                <a:solidFill>
                  <a:schemeClr val="bg1"/>
                </a:solidFill>
              </a:rPr>
              <a:t>Start this month: free menu photo shoot</a:t>
            </a:r>
            <a:endParaRPr lang="en-US" sz="1400" dirty="0"/>
          </a:p>
        </p:txBody>
      </p:sp>
      <p:sp>
        <p:nvSpPr>
          <p:cNvPr id="8" name="Contact details"/>
          <p:cNvSpPr txBox="1"/>
          <p:nvPr/>
        </p:nvSpPr>
        <p:spPr>
          <a:xfrm>
            <a:off x="548640" y="4206240"/>
            <a:ext cx="4389120" cy="320040"/>
          </a:xfrm>
          <a:prstGeom prst="rect">
            <a:avLst/>
          </a:prstGeom>
          <a:noFill/>
          <a:ln/>
        </p:spPr>
        <p:txBody>
          <a:bodyPr wrap="square" lIns="0" tIns="0" rIns="0" bIns="0" rtlCol="0" anchor="ctr"/>
          <a:lstStyle/>
          <a:p>
            <a:pPr indent="0" marL="0">
              <a:buNone/>
            </a:pPr>
            <a:r>
              <a:rPr lang="en-US" sz="1300" dirty="0">
                <a:solidFill>
                  <a:schemeClr val="accent2"/>
                </a:solidFill>
              </a:rPr>
              <a:t>Pulse Marketing   |   [Phone]   |   [Email]</a:t>
            </a:r>
            <a:endParaRPr lang="en-US" sz="1300" dirty="0"/>
          </a:p>
        </p:txBody>
      </p:sp>
      <p:pic>
        <p:nvPicPr>
          <p:cNvPr id="9" name="Next steps illustration" descr="Next steps illustration">    </p:cNvPr>
          <p:cNvPicPr>
            <a:picLocks noChangeAspect="1"/>
          </p:cNvPicPr>
          <p:nvPr/>
        </p:nvPicPr>
        <p:blipFill>
          <a:blip r:embed="rId2"/>
          <a:stretch>
            <a:fillRect/>
          </a:stretch>
        </p:blipFill>
        <p:spPr>
          <a:xfrm>
            <a:off x="5166360" y="594360"/>
            <a:ext cx="3520440" cy="3931920"/>
          </a:xfrm>
          <a:prstGeom prst="rect">
            <a:avLst/>
          </a:prstGeom>
        </p:spPr>
      </p:pic>
    </p:spTree>
  </p:cSld>
  <p:clrMapOvr>
    <a:masterClrMapping/>
  </p:clrMapOvr>
</p:sld>
</file>

<file path=ppt/theme/theme1.xml><?xml version="1.0" encoding="utf-8"?>
<a:theme xmlns:a="http://schemas.openxmlformats.org/drawingml/2006/main" name="Espresso">
  <a:themeElements>
    <a:clrScheme name="Espresso">
      <a:dk1>
        <a:srgbClr val="231B16"/>
      </a:dk1>
      <a:lt1>
        <a:srgbClr val="FFFFFF"/>
      </a:lt1>
      <a:dk2>
        <a:srgbClr val="2E1F17"/>
      </a:dk2>
      <a:lt2>
        <a:srgbClr val="F4ECE5"/>
      </a:lt2>
      <a:accent1>
        <a:srgbClr val="C27A3A"/>
      </a:accent1>
      <a:accent2>
        <a:srgbClr val="E8C9A6"/>
      </a:accent2>
      <a:accent3>
        <a:srgbClr val="6F4E37"/>
      </a:accent3>
      <a:accent4>
        <a:srgbClr val="5B7F5E"/>
      </a:accent4>
      <a:accent5>
        <a:srgbClr val="8C7F76"/>
      </a:accent5>
      <a:accent6>
        <a:srgbClr val="A6513A"/>
      </a:accent6>
      <a:hlink>
        <a:srgbClr val="C27A3A"/>
      </a:hlink>
      <a:folHlink>
        <a:srgbClr val="6F4E37"/>
      </a:folHlink>
    </a:clrScheme>
    <a:fontScheme name="Espress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Digital Marketing Proposal - The Daily Cup</dc:title>
  <dc:subject>PptxGenJS Presentation</dc:subject>
  <dc:creator>Pulse Marketing</dc:creator>
  <cp:lastModifiedBy>Pulse Marketing</cp:lastModifiedBy>
  <cp:revision>1</cp:revision>
  <dcterms:created xsi:type="dcterms:W3CDTF">2026-10-20T08:52:34Z</dcterms:created>
  <dcterms:modified xsi:type="dcterms:W3CDTF">2026-10-20T08:52:34Z</dcterms:modified>
</cp:coreProperties>
</file>