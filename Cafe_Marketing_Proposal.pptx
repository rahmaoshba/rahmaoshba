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2cac4cc6-226d-a040-991d-7b9f3558ee06}">
          <p14:sldIdLst>
            <p14:sldId id="256"/>
            <p14:sldId id="257"/>
          </p14:sldIdLst>
        </p14:section>
        <p14:section name="Problem" id="{a181fbc2-5aac-f660-50fb-c920461791d3}">
          <p14:sldIdLst>
            <p14:sldId id="258"/>
          </p14:sldIdLst>
        </p14:section>
        <p14:section name="Solution" id="{a9f5ac3e-b809-3083-4eb9-9b970a444f75}">
          <p14:sldIdLst>
            <p14:sldId id="259"/>
            <p14:sldId id="260"/>
          </p14:sldIdLst>
        </p14:section>
        <p14:section name="Budget and Timeline" id="{7ca85335-c341-6ff8-b9c3-0ecd7e18976f}">
          <p14:sldIdLst>
            <p14:sldId id="261"/>
            <p14:sldId id="262"/>
          </p14:sldIdLst>
        </p14:section>
        <p14:section name="Results" id="{bcdd1cc8-5f15-f240-e602-12d4f17a2aea}">
          <p14:sldIdLst>
            <p14:sldId id="263"/>
            <p14:sldId id="264"/>
            <p14:sldId id="265"/>
          </p14:sldIdLst>
        </p14:section>
        <p14:section name="Conclusion" id="{05914f7c-f170-4f98-caaf-cde19a5bad77}">
          <p14:sldIdLst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Budget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E1F17"/>
              </a:solidFill>
              <a:ln w="254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C27A3A"/>
              </a:solidFill>
              <a:ln w="254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2"/>
            <c:bubble3D val="0"/>
            <c:spPr>
              <a:solidFill>
                <a:srgbClr val="6F4E37"/>
              </a:solidFill>
              <a:ln w="254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3"/>
            <c:bubble3D val="0"/>
            <c:spPr>
              <a:solidFill>
                <a:srgbClr val="E8C9A6"/>
              </a:solidFill>
              <a:ln w="254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Social media management</c:v>
                </c:pt>
                <c:pt idx="1">
                  <c:v>Paid advertising budget</c:v>
                </c:pt>
                <c:pt idx="2">
                  <c:v>Content creation</c:v>
                </c:pt>
                <c:pt idx="3">
                  <c:v>Reporting and optimization</c:v>
                </c:pt>
              </c:strCache>
            </c:strRef>
          </c:cat>
          <c:val>
            <c:numRef>
              <c:f>Sheet1!$B$2:$B$5</c:f>
              <c:numCache>
                <c:ptCount val="4"/>
                <c:pt idx="0">
                  <c:v>5000</c:v>
                </c:pt>
                <c:pt idx="1">
                  <c:v>4000</c:v>
                </c:pt>
                <c:pt idx="2">
                  <c:v>3000</c:v>
                </c:pt>
                <c:pt idx="3">
                  <c:v>1000</c:v>
                </c:pt>
              </c:numCache>
            </c:numRef>
          </c:val>
        </c:ser>
        <c:firstSliceAng val="0"/>
        <c:holeSize val="62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the team and the agency.
"Today we'll show you how digital marketing can help [Café Name] increase brand awareness, attract more customers and grow sales."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Our agency aims to help the café grow its business through a targeted digital marketing strategy.
We will improve its online presence, attract new customers, and encourage existing customers to return.
Our strategy focuses on three things (shown on the left): social media marketing, paid advertising, and engaging content.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café may face several marketing challenges:
- Low brand awareness: many people nearby don't know the café exists.
- Limited reach on social media: posts are seen by very few people.
- Strong competition from other cafés in the area.
- Few new customers and limited customer engagement.
- No clear digital marketing strategy: posting is random, with no plan or goals.
(These are proposed challenges for the presentation scenario, not verified facts about a real café.)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Our agency proposes a complete digital marketing plan with four parts:
1. Social Media Management: attractive posts, reels and stories, with a consistent posting schedule.
2. Paid Advertising: targeted Facebook and Instagram ads that reach potential customers near the café.
3. Content Creation: high-quality photos and videos showing the drinks, food, offers and the café experience.
4. Customer Engagement: replying to comments and messages, and introducing promotions and loyalty campaigns.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Research: analyze the target audience and competitors.
2. Planning: develop a content calendar and an advertising strategy.
3. Execution: publish content and launch advertising campaigns.
4. Monitoring: track engagement, reach, leads and sales.
5. Optimization: improve campaigns based on performance data.
Steps 3 to 5 are a continuous cycle.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Illustrative budget for a one-month campaign (amounts are proposed for the presentation, not supplier quotes):
- Social media management: 5,000 EGP
- Paid advertising budget: 4,000 EGP
- Content creation: 3,000 EGP
- Campaign reporting and optimization: 1,000 EGP
Total: 13,000 EGP per month.
The final quote should clarify whether taxes, photography expenses and other production costs are included.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Week 1 - Research and Planning: study the market, competitors and target audience.
Week 2 - Content Creation: prepare posts, videos and advertising materials.
Week 3 - Campaign Launch: publish content and start paid ads.
Week 4 - Evaluation and Improvement: analyze performance and recommend improvements.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Working with our agency can help the café:
- Increase brand awareness and online visibility.
- Reach more potential customers.
- Build stronger customer relationships.
- Promote new products and special offers.
- Make better marketing decisions using data.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During the first month, we aim to achieve:
- Higher social media reach and engagement.
- More profile visits, inquiries and direction requests.
- More awareness of the café's products and offers.
- More visits and sales that can be linked to the campaign.
How we measure success: reach, engagement rate, cost per inquiry, customer visits, and sales where data is available.
Targets should be set after reviewing the café's current performance. Results are not guaranteed.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After the first month, we plan to:
- Expand the advertising campaigns that work best.
- Collaborate with local food influencers.
- Introduce customer loyalty and referral programs.
- Develop seasonal campaigns and special offers (for example Ramadan, summer, back to school).
- Use performance data to build a long-term marketing strategy.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believe the right marketing strategy can help the café reach more customers and grow its business.
Our agency is ready to turn this plan into action and build a strong digital presence for your brand.
Let's grow your business together! Then open for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914400"/>
            <a:ext cx="438912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300" kern="0" dirty="0">
                <a:solidFill>
                  <a:schemeClr val="accent2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325880"/>
            <a:ext cx="438912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880360"/>
            <a:ext cx="420624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500" dirty="0">
                <a:solidFill>
                  <a:schemeClr val="accent2"/>
                </a:solidFill>
              </a:defRPr>
            </a:lvl1pPr>
          </a:lstStyle>
          <a:p>
            <a:pPr algn="l" indent="0" marL="0">
              <a:buNone/>
            </a:pPr>
            <a:endParaRPr lang="en-US" sz="15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200" kern="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30352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457200" y="4800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[Agency Name]  |  Digital Marketing Proposal for [Café Name]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91440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2"/>
                </a:solidFill>
              </a:rPr>
              <a:t>PRESENTED BY [AGENCY NAME]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325880"/>
            <a:ext cx="4389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Digital Marketing Proposal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880360"/>
            <a:ext cx="4206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Helping [Café Name] get discovered, attract more customers and grow sales.</a:t>
            </a:r>
            <a:endParaRPr lang="en-US" sz="1500" dirty="0"/>
          </a:p>
        </p:txBody>
      </p:sp>
      <p:pic>
        <p:nvPicPr>
          <p:cNvPr id="5" name="Café illustration" descr="Café illustr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66360" y="594360"/>
            <a:ext cx="3520440" cy="39319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01  EXECUTIVE SUMMARY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3035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Executive Summary</a:t>
            </a:r>
            <a:endParaRPr lang="en-US" sz="3200" dirty="0"/>
          </a:p>
        </p:txBody>
      </p:sp>
      <p:pic>
        <p:nvPicPr>
          <p:cNvPr id="4" name="Strategy focus illustration" descr="Strategy focus illustr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25880"/>
            <a:ext cx="3566160" cy="3291840"/>
          </a:xfrm>
          <a:prstGeom prst="rect">
            <a:avLst/>
          </a:prstGeom>
        </p:spPr>
      </p:pic>
      <p:sp>
        <p:nvSpPr>
          <p:cNvPr id="5" name="Goal statement"/>
          <p:cNvSpPr txBox="1"/>
          <p:nvPr/>
        </p:nvSpPr>
        <p:spPr>
          <a:xfrm>
            <a:off x="4389120" y="1325880"/>
            <a:ext cx="4297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More people discover, visit and come back to [Café Name].</a:t>
            </a:r>
            <a:endParaRPr lang="en-US" sz="2000" dirty="0"/>
          </a:p>
        </p:txBody>
      </p:sp>
      <p:sp>
        <p:nvSpPr>
          <p:cNvPr id="6" name="Stronger online presence circle"/>
          <p:cNvSpPr/>
          <p:nvPr/>
        </p:nvSpPr>
        <p:spPr>
          <a:xfrm>
            <a:off x="4389120" y="237744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7" name="Stronger online presence icon" descr="Stronger online presenc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12564" y="2500884"/>
            <a:ext cx="210312" cy="210312"/>
          </a:xfrm>
          <a:prstGeom prst="rect">
            <a:avLst/>
          </a:prstGeom>
        </p:spPr>
      </p:pic>
      <p:sp>
        <p:nvSpPr>
          <p:cNvPr id="8" name="Row text 1"/>
          <p:cNvSpPr txBox="1"/>
          <p:nvPr/>
        </p:nvSpPr>
        <p:spPr>
          <a:xfrm>
            <a:off x="5029200" y="23774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Stronger online presence</a:t>
            </a:r>
            <a:endParaRPr lang="en-US" sz="1600" dirty="0"/>
          </a:p>
        </p:txBody>
      </p:sp>
      <p:sp>
        <p:nvSpPr>
          <p:cNvPr id="9" name="New customers circle"/>
          <p:cNvSpPr/>
          <p:nvPr/>
        </p:nvSpPr>
        <p:spPr>
          <a:xfrm>
            <a:off x="4389120" y="310896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New customers icon" descr="New customer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12564" y="3232404"/>
            <a:ext cx="210312" cy="210312"/>
          </a:xfrm>
          <a:prstGeom prst="rect">
            <a:avLst/>
          </a:prstGeom>
        </p:spPr>
      </p:pic>
      <p:sp>
        <p:nvSpPr>
          <p:cNvPr id="11" name="Row text 2"/>
          <p:cNvSpPr txBox="1"/>
          <p:nvPr/>
        </p:nvSpPr>
        <p:spPr>
          <a:xfrm>
            <a:off x="5029200" y="31089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New customers</a:t>
            </a:r>
            <a:endParaRPr lang="en-US" sz="1600" dirty="0"/>
          </a:p>
        </p:txBody>
      </p:sp>
      <p:sp>
        <p:nvSpPr>
          <p:cNvPr id="12" name="Customers who return circle"/>
          <p:cNvSpPr/>
          <p:nvPr/>
        </p:nvSpPr>
        <p:spPr>
          <a:xfrm>
            <a:off x="4389120" y="384048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3" name="Customers who return icon" descr="Customers who retur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12564" y="3963924"/>
            <a:ext cx="210312" cy="210312"/>
          </a:xfrm>
          <a:prstGeom prst="rect">
            <a:avLst/>
          </a:prstGeom>
        </p:spPr>
      </p:pic>
      <p:sp>
        <p:nvSpPr>
          <p:cNvPr id="14" name="Row text 3"/>
          <p:cNvSpPr txBox="1"/>
          <p:nvPr/>
        </p:nvSpPr>
        <p:spPr>
          <a:xfrm>
            <a:off x="5029200" y="3840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Customers who return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02  PROBLEM STATEMENT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3035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What's Holding the Café Back</a:t>
            </a:r>
            <a:endParaRPr lang="en-US" sz="3200" dirty="0"/>
          </a:p>
        </p:txBody>
      </p:sp>
      <p:sp>
        <p:nvSpPr>
          <p:cNvPr id="4" name="Low brand awareness circle"/>
          <p:cNvSpPr/>
          <p:nvPr/>
        </p:nvSpPr>
        <p:spPr>
          <a:xfrm>
            <a:off x="457200" y="1325880"/>
            <a:ext cx="457200" cy="45720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5" name="Low brand awareness icon" descr="Low brand awarenes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0644" y="1449324"/>
            <a:ext cx="210312" cy="210312"/>
          </a:xfrm>
          <a:prstGeom prst="rect">
            <a:avLst/>
          </a:prstGeom>
        </p:spPr>
      </p:pic>
      <p:sp>
        <p:nvSpPr>
          <p:cNvPr id="6" name="Row text 1"/>
          <p:cNvSpPr txBox="1"/>
          <p:nvPr/>
        </p:nvSpPr>
        <p:spPr>
          <a:xfrm>
            <a:off x="1097280" y="132588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Low brand awareness</a:t>
            </a:r>
            <a:endParaRPr lang="en-US" sz="1600" dirty="0"/>
          </a:p>
        </p:txBody>
      </p:sp>
      <p:sp>
        <p:nvSpPr>
          <p:cNvPr id="7" name="Limited reach on social media circle"/>
          <p:cNvSpPr/>
          <p:nvPr/>
        </p:nvSpPr>
        <p:spPr>
          <a:xfrm>
            <a:off x="457200" y="1984248"/>
            <a:ext cx="457200" cy="45720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8" name="Limited reach on social media icon" descr="Limited reach on social medi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" y="2107692"/>
            <a:ext cx="210312" cy="210312"/>
          </a:xfrm>
          <a:prstGeom prst="rect">
            <a:avLst/>
          </a:prstGeom>
        </p:spPr>
      </p:pic>
      <p:sp>
        <p:nvSpPr>
          <p:cNvPr id="9" name="Row text 2"/>
          <p:cNvSpPr txBox="1"/>
          <p:nvPr/>
        </p:nvSpPr>
        <p:spPr>
          <a:xfrm>
            <a:off x="1097280" y="1984248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Limited reach on social media</a:t>
            </a:r>
            <a:endParaRPr lang="en-US" sz="1600" dirty="0"/>
          </a:p>
        </p:txBody>
      </p:sp>
      <p:sp>
        <p:nvSpPr>
          <p:cNvPr id="10" name="Strong competition from other cafés circle"/>
          <p:cNvSpPr/>
          <p:nvPr/>
        </p:nvSpPr>
        <p:spPr>
          <a:xfrm>
            <a:off x="457200" y="2642616"/>
            <a:ext cx="457200" cy="45720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1" name="Strong competition from other cafés icon" descr="Strong competition from other café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" y="2766060"/>
            <a:ext cx="210312" cy="210312"/>
          </a:xfrm>
          <a:prstGeom prst="rect">
            <a:avLst/>
          </a:prstGeom>
        </p:spPr>
      </p:pic>
      <p:sp>
        <p:nvSpPr>
          <p:cNvPr id="12" name="Row text 3"/>
          <p:cNvSpPr txBox="1"/>
          <p:nvPr/>
        </p:nvSpPr>
        <p:spPr>
          <a:xfrm>
            <a:off x="1097280" y="2642616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Strong competition from other cafés</a:t>
            </a:r>
            <a:endParaRPr lang="en-US" sz="1600" dirty="0"/>
          </a:p>
        </p:txBody>
      </p:sp>
      <p:sp>
        <p:nvSpPr>
          <p:cNvPr id="13" name="Few new customers, low engagement circle"/>
          <p:cNvSpPr/>
          <p:nvPr/>
        </p:nvSpPr>
        <p:spPr>
          <a:xfrm>
            <a:off x="457200" y="3300984"/>
            <a:ext cx="457200" cy="45720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4" name="Few new customers, low engagement icon" descr="Few new customers, low engagemen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0644" y="3424428"/>
            <a:ext cx="210312" cy="210312"/>
          </a:xfrm>
          <a:prstGeom prst="rect">
            <a:avLst/>
          </a:prstGeom>
        </p:spPr>
      </p:pic>
      <p:sp>
        <p:nvSpPr>
          <p:cNvPr id="15" name="Row text 4"/>
          <p:cNvSpPr txBox="1"/>
          <p:nvPr/>
        </p:nvSpPr>
        <p:spPr>
          <a:xfrm>
            <a:off x="1097280" y="3300984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Few new customers, low engagement</a:t>
            </a:r>
            <a:endParaRPr lang="en-US" sz="1600" dirty="0"/>
          </a:p>
        </p:txBody>
      </p:sp>
      <p:sp>
        <p:nvSpPr>
          <p:cNvPr id="16" name="No clear digital marketing strategy circle"/>
          <p:cNvSpPr/>
          <p:nvPr/>
        </p:nvSpPr>
        <p:spPr>
          <a:xfrm>
            <a:off x="457200" y="3959352"/>
            <a:ext cx="457200" cy="45720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7" name="No clear digital marketing strategy icon" descr="No clear digital marketing strategy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0644" y="4082796"/>
            <a:ext cx="210312" cy="210312"/>
          </a:xfrm>
          <a:prstGeom prst="rect">
            <a:avLst/>
          </a:prstGeom>
        </p:spPr>
      </p:pic>
      <p:sp>
        <p:nvSpPr>
          <p:cNvPr id="18" name="Row text 5"/>
          <p:cNvSpPr txBox="1"/>
          <p:nvPr/>
        </p:nvSpPr>
        <p:spPr>
          <a:xfrm>
            <a:off x="1097280" y="3959352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No clear digital marketing strategy</a:t>
            </a:r>
            <a:endParaRPr lang="en-US" sz="1600" dirty="0"/>
          </a:p>
        </p:txBody>
      </p:sp>
      <p:pic>
        <p:nvPicPr>
          <p:cNvPr id="19" name="Weak social media illustration" descr="Weak social media illustratio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20640" y="1325880"/>
            <a:ext cx="3566160" cy="32918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03  PROPOSED SOLUTION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3035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Our 4-Part Marketing Plan</a:t>
            </a:r>
            <a:endParaRPr lang="en-US" sz="3200" dirty="0"/>
          </a:p>
        </p:txBody>
      </p:sp>
      <p:sp>
        <p:nvSpPr>
          <p:cNvPr id="4" name="Solution card 1"/>
          <p:cNvSpPr/>
          <p:nvPr/>
        </p:nvSpPr>
        <p:spPr>
          <a:xfrm>
            <a:off x="457200" y="1325880"/>
            <a:ext cx="1920240" cy="32004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</p:sp>
      <p:pic>
        <p:nvPicPr>
          <p:cNvPr id="5" name="Social Media Management illustration" descr="Social Media Management illustr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1737360" cy="1600200"/>
          </a:xfrm>
          <a:prstGeom prst="rect">
            <a:avLst/>
          </a:prstGeom>
        </p:spPr>
      </p:pic>
      <p:sp>
        <p:nvSpPr>
          <p:cNvPr id="6" name="Solution title 1"/>
          <p:cNvSpPr txBox="1"/>
          <p:nvPr/>
        </p:nvSpPr>
        <p:spPr>
          <a:xfrm>
            <a:off x="594360" y="315468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Social Media Management</a:t>
            </a:r>
            <a:endParaRPr lang="en-US" sz="1500" dirty="0"/>
          </a:p>
        </p:txBody>
      </p:sp>
      <p:sp>
        <p:nvSpPr>
          <p:cNvPr id="7" name="Solution text 1"/>
          <p:cNvSpPr txBox="1"/>
          <p:nvPr/>
        </p:nvSpPr>
        <p:spPr>
          <a:xfrm>
            <a:off x="594360" y="3730752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Posts, reels and stories on a steady schedule</a:t>
            </a:r>
            <a:endParaRPr lang="en-US" sz="1200" dirty="0"/>
          </a:p>
        </p:txBody>
      </p:sp>
      <p:sp>
        <p:nvSpPr>
          <p:cNvPr id="8" name="Solution card 2"/>
          <p:cNvSpPr/>
          <p:nvPr/>
        </p:nvSpPr>
        <p:spPr>
          <a:xfrm>
            <a:off x="2560320" y="1325880"/>
            <a:ext cx="1920240" cy="32004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</p:sp>
      <p:pic>
        <p:nvPicPr>
          <p:cNvPr id="9" name="Paid Advertising illustration" descr="Paid Advertising illustrati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1760" y="1417320"/>
            <a:ext cx="1737360" cy="1600200"/>
          </a:xfrm>
          <a:prstGeom prst="rect">
            <a:avLst/>
          </a:prstGeom>
        </p:spPr>
      </p:pic>
      <p:sp>
        <p:nvSpPr>
          <p:cNvPr id="10" name="Solution title 2"/>
          <p:cNvSpPr txBox="1"/>
          <p:nvPr/>
        </p:nvSpPr>
        <p:spPr>
          <a:xfrm>
            <a:off x="2697480" y="315468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Paid Advertising</a:t>
            </a:r>
            <a:endParaRPr lang="en-US" sz="1500" dirty="0"/>
          </a:p>
        </p:txBody>
      </p:sp>
      <p:sp>
        <p:nvSpPr>
          <p:cNvPr id="11" name="Solution text 2"/>
          <p:cNvSpPr txBox="1"/>
          <p:nvPr/>
        </p:nvSpPr>
        <p:spPr>
          <a:xfrm>
            <a:off x="2697480" y="3730752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Facebook and Instagram ads for people nearby</a:t>
            </a:r>
            <a:endParaRPr lang="en-US" sz="1200" dirty="0"/>
          </a:p>
        </p:txBody>
      </p:sp>
      <p:sp>
        <p:nvSpPr>
          <p:cNvPr id="12" name="Solution card 3"/>
          <p:cNvSpPr/>
          <p:nvPr/>
        </p:nvSpPr>
        <p:spPr>
          <a:xfrm>
            <a:off x="4663440" y="1325880"/>
            <a:ext cx="1920240" cy="32004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</p:sp>
      <p:pic>
        <p:nvPicPr>
          <p:cNvPr id="13" name="Content Creation illustration" descr="Content Creation illustrati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0" y="1417320"/>
            <a:ext cx="1737360" cy="1600200"/>
          </a:xfrm>
          <a:prstGeom prst="rect">
            <a:avLst/>
          </a:prstGeom>
        </p:spPr>
      </p:pic>
      <p:sp>
        <p:nvSpPr>
          <p:cNvPr id="14" name="Solution title 3"/>
          <p:cNvSpPr txBox="1"/>
          <p:nvPr/>
        </p:nvSpPr>
        <p:spPr>
          <a:xfrm>
            <a:off x="4800600" y="315468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Content Creation</a:t>
            </a:r>
            <a:endParaRPr lang="en-US" sz="1500" dirty="0"/>
          </a:p>
        </p:txBody>
      </p:sp>
      <p:sp>
        <p:nvSpPr>
          <p:cNvPr id="15" name="Solution text 3"/>
          <p:cNvSpPr txBox="1"/>
          <p:nvPr/>
        </p:nvSpPr>
        <p:spPr>
          <a:xfrm>
            <a:off x="4800600" y="3730752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Photos and videos of drinks, food and the vibe</a:t>
            </a:r>
            <a:endParaRPr lang="en-US" sz="1200" dirty="0"/>
          </a:p>
        </p:txBody>
      </p:sp>
      <p:sp>
        <p:nvSpPr>
          <p:cNvPr id="16" name="Solution card 4"/>
          <p:cNvSpPr/>
          <p:nvPr/>
        </p:nvSpPr>
        <p:spPr>
          <a:xfrm>
            <a:off x="6766560" y="1325880"/>
            <a:ext cx="1920240" cy="32004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</p:sp>
      <p:pic>
        <p:nvPicPr>
          <p:cNvPr id="17" name="Customer Engagement illustration" descr="Customer Engagement illustrati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0" y="1417320"/>
            <a:ext cx="1737360" cy="1600200"/>
          </a:xfrm>
          <a:prstGeom prst="rect">
            <a:avLst/>
          </a:prstGeom>
        </p:spPr>
      </p:pic>
      <p:sp>
        <p:nvSpPr>
          <p:cNvPr id="18" name="Solution title 4"/>
          <p:cNvSpPr txBox="1"/>
          <p:nvPr/>
        </p:nvSpPr>
        <p:spPr>
          <a:xfrm>
            <a:off x="6903720" y="315468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Customer Engagement</a:t>
            </a:r>
            <a:endParaRPr lang="en-US" sz="1500" dirty="0"/>
          </a:p>
        </p:txBody>
      </p:sp>
      <p:sp>
        <p:nvSpPr>
          <p:cNvPr id="19" name="Solution text 4"/>
          <p:cNvSpPr txBox="1"/>
          <p:nvPr/>
        </p:nvSpPr>
        <p:spPr>
          <a:xfrm>
            <a:off x="6903720" y="3730752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Replies, offers and loyalty rewards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04  IMPLEMENTATION PLAN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3035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We'll Do It: 5 Steps</a:t>
            </a:r>
            <a:endParaRPr lang="en-US" sz="3200" dirty="0"/>
          </a:p>
        </p:txBody>
      </p:sp>
      <p:sp>
        <p:nvSpPr>
          <p:cNvPr id="4" name="Step connector"/>
          <p:cNvSpPr/>
          <p:nvPr/>
        </p:nvSpPr>
        <p:spPr>
          <a:xfrm>
            <a:off x="1280160" y="1965960"/>
            <a:ext cx="6583680" cy="0"/>
          </a:xfrm>
          <a:prstGeom prst="line">
            <a:avLst/>
          </a:prstGeom>
          <a:noFill/>
          <a:ln w="38100">
            <a:solidFill>
              <a:srgbClr val="E8C9A6"/>
            </a:solidFill>
            <a:prstDash val="solid"/>
          </a:ln>
        </p:spPr>
      </p:sp>
      <p:sp>
        <p:nvSpPr>
          <p:cNvPr id="5" name="Research circle"/>
          <p:cNvSpPr/>
          <p:nvPr/>
        </p:nvSpPr>
        <p:spPr>
          <a:xfrm>
            <a:off x="822960" y="1508760"/>
            <a:ext cx="914400" cy="91440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6" name="Research icon" descr="Researc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9848" y="1755648"/>
            <a:ext cx="420624" cy="420624"/>
          </a:xfrm>
          <a:prstGeom prst="rect">
            <a:avLst/>
          </a:prstGeom>
        </p:spPr>
      </p:pic>
      <p:sp>
        <p:nvSpPr>
          <p:cNvPr id="7" name="Step badge 1"/>
          <p:cNvSpPr/>
          <p:nvPr/>
        </p:nvSpPr>
        <p:spPr>
          <a:xfrm>
            <a:off x="1463040" y="1463040"/>
            <a:ext cx="329184" cy="329184"/>
          </a:xfrm>
          <a:prstGeom prst="ellipse">
            <a:avLst/>
          </a:prstGeom>
          <a:solidFill>
            <a:schemeClr val="accent2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8" name="Step number 1"/>
          <p:cNvSpPr txBox="1"/>
          <p:nvPr/>
        </p:nvSpPr>
        <p:spPr>
          <a:xfrm>
            <a:off x="1463040" y="14630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1</a:t>
            </a:r>
            <a:endParaRPr lang="en-US" sz="1200" dirty="0"/>
          </a:p>
        </p:txBody>
      </p:sp>
      <p:sp>
        <p:nvSpPr>
          <p:cNvPr id="9" name="Step title 1"/>
          <p:cNvSpPr txBox="1"/>
          <p:nvPr/>
        </p:nvSpPr>
        <p:spPr>
          <a:xfrm>
            <a:off x="548640" y="260604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Research</a:t>
            </a:r>
            <a:endParaRPr lang="en-US" sz="1600" dirty="0"/>
          </a:p>
        </p:txBody>
      </p:sp>
      <p:sp>
        <p:nvSpPr>
          <p:cNvPr id="10" name="Step text 1"/>
          <p:cNvSpPr txBox="1"/>
          <p:nvPr/>
        </p:nvSpPr>
        <p:spPr>
          <a:xfrm>
            <a:off x="548640" y="297180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Audience and competitors</a:t>
            </a:r>
            <a:endParaRPr lang="en-US" sz="1200" dirty="0"/>
          </a:p>
        </p:txBody>
      </p:sp>
      <p:sp>
        <p:nvSpPr>
          <p:cNvPr id="11" name="Planning circle"/>
          <p:cNvSpPr/>
          <p:nvPr/>
        </p:nvSpPr>
        <p:spPr>
          <a:xfrm>
            <a:off x="2468880" y="1508760"/>
            <a:ext cx="914400" cy="91440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2" name="Planning icon" descr="Plann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5768" y="1755648"/>
            <a:ext cx="420624" cy="420624"/>
          </a:xfrm>
          <a:prstGeom prst="rect">
            <a:avLst/>
          </a:prstGeom>
        </p:spPr>
      </p:pic>
      <p:sp>
        <p:nvSpPr>
          <p:cNvPr id="13" name="Step badge 2"/>
          <p:cNvSpPr/>
          <p:nvPr/>
        </p:nvSpPr>
        <p:spPr>
          <a:xfrm>
            <a:off x="3108960" y="1463040"/>
            <a:ext cx="329184" cy="329184"/>
          </a:xfrm>
          <a:prstGeom prst="ellipse">
            <a:avLst/>
          </a:prstGeom>
          <a:solidFill>
            <a:schemeClr val="accent2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Step number 2"/>
          <p:cNvSpPr txBox="1"/>
          <p:nvPr/>
        </p:nvSpPr>
        <p:spPr>
          <a:xfrm>
            <a:off x="3108960" y="14630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2</a:t>
            </a:r>
            <a:endParaRPr lang="en-US" sz="1200" dirty="0"/>
          </a:p>
        </p:txBody>
      </p:sp>
      <p:sp>
        <p:nvSpPr>
          <p:cNvPr id="15" name="Step title 2"/>
          <p:cNvSpPr txBox="1"/>
          <p:nvPr/>
        </p:nvSpPr>
        <p:spPr>
          <a:xfrm>
            <a:off x="2194560" y="260604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Planning</a:t>
            </a:r>
            <a:endParaRPr lang="en-US" sz="1600" dirty="0"/>
          </a:p>
        </p:txBody>
      </p:sp>
      <p:sp>
        <p:nvSpPr>
          <p:cNvPr id="16" name="Step text 2"/>
          <p:cNvSpPr txBox="1"/>
          <p:nvPr/>
        </p:nvSpPr>
        <p:spPr>
          <a:xfrm>
            <a:off x="2194560" y="297180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Content calendar and ad strategy</a:t>
            </a:r>
            <a:endParaRPr lang="en-US" sz="1200" dirty="0"/>
          </a:p>
        </p:txBody>
      </p:sp>
      <p:sp>
        <p:nvSpPr>
          <p:cNvPr id="17" name="Execution circle"/>
          <p:cNvSpPr/>
          <p:nvPr/>
        </p:nvSpPr>
        <p:spPr>
          <a:xfrm>
            <a:off x="4114800" y="1508760"/>
            <a:ext cx="914400" cy="9144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8" name="Execution icon" descr="Executi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61688" y="1755648"/>
            <a:ext cx="420624" cy="420624"/>
          </a:xfrm>
          <a:prstGeom prst="rect">
            <a:avLst/>
          </a:prstGeom>
        </p:spPr>
      </p:pic>
      <p:sp>
        <p:nvSpPr>
          <p:cNvPr id="19" name="Step badge 3"/>
          <p:cNvSpPr/>
          <p:nvPr/>
        </p:nvSpPr>
        <p:spPr>
          <a:xfrm>
            <a:off x="4754880" y="1463040"/>
            <a:ext cx="329184" cy="329184"/>
          </a:xfrm>
          <a:prstGeom prst="ellipse">
            <a:avLst/>
          </a:prstGeom>
          <a:solidFill>
            <a:schemeClr val="accent2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0" name="Step number 3"/>
          <p:cNvSpPr txBox="1"/>
          <p:nvPr/>
        </p:nvSpPr>
        <p:spPr>
          <a:xfrm>
            <a:off x="4754880" y="14630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3</a:t>
            </a:r>
            <a:endParaRPr lang="en-US" sz="1200" dirty="0"/>
          </a:p>
        </p:txBody>
      </p:sp>
      <p:sp>
        <p:nvSpPr>
          <p:cNvPr id="21" name="Step title 3"/>
          <p:cNvSpPr txBox="1"/>
          <p:nvPr/>
        </p:nvSpPr>
        <p:spPr>
          <a:xfrm>
            <a:off x="3840480" y="260604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Execution</a:t>
            </a:r>
            <a:endParaRPr lang="en-US" sz="1600" dirty="0"/>
          </a:p>
        </p:txBody>
      </p:sp>
      <p:sp>
        <p:nvSpPr>
          <p:cNvPr id="22" name="Step text 3"/>
          <p:cNvSpPr txBox="1"/>
          <p:nvPr/>
        </p:nvSpPr>
        <p:spPr>
          <a:xfrm>
            <a:off x="3840480" y="297180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Publish content, launch ads</a:t>
            </a:r>
            <a:endParaRPr lang="en-US" sz="1200" dirty="0"/>
          </a:p>
        </p:txBody>
      </p:sp>
      <p:sp>
        <p:nvSpPr>
          <p:cNvPr id="23" name="Monitoring circle"/>
          <p:cNvSpPr/>
          <p:nvPr/>
        </p:nvSpPr>
        <p:spPr>
          <a:xfrm>
            <a:off x="5760720" y="1508760"/>
            <a:ext cx="914400" cy="91440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4" name="Monitoring icon" descr="Monitori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07608" y="1755648"/>
            <a:ext cx="420624" cy="420624"/>
          </a:xfrm>
          <a:prstGeom prst="rect">
            <a:avLst/>
          </a:prstGeom>
        </p:spPr>
      </p:pic>
      <p:sp>
        <p:nvSpPr>
          <p:cNvPr id="25" name="Step badge 4"/>
          <p:cNvSpPr/>
          <p:nvPr/>
        </p:nvSpPr>
        <p:spPr>
          <a:xfrm>
            <a:off x="6400800" y="1463040"/>
            <a:ext cx="329184" cy="329184"/>
          </a:xfrm>
          <a:prstGeom prst="ellipse">
            <a:avLst/>
          </a:prstGeom>
          <a:solidFill>
            <a:schemeClr val="accent2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6" name="Step number 4"/>
          <p:cNvSpPr txBox="1"/>
          <p:nvPr/>
        </p:nvSpPr>
        <p:spPr>
          <a:xfrm>
            <a:off x="6400800" y="14630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4</a:t>
            </a:r>
            <a:endParaRPr lang="en-US" sz="1200" dirty="0"/>
          </a:p>
        </p:txBody>
      </p:sp>
      <p:sp>
        <p:nvSpPr>
          <p:cNvPr id="27" name="Step title 4"/>
          <p:cNvSpPr txBox="1"/>
          <p:nvPr/>
        </p:nvSpPr>
        <p:spPr>
          <a:xfrm>
            <a:off x="5486400" y="260604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Monitoring</a:t>
            </a:r>
            <a:endParaRPr lang="en-US" sz="1600" dirty="0"/>
          </a:p>
        </p:txBody>
      </p:sp>
      <p:sp>
        <p:nvSpPr>
          <p:cNvPr id="28" name="Step text 4"/>
          <p:cNvSpPr txBox="1"/>
          <p:nvPr/>
        </p:nvSpPr>
        <p:spPr>
          <a:xfrm>
            <a:off x="5486400" y="297180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Track reach, leads and sales</a:t>
            </a:r>
            <a:endParaRPr lang="en-US" sz="1200" dirty="0"/>
          </a:p>
        </p:txBody>
      </p:sp>
      <p:sp>
        <p:nvSpPr>
          <p:cNvPr id="29" name="Optimization circle"/>
          <p:cNvSpPr/>
          <p:nvPr/>
        </p:nvSpPr>
        <p:spPr>
          <a:xfrm>
            <a:off x="7406640" y="1508760"/>
            <a:ext cx="914400" cy="91440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30" name="Optimization icon" descr="Optimizati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53528" y="1755648"/>
            <a:ext cx="420624" cy="420624"/>
          </a:xfrm>
          <a:prstGeom prst="rect">
            <a:avLst/>
          </a:prstGeom>
        </p:spPr>
      </p:pic>
      <p:sp>
        <p:nvSpPr>
          <p:cNvPr id="31" name="Step badge 5"/>
          <p:cNvSpPr/>
          <p:nvPr/>
        </p:nvSpPr>
        <p:spPr>
          <a:xfrm>
            <a:off x="8046720" y="1463040"/>
            <a:ext cx="329184" cy="329184"/>
          </a:xfrm>
          <a:prstGeom prst="ellipse">
            <a:avLst/>
          </a:prstGeom>
          <a:solidFill>
            <a:schemeClr val="accent2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2" name="Step number 5"/>
          <p:cNvSpPr txBox="1"/>
          <p:nvPr/>
        </p:nvSpPr>
        <p:spPr>
          <a:xfrm>
            <a:off x="8046720" y="14630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5</a:t>
            </a:r>
            <a:endParaRPr lang="en-US" sz="1200" dirty="0"/>
          </a:p>
        </p:txBody>
      </p:sp>
      <p:sp>
        <p:nvSpPr>
          <p:cNvPr id="33" name="Step title 5"/>
          <p:cNvSpPr txBox="1"/>
          <p:nvPr/>
        </p:nvSpPr>
        <p:spPr>
          <a:xfrm>
            <a:off x="7132320" y="260604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Optimization</a:t>
            </a:r>
            <a:endParaRPr lang="en-US" sz="1600" dirty="0"/>
          </a:p>
        </p:txBody>
      </p:sp>
      <p:sp>
        <p:nvSpPr>
          <p:cNvPr id="34" name="Step text 5"/>
          <p:cNvSpPr txBox="1"/>
          <p:nvPr/>
        </p:nvSpPr>
        <p:spPr>
          <a:xfrm>
            <a:off x="7132320" y="297180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Improve using the data</a:t>
            </a:r>
            <a:endParaRPr lang="en-US" sz="1200" dirty="0"/>
          </a:p>
        </p:txBody>
      </p:sp>
      <p:sp>
        <p:nvSpPr>
          <p:cNvPr id="35" name="Repeat note box"/>
          <p:cNvSpPr/>
          <p:nvPr/>
        </p:nvSpPr>
        <p:spPr>
          <a:xfrm>
            <a:off x="2103120" y="3886200"/>
            <a:ext cx="4937760" cy="54864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pic>
        <p:nvPicPr>
          <p:cNvPr id="36" name="Repeat 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31720" y="4023360"/>
            <a:ext cx="274320" cy="274320"/>
          </a:xfrm>
          <a:prstGeom prst="rect">
            <a:avLst/>
          </a:prstGeom>
        </p:spPr>
      </p:pic>
      <p:sp>
        <p:nvSpPr>
          <p:cNvPr id="37" name="Repeat note"/>
          <p:cNvSpPr txBox="1"/>
          <p:nvPr/>
        </p:nvSpPr>
        <p:spPr>
          <a:xfrm>
            <a:off x="2743200" y="388620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Steps 3 to 5 repeat every week to keep improving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05  BUDGET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3035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Monthly Investment</a:t>
            </a:r>
            <a:endParaRPr lang="en-US" sz="3200" dirty="0"/>
          </a:p>
        </p:txBody>
      </p:sp>
      <p:graphicFrame>
        <p:nvGraphicFramePr>
          <p:cNvPr id="4" name="Budget doughnut" descr=""/>
          <p:cNvGraphicFramePr/>
          <p:nvPr/>
        </p:nvGraphicFramePr>
        <p:xfrm>
          <a:off x="548640" y="1280160"/>
          <a:ext cx="338328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Budget total center"/>
          <p:cNvSpPr txBox="1"/>
          <p:nvPr/>
        </p:nvSpPr>
        <p:spPr>
          <a:xfrm>
            <a:off x="1234440" y="251460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13,000</a:t>
            </a:r>
            <a:endParaRPr lang="en-US" sz="30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EGP / month</a:t>
            </a:r>
            <a:endParaRPr lang="en-US" sz="3000" dirty="0"/>
          </a:p>
        </p:txBody>
      </p:sp>
      <p:sp>
        <p:nvSpPr>
          <p:cNvPr id="6" name="Legend dot 1"/>
          <p:cNvSpPr/>
          <p:nvPr/>
        </p:nvSpPr>
        <p:spPr>
          <a:xfrm>
            <a:off x="4480560" y="1591056"/>
            <a:ext cx="219456" cy="219456"/>
          </a:xfrm>
          <a:prstGeom prst="ellipse">
            <a:avLst/>
          </a:prstGeom>
          <a:solidFill>
            <a:srgbClr val="2E1F17"/>
          </a:solidFill>
          <a:ln/>
        </p:spPr>
      </p:sp>
      <p:sp>
        <p:nvSpPr>
          <p:cNvPr id="7" name="Budget item 1"/>
          <p:cNvSpPr txBox="1"/>
          <p:nvPr/>
        </p:nvSpPr>
        <p:spPr>
          <a:xfrm>
            <a:off x="4846320" y="1463040"/>
            <a:ext cx="2651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Social media management</a:t>
            </a:r>
            <a:endParaRPr lang="en-US" sz="1500" dirty="0"/>
          </a:p>
        </p:txBody>
      </p:sp>
      <p:sp>
        <p:nvSpPr>
          <p:cNvPr id="8" name="Budget amount 1"/>
          <p:cNvSpPr txBox="1"/>
          <p:nvPr/>
        </p:nvSpPr>
        <p:spPr>
          <a:xfrm>
            <a:off x="7406640" y="1463040"/>
            <a:ext cx="1280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5,000</a:t>
            </a:r>
            <a:endParaRPr lang="en-US" sz="1500" dirty="0"/>
          </a:p>
        </p:txBody>
      </p:sp>
      <p:sp>
        <p:nvSpPr>
          <p:cNvPr id="9" name="Legend dot 2"/>
          <p:cNvSpPr/>
          <p:nvPr/>
        </p:nvSpPr>
        <p:spPr>
          <a:xfrm>
            <a:off x="4480560" y="2157984"/>
            <a:ext cx="219456" cy="219456"/>
          </a:xfrm>
          <a:prstGeom prst="ellipse">
            <a:avLst/>
          </a:prstGeom>
          <a:solidFill>
            <a:srgbClr val="C27A3A"/>
          </a:solidFill>
          <a:ln/>
        </p:spPr>
      </p:sp>
      <p:sp>
        <p:nvSpPr>
          <p:cNvPr id="10" name="Budget item 2"/>
          <p:cNvSpPr txBox="1"/>
          <p:nvPr/>
        </p:nvSpPr>
        <p:spPr>
          <a:xfrm>
            <a:off x="4846320" y="2029968"/>
            <a:ext cx="2651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Paid advertising budget</a:t>
            </a:r>
            <a:endParaRPr lang="en-US" sz="1500" dirty="0"/>
          </a:p>
        </p:txBody>
      </p:sp>
      <p:sp>
        <p:nvSpPr>
          <p:cNvPr id="11" name="Budget amount 2"/>
          <p:cNvSpPr txBox="1"/>
          <p:nvPr/>
        </p:nvSpPr>
        <p:spPr>
          <a:xfrm>
            <a:off x="7406640" y="2029968"/>
            <a:ext cx="1280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4,000</a:t>
            </a:r>
            <a:endParaRPr lang="en-US" sz="1500" dirty="0"/>
          </a:p>
        </p:txBody>
      </p:sp>
      <p:sp>
        <p:nvSpPr>
          <p:cNvPr id="12" name="Legend dot 3"/>
          <p:cNvSpPr/>
          <p:nvPr/>
        </p:nvSpPr>
        <p:spPr>
          <a:xfrm>
            <a:off x="4480560" y="2724912"/>
            <a:ext cx="219456" cy="219456"/>
          </a:xfrm>
          <a:prstGeom prst="ellipse">
            <a:avLst/>
          </a:prstGeom>
          <a:solidFill>
            <a:srgbClr val="6F4E37"/>
          </a:solidFill>
          <a:ln/>
        </p:spPr>
      </p:sp>
      <p:sp>
        <p:nvSpPr>
          <p:cNvPr id="13" name="Budget item 3"/>
          <p:cNvSpPr txBox="1"/>
          <p:nvPr/>
        </p:nvSpPr>
        <p:spPr>
          <a:xfrm>
            <a:off x="4846320" y="2596896"/>
            <a:ext cx="2651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Content creation</a:t>
            </a:r>
            <a:endParaRPr lang="en-US" sz="1500" dirty="0"/>
          </a:p>
        </p:txBody>
      </p:sp>
      <p:sp>
        <p:nvSpPr>
          <p:cNvPr id="14" name="Budget amount 3"/>
          <p:cNvSpPr txBox="1"/>
          <p:nvPr/>
        </p:nvSpPr>
        <p:spPr>
          <a:xfrm>
            <a:off x="7406640" y="2596896"/>
            <a:ext cx="1280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3,000</a:t>
            </a:r>
            <a:endParaRPr lang="en-US" sz="1500" dirty="0"/>
          </a:p>
        </p:txBody>
      </p:sp>
      <p:sp>
        <p:nvSpPr>
          <p:cNvPr id="15" name="Legend dot 4"/>
          <p:cNvSpPr/>
          <p:nvPr/>
        </p:nvSpPr>
        <p:spPr>
          <a:xfrm>
            <a:off x="4480560" y="3291840"/>
            <a:ext cx="219456" cy="219456"/>
          </a:xfrm>
          <a:prstGeom prst="ellipse">
            <a:avLst/>
          </a:prstGeom>
          <a:solidFill>
            <a:srgbClr val="E8C9A6"/>
          </a:solidFill>
          <a:ln/>
        </p:spPr>
      </p:sp>
      <p:sp>
        <p:nvSpPr>
          <p:cNvPr id="16" name="Budget item 4"/>
          <p:cNvSpPr txBox="1"/>
          <p:nvPr/>
        </p:nvSpPr>
        <p:spPr>
          <a:xfrm>
            <a:off x="4846320" y="3163824"/>
            <a:ext cx="2651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Reporting and optimization</a:t>
            </a:r>
            <a:endParaRPr lang="en-US" sz="1500" dirty="0"/>
          </a:p>
        </p:txBody>
      </p:sp>
      <p:sp>
        <p:nvSpPr>
          <p:cNvPr id="17" name="Budget amount 4"/>
          <p:cNvSpPr txBox="1"/>
          <p:nvPr/>
        </p:nvSpPr>
        <p:spPr>
          <a:xfrm>
            <a:off x="7406640" y="3163824"/>
            <a:ext cx="1280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1,000</a:t>
            </a:r>
            <a:endParaRPr lang="en-US" sz="1500" dirty="0"/>
          </a:p>
        </p:txBody>
      </p:sp>
      <p:sp>
        <p:nvSpPr>
          <p:cNvPr id="18" name="Total box"/>
          <p:cNvSpPr/>
          <p:nvPr/>
        </p:nvSpPr>
        <p:spPr>
          <a:xfrm>
            <a:off x="4389120" y="3767328"/>
            <a:ext cx="4297680" cy="502920"/>
          </a:xfrm>
          <a:prstGeom prst="roundRect">
            <a:avLst>
              <a:gd name="adj" fmla="val 18182"/>
            </a:avLst>
          </a:prstGeom>
          <a:solidFill>
            <a:schemeClr val="tx2"/>
          </a:solidFill>
          <a:ln/>
        </p:spPr>
      </p:sp>
      <p:sp>
        <p:nvSpPr>
          <p:cNvPr id="19" name="Total label"/>
          <p:cNvSpPr txBox="1"/>
          <p:nvPr/>
        </p:nvSpPr>
        <p:spPr>
          <a:xfrm>
            <a:off x="4572000" y="3767328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Total per month</a:t>
            </a:r>
            <a:endParaRPr lang="en-US" sz="1500" dirty="0"/>
          </a:p>
        </p:txBody>
      </p:sp>
      <p:sp>
        <p:nvSpPr>
          <p:cNvPr id="20" name="Total value"/>
          <p:cNvSpPr txBox="1"/>
          <p:nvPr/>
        </p:nvSpPr>
        <p:spPr>
          <a:xfrm>
            <a:off x="6949440" y="3767328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13,000 EGP</a:t>
            </a:r>
            <a:endParaRPr lang="en-US" sz="1500" dirty="0"/>
          </a:p>
        </p:txBody>
      </p:sp>
      <p:sp>
        <p:nvSpPr>
          <p:cNvPr id="21" name="Budget footnote"/>
          <p:cNvSpPr txBox="1"/>
          <p:nvPr/>
        </p:nvSpPr>
        <p:spPr>
          <a:xfrm>
            <a:off x="4389120" y="434340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Illustrative one-month budget. The final quote will confirm taxes, photography and other production costs.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06  TIMELINE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3035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First Month, Week by Week</a:t>
            </a:r>
            <a:endParaRPr lang="en-US" sz="3200" dirty="0"/>
          </a:p>
        </p:txBody>
      </p:sp>
      <p:sp>
        <p:nvSpPr>
          <p:cNvPr id="4" name="Timeline line"/>
          <p:cNvSpPr/>
          <p:nvPr/>
        </p:nvSpPr>
        <p:spPr>
          <a:xfrm>
            <a:off x="1485900" y="2103120"/>
            <a:ext cx="6172200" cy="0"/>
          </a:xfrm>
          <a:prstGeom prst="line">
            <a:avLst/>
          </a:prstGeom>
          <a:noFill/>
          <a:ln w="38100">
            <a:solidFill>
              <a:srgbClr val="E8C9A6"/>
            </a:solidFill>
            <a:prstDash val="dash"/>
          </a:ln>
        </p:spPr>
      </p:sp>
      <p:sp>
        <p:nvSpPr>
          <p:cNvPr id="5" name="Week pill 1"/>
          <p:cNvSpPr/>
          <p:nvPr/>
        </p:nvSpPr>
        <p:spPr>
          <a:xfrm>
            <a:off x="982980" y="1298448"/>
            <a:ext cx="1005840" cy="31089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6" name="Week label 1"/>
          <p:cNvSpPr txBox="1"/>
          <p:nvPr/>
        </p:nvSpPr>
        <p:spPr>
          <a:xfrm>
            <a:off x="982980" y="1298448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chemeClr val="bg1"/>
                </a:solidFill>
              </a:rPr>
              <a:t>WEEK 1</a:t>
            </a:r>
            <a:endParaRPr lang="en-US" sz="1100" dirty="0"/>
          </a:p>
        </p:txBody>
      </p:sp>
      <p:sp>
        <p:nvSpPr>
          <p:cNvPr id="7" name="Research and Planning circle"/>
          <p:cNvSpPr/>
          <p:nvPr/>
        </p:nvSpPr>
        <p:spPr>
          <a:xfrm>
            <a:off x="1101852" y="1719072"/>
            <a:ext cx="768096" cy="768096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8" name="Research and Planning icon" descr="Research and Plann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09238" y="1926458"/>
            <a:ext cx="353324" cy="353324"/>
          </a:xfrm>
          <a:prstGeom prst="rect">
            <a:avLst/>
          </a:prstGeom>
        </p:spPr>
      </p:pic>
      <p:sp>
        <p:nvSpPr>
          <p:cNvPr id="9" name="Week card 1"/>
          <p:cNvSpPr/>
          <p:nvPr/>
        </p:nvSpPr>
        <p:spPr>
          <a:xfrm>
            <a:off x="571500" y="2743200"/>
            <a:ext cx="1828800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/>
        </p:spPr>
      </p:sp>
      <p:sp>
        <p:nvSpPr>
          <p:cNvPr id="10" name="Week title 1"/>
          <p:cNvSpPr txBox="1"/>
          <p:nvPr/>
        </p:nvSpPr>
        <p:spPr>
          <a:xfrm>
            <a:off x="708660" y="288036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Research and Planning</a:t>
            </a:r>
            <a:endParaRPr lang="en-US" sz="1500" dirty="0"/>
          </a:p>
        </p:txBody>
      </p:sp>
      <p:sp>
        <p:nvSpPr>
          <p:cNvPr id="11" name="Week text 1"/>
          <p:cNvSpPr txBox="1"/>
          <p:nvPr/>
        </p:nvSpPr>
        <p:spPr>
          <a:xfrm>
            <a:off x="708660" y="3474720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Study the market, competitors and audience</a:t>
            </a:r>
            <a:endParaRPr lang="en-US" sz="1200" dirty="0"/>
          </a:p>
        </p:txBody>
      </p:sp>
      <p:sp>
        <p:nvSpPr>
          <p:cNvPr id="12" name="Week pill 2"/>
          <p:cNvSpPr/>
          <p:nvPr/>
        </p:nvSpPr>
        <p:spPr>
          <a:xfrm>
            <a:off x="3040380" y="1298448"/>
            <a:ext cx="1005840" cy="31089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3" name="Week label 2"/>
          <p:cNvSpPr txBox="1"/>
          <p:nvPr/>
        </p:nvSpPr>
        <p:spPr>
          <a:xfrm>
            <a:off x="3040380" y="1298448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chemeClr val="bg1"/>
                </a:solidFill>
              </a:rPr>
              <a:t>WEEK 2</a:t>
            </a:r>
            <a:endParaRPr lang="en-US" sz="1100" dirty="0"/>
          </a:p>
        </p:txBody>
      </p:sp>
      <p:sp>
        <p:nvSpPr>
          <p:cNvPr id="14" name="Content Creation circle"/>
          <p:cNvSpPr/>
          <p:nvPr/>
        </p:nvSpPr>
        <p:spPr>
          <a:xfrm>
            <a:off x="3159252" y="1719072"/>
            <a:ext cx="768096" cy="768096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5" name="Content Creation icon" descr="Content Creati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66638" y="1926458"/>
            <a:ext cx="353324" cy="353324"/>
          </a:xfrm>
          <a:prstGeom prst="rect">
            <a:avLst/>
          </a:prstGeom>
        </p:spPr>
      </p:pic>
      <p:sp>
        <p:nvSpPr>
          <p:cNvPr id="16" name="Week card 2"/>
          <p:cNvSpPr/>
          <p:nvPr/>
        </p:nvSpPr>
        <p:spPr>
          <a:xfrm>
            <a:off x="2628900" y="2743200"/>
            <a:ext cx="1828800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/>
        </p:spPr>
      </p:sp>
      <p:sp>
        <p:nvSpPr>
          <p:cNvPr id="17" name="Week title 2"/>
          <p:cNvSpPr txBox="1"/>
          <p:nvPr/>
        </p:nvSpPr>
        <p:spPr>
          <a:xfrm>
            <a:off x="2766060" y="288036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Content Creation</a:t>
            </a:r>
            <a:endParaRPr lang="en-US" sz="1500" dirty="0"/>
          </a:p>
        </p:txBody>
      </p:sp>
      <p:sp>
        <p:nvSpPr>
          <p:cNvPr id="18" name="Week text 2"/>
          <p:cNvSpPr txBox="1"/>
          <p:nvPr/>
        </p:nvSpPr>
        <p:spPr>
          <a:xfrm>
            <a:off x="2766060" y="3474720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Prepare posts, videos and ad designs</a:t>
            </a:r>
            <a:endParaRPr lang="en-US" sz="1200" dirty="0"/>
          </a:p>
        </p:txBody>
      </p:sp>
      <p:sp>
        <p:nvSpPr>
          <p:cNvPr id="19" name="Week pill 3"/>
          <p:cNvSpPr/>
          <p:nvPr/>
        </p:nvSpPr>
        <p:spPr>
          <a:xfrm>
            <a:off x="5097780" y="1298448"/>
            <a:ext cx="1005840" cy="31089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20" name="Week label 3"/>
          <p:cNvSpPr txBox="1"/>
          <p:nvPr/>
        </p:nvSpPr>
        <p:spPr>
          <a:xfrm>
            <a:off x="5097780" y="1298448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chemeClr val="bg1"/>
                </a:solidFill>
              </a:rPr>
              <a:t>WEEK 3</a:t>
            </a:r>
            <a:endParaRPr lang="en-US" sz="1100" dirty="0"/>
          </a:p>
        </p:txBody>
      </p:sp>
      <p:sp>
        <p:nvSpPr>
          <p:cNvPr id="21" name="Campaign Launch circle"/>
          <p:cNvSpPr/>
          <p:nvPr/>
        </p:nvSpPr>
        <p:spPr>
          <a:xfrm>
            <a:off x="5216652" y="1719072"/>
            <a:ext cx="768096" cy="768096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2" name="Campaign Launch icon" descr="Campaign Launch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24038" y="1926458"/>
            <a:ext cx="353324" cy="353324"/>
          </a:xfrm>
          <a:prstGeom prst="rect">
            <a:avLst/>
          </a:prstGeom>
        </p:spPr>
      </p:pic>
      <p:sp>
        <p:nvSpPr>
          <p:cNvPr id="23" name="Week card 3"/>
          <p:cNvSpPr/>
          <p:nvPr/>
        </p:nvSpPr>
        <p:spPr>
          <a:xfrm>
            <a:off x="4686300" y="2743200"/>
            <a:ext cx="1828800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/>
        </p:spPr>
      </p:sp>
      <p:sp>
        <p:nvSpPr>
          <p:cNvPr id="24" name="Week title 3"/>
          <p:cNvSpPr txBox="1"/>
          <p:nvPr/>
        </p:nvSpPr>
        <p:spPr>
          <a:xfrm>
            <a:off x="4823460" y="288036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Campaign Launch</a:t>
            </a:r>
            <a:endParaRPr lang="en-US" sz="1500" dirty="0"/>
          </a:p>
        </p:txBody>
      </p:sp>
      <p:sp>
        <p:nvSpPr>
          <p:cNvPr id="25" name="Week text 3"/>
          <p:cNvSpPr txBox="1"/>
          <p:nvPr/>
        </p:nvSpPr>
        <p:spPr>
          <a:xfrm>
            <a:off x="4823460" y="3474720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Publish content and start paid ads</a:t>
            </a:r>
            <a:endParaRPr lang="en-US" sz="1200" dirty="0"/>
          </a:p>
        </p:txBody>
      </p:sp>
      <p:sp>
        <p:nvSpPr>
          <p:cNvPr id="26" name="Week pill 4"/>
          <p:cNvSpPr/>
          <p:nvPr/>
        </p:nvSpPr>
        <p:spPr>
          <a:xfrm>
            <a:off x="7155180" y="1298448"/>
            <a:ext cx="1005840" cy="31089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27" name="Week label 4"/>
          <p:cNvSpPr txBox="1"/>
          <p:nvPr/>
        </p:nvSpPr>
        <p:spPr>
          <a:xfrm>
            <a:off x="7155180" y="1298448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chemeClr val="bg1"/>
                </a:solidFill>
              </a:rPr>
              <a:t>WEEK 4</a:t>
            </a:r>
            <a:endParaRPr lang="en-US" sz="1100" dirty="0"/>
          </a:p>
        </p:txBody>
      </p:sp>
      <p:sp>
        <p:nvSpPr>
          <p:cNvPr id="28" name="Evaluate and Improve circle"/>
          <p:cNvSpPr/>
          <p:nvPr/>
        </p:nvSpPr>
        <p:spPr>
          <a:xfrm>
            <a:off x="7274052" y="1719072"/>
            <a:ext cx="768096" cy="768096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9" name="Evaluate and Improve icon" descr="Evaluate and Improv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81438" y="1926458"/>
            <a:ext cx="353324" cy="353324"/>
          </a:xfrm>
          <a:prstGeom prst="rect">
            <a:avLst/>
          </a:prstGeom>
        </p:spPr>
      </p:pic>
      <p:sp>
        <p:nvSpPr>
          <p:cNvPr id="30" name="Week card 4"/>
          <p:cNvSpPr/>
          <p:nvPr/>
        </p:nvSpPr>
        <p:spPr>
          <a:xfrm>
            <a:off x="6743700" y="2743200"/>
            <a:ext cx="1828800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/>
        </p:spPr>
      </p:sp>
      <p:sp>
        <p:nvSpPr>
          <p:cNvPr id="31" name="Week title 4"/>
          <p:cNvSpPr txBox="1"/>
          <p:nvPr/>
        </p:nvSpPr>
        <p:spPr>
          <a:xfrm>
            <a:off x="6880860" y="288036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Evaluate and Improve</a:t>
            </a:r>
            <a:endParaRPr lang="en-US" sz="1500" dirty="0"/>
          </a:p>
        </p:txBody>
      </p:sp>
      <p:sp>
        <p:nvSpPr>
          <p:cNvPr id="32" name="Week text 4"/>
          <p:cNvSpPr txBox="1"/>
          <p:nvPr/>
        </p:nvSpPr>
        <p:spPr>
          <a:xfrm>
            <a:off x="6880860" y="3474720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Analyze results and recommend next steps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07  BENEFITS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3035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Café Gains</a:t>
            </a:r>
            <a:endParaRPr lang="en-US" sz="3200" dirty="0"/>
          </a:p>
        </p:txBody>
      </p:sp>
      <p:pic>
        <p:nvPicPr>
          <p:cNvPr id="4" name="Happy customers illustration" descr="Happy customers illustr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25880"/>
            <a:ext cx="3566160" cy="3291840"/>
          </a:xfrm>
          <a:prstGeom prst="rect">
            <a:avLst/>
          </a:prstGeom>
        </p:spPr>
      </p:pic>
      <p:sp>
        <p:nvSpPr>
          <p:cNvPr id="5" name="More awareness and online visibility circle"/>
          <p:cNvSpPr/>
          <p:nvPr/>
        </p:nvSpPr>
        <p:spPr>
          <a:xfrm>
            <a:off x="4389120" y="132588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More awareness and online visibility icon" descr="More awareness and online visibilit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12564" y="1449324"/>
            <a:ext cx="210312" cy="210312"/>
          </a:xfrm>
          <a:prstGeom prst="rect">
            <a:avLst/>
          </a:prstGeom>
        </p:spPr>
      </p:pic>
      <p:sp>
        <p:nvSpPr>
          <p:cNvPr id="7" name="Row text 1"/>
          <p:cNvSpPr txBox="1"/>
          <p:nvPr/>
        </p:nvSpPr>
        <p:spPr>
          <a:xfrm>
            <a:off x="5029200" y="13258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More awareness and online visibility</a:t>
            </a:r>
            <a:endParaRPr lang="en-US" sz="1600" dirty="0"/>
          </a:p>
        </p:txBody>
      </p:sp>
      <p:sp>
        <p:nvSpPr>
          <p:cNvPr id="8" name="Reach more potential customers circle"/>
          <p:cNvSpPr/>
          <p:nvPr/>
        </p:nvSpPr>
        <p:spPr>
          <a:xfrm>
            <a:off x="4389120" y="1984248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9" name="Reach more potential customers icon" descr="Reach more potential customer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12564" y="2107692"/>
            <a:ext cx="210312" cy="210312"/>
          </a:xfrm>
          <a:prstGeom prst="rect">
            <a:avLst/>
          </a:prstGeom>
        </p:spPr>
      </p:pic>
      <p:sp>
        <p:nvSpPr>
          <p:cNvPr id="10" name="Row text 2"/>
          <p:cNvSpPr txBox="1"/>
          <p:nvPr/>
        </p:nvSpPr>
        <p:spPr>
          <a:xfrm>
            <a:off x="5029200" y="198424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Reach more potential customers</a:t>
            </a:r>
            <a:endParaRPr lang="en-US" sz="1600" dirty="0"/>
          </a:p>
        </p:txBody>
      </p:sp>
      <p:sp>
        <p:nvSpPr>
          <p:cNvPr id="11" name="Stronger customer relationships circle"/>
          <p:cNvSpPr/>
          <p:nvPr/>
        </p:nvSpPr>
        <p:spPr>
          <a:xfrm>
            <a:off x="4389120" y="2642616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2" name="Stronger customer relationships icon" descr="Stronger customer relationship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12564" y="2766060"/>
            <a:ext cx="210312" cy="210312"/>
          </a:xfrm>
          <a:prstGeom prst="rect">
            <a:avLst/>
          </a:prstGeom>
        </p:spPr>
      </p:pic>
      <p:sp>
        <p:nvSpPr>
          <p:cNvPr id="13" name="Row text 3"/>
          <p:cNvSpPr txBox="1"/>
          <p:nvPr/>
        </p:nvSpPr>
        <p:spPr>
          <a:xfrm>
            <a:off x="5029200" y="264261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Stronger customer relationships</a:t>
            </a:r>
            <a:endParaRPr lang="en-US" sz="1600" dirty="0"/>
          </a:p>
        </p:txBody>
      </p:sp>
      <p:sp>
        <p:nvSpPr>
          <p:cNvPr id="14" name="Promote new products and offers circle"/>
          <p:cNvSpPr/>
          <p:nvPr/>
        </p:nvSpPr>
        <p:spPr>
          <a:xfrm>
            <a:off x="4389120" y="3300984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5" name="Promote new products and offers icon" descr="Promote new products and offer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12564" y="3424428"/>
            <a:ext cx="210312" cy="210312"/>
          </a:xfrm>
          <a:prstGeom prst="rect">
            <a:avLst/>
          </a:prstGeom>
        </p:spPr>
      </p:pic>
      <p:sp>
        <p:nvSpPr>
          <p:cNvPr id="16" name="Row text 4"/>
          <p:cNvSpPr txBox="1"/>
          <p:nvPr/>
        </p:nvSpPr>
        <p:spPr>
          <a:xfrm>
            <a:off x="5029200" y="3300984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Promote new products and offers</a:t>
            </a:r>
            <a:endParaRPr lang="en-US" sz="1600" dirty="0"/>
          </a:p>
        </p:txBody>
      </p:sp>
      <p:sp>
        <p:nvSpPr>
          <p:cNvPr id="17" name="Smarter, data-driven decisions circle"/>
          <p:cNvSpPr/>
          <p:nvPr/>
        </p:nvSpPr>
        <p:spPr>
          <a:xfrm>
            <a:off x="4389120" y="3959352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8" name="Smarter, data-driven decisions icon" descr="Smarter, data-driven decision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12564" y="4082796"/>
            <a:ext cx="210312" cy="210312"/>
          </a:xfrm>
          <a:prstGeom prst="rect">
            <a:avLst/>
          </a:prstGeom>
        </p:spPr>
      </p:pic>
      <p:sp>
        <p:nvSpPr>
          <p:cNvPr id="19" name="Row text 5"/>
          <p:cNvSpPr txBox="1"/>
          <p:nvPr/>
        </p:nvSpPr>
        <p:spPr>
          <a:xfrm>
            <a:off x="5029200" y="395935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Smarter, data-driven decisions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08  EXPECTED RESULTS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3035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Aim for in Month One</a:t>
            </a:r>
            <a:endParaRPr lang="en-US" sz="3200" dirty="0"/>
          </a:p>
        </p:txBody>
      </p:sp>
      <p:sp>
        <p:nvSpPr>
          <p:cNvPr id="4" name="Result card 1"/>
          <p:cNvSpPr/>
          <p:nvPr/>
        </p:nvSpPr>
        <p:spPr>
          <a:xfrm>
            <a:off x="457200" y="1325880"/>
            <a:ext cx="1920240" cy="178308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/>
        </p:spPr>
      </p:sp>
      <p:sp>
        <p:nvSpPr>
          <p:cNvPr id="5" name="Reach and engagement circle"/>
          <p:cNvSpPr/>
          <p:nvPr/>
        </p:nvSpPr>
        <p:spPr>
          <a:xfrm>
            <a:off x="640080" y="1508760"/>
            <a:ext cx="566928" cy="566928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6" name="Reach and engagement icon" descr="Reach and engageme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3151" y="1661831"/>
            <a:ext cx="260787" cy="260787"/>
          </a:xfrm>
          <a:prstGeom prst="rect">
            <a:avLst/>
          </a:prstGeom>
        </p:spPr>
      </p:pic>
      <p:sp>
        <p:nvSpPr>
          <p:cNvPr id="7" name="Increase 1 circle"/>
          <p:cNvSpPr/>
          <p:nvPr/>
        </p:nvSpPr>
        <p:spPr>
          <a:xfrm>
            <a:off x="1783080" y="1554480"/>
            <a:ext cx="411480" cy="41148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8" name="Increase 1 icon" descr="Increase 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4180" y="1665580"/>
            <a:ext cx="189281" cy="189281"/>
          </a:xfrm>
          <a:prstGeom prst="rect">
            <a:avLst/>
          </a:prstGeom>
        </p:spPr>
      </p:pic>
      <p:sp>
        <p:nvSpPr>
          <p:cNvPr id="9" name="Result text 1"/>
          <p:cNvSpPr txBox="1"/>
          <p:nvPr/>
        </p:nvSpPr>
        <p:spPr>
          <a:xfrm>
            <a:off x="640080" y="2194560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Reach and engagement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on social media</a:t>
            </a:r>
            <a:endParaRPr lang="en-US" sz="1500" dirty="0"/>
          </a:p>
        </p:txBody>
      </p:sp>
      <p:sp>
        <p:nvSpPr>
          <p:cNvPr id="10" name="Result card 2"/>
          <p:cNvSpPr/>
          <p:nvPr/>
        </p:nvSpPr>
        <p:spPr>
          <a:xfrm>
            <a:off x="2560320" y="1325880"/>
            <a:ext cx="1920240" cy="178308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/>
        </p:spPr>
      </p:sp>
      <p:sp>
        <p:nvSpPr>
          <p:cNvPr id="11" name="Profile visits circle"/>
          <p:cNvSpPr/>
          <p:nvPr/>
        </p:nvSpPr>
        <p:spPr>
          <a:xfrm>
            <a:off x="2743200" y="1508760"/>
            <a:ext cx="566928" cy="566928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2" name="Profile visits icon" descr="Profile visit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96271" y="1661831"/>
            <a:ext cx="260787" cy="260787"/>
          </a:xfrm>
          <a:prstGeom prst="rect">
            <a:avLst/>
          </a:prstGeom>
        </p:spPr>
      </p:pic>
      <p:sp>
        <p:nvSpPr>
          <p:cNvPr id="13" name="Increase 2 circle"/>
          <p:cNvSpPr/>
          <p:nvPr/>
        </p:nvSpPr>
        <p:spPr>
          <a:xfrm>
            <a:off x="3886200" y="1554480"/>
            <a:ext cx="411480" cy="41148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14" name="Increase 2 icon" descr="Increase 2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97300" y="1665580"/>
            <a:ext cx="189281" cy="189281"/>
          </a:xfrm>
          <a:prstGeom prst="rect">
            <a:avLst/>
          </a:prstGeom>
        </p:spPr>
      </p:pic>
      <p:sp>
        <p:nvSpPr>
          <p:cNvPr id="15" name="Result text 2"/>
          <p:cNvSpPr txBox="1"/>
          <p:nvPr/>
        </p:nvSpPr>
        <p:spPr>
          <a:xfrm>
            <a:off x="2743200" y="2194560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Profile visits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inquiries and direction requests</a:t>
            </a:r>
            <a:endParaRPr lang="en-US" sz="1500" dirty="0"/>
          </a:p>
        </p:txBody>
      </p:sp>
      <p:sp>
        <p:nvSpPr>
          <p:cNvPr id="16" name="Result card 3"/>
          <p:cNvSpPr/>
          <p:nvPr/>
        </p:nvSpPr>
        <p:spPr>
          <a:xfrm>
            <a:off x="4663440" y="1325880"/>
            <a:ext cx="1920240" cy="178308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/>
        </p:spPr>
      </p:sp>
      <p:sp>
        <p:nvSpPr>
          <p:cNvPr id="17" name="Awareness circle"/>
          <p:cNvSpPr/>
          <p:nvPr/>
        </p:nvSpPr>
        <p:spPr>
          <a:xfrm>
            <a:off x="4846320" y="1508760"/>
            <a:ext cx="566928" cy="566928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8" name="Awareness icon" descr="Awarenes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99391" y="1661831"/>
            <a:ext cx="260787" cy="260787"/>
          </a:xfrm>
          <a:prstGeom prst="rect">
            <a:avLst/>
          </a:prstGeom>
        </p:spPr>
      </p:pic>
      <p:sp>
        <p:nvSpPr>
          <p:cNvPr id="19" name="Increase 3 circle"/>
          <p:cNvSpPr/>
          <p:nvPr/>
        </p:nvSpPr>
        <p:spPr>
          <a:xfrm>
            <a:off x="5989320" y="1554480"/>
            <a:ext cx="411480" cy="41148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20" name="Increase 3 icon" descr="Increase 3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00420" y="1665580"/>
            <a:ext cx="189281" cy="189281"/>
          </a:xfrm>
          <a:prstGeom prst="rect">
            <a:avLst/>
          </a:prstGeom>
        </p:spPr>
      </p:pic>
      <p:sp>
        <p:nvSpPr>
          <p:cNvPr id="21" name="Result text 3"/>
          <p:cNvSpPr txBox="1"/>
          <p:nvPr/>
        </p:nvSpPr>
        <p:spPr>
          <a:xfrm>
            <a:off x="4846320" y="2194560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Awareness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of products and offers</a:t>
            </a:r>
            <a:endParaRPr lang="en-US" sz="1500" dirty="0"/>
          </a:p>
        </p:txBody>
      </p:sp>
      <p:sp>
        <p:nvSpPr>
          <p:cNvPr id="22" name="Result card 4"/>
          <p:cNvSpPr/>
          <p:nvPr/>
        </p:nvSpPr>
        <p:spPr>
          <a:xfrm>
            <a:off x="6766560" y="1325880"/>
            <a:ext cx="1920240" cy="178308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/>
        </p:spPr>
      </p:sp>
      <p:sp>
        <p:nvSpPr>
          <p:cNvPr id="23" name="Visits and sales circle"/>
          <p:cNvSpPr/>
          <p:nvPr/>
        </p:nvSpPr>
        <p:spPr>
          <a:xfrm>
            <a:off x="6949440" y="1508760"/>
            <a:ext cx="566928" cy="566928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4" name="Visits and sales icon" descr="Visits and sales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02511" y="1661831"/>
            <a:ext cx="260787" cy="260787"/>
          </a:xfrm>
          <a:prstGeom prst="rect">
            <a:avLst/>
          </a:prstGeom>
        </p:spPr>
      </p:pic>
      <p:sp>
        <p:nvSpPr>
          <p:cNvPr id="25" name="Increase 4 circle"/>
          <p:cNvSpPr/>
          <p:nvPr/>
        </p:nvSpPr>
        <p:spPr>
          <a:xfrm>
            <a:off x="8092440" y="1554480"/>
            <a:ext cx="411480" cy="41148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26" name="Increase 4 icon" descr="Increase 4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03540" y="1665580"/>
            <a:ext cx="189281" cy="189281"/>
          </a:xfrm>
          <a:prstGeom prst="rect">
            <a:avLst/>
          </a:prstGeom>
        </p:spPr>
      </p:pic>
      <p:sp>
        <p:nvSpPr>
          <p:cNvPr id="27" name="Result text 4"/>
          <p:cNvSpPr txBox="1"/>
          <p:nvPr/>
        </p:nvSpPr>
        <p:spPr>
          <a:xfrm>
            <a:off x="6949440" y="2194560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Visits and sales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linked to the campaign</a:t>
            </a:r>
            <a:endParaRPr lang="en-US" sz="1500" dirty="0"/>
          </a:p>
        </p:txBody>
      </p:sp>
      <p:sp>
        <p:nvSpPr>
          <p:cNvPr id="28" name="Measure heading"/>
          <p:cNvSpPr txBox="1"/>
          <p:nvPr/>
        </p:nvSpPr>
        <p:spPr>
          <a:xfrm>
            <a:off x="457200" y="331012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How we measure success</a:t>
            </a:r>
            <a:endParaRPr lang="en-US" sz="1500" dirty="0"/>
          </a:p>
        </p:txBody>
      </p:sp>
      <p:sp>
        <p:nvSpPr>
          <p:cNvPr id="29" name="Metric pill 1"/>
          <p:cNvSpPr/>
          <p:nvPr/>
        </p:nvSpPr>
        <p:spPr>
          <a:xfrm>
            <a:off x="457200" y="3703320"/>
            <a:ext cx="1536192" cy="420624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5875">
            <a:solidFill>
              <a:srgbClr val="C27A3A"/>
            </a:solidFill>
            <a:prstDash val="solid"/>
          </a:ln>
        </p:spPr>
      </p:sp>
      <p:sp>
        <p:nvSpPr>
          <p:cNvPr id="30" name="Metric 1"/>
          <p:cNvSpPr txBox="1"/>
          <p:nvPr/>
        </p:nvSpPr>
        <p:spPr>
          <a:xfrm>
            <a:off x="457200" y="3703320"/>
            <a:ext cx="15361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Reach</a:t>
            </a:r>
            <a:endParaRPr lang="en-US" sz="1300" dirty="0"/>
          </a:p>
        </p:txBody>
      </p:sp>
      <p:sp>
        <p:nvSpPr>
          <p:cNvPr id="31" name="Metric pill 2"/>
          <p:cNvSpPr/>
          <p:nvPr/>
        </p:nvSpPr>
        <p:spPr>
          <a:xfrm>
            <a:off x="2130552" y="3703320"/>
            <a:ext cx="1536192" cy="420624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5875">
            <a:solidFill>
              <a:srgbClr val="C27A3A"/>
            </a:solidFill>
            <a:prstDash val="solid"/>
          </a:ln>
        </p:spPr>
      </p:sp>
      <p:sp>
        <p:nvSpPr>
          <p:cNvPr id="32" name="Metric 2"/>
          <p:cNvSpPr txBox="1"/>
          <p:nvPr/>
        </p:nvSpPr>
        <p:spPr>
          <a:xfrm>
            <a:off x="2130552" y="3703320"/>
            <a:ext cx="15361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Engagement rate</a:t>
            </a:r>
            <a:endParaRPr lang="en-US" sz="1300" dirty="0"/>
          </a:p>
        </p:txBody>
      </p:sp>
      <p:sp>
        <p:nvSpPr>
          <p:cNvPr id="33" name="Metric pill 3"/>
          <p:cNvSpPr/>
          <p:nvPr/>
        </p:nvSpPr>
        <p:spPr>
          <a:xfrm>
            <a:off x="3803904" y="3703320"/>
            <a:ext cx="1536192" cy="420624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5875">
            <a:solidFill>
              <a:srgbClr val="C27A3A"/>
            </a:solidFill>
            <a:prstDash val="solid"/>
          </a:ln>
        </p:spPr>
      </p:sp>
      <p:sp>
        <p:nvSpPr>
          <p:cNvPr id="34" name="Metric 3"/>
          <p:cNvSpPr txBox="1"/>
          <p:nvPr/>
        </p:nvSpPr>
        <p:spPr>
          <a:xfrm>
            <a:off x="3803904" y="3703320"/>
            <a:ext cx="15361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Cost per inquiry</a:t>
            </a:r>
            <a:endParaRPr lang="en-US" sz="1300" dirty="0"/>
          </a:p>
        </p:txBody>
      </p:sp>
      <p:sp>
        <p:nvSpPr>
          <p:cNvPr id="35" name="Metric pill 4"/>
          <p:cNvSpPr/>
          <p:nvPr/>
        </p:nvSpPr>
        <p:spPr>
          <a:xfrm>
            <a:off x="5477256" y="3703320"/>
            <a:ext cx="1536192" cy="420624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5875">
            <a:solidFill>
              <a:srgbClr val="C27A3A"/>
            </a:solidFill>
            <a:prstDash val="solid"/>
          </a:ln>
        </p:spPr>
      </p:sp>
      <p:sp>
        <p:nvSpPr>
          <p:cNvPr id="36" name="Metric 4"/>
          <p:cNvSpPr txBox="1"/>
          <p:nvPr/>
        </p:nvSpPr>
        <p:spPr>
          <a:xfrm>
            <a:off x="5477256" y="3703320"/>
            <a:ext cx="15361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Customer visits</a:t>
            </a:r>
            <a:endParaRPr lang="en-US" sz="1300" dirty="0"/>
          </a:p>
        </p:txBody>
      </p:sp>
      <p:sp>
        <p:nvSpPr>
          <p:cNvPr id="37" name="Metric pill 5"/>
          <p:cNvSpPr/>
          <p:nvPr/>
        </p:nvSpPr>
        <p:spPr>
          <a:xfrm>
            <a:off x="7150608" y="3703320"/>
            <a:ext cx="1536192" cy="420624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5875">
            <a:solidFill>
              <a:srgbClr val="C27A3A"/>
            </a:solidFill>
            <a:prstDash val="solid"/>
          </a:ln>
        </p:spPr>
      </p:sp>
      <p:sp>
        <p:nvSpPr>
          <p:cNvPr id="38" name="Metric 5"/>
          <p:cNvSpPr txBox="1"/>
          <p:nvPr/>
        </p:nvSpPr>
        <p:spPr>
          <a:xfrm>
            <a:off x="7150608" y="3703320"/>
            <a:ext cx="15361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Sales</a:t>
            </a:r>
            <a:endParaRPr lang="en-US" sz="1300" dirty="0"/>
          </a:p>
        </p:txBody>
      </p:sp>
      <p:sp>
        <p:nvSpPr>
          <p:cNvPr id="39" name="Results disclaimer"/>
          <p:cNvSpPr txBox="1"/>
          <p:nvPr/>
        </p:nvSpPr>
        <p:spPr>
          <a:xfrm>
            <a:off x="457200" y="427939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Targets are set after reviewing the café's current performance. Results are not guaranteed.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09  FUTURE WORK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3035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After Month One: Keep Growing</a:t>
            </a:r>
            <a:endParaRPr lang="en-US" sz="3200" dirty="0"/>
          </a:p>
        </p:txBody>
      </p:sp>
      <p:sp>
        <p:nvSpPr>
          <p:cNvPr id="4" name="Growth step 1"/>
          <p:cNvSpPr/>
          <p:nvPr/>
        </p:nvSpPr>
        <p:spPr>
          <a:xfrm>
            <a:off x="457200" y="3383280"/>
            <a:ext cx="1517904" cy="11430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</p:spPr>
      </p:sp>
      <p:sp>
        <p:nvSpPr>
          <p:cNvPr id="5" name="Scale the best ads circle"/>
          <p:cNvSpPr/>
          <p:nvPr/>
        </p:nvSpPr>
        <p:spPr>
          <a:xfrm>
            <a:off x="941832" y="2724912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Scale the best ads icon" descr="Scale the best ad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9965" y="2873045"/>
            <a:ext cx="252374" cy="252374"/>
          </a:xfrm>
          <a:prstGeom prst="rect">
            <a:avLst/>
          </a:prstGeom>
        </p:spPr>
      </p:pic>
      <p:sp>
        <p:nvSpPr>
          <p:cNvPr id="7" name="Growth text 1"/>
          <p:cNvSpPr txBox="1"/>
          <p:nvPr/>
        </p:nvSpPr>
        <p:spPr>
          <a:xfrm>
            <a:off x="566928" y="3493008"/>
            <a:ext cx="12984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Scale the best ads</a:t>
            </a:r>
            <a:endParaRPr lang="en-US" sz="1300" dirty="0"/>
          </a:p>
        </p:txBody>
      </p:sp>
      <p:sp>
        <p:nvSpPr>
          <p:cNvPr id="8" name="Growth step 2"/>
          <p:cNvSpPr/>
          <p:nvPr/>
        </p:nvSpPr>
        <p:spPr>
          <a:xfrm>
            <a:off x="2139696" y="3090672"/>
            <a:ext cx="1517904" cy="1435608"/>
          </a:xfrm>
          <a:prstGeom prst="roundRect">
            <a:avLst>
              <a:gd name="adj" fmla="val 6369"/>
            </a:avLst>
          </a:prstGeom>
          <a:solidFill>
            <a:schemeClr val="accent2"/>
          </a:solidFill>
          <a:ln/>
        </p:spPr>
      </p:sp>
      <p:sp>
        <p:nvSpPr>
          <p:cNvPr id="9" name="Food influencer collabs circle"/>
          <p:cNvSpPr/>
          <p:nvPr/>
        </p:nvSpPr>
        <p:spPr>
          <a:xfrm>
            <a:off x="2624328" y="2432304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Food influencer collabs icon" descr="Food influencer collab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2461" y="2580437"/>
            <a:ext cx="252374" cy="252374"/>
          </a:xfrm>
          <a:prstGeom prst="rect">
            <a:avLst/>
          </a:prstGeom>
        </p:spPr>
      </p:pic>
      <p:sp>
        <p:nvSpPr>
          <p:cNvPr id="11" name="Growth text 2"/>
          <p:cNvSpPr txBox="1"/>
          <p:nvPr/>
        </p:nvSpPr>
        <p:spPr>
          <a:xfrm>
            <a:off x="2249424" y="3200400"/>
            <a:ext cx="12984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Food influencer collabs</a:t>
            </a:r>
            <a:endParaRPr lang="en-US" sz="1300" dirty="0"/>
          </a:p>
        </p:txBody>
      </p:sp>
      <p:sp>
        <p:nvSpPr>
          <p:cNvPr id="12" name="Growth step 3"/>
          <p:cNvSpPr/>
          <p:nvPr/>
        </p:nvSpPr>
        <p:spPr>
          <a:xfrm>
            <a:off x="3822192" y="2798064"/>
            <a:ext cx="1517904" cy="1728216"/>
          </a:xfrm>
          <a:prstGeom prst="roundRect">
            <a:avLst>
              <a:gd name="adj" fmla="val 6024"/>
            </a:avLst>
          </a:prstGeom>
          <a:solidFill>
            <a:schemeClr val="accent1"/>
          </a:solidFill>
          <a:ln/>
        </p:spPr>
      </p:sp>
      <p:sp>
        <p:nvSpPr>
          <p:cNvPr id="13" name="Loyalty and referral programs circle"/>
          <p:cNvSpPr/>
          <p:nvPr/>
        </p:nvSpPr>
        <p:spPr>
          <a:xfrm>
            <a:off x="4306824" y="2139696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4" name="Loyalty and referral programs icon" descr="Loyalty and referral program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54957" y="2287829"/>
            <a:ext cx="252374" cy="252374"/>
          </a:xfrm>
          <a:prstGeom prst="rect">
            <a:avLst/>
          </a:prstGeom>
        </p:spPr>
      </p:pic>
      <p:sp>
        <p:nvSpPr>
          <p:cNvPr id="15" name="Growth text 3"/>
          <p:cNvSpPr txBox="1"/>
          <p:nvPr/>
        </p:nvSpPr>
        <p:spPr>
          <a:xfrm>
            <a:off x="3931920" y="2907792"/>
            <a:ext cx="12984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Loyalty and referral programs</a:t>
            </a:r>
            <a:endParaRPr lang="en-US" sz="1300" dirty="0"/>
          </a:p>
        </p:txBody>
      </p:sp>
      <p:sp>
        <p:nvSpPr>
          <p:cNvPr id="16" name="Growth step 4"/>
          <p:cNvSpPr/>
          <p:nvPr/>
        </p:nvSpPr>
        <p:spPr>
          <a:xfrm>
            <a:off x="5504688" y="2505456"/>
            <a:ext cx="1517904" cy="2020824"/>
          </a:xfrm>
          <a:prstGeom prst="roundRect">
            <a:avLst>
              <a:gd name="adj" fmla="val 6024"/>
            </a:avLst>
          </a:prstGeom>
          <a:solidFill>
            <a:schemeClr val="accent3"/>
          </a:solidFill>
          <a:ln/>
        </p:spPr>
      </p:sp>
      <p:sp>
        <p:nvSpPr>
          <p:cNvPr id="17" name="Seasonal campaigns and offers circle"/>
          <p:cNvSpPr/>
          <p:nvPr/>
        </p:nvSpPr>
        <p:spPr>
          <a:xfrm>
            <a:off x="5989320" y="1847088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8" name="Seasonal campaigns and offers icon" descr="Seasonal campaigns and offer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37453" y="1995221"/>
            <a:ext cx="252374" cy="252374"/>
          </a:xfrm>
          <a:prstGeom prst="rect">
            <a:avLst/>
          </a:prstGeom>
        </p:spPr>
      </p:pic>
      <p:sp>
        <p:nvSpPr>
          <p:cNvPr id="19" name="Growth text 4"/>
          <p:cNvSpPr txBox="1"/>
          <p:nvPr/>
        </p:nvSpPr>
        <p:spPr>
          <a:xfrm>
            <a:off x="5614416" y="2615184"/>
            <a:ext cx="12984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Seasonal campaigns and offers</a:t>
            </a:r>
            <a:endParaRPr lang="en-US" sz="1300" dirty="0"/>
          </a:p>
        </p:txBody>
      </p:sp>
      <p:sp>
        <p:nvSpPr>
          <p:cNvPr id="20" name="Growth step 5"/>
          <p:cNvSpPr/>
          <p:nvPr/>
        </p:nvSpPr>
        <p:spPr>
          <a:xfrm>
            <a:off x="7187184" y="2212848"/>
            <a:ext cx="1517904" cy="2313432"/>
          </a:xfrm>
          <a:prstGeom prst="roundRect">
            <a:avLst>
              <a:gd name="adj" fmla="val 6024"/>
            </a:avLst>
          </a:prstGeom>
          <a:solidFill>
            <a:schemeClr val="tx2"/>
          </a:solidFill>
          <a:ln/>
        </p:spPr>
      </p:sp>
      <p:sp>
        <p:nvSpPr>
          <p:cNvPr id="21" name="Long-term marketing strategy circle"/>
          <p:cNvSpPr/>
          <p:nvPr/>
        </p:nvSpPr>
        <p:spPr>
          <a:xfrm>
            <a:off x="7671816" y="155448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2" name="Long-term marketing strategy icon" descr="Long-term marketing strategy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19949" y="1702613"/>
            <a:ext cx="252374" cy="252374"/>
          </a:xfrm>
          <a:prstGeom prst="rect">
            <a:avLst/>
          </a:prstGeom>
        </p:spPr>
      </p:pic>
      <p:sp>
        <p:nvSpPr>
          <p:cNvPr id="23" name="Growth text 5"/>
          <p:cNvSpPr txBox="1"/>
          <p:nvPr/>
        </p:nvSpPr>
        <p:spPr>
          <a:xfrm>
            <a:off x="7296912" y="2322576"/>
            <a:ext cx="12984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Long-term marketing strategy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91440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2"/>
                </a:solidFill>
              </a:rPr>
              <a:t>CONCLUSION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325880"/>
            <a:ext cx="4389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Let's Grow Your Business Together!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880360"/>
            <a:ext cx="4206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We're ready to turn this plan into action.</a:t>
            </a:r>
            <a:endParaRPr lang="en-US" sz="1500" dirty="0"/>
          </a:p>
        </p:txBody>
      </p:sp>
      <p:sp>
        <p:nvSpPr>
          <p:cNvPr id="5" name="Contact details"/>
          <p:cNvSpPr txBox="1"/>
          <p:nvPr/>
        </p:nvSpPr>
        <p:spPr>
          <a:xfrm>
            <a:off x="548640" y="406908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[Agency Name]   |   [Phone]   |   [Email]</a:t>
            </a:r>
            <a:endParaRPr lang="en-US" sz="1300" dirty="0"/>
          </a:p>
        </p:txBody>
      </p:sp>
      <p:pic>
        <p:nvPicPr>
          <p:cNvPr id="6" name="Partnership illustration" descr="Partnership illustr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66360" y="594360"/>
            <a:ext cx="3520440" cy="39319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Espresso">
  <a:themeElements>
    <a:clrScheme name="Espresso">
      <a:dk1>
        <a:srgbClr val="231B16"/>
      </a:dk1>
      <a:lt1>
        <a:srgbClr val="FFFFFF"/>
      </a:lt1>
      <a:dk2>
        <a:srgbClr val="2E1F17"/>
      </a:dk2>
      <a:lt2>
        <a:srgbClr val="F4ECE5"/>
      </a:lt2>
      <a:accent1>
        <a:srgbClr val="C27A3A"/>
      </a:accent1>
      <a:accent2>
        <a:srgbClr val="E8C9A6"/>
      </a:accent2>
      <a:accent3>
        <a:srgbClr val="6F4E37"/>
      </a:accent3>
      <a:accent4>
        <a:srgbClr val="7A9A7E"/>
      </a:accent4>
      <a:accent5>
        <a:srgbClr val="8C7F76"/>
      </a:accent5>
      <a:accent6>
        <a:srgbClr val="A6513A"/>
      </a:accent6>
      <a:hlink>
        <a:srgbClr val="C27A3A"/>
      </a:hlink>
      <a:folHlink>
        <a:srgbClr val="6F4E37"/>
      </a:folHlink>
    </a:clrScheme>
    <a:fontScheme name="Espresso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Digital Marketing Proposal - Café</dc:title>
  <dc:subject>PptxGenJS Presentation</dc:subject>
  <dc:creator>[Agency Name]</dc:creator>
  <cp:lastModifiedBy>[Agency Name]</cp:lastModifiedBy>
  <cp:revision>1</cp:revision>
  <dcterms:created xsi:type="dcterms:W3CDTF">2026-10-20T08:19:39Z</dcterms:created>
  <dcterms:modified xsi:type="dcterms:W3CDTF">2026-10-20T08:19:39Z</dcterms:modified>
</cp:coreProperties>
</file>