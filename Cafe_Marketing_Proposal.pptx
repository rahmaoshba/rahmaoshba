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1713969b-9c48-307f-7559-523f6ebb1a62}">
          <p14:sldIdLst>
            <p14:sldId id="256"/>
            <p14:sldId id="257"/>
          </p14:sldIdLst>
        </p14:section>
        <p14:section name="Problem" id="{f2fb5147-2737-d5b3-9a23-aa614b5ad080}">
          <p14:sldIdLst>
            <p14:sldId id="258"/>
          </p14:sldIdLst>
        </p14:section>
        <p14:section name="Solution" id="{c03db274-fcae-e843-a869-f6f53648602a}">
          <p14:sldIdLst>
            <p14:sldId id="259"/>
            <p14:sldId id="260"/>
          </p14:sldIdLst>
        </p14:section>
        <p14:section name="Budget and Timeline" id="{e3c45472-57b4-32b0-e310-5e45612c0d10}">
          <p14:sldIdLst>
            <p14:sldId id="261"/>
            <p14:sldId id="262"/>
          </p14:sldIdLst>
        </p14:section>
        <p14:section name="Results" id="{cbed8256-6fc3-6def-2896-63f7cf78b723}">
          <p14:sldIdLst>
            <p14:sldId id="263"/>
            <p14:sldId id="264"/>
            <p14:sldId id="265"/>
            <p14:sldId id="266"/>
          </p14:sldIdLst>
        </p14:section>
        <p14:section name="Why Us" id="{04786431-61d3-556b-66eb-308e8ed345b3}">
          <p14:sldIdLst>
            <p14:sldId id="267"/>
          </p14:sldIdLst>
        </p14:section>
        <p14:section name="Conclusion" id="{bf7bf8d9-3c58-ef98-88fb-996bb75df923}">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Budget</c:v>
                </c:pt>
              </c:strCache>
            </c:strRef>
          </c:tx>
          <c:spPr>
            <a:solidFill>
              <a:schemeClr val="accent1"/>
            </a:solidFill>
            <a:ln w="9525" cap="flat">
              <a:solidFill>
                <a:srgbClr val="F9F9F9"/>
              </a:solidFill>
              <a:prstDash val="solid"/>
              <a:round/>
            </a:ln>
            <a:effectLst/>
          </c:spPr>
          <c:dPt>
            <c:idx val="0"/>
            <c:bubble3D val="0"/>
            <c:spPr>
              <a:solidFill>
                <a:srgbClr val="2E1F17"/>
              </a:solidFill>
              <a:ln w="25400" cap="flat">
                <a:solidFill>
                  <a:srgbClr val="FFFFFF"/>
                </a:solidFill>
                <a:prstDash val="solid"/>
                <a:round/>
              </a:ln>
              <a:effectLst/>
            </c:spPr>
          </c:dPt>
          <c:dPt>
            <c:idx val="1"/>
            <c:bubble3D val="0"/>
            <c:spPr>
              <a:solidFill>
                <a:srgbClr val="C27A3A"/>
              </a:solidFill>
              <a:ln w="25400" cap="flat">
                <a:solidFill>
                  <a:srgbClr val="FFFFFF"/>
                </a:solidFill>
                <a:prstDash val="solid"/>
                <a:round/>
              </a:ln>
              <a:effectLst/>
            </c:spPr>
          </c:dPt>
          <c:dPt>
            <c:idx val="2"/>
            <c:bubble3D val="0"/>
            <c:spPr>
              <a:solidFill>
                <a:srgbClr val="5B7F5E"/>
              </a:solidFill>
              <a:ln w="25400" cap="flat">
                <a:solidFill>
                  <a:srgbClr val="FFFFFF"/>
                </a:solidFill>
                <a:prstDash val="solid"/>
                <a:round/>
              </a:ln>
              <a:effectLst/>
            </c:spPr>
          </c:dPt>
          <c:dPt>
            <c:idx val="3"/>
            <c:bubble3D val="0"/>
            <c:spPr>
              <a:solidFill>
                <a:srgbClr val="E8C9A6"/>
              </a:solidFill>
              <a:ln w="254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Social media management</c:v>
                </c:pt>
                <c:pt idx="1">
                  <c:v>Paid advertising</c:v>
                </c:pt>
                <c:pt idx="2">
                  <c:v>Content creation</c:v>
                </c:pt>
                <c:pt idx="3">
                  <c:v>Reporting and optimization</c:v>
                </c:pt>
              </c:strCache>
            </c:strRef>
          </c:cat>
          <c:val>
            <c:numRef>
              <c:f>Sheet1!$B$2:$B$5</c:f>
              <c:numCache>
                <c:ptCount val="4"/>
                <c:pt idx="0">
                  <c:v>5000</c:v>
                </c:pt>
                <c:pt idx="1">
                  <c:v>4000</c:v>
                </c:pt>
                <c:pt idx="2">
                  <c:v>3000</c:v>
                </c:pt>
                <c:pt idx="3">
                  <c:v>1000</c:v>
                </c:pt>
              </c:numCache>
            </c:numRef>
          </c:val>
        </c:ser>
        <c:firstSliceAng val="0"/>
        <c:holeSize val="62"/>
      </c:doughnutChart>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E1F17"/>
                </a:solidFill>
                <a:latin typeface="+mn-lt"/>
              </a:defRPr>
            </a:pPr>
            <a:r>
              <a:rPr sz="1200" b="0" i="0" u="none" strike="noStrike">
                <a:solidFill>
                  <a:srgbClr val="2E1F17"/>
                </a:solidFill>
                <a:latin typeface="+mn-lt"/>
              </a:rPr>
              <a:t>Monthly profit vs. cost (EGP)</a:t>
            </a:r>
          </a:p>
        </c:rich>
      </c:tx>
      <c:layout/>
      <c:overlay val="0"/>
    </c:title>
    <c:autoTitleDeleted val="0"/>
    <c:plotArea>
      <c:layout/>
      <c:barChart>
        <c:barDir val="bar"/>
        <c:grouping val="clustered"/>
        <c:varyColors val="0"/>
        <c:ser>
          <c:idx val="0"/>
          <c:order val="0"/>
          <c:tx>
            <c:strRef>
              <c:f>Sheet1!$B$1</c:f>
              <c:strCache>
                <c:ptCount val="1"/>
                <c:pt idx="0">
                  <c:v>EGP per month</c:v>
                </c:pt>
              </c:strCache>
            </c:strRef>
          </c:tx>
          <c:spPr>
            <a:solidFill>
              <a:srgbClr val="C27A3A"/>
            </a:solidFill>
            <a:effectLst/>
          </c:spPr>
          <c:invertIfNegative val="0"/>
          <c:dLbls>
            <c:numFmt formatCode="#,##0" sourceLinked="0"/>
            <c:txPr>
              <a:bodyPr/>
              <a:lstStyle/>
              <a:p>
                <a:pPr>
                  <a:defRPr b="1" i="0" strike="noStrike" sz="1200" u="none">
                    <a:solidFill>
                      <a:srgbClr val="2E1F17"/>
                    </a:solidFill>
                    <a:latin typeface="+mn-lt"/>
                  </a:defRPr>
                </a:pPr>
              </a:p>
            </c:txPr>
            <c:showLegendKey val="0"/>
            <c:showVal val="1"/>
            <c:showCatName val="0"/>
            <c:showSerName val="0"/>
            <c:showPercent val="0"/>
            <c:showBubbleSize val="0"/>
            <c:showLeaderLines val="0"/>
          </c:dLbls>
          <c:dPt>
            <c:idx val="0"/>
            <c:invertIfNegative val="0"/>
            <c:bubble3D val="0"/>
            <c:spPr>
              <a:solidFill>
                <a:srgbClr val="C27A3A"/>
              </a:solidFill>
              <a:effectLst/>
            </c:spPr>
          </c:dPt>
          <c:dPt>
            <c:idx val="1"/>
            <c:invertIfNegative val="0"/>
            <c:bubble3D val="0"/>
            <c:spPr>
              <a:solidFill>
                <a:srgbClr val="8C7F76"/>
              </a:solidFill>
              <a:effectLst/>
            </c:spPr>
          </c:dPt>
          <c:cat>
            <c:multiLvlStrRef>
              <c:f>Sheet1!$A$2:$A$3</c:f>
              <c:multiLvlStrCache>
                <c:ptCount val="2"/>
                <c:lvl>
                  <c:pt idx="0">
                    <c:v>You gain at target</c:v>
                  </c:pt>
                  <c:pt idx="1">
                    <c:v>You invest</c:v>
                  </c:pt>
                </c:lvl>
              </c:multiLvlStrCache>
            </c:multiLvlStrRef>
          </c:cat>
          <c:val>
            <c:numRef>
              <c:f>Sheet1!$B$2:$B$3</c:f>
              <c:numCache>
                <c:formatCode>General</c:formatCode>
                <c:ptCount val="2"/>
                <c:pt idx="0">
                  <c:v>30000</c:v>
                </c:pt>
                <c:pt idx="1">
                  <c:v>13000</c:v>
                </c:pt>
              </c:numCache>
            </c:numRef>
          </c:val>
        </c:ser>
        <c:dLbls>
          <c:numFmt formatCode="#,##0" sourceLinked="0"/>
          <c:txPr>
            <a:bodyPr/>
            <a:lstStyle/>
            <a:p>
              <a:pPr>
                <a:defRPr b="1" i="0" strike="noStrike" sz="1200" u="none">
                  <a:solidFill>
                    <a:srgbClr val="2E1F17"/>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2E1F17"/>
                </a:solidFill>
                <a:latin typeface="+mn-lt"/>
              </a:defRPr>
            </a:pPr>
            <a:endParaRPr lang="en-US"/>
          </a:p>
        </c:txPr>
        <c:crossAx val="2094734552"/>
        <c:crosses val="autoZero"/>
        <c:auto val="1"/>
        <c:lblAlgn val="ctr"/>
        <c:noMultiLvlLbl val="1"/>
      </c:catAx>
      <c:valAx>
        <c:axId val="2094734552"/>
        <c:scaling>
          <c:orientation val="minMax"/>
          <c:max val="3600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Rahma Khaled
"Good morning, and thank you for meeting us today. We are the team from Pulse Marketing, and our job is to keep your brand's pulse strong.
My name is Rahma Khaled, and with me are Aya Reda, Mahmoud Ibrahim and Abader Zarif.
Today we'll show you a simple plan to help The Daily Cup get more customers and more 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Rahma Khaled
Our marketing agency wants to help The Daily Cup grow its business.
Our goals are to:
- Increase brand awareness.
- Attract more customers.
- Increase sales.
- Improve social media presence.
We will use social media, online advertising, and creative content to achieve these goals (shown in the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Rahma Khaled
The café may face some challenges:
- Low brand awareness.
- Few followers and low engagement on social media.
- Strong competition from other cafés.
- Difficulty attracting new customers.
- Low sales during some periods.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Aya Reda
Our agency offers four main services:
- Social Media Management: create regular posts, reels, and stories.
- Paid Advertising: run Facebook and Instagram ads.
- Content Creation: take attractive photos and videos of products.
- Promotions: offer discounts and special deals to attract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Aya Reda
We will follow five simple steps:
1. Research the market and competitors.
2. Identify the target audience.
3. Create a monthly content plan.
4. Publish content and launch advertisements.
5. Measure results and improve the campaign.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Aya Reda
Monthly budget:
- Social media management: 5,000 EGP
- Paid advertising: 4,000 EGP
- Content creation: 3,000 EGP
- Reporting and optimization: 1,000 EGP
Total: 13,000 EGP per month.
This is a proposed budget for the 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Mahmoud Ibrahim
Week 1: Research and planning.
Week 2: Content creation.
Week 3: Launch marketing campaigns.
Week 4: Measure results and improve.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Mahmoud Ibrahim
Working with our agency will help the café:
- Reach more people.
- Attract new customers.
- Build a strong brand.
- Improve customer engagement.
- Increase the chance of higher 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Mahmoud Ibrahim
These are our targets for the first month:
- 40,000+ people in the area see The Daily Cup through ads and content.
- 500+ new Instagram followers.
- 100+ messages, calls and direction requests.
- 10 extra customers every day by the end of the month.
We don't hide anything: every week the owner receives a simple report with reach, followers, messages, visits and sales.
Targets are based on a 4,000 EGP monthly ad budget and are confirmed after we review the café's current numbers in week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Mahmoud Ibrahim
This is the most important slide for the owner: the plan pays for itself.
- Each customer spends about 150 EGP. After ingredients, the café keeps about 100 EGP.
- 13,000 EGP divided by 100 EGP = 130 customers a month, which is less than 5 extra customers a day.
- Our target is 10 extra customers a day: 10 × 30 days × 100 EGP = about 30,000 EGP extra profit per month, more than double the cost.
Ask the owner: "Do you think 5 more customers a day is possible with better marketing?"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Abader Zarif
After the first month, we plan to:
- Work with local food influencers.
- Launch loyalty programs for regular customers.
- Create seasonal offers.
- Expand successful advertising campaigns.
- Develop a long-term marketing strategy.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Abader Zarif
Why the owner should choose us:
- Café specialists: we focus on cafés and restaurants, so we know what brings people in.
- Your own team: one dedicated account manager for The Daily Cup.
- Weekly reports: the owner sees exactly what their money does.
The bottom row removes the risk for the owner:
- No long-term contract: month to month, they stay because it works.
- Free audit: we review their pages for free in week 1.
- Reach guarantee: if we miss the reach target, we run the ads for an extra week at no fee.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Abader Zarif
Summary: The Daily Cup gets more visibility, more customers and more sales, and the plan pays for itself with less than 5 extra customers a day.
Clear next steps (shown on the right):
1. Approve the proposal today.
2. We do a free audit of the café's pages in week 1.
3. The first content and ads go live in week 2.
Bonus: if they start this month, they get a free professional photo shoot of the menu.
Our agency is ready to help The Daily Cup grow and reach more customers. Let's grow together!
Thank the owner and open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914400"/>
            <a:ext cx="4389120" cy="320040"/>
          </a:xfrm>
          <a:prstGeom prst="rect">
            <a:avLst/>
          </a:prstGeom>
          <a:noFill/>
          <a:ln/>
        </p:spPr>
        <p:txBody>
          <a:bodyPr wrap="square" rtlCol="0"/>
          <a:lstStyle>
            <a:lvl1pPr indent="0" marL="0">
              <a:buNone/>
              <a:defRPr lang="en-US" sz="1200" b="1" spc="300" kern="0" dirty="0">
                <a:solidFill>
                  <a:schemeClr val="accent2"/>
                </a:solidFill>
              </a:defRPr>
            </a:lvl1pPr>
          </a:lstStyle>
          <a:p>
            <a:pPr indent="0" marL="0">
              <a:buNone/>
            </a:pPr>
            <a:endParaRPr lang="en-US" sz="1200" dirty="0"/>
          </a:p>
        </p:txBody>
      </p:sp>
      <p:sp>
        <p:nvSpPr>
          <p:cNvPr id="3" name="Text 0"/>
          <p:cNvSpPr/>
          <p:nvPr>
            <p:ph idx="101" type="title" hasCustomPrompt="1"/>
          </p:nvPr>
        </p:nvSpPr>
        <p:spPr>
          <a:xfrm>
            <a:off x="548640" y="1325880"/>
            <a:ext cx="4389120" cy="146304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4" name="Text 0"/>
          <p:cNvSpPr/>
          <p:nvPr>
            <p:ph idx="102" type="body" hasCustomPrompt="1"/>
          </p:nvPr>
        </p:nvSpPr>
        <p:spPr>
          <a:xfrm>
            <a:off x="548640" y="2880360"/>
            <a:ext cx="4206240" cy="1005840"/>
          </a:xfrm>
          <a:prstGeom prst="rect">
            <a:avLst/>
          </a:prstGeom>
          <a:noFill/>
          <a:ln/>
        </p:spPr>
        <p:txBody>
          <a:bodyPr wrap="square" rtlCol="0"/>
          <a:lstStyle>
            <a:lvl1pPr algn="l" indent="0" marL="0">
              <a:buNone/>
              <a:defRPr lang="en-US" sz="1500" dirty="0">
                <a:solidFill>
                  <a:schemeClr val="accent2"/>
                </a:solidFill>
              </a:defRPr>
            </a:lvl1pPr>
          </a:lstStyle>
          <a:p>
            <a:pPr algn="l" indent="0" marL="0">
              <a:buNone/>
            </a:pPr>
            <a:endParaRPr lang="en-US" sz="15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rtlCol="0"/>
          <a:lstStyle>
            <a:lvl1pPr indent="0" marL="0">
              <a:buNone/>
              <a:defRPr lang="en-US" sz="1100" b="1" spc="200" kern="0" dirty="0">
                <a:solidFill>
                  <a:schemeClr val="accent1"/>
                </a:solidFill>
              </a:defRPr>
            </a:lvl1pPr>
          </a:lstStyle>
          <a:p>
            <a:pPr indent="0" marL="0">
              <a:buNone/>
            </a:pP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rtlCol="0"/>
          <a:lstStyle>
            <a:lvl1pPr algn="l" indent="0" marL="0">
              <a:buNone/>
              <a:defRPr lang="en-US" sz="32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4" name="Text 0"/>
          <p:cNvSpPr/>
          <p:nvPr/>
        </p:nvSpPr>
        <p:spPr>
          <a:xfrm>
            <a:off x="457200" y="4800600"/>
            <a:ext cx="5486400" cy="228600"/>
          </a:xfrm>
          <a:prstGeom prst="rect">
            <a:avLst/>
          </a:prstGeom>
          <a:noFill/>
          <a:ln/>
        </p:spPr>
        <p:txBody>
          <a:bodyPr wrap="square" lIns="0" tIns="0" rIns="0" bIns="0" rtlCol="0" anchor="ctr"/>
          <a:lstStyle/>
          <a:p>
            <a:pPr indent="0" marL="0">
              <a:buNone/>
            </a:pPr>
            <a:r>
              <a:rPr lang="en-US" sz="1000" dirty="0">
                <a:solidFill>
                  <a:schemeClr val="accent5"/>
                </a:solidFill>
              </a:rPr>
              <a:t>Pulse Marketing  |  Digital Marketing Proposal for The Daily Cup</a:t>
            </a:r>
            <a:endParaRPr lang="en-US" sz="10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3.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3.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3.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48640" y="914400"/>
            <a:ext cx="4389120" cy="320040"/>
          </a:xfrm>
          <a:prstGeom prst="rect">
            <a:avLst/>
          </a:prstGeom>
          <a:noFill/>
          <a:ln/>
        </p:spPr>
        <p:txBody>
          <a:bodyPr wrap="square" lIns="0" tIns="0" rIns="0" bIns="0" rtlCol="0"/>
          <a:lstStyle/>
          <a:p>
            <a:pPr indent="0" marL="0">
              <a:buNone/>
            </a:pPr>
            <a:r>
              <a:rPr lang="en-US" sz="1200" b="1" spc="300" kern="0" dirty="0">
                <a:solidFill>
                  <a:schemeClr val="accent2"/>
                </a:solidFill>
              </a:rPr>
              <a:t>PRESENTED BY PULSE MARKETING</a:t>
            </a:r>
            <a:endParaRPr lang="en-US" sz="1200" dirty="0"/>
          </a:p>
        </p:txBody>
      </p:sp>
      <p:sp>
        <p:nvSpPr>
          <p:cNvPr id="3" name="Text 0"/>
          <p:cNvSpPr/>
          <p:nvPr>
            <p:ph idx="101" type="title" hasCustomPrompt="1"/>
          </p:nvPr>
        </p:nvSpPr>
        <p:spPr>
          <a:xfrm>
            <a:off x="548640" y="1325880"/>
            <a:ext cx="4389120" cy="146304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Digital Marketing Proposal</a:t>
            </a:r>
            <a:endParaRPr lang="en-US" sz="4000" dirty="0"/>
          </a:p>
        </p:txBody>
      </p:sp>
      <p:sp>
        <p:nvSpPr>
          <p:cNvPr id="4" name="Text 0"/>
          <p:cNvSpPr/>
          <p:nvPr>
            <p:ph idx="102" type="body" hasCustomPrompt="1"/>
          </p:nvPr>
        </p:nvSpPr>
        <p:spPr>
          <a:xfrm>
            <a:off x="548640" y="2880360"/>
            <a:ext cx="4206240" cy="1005840"/>
          </a:xfrm>
          <a:prstGeom prst="rect">
            <a:avLst/>
          </a:prstGeom>
          <a:noFill/>
          <a:ln/>
        </p:spPr>
        <p:txBody>
          <a:bodyPr wrap="square" lIns="0" tIns="0" rIns="0" bIns="0" rtlCol="0" anchor="t"/>
          <a:lstStyle/>
          <a:p>
            <a:pPr algn="l" indent="0" marL="0">
              <a:buNone/>
            </a:pPr>
            <a:r>
              <a:rPr lang="en-US" sz="1500" dirty="0">
                <a:solidFill>
                  <a:schemeClr val="accent2"/>
                </a:solidFill>
              </a:rPr>
              <a:t>For The Daily Cup Café</a:t>
            </a:r>
            <a:endParaRPr lang="en-US" sz="1500" dirty="0"/>
          </a:p>
        </p:txBody>
      </p:sp>
      <p:sp>
        <p:nvSpPr>
          <p:cNvPr id="5" name="Team label"/>
          <p:cNvSpPr txBox="1"/>
          <p:nvPr/>
        </p:nvSpPr>
        <p:spPr>
          <a:xfrm>
            <a:off x="548640" y="3429000"/>
            <a:ext cx="4389120" cy="274320"/>
          </a:xfrm>
          <a:prstGeom prst="rect">
            <a:avLst/>
          </a:prstGeom>
          <a:noFill/>
          <a:ln/>
        </p:spPr>
        <p:txBody>
          <a:bodyPr wrap="square" lIns="0" tIns="0" rIns="0" bIns="0" rtlCol="0" anchor="ctr"/>
          <a:lstStyle/>
          <a:p>
            <a:pPr indent="0" marL="0">
              <a:buNone/>
            </a:pPr>
            <a:r>
              <a:rPr lang="en-US" sz="1100" b="1" spc="300" kern="0" dirty="0">
                <a:solidFill>
                  <a:schemeClr val="accent2"/>
                </a:solidFill>
              </a:rPr>
              <a:t>OUR TEAM</a:t>
            </a:r>
            <a:endParaRPr lang="en-US" sz="1100" dirty="0"/>
          </a:p>
        </p:txBody>
      </p:sp>
      <p:sp>
        <p:nvSpPr>
          <p:cNvPr id="6" name="Team member 1"/>
          <p:cNvSpPr txBox="1"/>
          <p:nvPr/>
        </p:nvSpPr>
        <p:spPr>
          <a:xfrm>
            <a:off x="548640" y="3749040"/>
            <a:ext cx="2103120" cy="320040"/>
          </a:xfrm>
          <a:prstGeom prst="rect">
            <a:avLst/>
          </a:prstGeom>
          <a:noFill/>
          <a:ln/>
        </p:spPr>
        <p:txBody>
          <a:bodyPr wrap="square" lIns="0" tIns="0" rIns="0" bIns="0" rtlCol="0" anchor="ctr"/>
          <a:lstStyle/>
          <a:p>
            <a:pPr indent="0" marL="0">
              <a:buNone/>
            </a:pPr>
            <a:r>
              <a:rPr lang="en-US" sz="1400" dirty="0">
                <a:solidFill>
                  <a:schemeClr val="bg1"/>
                </a:solidFill>
              </a:rPr>
              <a:t>Rahma Khaled</a:t>
            </a:r>
            <a:endParaRPr lang="en-US" sz="1400" dirty="0"/>
          </a:p>
        </p:txBody>
      </p:sp>
      <p:sp>
        <p:nvSpPr>
          <p:cNvPr id="7" name="Team member 2"/>
          <p:cNvSpPr txBox="1"/>
          <p:nvPr/>
        </p:nvSpPr>
        <p:spPr>
          <a:xfrm>
            <a:off x="2743200" y="3749040"/>
            <a:ext cx="2103120" cy="320040"/>
          </a:xfrm>
          <a:prstGeom prst="rect">
            <a:avLst/>
          </a:prstGeom>
          <a:noFill/>
          <a:ln/>
        </p:spPr>
        <p:txBody>
          <a:bodyPr wrap="square" lIns="0" tIns="0" rIns="0" bIns="0" rtlCol="0" anchor="ctr"/>
          <a:lstStyle/>
          <a:p>
            <a:pPr indent="0" marL="0">
              <a:buNone/>
            </a:pPr>
            <a:r>
              <a:rPr lang="en-US" sz="1400" dirty="0">
                <a:solidFill>
                  <a:schemeClr val="bg1"/>
                </a:solidFill>
              </a:rPr>
              <a:t>Aya Reda</a:t>
            </a:r>
            <a:endParaRPr lang="en-US" sz="1400" dirty="0"/>
          </a:p>
        </p:txBody>
      </p:sp>
      <p:sp>
        <p:nvSpPr>
          <p:cNvPr id="8" name="Team member 3"/>
          <p:cNvSpPr txBox="1"/>
          <p:nvPr/>
        </p:nvSpPr>
        <p:spPr>
          <a:xfrm>
            <a:off x="548640" y="4114800"/>
            <a:ext cx="2103120" cy="320040"/>
          </a:xfrm>
          <a:prstGeom prst="rect">
            <a:avLst/>
          </a:prstGeom>
          <a:noFill/>
          <a:ln/>
        </p:spPr>
        <p:txBody>
          <a:bodyPr wrap="square" lIns="0" tIns="0" rIns="0" bIns="0" rtlCol="0" anchor="ctr"/>
          <a:lstStyle/>
          <a:p>
            <a:pPr indent="0" marL="0">
              <a:buNone/>
            </a:pPr>
            <a:r>
              <a:rPr lang="en-US" sz="1400" dirty="0">
                <a:solidFill>
                  <a:schemeClr val="bg1"/>
                </a:solidFill>
              </a:rPr>
              <a:t>Mahmoud Ibrahim</a:t>
            </a:r>
            <a:endParaRPr lang="en-US" sz="1400" dirty="0"/>
          </a:p>
        </p:txBody>
      </p:sp>
      <p:sp>
        <p:nvSpPr>
          <p:cNvPr id="9" name="Team member 4"/>
          <p:cNvSpPr txBox="1"/>
          <p:nvPr/>
        </p:nvSpPr>
        <p:spPr>
          <a:xfrm>
            <a:off x="2743200" y="4114800"/>
            <a:ext cx="2103120" cy="320040"/>
          </a:xfrm>
          <a:prstGeom prst="rect">
            <a:avLst/>
          </a:prstGeom>
          <a:noFill/>
          <a:ln/>
        </p:spPr>
        <p:txBody>
          <a:bodyPr wrap="square" lIns="0" tIns="0" rIns="0" bIns="0" rtlCol="0" anchor="ctr"/>
          <a:lstStyle/>
          <a:p>
            <a:pPr indent="0" marL="0">
              <a:buNone/>
            </a:pPr>
            <a:r>
              <a:rPr lang="en-US" sz="1400" dirty="0">
                <a:solidFill>
                  <a:schemeClr val="bg1"/>
                </a:solidFill>
              </a:rPr>
              <a:t>Abader Zarif</a:t>
            </a:r>
            <a:endParaRPr lang="en-US" sz="1400" dirty="0"/>
          </a:p>
        </p:txBody>
      </p:sp>
      <p:pic>
        <p:nvPicPr>
          <p:cNvPr id="10" name="Café illustration" descr="Café illustration">    </p:cNvPr>
          <p:cNvPicPr>
            <a:picLocks noChangeAspect="1"/>
          </p:cNvPicPr>
          <p:nvPr/>
        </p:nvPicPr>
        <p:blipFill>
          <a:blip r:embed="rId1"/>
          <a:stretch>
            <a:fillRect/>
          </a:stretch>
        </p:blipFill>
        <p:spPr>
          <a:xfrm>
            <a:off x="5166360" y="594360"/>
            <a:ext cx="3520440" cy="39319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01  EXECUTIVE SUMMARY</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Executive Summary</a:t>
            </a:r>
            <a:endParaRPr lang="en-US" sz="3200" dirty="0"/>
          </a:p>
        </p:txBody>
      </p:sp>
      <p:pic>
        <p:nvPicPr>
          <p:cNvPr id="4" name="Social media, online ads and content illustration" descr="Social media, online ads and content illustration">    </p:cNvPr>
          <p:cNvPicPr>
            <a:picLocks noChangeAspect="1"/>
          </p:cNvPicPr>
          <p:nvPr/>
        </p:nvPicPr>
        <p:blipFill>
          <a:blip r:embed="rId1"/>
          <a:stretch>
            <a:fillRect/>
          </a:stretch>
        </p:blipFill>
        <p:spPr>
          <a:xfrm>
            <a:off x="457200" y="1325880"/>
            <a:ext cx="3566160" cy="3291840"/>
          </a:xfrm>
          <a:prstGeom prst="rect">
            <a:avLst/>
          </a:prstGeom>
        </p:spPr>
      </p:pic>
      <p:sp>
        <p:nvSpPr>
          <p:cNvPr id="5" name="Goal statement"/>
          <p:cNvSpPr txBox="1"/>
          <p:nvPr/>
        </p:nvSpPr>
        <p:spPr>
          <a:xfrm>
            <a:off x="4389120" y="1325880"/>
            <a:ext cx="4297680" cy="45720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Our goal: help The Daily Cup grow</a:t>
            </a:r>
            <a:endParaRPr lang="en-US" sz="2000" dirty="0"/>
          </a:p>
        </p:txBody>
      </p:sp>
      <p:sp>
        <p:nvSpPr>
          <p:cNvPr id="6" name="Increase brand awareness circle"/>
          <p:cNvSpPr/>
          <p:nvPr/>
        </p:nvSpPr>
        <p:spPr>
          <a:xfrm>
            <a:off x="4389120" y="2011680"/>
            <a:ext cx="457200" cy="457200"/>
          </a:xfrm>
          <a:prstGeom prst="ellipse">
            <a:avLst/>
          </a:prstGeom>
          <a:solidFill>
            <a:schemeClr val="accent1"/>
          </a:solidFill>
          <a:ln/>
        </p:spPr>
      </p:sp>
      <p:pic>
        <p:nvPicPr>
          <p:cNvPr id="7" name="Increase brand awareness icon" descr="Increase brand awareness">    </p:cNvPr>
          <p:cNvPicPr>
            <a:picLocks noChangeAspect="1"/>
          </p:cNvPicPr>
          <p:nvPr/>
        </p:nvPicPr>
        <p:blipFill>
          <a:blip r:embed="rId2"/>
          <a:stretch>
            <a:fillRect/>
          </a:stretch>
        </p:blipFill>
        <p:spPr>
          <a:xfrm>
            <a:off x="4512564" y="2135124"/>
            <a:ext cx="210312" cy="210312"/>
          </a:xfrm>
          <a:prstGeom prst="rect">
            <a:avLst/>
          </a:prstGeom>
        </p:spPr>
      </p:pic>
      <p:sp>
        <p:nvSpPr>
          <p:cNvPr id="8" name="Row text 1"/>
          <p:cNvSpPr txBox="1"/>
          <p:nvPr/>
        </p:nvSpPr>
        <p:spPr>
          <a:xfrm>
            <a:off x="5029200" y="2011680"/>
            <a:ext cx="3657600" cy="457200"/>
          </a:xfrm>
          <a:prstGeom prst="rect">
            <a:avLst/>
          </a:prstGeom>
          <a:noFill/>
          <a:ln/>
        </p:spPr>
        <p:txBody>
          <a:bodyPr wrap="square" lIns="0" tIns="0" rIns="0" bIns="0" rtlCol="0" anchor="ctr"/>
          <a:lstStyle/>
          <a:p>
            <a:pPr indent="0" marL="0">
              <a:buNone/>
            </a:pPr>
            <a:r>
              <a:rPr lang="en-US" sz="1600" b="1" dirty="0">
                <a:solidFill>
                  <a:schemeClr val="tx2"/>
                </a:solidFill>
              </a:rPr>
              <a:t>Increase brand awareness</a:t>
            </a:r>
            <a:endParaRPr lang="en-US" sz="1600" dirty="0"/>
          </a:p>
        </p:txBody>
      </p:sp>
      <p:sp>
        <p:nvSpPr>
          <p:cNvPr id="9" name="Attract more customers circle"/>
          <p:cNvSpPr/>
          <p:nvPr/>
        </p:nvSpPr>
        <p:spPr>
          <a:xfrm>
            <a:off x="4389120" y="2670048"/>
            <a:ext cx="457200" cy="457200"/>
          </a:xfrm>
          <a:prstGeom prst="ellipse">
            <a:avLst/>
          </a:prstGeom>
          <a:solidFill>
            <a:schemeClr val="accent1"/>
          </a:solidFill>
          <a:ln/>
        </p:spPr>
      </p:sp>
      <p:pic>
        <p:nvPicPr>
          <p:cNvPr id="10" name="Attract more customers icon" descr="Attract more customers">    </p:cNvPr>
          <p:cNvPicPr>
            <a:picLocks noChangeAspect="1"/>
          </p:cNvPicPr>
          <p:nvPr/>
        </p:nvPicPr>
        <p:blipFill>
          <a:blip r:embed="rId3"/>
          <a:stretch>
            <a:fillRect/>
          </a:stretch>
        </p:blipFill>
        <p:spPr>
          <a:xfrm>
            <a:off x="4512564" y="2793492"/>
            <a:ext cx="210312" cy="210312"/>
          </a:xfrm>
          <a:prstGeom prst="rect">
            <a:avLst/>
          </a:prstGeom>
        </p:spPr>
      </p:pic>
      <p:sp>
        <p:nvSpPr>
          <p:cNvPr id="11" name="Row text 2"/>
          <p:cNvSpPr txBox="1"/>
          <p:nvPr/>
        </p:nvSpPr>
        <p:spPr>
          <a:xfrm>
            <a:off x="5029200" y="2670048"/>
            <a:ext cx="3657600" cy="457200"/>
          </a:xfrm>
          <a:prstGeom prst="rect">
            <a:avLst/>
          </a:prstGeom>
          <a:noFill/>
          <a:ln/>
        </p:spPr>
        <p:txBody>
          <a:bodyPr wrap="square" lIns="0" tIns="0" rIns="0" bIns="0" rtlCol="0" anchor="ctr"/>
          <a:lstStyle/>
          <a:p>
            <a:pPr indent="0" marL="0">
              <a:buNone/>
            </a:pPr>
            <a:r>
              <a:rPr lang="en-US" sz="1600" b="1" dirty="0">
                <a:solidFill>
                  <a:schemeClr val="tx2"/>
                </a:solidFill>
              </a:rPr>
              <a:t>Attract more customers</a:t>
            </a:r>
            <a:endParaRPr lang="en-US" sz="1600" dirty="0"/>
          </a:p>
        </p:txBody>
      </p:sp>
      <p:sp>
        <p:nvSpPr>
          <p:cNvPr id="12" name="Increase sales circle"/>
          <p:cNvSpPr/>
          <p:nvPr/>
        </p:nvSpPr>
        <p:spPr>
          <a:xfrm>
            <a:off x="4389120" y="3328416"/>
            <a:ext cx="457200" cy="457200"/>
          </a:xfrm>
          <a:prstGeom prst="ellipse">
            <a:avLst/>
          </a:prstGeom>
          <a:solidFill>
            <a:schemeClr val="accent1"/>
          </a:solidFill>
          <a:ln/>
        </p:spPr>
      </p:sp>
      <p:pic>
        <p:nvPicPr>
          <p:cNvPr id="13" name="Increase sales icon" descr="Increase sales">    </p:cNvPr>
          <p:cNvPicPr>
            <a:picLocks noChangeAspect="1"/>
          </p:cNvPicPr>
          <p:nvPr/>
        </p:nvPicPr>
        <p:blipFill>
          <a:blip r:embed="rId4"/>
          <a:stretch>
            <a:fillRect/>
          </a:stretch>
        </p:blipFill>
        <p:spPr>
          <a:xfrm>
            <a:off x="4512564" y="3451860"/>
            <a:ext cx="210312" cy="210312"/>
          </a:xfrm>
          <a:prstGeom prst="rect">
            <a:avLst/>
          </a:prstGeom>
        </p:spPr>
      </p:pic>
      <p:sp>
        <p:nvSpPr>
          <p:cNvPr id="14" name="Row text 3"/>
          <p:cNvSpPr txBox="1"/>
          <p:nvPr/>
        </p:nvSpPr>
        <p:spPr>
          <a:xfrm>
            <a:off x="5029200" y="3328416"/>
            <a:ext cx="3657600" cy="457200"/>
          </a:xfrm>
          <a:prstGeom prst="rect">
            <a:avLst/>
          </a:prstGeom>
          <a:noFill/>
          <a:ln/>
        </p:spPr>
        <p:txBody>
          <a:bodyPr wrap="square" lIns="0" tIns="0" rIns="0" bIns="0" rtlCol="0" anchor="ctr"/>
          <a:lstStyle/>
          <a:p>
            <a:pPr indent="0" marL="0">
              <a:buNone/>
            </a:pPr>
            <a:r>
              <a:rPr lang="en-US" sz="1600" b="1" dirty="0">
                <a:solidFill>
                  <a:schemeClr val="tx2"/>
                </a:solidFill>
              </a:rPr>
              <a:t>Increase sales</a:t>
            </a:r>
            <a:endParaRPr lang="en-US" sz="1600" dirty="0"/>
          </a:p>
        </p:txBody>
      </p:sp>
      <p:sp>
        <p:nvSpPr>
          <p:cNvPr id="15" name="Improve social media presence circle"/>
          <p:cNvSpPr/>
          <p:nvPr/>
        </p:nvSpPr>
        <p:spPr>
          <a:xfrm>
            <a:off x="4389120" y="3986784"/>
            <a:ext cx="457200" cy="457200"/>
          </a:xfrm>
          <a:prstGeom prst="ellipse">
            <a:avLst/>
          </a:prstGeom>
          <a:solidFill>
            <a:schemeClr val="accent1"/>
          </a:solidFill>
          <a:ln/>
        </p:spPr>
      </p:sp>
      <p:pic>
        <p:nvPicPr>
          <p:cNvPr id="16" name="Improve social media presence icon" descr="Improve social media presence">    </p:cNvPr>
          <p:cNvPicPr>
            <a:picLocks noChangeAspect="1"/>
          </p:cNvPicPr>
          <p:nvPr/>
        </p:nvPicPr>
        <p:blipFill>
          <a:blip r:embed="rId5"/>
          <a:stretch>
            <a:fillRect/>
          </a:stretch>
        </p:blipFill>
        <p:spPr>
          <a:xfrm>
            <a:off x="4512564" y="4110228"/>
            <a:ext cx="210312" cy="210312"/>
          </a:xfrm>
          <a:prstGeom prst="rect">
            <a:avLst/>
          </a:prstGeom>
        </p:spPr>
      </p:pic>
      <p:sp>
        <p:nvSpPr>
          <p:cNvPr id="17" name="Row text 4"/>
          <p:cNvSpPr txBox="1"/>
          <p:nvPr/>
        </p:nvSpPr>
        <p:spPr>
          <a:xfrm>
            <a:off x="5029200" y="3986784"/>
            <a:ext cx="3657600" cy="457200"/>
          </a:xfrm>
          <a:prstGeom prst="rect">
            <a:avLst/>
          </a:prstGeom>
          <a:noFill/>
          <a:ln/>
        </p:spPr>
        <p:txBody>
          <a:bodyPr wrap="square" lIns="0" tIns="0" rIns="0" bIns="0" rtlCol="0" anchor="ctr"/>
          <a:lstStyle/>
          <a:p>
            <a:pPr indent="0" marL="0">
              <a:buNone/>
            </a:pPr>
            <a:r>
              <a:rPr lang="en-US" sz="1600" b="1" dirty="0">
                <a:solidFill>
                  <a:schemeClr val="tx2"/>
                </a:solidFill>
              </a:rPr>
              <a:t>Improve social media presence</a:t>
            </a:r>
            <a:endParaRPr lang="en-US" sz="16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02  PROBLEM STATEMENT</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The Challenges</a:t>
            </a:r>
            <a:endParaRPr lang="en-US" sz="3200" dirty="0"/>
          </a:p>
        </p:txBody>
      </p:sp>
      <p:sp>
        <p:nvSpPr>
          <p:cNvPr id="4" name="Low brand awareness circle"/>
          <p:cNvSpPr/>
          <p:nvPr/>
        </p:nvSpPr>
        <p:spPr>
          <a:xfrm>
            <a:off x="457200" y="1325880"/>
            <a:ext cx="457200" cy="457200"/>
          </a:xfrm>
          <a:prstGeom prst="ellipse">
            <a:avLst/>
          </a:prstGeom>
          <a:solidFill>
            <a:schemeClr val="accent3"/>
          </a:solidFill>
          <a:ln/>
        </p:spPr>
      </p:sp>
      <p:pic>
        <p:nvPicPr>
          <p:cNvPr id="5" name="Low brand awareness icon" descr="Low brand awareness">    </p:cNvPr>
          <p:cNvPicPr>
            <a:picLocks noChangeAspect="1"/>
          </p:cNvPicPr>
          <p:nvPr/>
        </p:nvPicPr>
        <p:blipFill>
          <a:blip r:embed="rId1"/>
          <a:stretch>
            <a:fillRect/>
          </a:stretch>
        </p:blipFill>
        <p:spPr>
          <a:xfrm>
            <a:off x="580644" y="1449324"/>
            <a:ext cx="210312" cy="210312"/>
          </a:xfrm>
          <a:prstGeom prst="rect">
            <a:avLst/>
          </a:prstGeom>
        </p:spPr>
      </p:pic>
      <p:sp>
        <p:nvSpPr>
          <p:cNvPr id="6" name="Row text 1"/>
          <p:cNvSpPr txBox="1"/>
          <p:nvPr/>
        </p:nvSpPr>
        <p:spPr>
          <a:xfrm>
            <a:off x="1097280" y="1325880"/>
            <a:ext cx="3840480" cy="457200"/>
          </a:xfrm>
          <a:prstGeom prst="rect">
            <a:avLst/>
          </a:prstGeom>
          <a:noFill/>
          <a:ln/>
        </p:spPr>
        <p:txBody>
          <a:bodyPr wrap="square" lIns="0" tIns="0" rIns="0" bIns="0" rtlCol="0" anchor="ctr"/>
          <a:lstStyle/>
          <a:p>
            <a:pPr indent="0" marL="0">
              <a:buNone/>
            </a:pPr>
            <a:r>
              <a:rPr lang="en-US" sz="1600" b="1" dirty="0">
                <a:solidFill>
                  <a:schemeClr val="tx2"/>
                </a:solidFill>
              </a:rPr>
              <a:t>Low brand awareness</a:t>
            </a:r>
            <a:endParaRPr lang="en-US" sz="1600" dirty="0"/>
          </a:p>
        </p:txBody>
      </p:sp>
      <p:sp>
        <p:nvSpPr>
          <p:cNvPr id="7" name="Few followers, low engagement circle"/>
          <p:cNvSpPr/>
          <p:nvPr/>
        </p:nvSpPr>
        <p:spPr>
          <a:xfrm>
            <a:off x="457200" y="1984248"/>
            <a:ext cx="457200" cy="457200"/>
          </a:xfrm>
          <a:prstGeom prst="ellipse">
            <a:avLst/>
          </a:prstGeom>
          <a:solidFill>
            <a:schemeClr val="accent3"/>
          </a:solidFill>
          <a:ln/>
        </p:spPr>
      </p:sp>
      <p:pic>
        <p:nvPicPr>
          <p:cNvPr id="8" name="Few followers, low engagement icon" descr="Few followers, low engagement">    </p:cNvPr>
          <p:cNvPicPr>
            <a:picLocks noChangeAspect="1"/>
          </p:cNvPicPr>
          <p:nvPr/>
        </p:nvPicPr>
        <p:blipFill>
          <a:blip r:embed="rId2"/>
          <a:stretch>
            <a:fillRect/>
          </a:stretch>
        </p:blipFill>
        <p:spPr>
          <a:xfrm>
            <a:off x="580644" y="2107692"/>
            <a:ext cx="210312" cy="210312"/>
          </a:xfrm>
          <a:prstGeom prst="rect">
            <a:avLst/>
          </a:prstGeom>
        </p:spPr>
      </p:pic>
      <p:sp>
        <p:nvSpPr>
          <p:cNvPr id="9" name="Row text 2"/>
          <p:cNvSpPr txBox="1"/>
          <p:nvPr/>
        </p:nvSpPr>
        <p:spPr>
          <a:xfrm>
            <a:off x="1097280" y="1984248"/>
            <a:ext cx="3840480" cy="457200"/>
          </a:xfrm>
          <a:prstGeom prst="rect">
            <a:avLst/>
          </a:prstGeom>
          <a:noFill/>
          <a:ln/>
        </p:spPr>
        <p:txBody>
          <a:bodyPr wrap="square" lIns="0" tIns="0" rIns="0" bIns="0" rtlCol="0" anchor="ctr"/>
          <a:lstStyle/>
          <a:p>
            <a:pPr indent="0" marL="0">
              <a:buNone/>
            </a:pPr>
            <a:r>
              <a:rPr lang="en-US" sz="1600" b="1" dirty="0">
                <a:solidFill>
                  <a:schemeClr val="tx2"/>
                </a:solidFill>
              </a:rPr>
              <a:t>Few followers, low engagement</a:t>
            </a:r>
            <a:endParaRPr lang="en-US" sz="1600" dirty="0"/>
          </a:p>
        </p:txBody>
      </p:sp>
      <p:sp>
        <p:nvSpPr>
          <p:cNvPr id="10" name="Strong competition from other cafés circle"/>
          <p:cNvSpPr/>
          <p:nvPr/>
        </p:nvSpPr>
        <p:spPr>
          <a:xfrm>
            <a:off x="457200" y="2642616"/>
            <a:ext cx="457200" cy="457200"/>
          </a:xfrm>
          <a:prstGeom prst="ellipse">
            <a:avLst/>
          </a:prstGeom>
          <a:solidFill>
            <a:schemeClr val="accent3"/>
          </a:solidFill>
          <a:ln/>
        </p:spPr>
      </p:sp>
      <p:pic>
        <p:nvPicPr>
          <p:cNvPr id="11" name="Strong competition from other cafés icon" descr="Strong competition from other cafés">    </p:cNvPr>
          <p:cNvPicPr>
            <a:picLocks noChangeAspect="1"/>
          </p:cNvPicPr>
          <p:nvPr/>
        </p:nvPicPr>
        <p:blipFill>
          <a:blip r:embed="rId3"/>
          <a:stretch>
            <a:fillRect/>
          </a:stretch>
        </p:blipFill>
        <p:spPr>
          <a:xfrm>
            <a:off x="580644" y="2766060"/>
            <a:ext cx="210312" cy="210312"/>
          </a:xfrm>
          <a:prstGeom prst="rect">
            <a:avLst/>
          </a:prstGeom>
        </p:spPr>
      </p:pic>
      <p:sp>
        <p:nvSpPr>
          <p:cNvPr id="12" name="Row text 3"/>
          <p:cNvSpPr txBox="1"/>
          <p:nvPr/>
        </p:nvSpPr>
        <p:spPr>
          <a:xfrm>
            <a:off x="1097280" y="2642616"/>
            <a:ext cx="3840480" cy="457200"/>
          </a:xfrm>
          <a:prstGeom prst="rect">
            <a:avLst/>
          </a:prstGeom>
          <a:noFill/>
          <a:ln/>
        </p:spPr>
        <p:txBody>
          <a:bodyPr wrap="square" lIns="0" tIns="0" rIns="0" bIns="0" rtlCol="0" anchor="ctr"/>
          <a:lstStyle/>
          <a:p>
            <a:pPr indent="0" marL="0">
              <a:buNone/>
            </a:pPr>
            <a:r>
              <a:rPr lang="en-US" sz="1600" b="1" dirty="0">
                <a:solidFill>
                  <a:schemeClr val="tx2"/>
                </a:solidFill>
              </a:rPr>
              <a:t>Strong competition from other cafés</a:t>
            </a:r>
            <a:endParaRPr lang="en-US" sz="1600" dirty="0"/>
          </a:p>
        </p:txBody>
      </p:sp>
      <p:sp>
        <p:nvSpPr>
          <p:cNvPr id="13" name="Hard to attract new customers circle"/>
          <p:cNvSpPr/>
          <p:nvPr/>
        </p:nvSpPr>
        <p:spPr>
          <a:xfrm>
            <a:off x="457200" y="3300984"/>
            <a:ext cx="457200" cy="457200"/>
          </a:xfrm>
          <a:prstGeom prst="ellipse">
            <a:avLst/>
          </a:prstGeom>
          <a:solidFill>
            <a:schemeClr val="accent3"/>
          </a:solidFill>
          <a:ln/>
        </p:spPr>
      </p:sp>
      <p:pic>
        <p:nvPicPr>
          <p:cNvPr id="14" name="Hard to attract new customers icon" descr="Hard to attract new customers">    </p:cNvPr>
          <p:cNvPicPr>
            <a:picLocks noChangeAspect="1"/>
          </p:cNvPicPr>
          <p:nvPr/>
        </p:nvPicPr>
        <p:blipFill>
          <a:blip r:embed="rId4"/>
          <a:stretch>
            <a:fillRect/>
          </a:stretch>
        </p:blipFill>
        <p:spPr>
          <a:xfrm>
            <a:off x="580644" y="3424428"/>
            <a:ext cx="210312" cy="210312"/>
          </a:xfrm>
          <a:prstGeom prst="rect">
            <a:avLst/>
          </a:prstGeom>
        </p:spPr>
      </p:pic>
      <p:sp>
        <p:nvSpPr>
          <p:cNvPr id="15" name="Row text 4"/>
          <p:cNvSpPr txBox="1"/>
          <p:nvPr/>
        </p:nvSpPr>
        <p:spPr>
          <a:xfrm>
            <a:off x="1097280" y="3300984"/>
            <a:ext cx="3840480" cy="457200"/>
          </a:xfrm>
          <a:prstGeom prst="rect">
            <a:avLst/>
          </a:prstGeom>
          <a:noFill/>
          <a:ln/>
        </p:spPr>
        <p:txBody>
          <a:bodyPr wrap="square" lIns="0" tIns="0" rIns="0" bIns="0" rtlCol="0" anchor="ctr"/>
          <a:lstStyle/>
          <a:p>
            <a:pPr indent="0" marL="0">
              <a:buNone/>
            </a:pPr>
            <a:r>
              <a:rPr lang="en-US" sz="1600" b="1" dirty="0">
                <a:solidFill>
                  <a:schemeClr val="tx2"/>
                </a:solidFill>
              </a:rPr>
              <a:t>Hard to attract new customers</a:t>
            </a:r>
            <a:endParaRPr lang="en-US" sz="1600" dirty="0"/>
          </a:p>
        </p:txBody>
      </p:sp>
      <p:sp>
        <p:nvSpPr>
          <p:cNvPr id="16" name="Low sales in some periods circle"/>
          <p:cNvSpPr/>
          <p:nvPr/>
        </p:nvSpPr>
        <p:spPr>
          <a:xfrm>
            <a:off x="457200" y="3959352"/>
            <a:ext cx="457200" cy="457200"/>
          </a:xfrm>
          <a:prstGeom prst="ellipse">
            <a:avLst/>
          </a:prstGeom>
          <a:solidFill>
            <a:schemeClr val="accent3"/>
          </a:solidFill>
          <a:ln/>
        </p:spPr>
      </p:sp>
      <p:pic>
        <p:nvPicPr>
          <p:cNvPr id="17" name="Low sales in some periods icon" descr="Low sales in some periods">    </p:cNvPr>
          <p:cNvPicPr>
            <a:picLocks noChangeAspect="1"/>
          </p:cNvPicPr>
          <p:nvPr/>
        </p:nvPicPr>
        <p:blipFill>
          <a:blip r:embed="rId5"/>
          <a:stretch>
            <a:fillRect/>
          </a:stretch>
        </p:blipFill>
        <p:spPr>
          <a:xfrm>
            <a:off x="580644" y="4082796"/>
            <a:ext cx="210312" cy="210312"/>
          </a:xfrm>
          <a:prstGeom prst="rect">
            <a:avLst/>
          </a:prstGeom>
        </p:spPr>
      </p:pic>
      <p:sp>
        <p:nvSpPr>
          <p:cNvPr id="18" name="Row text 5"/>
          <p:cNvSpPr txBox="1"/>
          <p:nvPr/>
        </p:nvSpPr>
        <p:spPr>
          <a:xfrm>
            <a:off x="1097280" y="3959352"/>
            <a:ext cx="3840480" cy="457200"/>
          </a:xfrm>
          <a:prstGeom prst="rect">
            <a:avLst/>
          </a:prstGeom>
          <a:noFill/>
          <a:ln/>
        </p:spPr>
        <p:txBody>
          <a:bodyPr wrap="square" lIns="0" tIns="0" rIns="0" bIns="0" rtlCol="0" anchor="ctr"/>
          <a:lstStyle/>
          <a:p>
            <a:pPr indent="0" marL="0">
              <a:buNone/>
            </a:pPr>
            <a:r>
              <a:rPr lang="en-US" sz="1600" b="1" dirty="0">
                <a:solidFill>
                  <a:schemeClr val="tx2"/>
                </a:solidFill>
              </a:rPr>
              <a:t>Low sales in some periods</a:t>
            </a:r>
            <a:endParaRPr lang="en-US" sz="1600" dirty="0"/>
          </a:p>
        </p:txBody>
      </p:sp>
      <p:pic>
        <p:nvPicPr>
          <p:cNvPr id="19" name="Weak social media illustration" descr="Weak social media illustration">    </p:cNvPr>
          <p:cNvPicPr>
            <a:picLocks noChangeAspect="1"/>
          </p:cNvPicPr>
          <p:nvPr/>
        </p:nvPicPr>
        <p:blipFill>
          <a:blip r:embed="rId6"/>
          <a:stretch>
            <a:fillRect/>
          </a:stretch>
        </p:blipFill>
        <p:spPr>
          <a:xfrm>
            <a:off x="5120640" y="1325880"/>
            <a:ext cx="3566160" cy="3291840"/>
          </a:xfrm>
          <a:prstGeom prst="rect">
            <a:avLst/>
          </a:prstGeom>
        </p:spPr>
      </p:pic>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03  PROPOSED SOLUTION</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Our Four Main Services</a:t>
            </a:r>
            <a:endParaRPr lang="en-US" sz="3200" dirty="0"/>
          </a:p>
        </p:txBody>
      </p:sp>
      <p:sp>
        <p:nvSpPr>
          <p:cNvPr id="4" name="Service card 1"/>
          <p:cNvSpPr/>
          <p:nvPr/>
        </p:nvSpPr>
        <p:spPr>
          <a:xfrm>
            <a:off x="457200" y="1325880"/>
            <a:ext cx="1920240" cy="3200400"/>
          </a:xfrm>
          <a:prstGeom prst="roundRect">
            <a:avLst>
              <a:gd name="adj" fmla="val 5714"/>
            </a:avLst>
          </a:prstGeom>
          <a:solidFill>
            <a:schemeClr val="bg2"/>
          </a:solidFill>
          <a:ln/>
        </p:spPr>
      </p:sp>
      <p:pic>
        <p:nvPicPr>
          <p:cNvPr id="5" name="Social Media Management illustration" descr="Social Media Management illustration">    </p:cNvPr>
          <p:cNvPicPr>
            <a:picLocks noChangeAspect="1"/>
          </p:cNvPicPr>
          <p:nvPr/>
        </p:nvPicPr>
        <p:blipFill>
          <a:blip r:embed="rId1"/>
          <a:stretch>
            <a:fillRect/>
          </a:stretch>
        </p:blipFill>
        <p:spPr>
          <a:xfrm>
            <a:off x="548640" y="1417320"/>
            <a:ext cx="1737360" cy="1600200"/>
          </a:xfrm>
          <a:prstGeom prst="rect">
            <a:avLst/>
          </a:prstGeom>
        </p:spPr>
      </p:pic>
      <p:sp>
        <p:nvSpPr>
          <p:cNvPr id="6" name="Service title 1"/>
          <p:cNvSpPr txBox="1"/>
          <p:nvPr/>
        </p:nvSpPr>
        <p:spPr>
          <a:xfrm>
            <a:off x="594360" y="3154680"/>
            <a:ext cx="1645920" cy="548640"/>
          </a:xfrm>
          <a:prstGeom prst="rect">
            <a:avLst/>
          </a:prstGeom>
          <a:noFill/>
          <a:ln/>
        </p:spPr>
        <p:txBody>
          <a:bodyPr wrap="square" lIns="0" tIns="0" rIns="0" bIns="0" rtlCol="0" anchor="t"/>
          <a:lstStyle/>
          <a:p>
            <a:pPr indent="0" marL="0">
              <a:buNone/>
            </a:pPr>
            <a:r>
              <a:rPr lang="en-US" sz="1500" b="1" dirty="0">
                <a:solidFill>
                  <a:schemeClr val="tx2"/>
                </a:solidFill>
              </a:rPr>
              <a:t>Social Media Management</a:t>
            </a:r>
            <a:endParaRPr lang="en-US" sz="1500" dirty="0"/>
          </a:p>
        </p:txBody>
      </p:sp>
      <p:sp>
        <p:nvSpPr>
          <p:cNvPr id="7" name="Service text 1"/>
          <p:cNvSpPr txBox="1"/>
          <p:nvPr/>
        </p:nvSpPr>
        <p:spPr>
          <a:xfrm>
            <a:off x="594360" y="3730752"/>
            <a:ext cx="1645920" cy="731520"/>
          </a:xfrm>
          <a:prstGeom prst="rect">
            <a:avLst/>
          </a:prstGeom>
          <a:noFill/>
          <a:ln/>
        </p:spPr>
        <p:txBody>
          <a:bodyPr wrap="square" lIns="0" tIns="0" rIns="0" bIns="0" rtlCol="0" anchor="t"/>
          <a:lstStyle/>
          <a:p>
            <a:pPr indent="0" marL="0">
              <a:buNone/>
            </a:pPr>
            <a:r>
              <a:rPr lang="en-US" sz="1300" dirty="0">
                <a:solidFill>
                  <a:schemeClr val="tx1"/>
                </a:solidFill>
              </a:rPr>
              <a:t>12 posts, 8 reels and daily stories a month</a:t>
            </a:r>
            <a:endParaRPr lang="en-US" sz="1300" dirty="0"/>
          </a:p>
        </p:txBody>
      </p:sp>
      <p:sp>
        <p:nvSpPr>
          <p:cNvPr id="8" name="Service card 2"/>
          <p:cNvSpPr/>
          <p:nvPr/>
        </p:nvSpPr>
        <p:spPr>
          <a:xfrm>
            <a:off x="2560320" y="1325880"/>
            <a:ext cx="1920240" cy="3200400"/>
          </a:xfrm>
          <a:prstGeom prst="roundRect">
            <a:avLst>
              <a:gd name="adj" fmla="val 5714"/>
            </a:avLst>
          </a:prstGeom>
          <a:solidFill>
            <a:schemeClr val="bg2"/>
          </a:solidFill>
          <a:ln/>
        </p:spPr>
      </p:sp>
      <p:pic>
        <p:nvPicPr>
          <p:cNvPr id="9" name="Paid Advertising illustration" descr="Paid Advertising illustration">    </p:cNvPr>
          <p:cNvPicPr>
            <a:picLocks noChangeAspect="1"/>
          </p:cNvPicPr>
          <p:nvPr/>
        </p:nvPicPr>
        <p:blipFill>
          <a:blip r:embed="rId2"/>
          <a:stretch>
            <a:fillRect/>
          </a:stretch>
        </p:blipFill>
        <p:spPr>
          <a:xfrm>
            <a:off x="2651760" y="1417320"/>
            <a:ext cx="1737360" cy="1600200"/>
          </a:xfrm>
          <a:prstGeom prst="rect">
            <a:avLst/>
          </a:prstGeom>
        </p:spPr>
      </p:pic>
      <p:sp>
        <p:nvSpPr>
          <p:cNvPr id="10" name="Service title 2"/>
          <p:cNvSpPr txBox="1"/>
          <p:nvPr/>
        </p:nvSpPr>
        <p:spPr>
          <a:xfrm>
            <a:off x="2697480" y="3154680"/>
            <a:ext cx="1645920" cy="548640"/>
          </a:xfrm>
          <a:prstGeom prst="rect">
            <a:avLst/>
          </a:prstGeom>
          <a:noFill/>
          <a:ln/>
        </p:spPr>
        <p:txBody>
          <a:bodyPr wrap="square" lIns="0" tIns="0" rIns="0" bIns="0" rtlCol="0" anchor="t"/>
          <a:lstStyle/>
          <a:p>
            <a:pPr indent="0" marL="0">
              <a:buNone/>
            </a:pPr>
            <a:r>
              <a:rPr lang="en-US" sz="1500" b="1" dirty="0">
                <a:solidFill>
                  <a:schemeClr val="tx2"/>
                </a:solidFill>
              </a:rPr>
              <a:t>Paid Advertising</a:t>
            </a:r>
            <a:endParaRPr lang="en-US" sz="1500" dirty="0"/>
          </a:p>
        </p:txBody>
      </p:sp>
      <p:sp>
        <p:nvSpPr>
          <p:cNvPr id="11" name="Service text 2"/>
          <p:cNvSpPr txBox="1"/>
          <p:nvPr/>
        </p:nvSpPr>
        <p:spPr>
          <a:xfrm>
            <a:off x="2697480" y="3730752"/>
            <a:ext cx="1645920" cy="731520"/>
          </a:xfrm>
          <a:prstGeom prst="rect">
            <a:avLst/>
          </a:prstGeom>
          <a:noFill/>
          <a:ln/>
        </p:spPr>
        <p:txBody>
          <a:bodyPr wrap="square" lIns="0" tIns="0" rIns="0" bIns="0" rtlCol="0" anchor="t"/>
          <a:lstStyle/>
          <a:p>
            <a:pPr indent="0" marL="0">
              <a:buNone/>
            </a:pPr>
            <a:r>
              <a:rPr lang="en-US" sz="1300" dirty="0">
                <a:solidFill>
                  <a:schemeClr val="tx1"/>
                </a:solidFill>
              </a:rPr>
              <a:t>Targeted Facebook and Instagram ads near the café</a:t>
            </a:r>
            <a:endParaRPr lang="en-US" sz="1300" dirty="0"/>
          </a:p>
        </p:txBody>
      </p:sp>
      <p:sp>
        <p:nvSpPr>
          <p:cNvPr id="12" name="Service card 3"/>
          <p:cNvSpPr/>
          <p:nvPr/>
        </p:nvSpPr>
        <p:spPr>
          <a:xfrm>
            <a:off x="4663440" y="1325880"/>
            <a:ext cx="1920240" cy="3200400"/>
          </a:xfrm>
          <a:prstGeom prst="roundRect">
            <a:avLst>
              <a:gd name="adj" fmla="val 5714"/>
            </a:avLst>
          </a:prstGeom>
          <a:solidFill>
            <a:schemeClr val="bg2"/>
          </a:solidFill>
          <a:ln/>
        </p:spPr>
      </p:sp>
      <p:pic>
        <p:nvPicPr>
          <p:cNvPr id="13" name="Content Creation illustration" descr="Content Creation illustration">    </p:cNvPr>
          <p:cNvPicPr>
            <a:picLocks noChangeAspect="1"/>
          </p:cNvPicPr>
          <p:nvPr/>
        </p:nvPicPr>
        <p:blipFill>
          <a:blip r:embed="rId3"/>
          <a:stretch>
            <a:fillRect/>
          </a:stretch>
        </p:blipFill>
        <p:spPr>
          <a:xfrm>
            <a:off x="4754880" y="1417320"/>
            <a:ext cx="1737360" cy="1600200"/>
          </a:xfrm>
          <a:prstGeom prst="rect">
            <a:avLst/>
          </a:prstGeom>
        </p:spPr>
      </p:pic>
      <p:sp>
        <p:nvSpPr>
          <p:cNvPr id="14" name="Service title 3"/>
          <p:cNvSpPr txBox="1"/>
          <p:nvPr/>
        </p:nvSpPr>
        <p:spPr>
          <a:xfrm>
            <a:off x="4800600" y="3154680"/>
            <a:ext cx="1645920" cy="548640"/>
          </a:xfrm>
          <a:prstGeom prst="rect">
            <a:avLst/>
          </a:prstGeom>
          <a:noFill/>
          <a:ln/>
        </p:spPr>
        <p:txBody>
          <a:bodyPr wrap="square" lIns="0" tIns="0" rIns="0" bIns="0" rtlCol="0" anchor="t"/>
          <a:lstStyle/>
          <a:p>
            <a:pPr indent="0" marL="0">
              <a:buNone/>
            </a:pPr>
            <a:r>
              <a:rPr lang="en-US" sz="1500" b="1" dirty="0">
                <a:solidFill>
                  <a:schemeClr val="tx2"/>
                </a:solidFill>
              </a:rPr>
              <a:t>Content Creation</a:t>
            </a:r>
            <a:endParaRPr lang="en-US" sz="1500" dirty="0"/>
          </a:p>
        </p:txBody>
      </p:sp>
      <p:sp>
        <p:nvSpPr>
          <p:cNvPr id="15" name="Service text 3"/>
          <p:cNvSpPr txBox="1"/>
          <p:nvPr/>
        </p:nvSpPr>
        <p:spPr>
          <a:xfrm>
            <a:off x="4800600" y="3730752"/>
            <a:ext cx="1645920" cy="731520"/>
          </a:xfrm>
          <a:prstGeom prst="rect">
            <a:avLst/>
          </a:prstGeom>
          <a:noFill/>
          <a:ln/>
        </p:spPr>
        <p:txBody>
          <a:bodyPr wrap="square" lIns="0" tIns="0" rIns="0" bIns="0" rtlCol="0" anchor="t"/>
          <a:lstStyle/>
          <a:p>
            <a:pPr indent="0" marL="0">
              <a:buNone/>
            </a:pPr>
            <a:r>
              <a:rPr lang="en-US" sz="1300" dirty="0">
                <a:solidFill>
                  <a:schemeClr val="tx1"/>
                </a:solidFill>
              </a:rPr>
              <a:t>A professional photo and video shoot every month</a:t>
            </a:r>
            <a:endParaRPr lang="en-US" sz="1300" dirty="0"/>
          </a:p>
        </p:txBody>
      </p:sp>
      <p:sp>
        <p:nvSpPr>
          <p:cNvPr id="16" name="Service card 4"/>
          <p:cNvSpPr/>
          <p:nvPr/>
        </p:nvSpPr>
        <p:spPr>
          <a:xfrm>
            <a:off x="6766560" y="1325880"/>
            <a:ext cx="1920240" cy="3200400"/>
          </a:xfrm>
          <a:prstGeom prst="roundRect">
            <a:avLst>
              <a:gd name="adj" fmla="val 5714"/>
            </a:avLst>
          </a:prstGeom>
          <a:solidFill>
            <a:schemeClr val="bg2"/>
          </a:solidFill>
          <a:ln/>
        </p:spPr>
      </p:sp>
      <p:pic>
        <p:nvPicPr>
          <p:cNvPr id="17" name="Promotions illustration" descr="Promotions illustration">    </p:cNvPr>
          <p:cNvPicPr>
            <a:picLocks noChangeAspect="1"/>
          </p:cNvPicPr>
          <p:nvPr/>
        </p:nvPicPr>
        <p:blipFill>
          <a:blip r:embed="rId4"/>
          <a:stretch>
            <a:fillRect/>
          </a:stretch>
        </p:blipFill>
        <p:spPr>
          <a:xfrm>
            <a:off x="6858000" y="1417320"/>
            <a:ext cx="1737360" cy="1600200"/>
          </a:xfrm>
          <a:prstGeom prst="rect">
            <a:avLst/>
          </a:prstGeom>
        </p:spPr>
      </p:pic>
      <p:sp>
        <p:nvSpPr>
          <p:cNvPr id="18" name="Service title 4"/>
          <p:cNvSpPr txBox="1"/>
          <p:nvPr/>
        </p:nvSpPr>
        <p:spPr>
          <a:xfrm>
            <a:off x="6903720" y="3154680"/>
            <a:ext cx="1645920" cy="548640"/>
          </a:xfrm>
          <a:prstGeom prst="rect">
            <a:avLst/>
          </a:prstGeom>
          <a:noFill/>
          <a:ln/>
        </p:spPr>
        <p:txBody>
          <a:bodyPr wrap="square" lIns="0" tIns="0" rIns="0" bIns="0" rtlCol="0" anchor="t"/>
          <a:lstStyle/>
          <a:p>
            <a:pPr indent="0" marL="0">
              <a:buNone/>
            </a:pPr>
            <a:r>
              <a:rPr lang="en-US" sz="1500" b="1" dirty="0">
                <a:solidFill>
                  <a:schemeClr val="tx2"/>
                </a:solidFill>
              </a:rPr>
              <a:t>Promotions</a:t>
            </a:r>
            <a:endParaRPr lang="en-US" sz="1500" dirty="0"/>
          </a:p>
        </p:txBody>
      </p:sp>
      <p:sp>
        <p:nvSpPr>
          <p:cNvPr id="19" name="Service text 4"/>
          <p:cNvSpPr txBox="1"/>
          <p:nvPr/>
        </p:nvSpPr>
        <p:spPr>
          <a:xfrm>
            <a:off x="6903720" y="3730752"/>
            <a:ext cx="1645920" cy="731520"/>
          </a:xfrm>
          <a:prstGeom prst="rect">
            <a:avLst/>
          </a:prstGeom>
          <a:noFill/>
          <a:ln/>
        </p:spPr>
        <p:txBody>
          <a:bodyPr wrap="square" lIns="0" tIns="0" rIns="0" bIns="0" rtlCol="0" anchor="t"/>
          <a:lstStyle/>
          <a:p>
            <a:pPr indent="0" marL="0">
              <a:buNone/>
            </a:pPr>
            <a:r>
              <a:rPr lang="en-US" sz="1300" dirty="0">
                <a:solidFill>
                  <a:schemeClr val="tx1"/>
                </a:solidFill>
              </a:rPr>
              <a:t>2 special offers a month to bring people in</a:t>
            </a:r>
            <a:endParaRPr lang="en-US" sz="13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04  IMPLEMENTATION PLAN</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Five Simple Steps</a:t>
            </a:r>
            <a:endParaRPr lang="en-US" sz="3200" dirty="0"/>
          </a:p>
        </p:txBody>
      </p:sp>
      <p:sp>
        <p:nvSpPr>
          <p:cNvPr id="4" name="Step connector"/>
          <p:cNvSpPr/>
          <p:nvPr/>
        </p:nvSpPr>
        <p:spPr>
          <a:xfrm>
            <a:off x="1280160" y="1965960"/>
            <a:ext cx="6583680" cy="0"/>
          </a:xfrm>
          <a:prstGeom prst="line">
            <a:avLst/>
          </a:prstGeom>
          <a:noFill/>
          <a:ln w="38100">
            <a:solidFill>
              <a:srgbClr val="E8C9A6"/>
            </a:solidFill>
            <a:prstDash val="solid"/>
          </a:ln>
        </p:spPr>
      </p:sp>
      <p:sp>
        <p:nvSpPr>
          <p:cNvPr id="5" name="Research circle"/>
          <p:cNvSpPr/>
          <p:nvPr/>
        </p:nvSpPr>
        <p:spPr>
          <a:xfrm>
            <a:off x="822960" y="1508760"/>
            <a:ext cx="914400" cy="914400"/>
          </a:xfrm>
          <a:prstGeom prst="ellipse">
            <a:avLst/>
          </a:prstGeom>
          <a:solidFill>
            <a:schemeClr val="tx2"/>
          </a:solidFill>
          <a:ln/>
        </p:spPr>
      </p:sp>
      <p:pic>
        <p:nvPicPr>
          <p:cNvPr id="6" name="Research icon" descr="Research">    </p:cNvPr>
          <p:cNvPicPr>
            <a:picLocks noChangeAspect="1"/>
          </p:cNvPicPr>
          <p:nvPr/>
        </p:nvPicPr>
        <p:blipFill>
          <a:blip r:embed="rId1"/>
          <a:stretch>
            <a:fillRect/>
          </a:stretch>
        </p:blipFill>
        <p:spPr>
          <a:xfrm>
            <a:off x="1069848" y="1755648"/>
            <a:ext cx="420624" cy="420624"/>
          </a:xfrm>
          <a:prstGeom prst="rect">
            <a:avLst/>
          </a:prstGeom>
        </p:spPr>
      </p:pic>
      <p:sp>
        <p:nvSpPr>
          <p:cNvPr id="7" name="Step badge 1"/>
          <p:cNvSpPr/>
          <p:nvPr/>
        </p:nvSpPr>
        <p:spPr>
          <a:xfrm>
            <a:off x="1463040" y="1463040"/>
            <a:ext cx="329184" cy="329184"/>
          </a:xfrm>
          <a:prstGeom prst="ellipse">
            <a:avLst/>
          </a:prstGeom>
          <a:solidFill>
            <a:schemeClr val="accent2"/>
          </a:solidFill>
          <a:ln w="25400">
            <a:solidFill>
              <a:srgbClr val="FFFFFF"/>
            </a:solidFill>
            <a:prstDash val="solid"/>
          </a:ln>
        </p:spPr>
      </p:sp>
      <p:sp>
        <p:nvSpPr>
          <p:cNvPr id="8" name="Step number 1"/>
          <p:cNvSpPr txBox="1"/>
          <p:nvPr/>
        </p:nvSpPr>
        <p:spPr>
          <a:xfrm>
            <a:off x="1463040" y="1463040"/>
            <a:ext cx="329184" cy="329184"/>
          </a:xfrm>
          <a:prstGeom prst="rect">
            <a:avLst/>
          </a:prstGeom>
          <a:noFill/>
          <a:ln/>
        </p:spPr>
        <p:txBody>
          <a:bodyPr wrap="square" lIns="0" tIns="0" rIns="0" bIns="0" rtlCol="0" anchor="ctr"/>
          <a:lstStyle/>
          <a:p>
            <a:pPr algn="ctr" indent="0" marL="0">
              <a:buNone/>
            </a:pPr>
            <a:r>
              <a:rPr lang="en-US" sz="1200" b="1" dirty="0">
                <a:solidFill>
                  <a:schemeClr val="tx2"/>
                </a:solidFill>
              </a:rPr>
              <a:t>1</a:t>
            </a:r>
            <a:endParaRPr lang="en-US" sz="1200" dirty="0"/>
          </a:p>
        </p:txBody>
      </p:sp>
      <p:sp>
        <p:nvSpPr>
          <p:cNvPr id="9" name="Step title 1"/>
          <p:cNvSpPr txBox="1"/>
          <p:nvPr/>
        </p:nvSpPr>
        <p:spPr>
          <a:xfrm>
            <a:off x="548640" y="2606040"/>
            <a:ext cx="1463040" cy="365760"/>
          </a:xfrm>
          <a:prstGeom prst="rect">
            <a:avLst/>
          </a:prstGeom>
          <a:noFill/>
          <a:ln/>
        </p:spPr>
        <p:txBody>
          <a:bodyPr wrap="square" lIns="0" tIns="0" rIns="0" bIns="0" rtlCol="0" anchor="ctr"/>
          <a:lstStyle/>
          <a:p>
            <a:pPr algn="ctr" indent="0" marL="0">
              <a:buNone/>
            </a:pPr>
            <a:r>
              <a:rPr lang="en-US" sz="1600" b="1" dirty="0">
                <a:solidFill>
                  <a:schemeClr val="tx2"/>
                </a:solidFill>
              </a:rPr>
              <a:t>Research</a:t>
            </a:r>
            <a:endParaRPr lang="en-US" sz="1600" dirty="0"/>
          </a:p>
        </p:txBody>
      </p:sp>
      <p:sp>
        <p:nvSpPr>
          <p:cNvPr id="10" name="Step text 1"/>
          <p:cNvSpPr txBox="1"/>
          <p:nvPr/>
        </p:nvSpPr>
        <p:spPr>
          <a:xfrm>
            <a:off x="548640" y="2971800"/>
            <a:ext cx="1463040" cy="548640"/>
          </a:xfrm>
          <a:prstGeom prst="rect">
            <a:avLst/>
          </a:prstGeom>
          <a:noFill/>
          <a:ln/>
        </p:spPr>
        <p:txBody>
          <a:bodyPr wrap="square" lIns="0" tIns="0" rIns="0" bIns="0" rtlCol="0" anchor="t"/>
          <a:lstStyle/>
          <a:p>
            <a:pPr algn="ctr" indent="0" marL="0">
              <a:buNone/>
            </a:pPr>
            <a:r>
              <a:rPr lang="en-US" sz="1300" dirty="0">
                <a:solidFill>
                  <a:schemeClr val="tx1"/>
                </a:solidFill>
              </a:rPr>
              <a:t>Market and competitors</a:t>
            </a:r>
            <a:endParaRPr lang="en-US" sz="1300" dirty="0"/>
          </a:p>
        </p:txBody>
      </p:sp>
      <p:sp>
        <p:nvSpPr>
          <p:cNvPr id="11" name="Audience circle"/>
          <p:cNvSpPr/>
          <p:nvPr/>
        </p:nvSpPr>
        <p:spPr>
          <a:xfrm>
            <a:off x="2468880" y="1508760"/>
            <a:ext cx="914400" cy="914400"/>
          </a:xfrm>
          <a:prstGeom prst="ellipse">
            <a:avLst/>
          </a:prstGeom>
          <a:solidFill>
            <a:schemeClr val="tx2"/>
          </a:solidFill>
          <a:ln/>
        </p:spPr>
      </p:sp>
      <p:pic>
        <p:nvPicPr>
          <p:cNvPr id="12" name="Audience icon" descr="Audience">    </p:cNvPr>
          <p:cNvPicPr>
            <a:picLocks noChangeAspect="1"/>
          </p:cNvPicPr>
          <p:nvPr/>
        </p:nvPicPr>
        <p:blipFill>
          <a:blip r:embed="rId2"/>
          <a:stretch>
            <a:fillRect/>
          </a:stretch>
        </p:blipFill>
        <p:spPr>
          <a:xfrm>
            <a:off x="2715768" y="1755648"/>
            <a:ext cx="420624" cy="420624"/>
          </a:xfrm>
          <a:prstGeom prst="rect">
            <a:avLst/>
          </a:prstGeom>
        </p:spPr>
      </p:pic>
      <p:sp>
        <p:nvSpPr>
          <p:cNvPr id="13" name="Step badge 2"/>
          <p:cNvSpPr/>
          <p:nvPr/>
        </p:nvSpPr>
        <p:spPr>
          <a:xfrm>
            <a:off x="3108960" y="1463040"/>
            <a:ext cx="329184" cy="329184"/>
          </a:xfrm>
          <a:prstGeom prst="ellipse">
            <a:avLst/>
          </a:prstGeom>
          <a:solidFill>
            <a:schemeClr val="accent2"/>
          </a:solidFill>
          <a:ln w="25400">
            <a:solidFill>
              <a:srgbClr val="FFFFFF"/>
            </a:solidFill>
            <a:prstDash val="solid"/>
          </a:ln>
        </p:spPr>
      </p:sp>
      <p:sp>
        <p:nvSpPr>
          <p:cNvPr id="14" name="Step number 2"/>
          <p:cNvSpPr txBox="1"/>
          <p:nvPr/>
        </p:nvSpPr>
        <p:spPr>
          <a:xfrm>
            <a:off x="3108960" y="1463040"/>
            <a:ext cx="329184" cy="329184"/>
          </a:xfrm>
          <a:prstGeom prst="rect">
            <a:avLst/>
          </a:prstGeom>
          <a:noFill/>
          <a:ln/>
        </p:spPr>
        <p:txBody>
          <a:bodyPr wrap="square" lIns="0" tIns="0" rIns="0" bIns="0" rtlCol="0" anchor="ctr"/>
          <a:lstStyle/>
          <a:p>
            <a:pPr algn="ctr" indent="0" marL="0">
              <a:buNone/>
            </a:pPr>
            <a:r>
              <a:rPr lang="en-US" sz="1200" b="1" dirty="0">
                <a:solidFill>
                  <a:schemeClr val="tx2"/>
                </a:solidFill>
              </a:rPr>
              <a:t>2</a:t>
            </a:r>
            <a:endParaRPr lang="en-US" sz="1200" dirty="0"/>
          </a:p>
        </p:txBody>
      </p:sp>
      <p:sp>
        <p:nvSpPr>
          <p:cNvPr id="15" name="Step title 2"/>
          <p:cNvSpPr txBox="1"/>
          <p:nvPr/>
        </p:nvSpPr>
        <p:spPr>
          <a:xfrm>
            <a:off x="2194560" y="2606040"/>
            <a:ext cx="1463040" cy="365760"/>
          </a:xfrm>
          <a:prstGeom prst="rect">
            <a:avLst/>
          </a:prstGeom>
          <a:noFill/>
          <a:ln/>
        </p:spPr>
        <p:txBody>
          <a:bodyPr wrap="square" lIns="0" tIns="0" rIns="0" bIns="0" rtlCol="0" anchor="ctr"/>
          <a:lstStyle/>
          <a:p>
            <a:pPr algn="ctr" indent="0" marL="0">
              <a:buNone/>
            </a:pPr>
            <a:r>
              <a:rPr lang="en-US" sz="1600" b="1" dirty="0">
                <a:solidFill>
                  <a:schemeClr val="tx2"/>
                </a:solidFill>
              </a:rPr>
              <a:t>Audience</a:t>
            </a:r>
            <a:endParaRPr lang="en-US" sz="1600" dirty="0"/>
          </a:p>
        </p:txBody>
      </p:sp>
      <p:sp>
        <p:nvSpPr>
          <p:cNvPr id="16" name="Step text 2"/>
          <p:cNvSpPr txBox="1"/>
          <p:nvPr/>
        </p:nvSpPr>
        <p:spPr>
          <a:xfrm>
            <a:off x="2194560" y="2971800"/>
            <a:ext cx="1463040" cy="548640"/>
          </a:xfrm>
          <a:prstGeom prst="rect">
            <a:avLst/>
          </a:prstGeom>
          <a:noFill/>
          <a:ln/>
        </p:spPr>
        <p:txBody>
          <a:bodyPr wrap="square" lIns="0" tIns="0" rIns="0" bIns="0" rtlCol="0" anchor="t"/>
          <a:lstStyle/>
          <a:p>
            <a:pPr algn="ctr" indent="0" marL="0">
              <a:buNone/>
            </a:pPr>
            <a:r>
              <a:rPr lang="en-US" sz="1300" dirty="0">
                <a:solidFill>
                  <a:schemeClr val="tx1"/>
                </a:solidFill>
              </a:rPr>
              <a:t>Identify who to target</a:t>
            </a:r>
            <a:endParaRPr lang="en-US" sz="1300" dirty="0"/>
          </a:p>
        </p:txBody>
      </p:sp>
      <p:sp>
        <p:nvSpPr>
          <p:cNvPr id="17" name="Content Plan circle"/>
          <p:cNvSpPr/>
          <p:nvPr/>
        </p:nvSpPr>
        <p:spPr>
          <a:xfrm>
            <a:off x="4114800" y="1508760"/>
            <a:ext cx="914400" cy="914400"/>
          </a:xfrm>
          <a:prstGeom prst="ellipse">
            <a:avLst/>
          </a:prstGeom>
          <a:solidFill>
            <a:schemeClr val="tx2"/>
          </a:solidFill>
          <a:ln/>
        </p:spPr>
      </p:sp>
      <p:pic>
        <p:nvPicPr>
          <p:cNvPr id="18" name="Content Plan icon" descr="Content Plan">    </p:cNvPr>
          <p:cNvPicPr>
            <a:picLocks noChangeAspect="1"/>
          </p:cNvPicPr>
          <p:nvPr/>
        </p:nvPicPr>
        <p:blipFill>
          <a:blip r:embed="rId3"/>
          <a:stretch>
            <a:fillRect/>
          </a:stretch>
        </p:blipFill>
        <p:spPr>
          <a:xfrm>
            <a:off x="4361688" y="1755648"/>
            <a:ext cx="420624" cy="420624"/>
          </a:xfrm>
          <a:prstGeom prst="rect">
            <a:avLst/>
          </a:prstGeom>
        </p:spPr>
      </p:pic>
      <p:sp>
        <p:nvSpPr>
          <p:cNvPr id="19" name="Step badge 3"/>
          <p:cNvSpPr/>
          <p:nvPr/>
        </p:nvSpPr>
        <p:spPr>
          <a:xfrm>
            <a:off x="4754880" y="1463040"/>
            <a:ext cx="329184" cy="329184"/>
          </a:xfrm>
          <a:prstGeom prst="ellipse">
            <a:avLst/>
          </a:prstGeom>
          <a:solidFill>
            <a:schemeClr val="accent2"/>
          </a:solidFill>
          <a:ln w="25400">
            <a:solidFill>
              <a:srgbClr val="FFFFFF"/>
            </a:solidFill>
            <a:prstDash val="solid"/>
          </a:ln>
        </p:spPr>
      </p:sp>
      <p:sp>
        <p:nvSpPr>
          <p:cNvPr id="20" name="Step number 3"/>
          <p:cNvSpPr txBox="1"/>
          <p:nvPr/>
        </p:nvSpPr>
        <p:spPr>
          <a:xfrm>
            <a:off x="4754880" y="1463040"/>
            <a:ext cx="329184" cy="329184"/>
          </a:xfrm>
          <a:prstGeom prst="rect">
            <a:avLst/>
          </a:prstGeom>
          <a:noFill/>
          <a:ln/>
        </p:spPr>
        <p:txBody>
          <a:bodyPr wrap="square" lIns="0" tIns="0" rIns="0" bIns="0" rtlCol="0" anchor="ctr"/>
          <a:lstStyle/>
          <a:p>
            <a:pPr algn="ctr" indent="0" marL="0">
              <a:buNone/>
            </a:pPr>
            <a:r>
              <a:rPr lang="en-US" sz="1200" b="1" dirty="0">
                <a:solidFill>
                  <a:schemeClr val="tx2"/>
                </a:solidFill>
              </a:rPr>
              <a:t>3</a:t>
            </a:r>
            <a:endParaRPr lang="en-US" sz="1200" dirty="0"/>
          </a:p>
        </p:txBody>
      </p:sp>
      <p:sp>
        <p:nvSpPr>
          <p:cNvPr id="21" name="Step title 3"/>
          <p:cNvSpPr txBox="1"/>
          <p:nvPr/>
        </p:nvSpPr>
        <p:spPr>
          <a:xfrm>
            <a:off x="3840480" y="2606040"/>
            <a:ext cx="1463040" cy="365760"/>
          </a:xfrm>
          <a:prstGeom prst="rect">
            <a:avLst/>
          </a:prstGeom>
          <a:noFill/>
          <a:ln/>
        </p:spPr>
        <p:txBody>
          <a:bodyPr wrap="square" lIns="0" tIns="0" rIns="0" bIns="0" rtlCol="0" anchor="ctr"/>
          <a:lstStyle/>
          <a:p>
            <a:pPr algn="ctr" indent="0" marL="0">
              <a:buNone/>
            </a:pPr>
            <a:r>
              <a:rPr lang="en-US" sz="1600" b="1" dirty="0">
                <a:solidFill>
                  <a:schemeClr val="tx2"/>
                </a:solidFill>
              </a:rPr>
              <a:t>Content Plan</a:t>
            </a:r>
            <a:endParaRPr lang="en-US" sz="1600" dirty="0"/>
          </a:p>
        </p:txBody>
      </p:sp>
      <p:sp>
        <p:nvSpPr>
          <p:cNvPr id="22" name="Step text 3"/>
          <p:cNvSpPr txBox="1"/>
          <p:nvPr/>
        </p:nvSpPr>
        <p:spPr>
          <a:xfrm>
            <a:off x="3840480" y="2971800"/>
            <a:ext cx="1463040" cy="548640"/>
          </a:xfrm>
          <a:prstGeom prst="rect">
            <a:avLst/>
          </a:prstGeom>
          <a:noFill/>
          <a:ln/>
        </p:spPr>
        <p:txBody>
          <a:bodyPr wrap="square" lIns="0" tIns="0" rIns="0" bIns="0" rtlCol="0" anchor="t"/>
          <a:lstStyle/>
          <a:p>
            <a:pPr algn="ctr" indent="0" marL="0">
              <a:buNone/>
            </a:pPr>
            <a:r>
              <a:rPr lang="en-US" sz="1300" dirty="0">
                <a:solidFill>
                  <a:schemeClr val="tx1"/>
                </a:solidFill>
              </a:rPr>
              <a:t>A plan for the month</a:t>
            </a:r>
            <a:endParaRPr lang="en-US" sz="1300" dirty="0"/>
          </a:p>
        </p:txBody>
      </p:sp>
      <p:sp>
        <p:nvSpPr>
          <p:cNvPr id="23" name="Launch circle"/>
          <p:cNvSpPr/>
          <p:nvPr/>
        </p:nvSpPr>
        <p:spPr>
          <a:xfrm>
            <a:off x="5760720" y="1508760"/>
            <a:ext cx="914400" cy="914400"/>
          </a:xfrm>
          <a:prstGeom prst="ellipse">
            <a:avLst/>
          </a:prstGeom>
          <a:solidFill>
            <a:schemeClr val="accent1"/>
          </a:solidFill>
          <a:ln/>
        </p:spPr>
      </p:sp>
      <p:pic>
        <p:nvPicPr>
          <p:cNvPr id="24" name="Launch icon" descr="Launch">    </p:cNvPr>
          <p:cNvPicPr>
            <a:picLocks noChangeAspect="1"/>
          </p:cNvPicPr>
          <p:nvPr/>
        </p:nvPicPr>
        <p:blipFill>
          <a:blip r:embed="rId4"/>
          <a:stretch>
            <a:fillRect/>
          </a:stretch>
        </p:blipFill>
        <p:spPr>
          <a:xfrm>
            <a:off x="6007608" y="1755648"/>
            <a:ext cx="420624" cy="420624"/>
          </a:xfrm>
          <a:prstGeom prst="rect">
            <a:avLst/>
          </a:prstGeom>
        </p:spPr>
      </p:pic>
      <p:sp>
        <p:nvSpPr>
          <p:cNvPr id="25" name="Step badge 4"/>
          <p:cNvSpPr/>
          <p:nvPr/>
        </p:nvSpPr>
        <p:spPr>
          <a:xfrm>
            <a:off x="6400800" y="1463040"/>
            <a:ext cx="329184" cy="329184"/>
          </a:xfrm>
          <a:prstGeom prst="ellipse">
            <a:avLst/>
          </a:prstGeom>
          <a:solidFill>
            <a:schemeClr val="accent2"/>
          </a:solidFill>
          <a:ln w="25400">
            <a:solidFill>
              <a:srgbClr val="FFFFFF"/>
            </a:solidFill>
            <a:prstDash val="solid"/>
          </a:ln>
        </p:spPr>
      </p:sp>
      <p:sp>
        <p:nvSpPr>
          <p:cNvPr id="26" name="Step number 4"/>
          <p:cNvSpPr txBox="1"/>
          <p:nvPr/>
        </p:nvSpPr>
        <p:spPr>
          <a:xfrm>
            <a:off x="6400800" y="1463040"/>
            <a:ext cx="329184" cy="329184"/>
          </a:xfrm>
          <a:prstGeom prst="rect">
            <a:avLst/>
          </a:prstGeom>
          <a:noFill/>
          <a:ln/>
        </p:spPr>
        <p:txBody>
          <a:bodyPr wrap="square" lIns="0" tIns="0" rIns="0" bIns="0" rtlCol="0" anchor="ctr"/>
          <a:lstStyle/>
          <a:p>
            <a:pPr algn="ctr" indent="0" marL="0">
              <a:buNone/>
            </a:pPr>
            <a:r>
              <a:rPr lang="en-US" sz="1200" b="1" dirty="0">
                <a:solidFill>
                  <a:schemeClr val="tx2"/>
                </a:solidFill>
              </a:rPr>
              <a:t>4</a:t>
            </a:r>
            <a:endParaRPr lang="en-US" sz="1200" dirty="0"/>
          </a:p>
        </p:txBody>
      </p:sp>
      <p:sp>
        <p:nvSpPr>
          <p:cNvPr id="27" name="Step title 4"/>
          <p:cNvSpPr txBox="1"/>
          <p:nvPr/>
        </p:nvSpPr>
        <p:spPr>
          <a:xfrm>
            <a:off x="5486400" y="2606040"/>
            <a:ext cx="1463040" cy="365760"/>
          </a:xfrm>
          <a:prstGeom prst="rect">
            <a:avLst/>
          </a:prstGeom>
          <a:noFill/>
          <a:ln/>
        </p:spPr>
        <p:txBody>
          <a:bodyPr wrap="square" lIns="0" tIns="0" rIns="0" bIns="0" rtlCol="0" anchor="ctr"/>
          <a:lstStyle/>
          <a:p>
            <a:pPr algn="ctr" indent="0" marL="0">
              <a:buNone/>
            </a:pPr>
            <a:r>
              <a:rPr lang="en-US" sz="1600" b="1" dirty="0">
                <a:solidFill>
                  <a:schemeClr val="tx2"/>
                </a:solidFill>
              </a:rPr>
              <a:t>Launch</a:t>
            </a:r>
            <a:endParaRPr lang="en-US" sz="1600" dirty="0"/>
          </a:p>
        </p:txBody>
      </p:sp>
      <p:sp>
        <p:nvSpPr>
          <p:cNvPr id="28" name="Step text 4"/>
          <p:cNvSpPr txBox="1"/>
          <p:nvPr/>
        </p:nvSpPr>
        <p:spPr>
          <a:xfrm>
            <a:off x="5486400" y="2971800"/>
            <a:ext cx="1463040" cy="548640"/>
          </a:xfrm>
          <a:prstGeom prst="rect">
            <a:avLst/>
          </a:prstGeom>
          <a:noFill/>
          <a:ln/>
        </p:spPr>
        <p:txBody>
          <a:bodyPr wrap="square" lIns="0" tIns="0" rIns="0" bIns="0" rtlCol="0" anchor="t"/>
          <a:lstStyle/>
          <a:p>
            <a:pPr algn="ctr" indent="0" marL="0">
              <a:buNone/>
            </a:pPr>
            <a:r>
              <a:rPr lang="en-US" sz="1300" dirty="0">
                <a:solidFill>
                  <a:schemeClr val="tx1"/>
                </a:solidFill>
              </a:rPr>
              <a:t>Publish content and ads</a:t>
            </a:r>
            <a:endParaRPr lang="en-US" sz="1300" dirty="0"/>
          </a:p>
        </p:txBody>
      </p:sp>
      <p:sp>
        <p:nvSpPr>
          <p:cNvPr id="29" name="Measure circle"/>
          <p:cNvSpPr/>
          <p:nvPr/>
        </p:nvSpPr>
        <p:spPr>
          <a:xfrm>
            <a:off x="7406640" y="1508760"/>
            <a:ext cx="914400" cy="914400"/>
          </a:xfrm>
          <a:prstGeom prst="ellipse">
            <a:avLst/>
          </a:prstGeom>
          <a:solidFill>
            <a:schemeClr val="accent4"/>
          </a:solidFill>
          <a:ln/>
        </p:spPr>
      </p:sp>
      <p:pic>
        <p:nvPicPr>
          <p:cNvPr id="30" name="Measure icon" descr="Measure">    </p:cNvPr>
          <p:cNvPicPr>
            <a:picLocks noChangeAspect="1"/>
          </p:cNvPicPr>
          <p:nvPr/>
        </p:nvPicPr>
        <p:blipFill>
          <a:blip r:embed="rId5"/>
          <a:stretch>
            <a:fillRect/>
          </a:stretch>
        </p:blipFill>
        <p:spPr>
          <a:xfrm>
            <a:off x="7653528" y="1755648"/>
            <a:ext cx="420624" cy="420624"/>
          </a:xfrm>
          <a:prstGeom prst="rect">
            <a:avLst/>
          </a:prstGeom>
        </p:spPr>
      </p:pic>
      <p:sp>
        <p:nvSpPr>
          <p:cNvPr id="31" name="Step badge 5"/>
          <p:cNvSpPr/>
          <p:nvPr/>
        </p:nvSpPr>
        <p:spPr>
          <a:xfrm>
            <a:off x="8046720" y="1463040"/>
            <a:ext cx="329184" cy="329184"/>
          </a:xfrm>
          <a:prstGeom prst="ellipse">
            <a:avLst/>
          </a:prstGeom>
          <a:solidFill>
            <a:schemeClr val="accent2"/>
          </a:solidFill>
          <a:ln w="25400">
            <a:solidFill>
              <a:srgbClr val="FFFFFF"/>
            </a:solidFill>
            <a:prstDash val="solid"/>
          </a:ln>
        </p:spPr>
      </p:sp>
      <p:sp>
        <p:nvSpPr>
          <p:cNvPr id="32" name="Step number 5"/>
          <p:cNvSpPr txBox="1"/>
          <p:nvPr/>
        </p:nvSpPr>
        <p:spPr>
          <a:xfrm>
            <a:off x="8046720" y="1463040"/>
            <a:ext cx="329184" cy="329184"/>
          </a:xfrm>
          <a:prstGeom prst="rect">
            <a:avLst/>
          </a:prstGeom>
          <a:noFill/>
          <a:ln/>
        </p:spPr>
        <p:txBody>
          <a:bodyPr wrap="square" lIns="0" tIns="0" rIns="0" bIns="0" rtlCol="0" anchor="ctr"/>
          <a:lstStyle/>
          <a:p>
            <a:pPr algn="ctr" indent="0" marL="0">
              <a:buNone/>
            </a:pPr>
            <a:r>
              <a:rPr lang="en-US" sz="1200" b="1" dirty="0">
                <a:solidFill>
                  <a:schemeClr val="tx2"/>
                </a:solidFill>
              </a:rPr>
              <a:t>5</a:t>
            </a:r>
            <a:endParaRPr lang="en-US" sz="1200" dirty="0"/>
          </a:p>
        </p:txBody>
      </p:sp>
      <p:sp>
        <p:nvSpPr>
          <p:cNvPr id="33" name="Step title 5"/>
          <p:cNvSpPr txBox="1"/>
          <p:nvPr/>
        </p:nvSpPr>
        <p:spPr>
          <a:xfrm>
            <a:off x="7132320" y="2606040"/>
            <a:ext cx="1463040" cy="365760"/>
          </a:xfrm>
          <a:prstGeom prst="rect">
            <a:avLst/>
          </a:prstGeom>
          <a:noFill/>
          <a:ln/>
        </p:spPr>
        <p:txBody>
          <a:bodyPr wrap="square" lIns="0" tIns="0" rIns="0" bIns="0" rtlCol="0" anchor="ctr"/>
          <a:lstStyle/>
          <a:p>
            <a:pPr algn="ctr" indent="0" marL="0">
              <a:buNone/>
            </a:pPr>
            <a:r>
              <a:rPr lang="en-US" sz="1600" b="1" dirty="0">
                <a:solidFill>
                  <a:schemeClr val="tx2"/>
                </a:solidFill>
              </a:rPr>
              <a:t>Measure</a:t>
            </a:r>
            <a:endParaRPr lang="en-US" sz="1600" dirty="0"/>
          </a:p>
        </p:txBody>
      </p:sp>
      <p:sp>
        <p:nvSpPr>
          <p:cNvPr id="34" name="Step text 5"/>
          <p:cNvSpPr txBox="1"/>
          <p:nvPr/>
        </p:nvSpPr>
        <p:spPr>
          <a:xfrm>
            <a:off x="7132320" y="2971800"/>
            <a:ext cx="1463040" cy="548640"/>
          </a:xfrm>
          <a:prstGeom prst="rect">
            <a:avLst/>
          </a:prstGeom>
          <a:noFill/>
          <a:ln/>
        </p:spPr>
        <p:txBody>
          <a:bodyPr wrap="square" lIns="0" tIns="0" rIns="0" bIns="0" rtlCol="0" anchor="t"/>
          <a:lstStyle/>
          <a:p>
            <a:pPr algn="ctr" indent="0" marL="0">
              <a:buNone/>
            </a:pPr>
            <a:r>
              <a:rPr lang="en-US" sz="1300" dirty="0">
                <a:solidFill>
                  <a:schemeClr val="tx1"/>
                </a:solidFill>
              </a:rPr>
              <a:t>Track results and improve</a:t>
            </a:r>
            <a:endParaRPr lang="en-US" sz="1300" dirty="0"/>
          </a:p>
        </p:txBody>
      </p:sp>
      <p:sp>
        <p:nvSpPr>
          <p:cNvPr id="35" name="Repeat note box"/>
          <p:cNvSpPr/>
          <p:nvPr/>
        </p:nvSpPr>
        <p:spPr>
          <a:xfrm>
            <a:off x="2103120" y="3886200"/>
            <a:ext cx="4937760" cy="548640"/>
          </a:xfrm>
          <a:prstGeom prst="roundRect">
            <a:avLst>
              <a:gd name="adj" fmla="val 50000"/>
            </a:avLst>
          </a:prstGeom>
          <a:solidFill>
            <a:schemeClr val="bg2"/>
          </a:solidFill>
          <a:ln/>
        </p:spPr>
      </p:sp>
      <p:pic>
        <p:nvPicPr>
          <p:cNvPr id="36" name="Repeat icon" descr="preencoded.png">    </p:cNvPr>
          <p:cNvPicPr>
            <a:picLocks noChangeAspect="1"/>
          </p:cNvPicPr>
          <p:nvPr/>
        </p:nvPicPr>
        <p:blipFill>
          <a:blip r:embed="rId6"/>
          <a:stretch>
            <a:fillRect/>
          </a:stretch>
        </p:blipFill>
        <p:spPr>
          <a:xfrm>
            <a:off x="2331720" y="4023360"/>
            <a:ext cx="274320" cy="274320"/>
          </a:xfrm>
          <a:prstGeom prst="rect">
            <a:avLst/>
          </a:prstGeom>
        </p:spPr>
      </p:pic>
      <p:sp>
        <p:nvSpPr>
          <p:cNvPr id="37" name="Repeat note"/>
          <p:cNvSpPr txBox="1"/>
          <p:nvPr/>
        </p:nvSpPr>
        <p:spPr>
          <a:xfrm>
            <a:off x="2743200" y="3886200"/>
            <a:ext cx="4206240" cy="548640"/>
          </a:xfrm>
          <a:prstGeom prst="rect">
            <a:avLst/>
          </a:prstGeom>
          <a:noFill/>
          <a:ln/>
        </p:spPr>
        <p:txBody>
          <a:bodyPr wrap="square" lIns="0" tIns="0" rIns="0" bIns="0" rtlCol="0" anchor="ctr"/>
          <a:lstStyle/>
          <a:p>
            <a:pPr indent="0" marL="0">
              <a:buNone/>
            </a:pPr>
            <a:r>
              <a:rPr lang="en-US" sz="1400" dirty="0">
                <a:solidFill>
                  <a:schemeClr val="tx2"/>
                </a:solidFill>
              </a:rPr>
              <a:t>What we learn in step 5 improves next month's plan</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05  BUDGET</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Monthly Budget</a:t>
            </a:r>
            <a:endParaRPr lang="en-US" sz="3200" dirty="0"/>
          </a:p>
        </p:txBody>
      </p:sp>
      <p:graphicFrame>
        <p:nvGraphicFramePr>
          <p:cNvPr id="4" name="Budget doughnut" descr=""/>
          <p:cNvGraphicFramePr/>
          <p:nvPr/>
        </p:nvGraphicFramePr>
        <p:xfrm>
          <a:off x="548640" y="1280160"/>
          <a:ext cx="3383280" cy="3383280"/>
        </p:xfrm>
        <a:graphic xmlns:a="http://schemas.openxmlformats.org/drawingml/2006/main">
          <a:graphicData uri="http://schemas.openxmlformats.org/drawingml/2006/chart">
            <c:chart xmlns:c="http://schemas.openxmlformats.org/drawingml/2006/chart" r:id="rId1"/>
          </a:graphicData>
        </a:graphic>
      </p:graphicFrame>
      <p:sp>
        <p:nvSpPr>
          <p:cNvPr id="5" name="Budget total center"/>
          <p:cNvSpPr txBox="1"/>
          <p:nvPr/>
        </p:nvSpPr>
        <p:spPr>
          <a:xfrm>
            <a:off x="1234440" y="2514600"/>
            <a:ext cx="2011680" cy="914400"/>
          </a:xfrm>
          <a:prstGeom prst="rect">
            <a:avLst/>
          </a:prstGeom>
          <a:noFill/>
          <a:ln/>
        </p:spPr>
        <p:txBody>
          <a:bodyPr wrap="square" lIns="0" tIns="0" rIns="0" bIns="0" rtlCol="0" anchor="ctr"/>
          <a:lstStyle/>
          <a:p>
            <a:pPr algn="ctr" indent="0" marL="0">
              <a:buNone/>
            </a:pPr>
            <a:r>
              <a:rPr lang="en-US" sz="3000" b="1" dirty="0">
                <a:solidFill>
                  <a:schemeClr val="tx2"/>
                </a:solidFill>
                <a:latin typeface="Cambria" pitchFamily="34" charset="0"/>
                <a:ea typeface="Cambria" pitchFamily="34" charset="-122"/>
                <a:cs typeface="Cambria" pitchFamily="34" charset="-120"/>
              </a:rPr>
              <a:t>13,000</a:t>
            </a:r>
            <a:endParaRPr lang="en-US" sz="3000" dirty="0"/>
          </a:p>
          <a:p>
            <a:pPr algn="ctr" indent="0" marL="0">
              <a:buNone/>
            </a:pPr>
            <a:r>
              <a:rPr lang="en-US" sz="1300" dirty="0">
                <a:solidFill>
                  <a:schemeClr val="accent5"/>
                </a:solidFill>
              </a:rPr>
              <a:t>EGP / month</a:t>
            </a:r>
            <a:endParaRPr lang="en-US" sz="3000" dirty="0"/>
          </a:p>
        </p:txBody>
      </p:sp>
      <p:sp>
        <p:nvSpPr>
          <p:cNvPr id="6" name="Legend dot 1"/>
          <p:cNvSpPr/>
          <p:nvPr/>
        </p:nvSpPr>
        <p:spPr>
          <a:xfrm>
            <a:off x="4480560" y="1591056"/>
            <a:ext cx="219456" cy="219456"/>
          </a:xfrm>
          <a:prstGeom prst="ellipse">
            <a:avLst/>
          </a:prstGeom>
          <a:solidFill>
            <a:srgbClr val="2E1F17"/>
          </a:solidFill>
          <a:ln/>
        </p:spPr>
      </p:sp>
      <p:sp>
        <p:nvSpPr>
          <p:cNvPr id="7" name="Budget item 1"/>
          <p:cNvSpPr txBox="1"/>
          <p:nvPr/>
        </p:nvSpPr>
        <p:spPr>
          <a:xfrm>
            <a:off x="4846320" y="1463040"/>
            <a:ext cx="2651760" cy="475488"/>
          </a:xfrm>
          <a:prstGeom prst="rect">
            <a:avLst/>
          </a:prstGeom>
          <a:noFill/>
          <a:ln/>
        </p:spPr>
        <p:txBody>
          <a:bodyPr wrap="square" lIns="0" tIns="0" rIns="0" bIns="0" rtlCol="0" anchor="ctr"/>
          <a:lstStyle/>
          <a:p>
            <a:pPr indent="0" marL="0">
              <a:buNone/>
            </a:pPr>
            <a:r>
              <a:rPr lang="en-US" sz="1500" dirty="0">
                <a:solidFill>
                  <a:schemeClr val="tx1"/>
                </a:solidFill>
              </a:rPr>
              <a:t>Social media management</a:t>
            </a:r>
            <a:endParaRPr lang="en-US" sz="1500" dirty="0"/>
          </a:p>
        </p:txBody>
      </p:sp>
      <p:sp>
        <p:nvSpPr>
          <p:cNvPr id="8" name="Budget amount 1"/>
          <p:cNvSpPr txBox="1"/>
          <p:nvPr/>
        </p:nvSpPr>
        <p:spPr>
          <a:xfrm>
            <a:off x="7223760" y="1463040"/>
            <a:ext cx="1463040" cy="475488"/>
          </a:xfrm>
          <a:prstGeom prst="rect">
            <a:avLst/>
          </a:prstGeom>
          <a:noFill/>
          <a:ln/>
        </p:spPr>
        <p:txBody>
          <a:bodyPr wrap="square" lIns="0" tIns="0" rIns="0" bIns="0" rtlCol="0" anchor="ctr"/>
          <a:lstStyle/>
          <a:p>
            <a:pPr algn="r" indent="0" marL="0">
              <a:buNone/>
            </a:pPr>
            <a:r>
              <a:rPr lang="en-US" sz="1500" b="1" dirty="0">
                <a:solidFill>
                  <a:schemeClr val="tx2"/>
                </a:solidFill>
              </a:rPr>
              <a:t>5,000 EGP</a:t>
            </a:r>
            <a:endParaRPr lang="en-US" sz="1500" dirty="0"/>
          </a:p>
        </p:txBody>
      </p:sp>
      <p:sp>
        <p:nvSpPr>
          <p:cNvPr id="9" name="Legend dot 2"/>
          <p:cNvSpPr/>
          <p:nvPr/>
        </p:nvSpPr>
        <p:spPr>
          <a:xfrm>
            <a:off x="4480560" y="2157984"/>
            <a:ext cx="219456" cy="219456"/>
          </a:xfrm>
          <a:prstGeom prst="ellipse">
            <a:avLst/>
          </a:prstGeom>
          <a:solidFill>
            <a:srgbClr val="C27A3A"/>
          </a:solidFill>
          <a:ln/>
        </p:spPr>
      </p:sp>
      <p:sp>
        <p:nvSpPr>
          <p:cNvPr id="10" name="Budget item 2"/>
          <p:cNvSpPr txBox="1"/>
          <p:nvPr/>
        </p:nvSpPr>
        <p:spPr>
          <a:xfrm>
            <a:off x="4846320" y="2029968"/>
            <a:ext cx="2651760" cy="475488"/>
          </a:xfrm>
          <a:prstGeom prst="rect">
            <a:avLst/>
          </a:prstGeom>
          <a:noFill/>
          <a:ln/>
        </p:spPr>
        <p:txBody>
          <a:bodyPr wrap="square" lIns="0" tIns="0" rIns="0" bIns="0" rtlCol="0" anchor="ctr"/>
          <a:lstStyle/>
          <a:p>
            <a:pPr indent="0" marL="0">
              <a:buNone/>
            </a:pPr>
            <a:r>
              <a:rPr lang="en-US" sz="1500" dirty="0">
                <a:solidFill>
                  <a:schemeClr val="tx1"/>
                </a:solidFill>
              </a:rPr>
              <a:t>Paid advertising</a:t>
            </a:r>
            <a:endParaRPr lang="en-US" sz="1500" dirty="0"/>
          </a:p>
        </p:txBody>
      </p:sp>
      <p:sp>
        <p:nvSpPr>
          <p:cNvPr id="11" name="Budget amount 2"/>
          <p:cNvSpPr txBox="1"/>
          <p:nvPr/>
        </p:nvSpPr>
        <p:spPr>
          <a:xfrm>
            <a:off x="7223760" y="2029968"/>
            <a:ext cx="1463040" cy="475488"/>
          </a:xfrm>
          <a:prstGeom prst="rect">
            <a:avLst/>
          </a:prstGeom>
          <a:noFill/>
          <a:ln/>
        </p:spPr>
        <p:txBody>
          <a:bodyPr wrap="square" lIns="0" tIns="0" rIns="0" bIns="0" rtlCol="0" anchor="ctr"/>
          <a:lstStyle/>
          <a:p>
            <a:pPr algn="r" indent="0" marL="0">
              <a:buNone/>
            </a:pPr>
            <a:r>
              <a:rPr lang="en-US" sz="1500" b="1" dirty="0">
                <a:solidFill>
                  <a:schemeClr val="tx2"/>
                </a:solidFill>
              </a:rPr>
              <a:t>4,000 EGP</a:t>
            </a:r>
            <a:endParaRPr lang="en-US" sz="1500" dirty="0"/>
          </a:p>
        </p:txBody>
      </p:sp>
      <p:sp>
        <p:nvSpPr>
          <p:cNvPr id="12" name="Legend dot 3"/>
          <p:cNvSpPr/>
          <p:nvPr/>
        </p:nvSpPr>
        <p:spPr>
          <a:xfrm>
            <a:off x="4480560" y="2724912"/>
            <a:ext cx="219456" cy="219456"/>
          </a:xfrm>
          <a:prstGeom prst="ellipse">
            <a:avLst/>
          </a:prstGeom>
          <a:solidFill>
            <a:srgbClr val="5B7F5E"/>
          </a:solidFill>
          <a:ln/>
        </p:spPr>
      </p:sp>
      <p:sp>
        <p:nvSpPr>
          <p:cNvPr id="13" name="Budget item 3"/>
          <p:cNvSpPr txBox="1"/>
          <p:nvPr/>
        </p:nvSpPr>
        <p:spPr>
          <a:xfrm>
            <a:off x="4846320" y="2596896"/>
            <a:ext cx="2651760" cy="475488"/>
          </a:xfrm>
          <a:prstGeom prst="rect">
            <a:avLst/>
          </a:prstGeom>
          <a:noFill/>
          <a:ln/>
        </p:spPr>
        <p:txBody>
          <a:bodyPr wrap="square" lIns="0" tIns="0" rIns="0" bIns="0" rtlCol="0" anchor="ctr"/>
          <a:lstStyle/>
          <a:p>
            <a:pPr indent="0" marL="0">
              <a:buNone/>
            </a:pPr>
            <a:r>
              <a:rPr lang="en-US" sz="1500" dirty="0">
                <a:solidFill>
                  <a:schemeClr val="tx1"/>
                </a:solidFill>
              </a:rPr>
              <a:t>Content creation</a:t>
            </a:r>
            <a:endParaRPr lang="en-US" sz="1500" dirty="0"/>
          </a:p>
        </p:txBody>
      </p:sp>
      <p:sp>
        <p:nvSpPr>
          <p:cNvPr id="14" name="Budget amount 3"/>
          <p:cNvSpPr txBox="1"/>
          <p:nvPr/>
        </p:nvSpPr>
        <p:spPr>
          <a:xfrm>
            <a:off x="7223760" y="2596896"/>
            <a:ext cx="1463040" cy="475488"/>
          </a:xfrm>
          <a:prstGeom prst="rect">
            <a:avLst/>
          </a:prstGeom>
          <a:noFill/>
          <a:ln/>
        </p:spPr>
        <p:txBody>
          <a:bodyPr wrap="square" lIns="0" tIns="0" rIns="0" bIns="0" rtlCol="0" anchor="ctr"/>
          <a:lstStyle/>
          <a:p>
            <a:pPr algn="r" indent="0" marL="0">
              <a:buNone/>
            </a:pPr>
            <a:r>
              <a:rPr lang="en-US" sz="1500" b="1" dirty="0">
                <a:solidFill>
                  <a:schemeClr val="tx2"/>
                </a:solidFill>
              </a:rPr>
              <a:t>3,000 EGP</a:t>
            </a:r>
            <a:endParaRPr lang="en-US" sz="1500" dirty="0"/>
          </a:p>
        </p:txBody>
      </p:sp>
      <p:sp>
        <p:nvSpPr>
          <p:cNvPr id="15" name="Legend dot 4"/>
          <p:cNvSpPr/>
          <p:nvPr/>
        </p:nvSpPr>
        <p:spPr>
          <a:xfrm>
            <a:off x="4480560" y="3291840"/>
            <a:ext cx="219456" cy="219456"/>
          </a:xfrm>
          <a:prstGeom prst="ellipse">
            <a:avLst/>
          </a:prstGeom>
          <a:solidFill>
            <a:srgbClr val="E8C9A6"/>
          </a:solidFill>
          <a:ln/>
        </p:spPr>
      </p:sp>
      <p:sp>
        <p:nvSpPr>
          <p:cNvPr id="16" name="Budget item 4"/>
          <p:cNvSpPr txBox="1"/>
          <p:nvPr/>
        </p:nvSpPr>
        <p:spPr>
          <a:xfrm>
            <a:off x="4846320" y="3163824"/>
            <a:ext cx="2651760" cy="475488"/>
          </a:xfrm>
          <a:prstGeom prst="rect">
            <a:avLst/>
          </a:prstGeom>
          <a:noFill/>
          <a:ln/>
        </p:spPr>
        <p:txBody>
          <a:bodyPr wrap="square" lIns="0" tIns="0" rIns="0" bIns="0" rtlCol="0" anchor="ctr"/>
          <a:lstStyle/>
          <a:p>
            <a:pPr indent="0" marL="0">
              <a:buNone/>
            </a:pPr>
            <a:r>
              <a:rPr lang="en-US" sz="1500" dirty="0">
                <a:solidFill>
                  <a:schemeClr val="tx1"/>
                </a:solidFill>
              </a:rPr>
              <a:t>Reporting and optimization</a:t>
            </a:r>
            <a:endParaRPr lang="en-US" sz="1500" dirty="0"/>
          </a:p>
        </p:txBody>
      </p:sp>
      <p:sp>
        <p:nvSpPr>
          <p:cNvPr id="17" name="Budget amount 4"/>
          <p:cNvSpPr txBox="1"/>
          <p:nvPr/>
        </p:nvSpPr>
        <p:spPr>
          <a:xfrm>
            <a:off x="7223760" y="3163824"/>
            <a:ext cx="1463040" cy="475488"/>
          </a:xfrm>
          <a:prstGeom prst="rect">
            <a:avLst/>
          </a:prstGeom>
          <a:noFill/>
          <a:ln/>
        </p:spPr>
        <p:txBody>
          <a:bodyPr wrap="square" lIns="0" tIns="0" rIns="0" bIns="0" rtlCol="0" anchor="ctr"/>
          <a:lstStyle/>
          <a:p>
            <a:pPr algn="r" indent="0" marL="0">
              <a:buNone/>
            </a:pPr>
            <a:r>
              <a:rPr lang="en-US" sz="1500" b="1" dirty="0">
                <a:solidFill>
                  <a:schemeClr val="tx2"/>
                </a:solidFill>
              </a:rPr>
              <a:t>1,000 EGP</a:t>
            </a:r>
            <a:endParaRPr lang="en-US" sz="1500" dirty="0"/>
          </a:p>
        </p:txBody>
      </p:sp>
      <p:sp>
        <p:nvSpPr>
          <p:cNvPr id="18" name="Total box"/>
          <p:cNvSpPr/>
          <p:nvPr/>
        </p:nvSpPr>
        <p:spPr>
          <a:xfrm>
            <a:off x="4389120" y="3767328"/>
            <a:ext cx="4297680" cy="502920"/>
          </a:xfrm>
          <a:prstGeom prst="roundRect">
            <a:avLst>
              <a:gd name="adj" fmla="val 18182"/>
            </a:avLst>
          </a:prstGeom>
          <a:solidFill>
            <a:schemeClr val="tx2"/>
          </a:solidFill>
          <a:ln/>
        </p:spPr>
      </p:sp>
      <p:sp>
        <p:nvSpPr>
          <p:cNvPr id="19" name="Total label"/>
          <p:cNvSpPr txBox="1"/>
          <p:nvPr/>
        </p:nvSpPr>
        <p:spPr>
          <a:xfrm>
            <a:off x="4572000" y="3767328"/>
            <a:ext cx="2560320" cy="502920"/>
          </a:xfrm>
          <a:prstGeom prst="rect">
            <a:avLst/>
          </a:prstGeom>
          <a:noFill/>
          <a:ln/>
        </p:spPr>
        <p:txBody>
          <a:bodyPr wrap="square" lIns="0" tIns="0" rIns="0" bIns="0" rtlCol="0" anchor="ctr"/>
          <a:lstStyle/>
          <a:p>
            <a:pPr indent="0" marL="0">
              <a:buNone/>
            </a:pPr>
            <a:r>
              <a:rPr lang="en-US" sz="1500" b="1" dirty="0">
                <a:solidFill>
                  <a:schemeClr val="bg1"/>
                </a:solidFill>
              </a:rPr>
              <a:t>Total</a:t>
            </a:r>
            <a:endParaRPr lang="en-US" sz="1500" dirty="0"/>
          </a:p>
        </p:txBody>
      </p:sp>
      <p:sp>
        <p:nvSpPr>
          <p:cNvPr id="20" name="Total value"/>
          <p:cNvSpPr txBox="1"/>
          <p:nvPr/>
        </p:nvSpPr>
        <p:spPr>
          <a:xfrm>
            <a:off x="6949440" y="3767328"/>
            <a:ext cx="1600200" cy="502920"/>
          </a:xfrm>
          <a:prstGeom prst="rect">
            <a:avLst/>
          </a:prstGeom>
          <a:noFill/>
          <a:ln/>
        </p:spPr>
        <p:txBody>
          <a:bodyPr wrap="square" lIns="0" tIns="0" rIns="0" bIns="0" rtlCol="0" anchor="ctr"/>
          <a:lstStyle/>
          <a:p>
            <a:pPr algn="r" indent="0" marL="0">
              <a:buNone/>
            </a:pPr>
            <a:r>
              <a:rPr lang="en-US" sz="1500" b="1" dirty="0">
                <a:solidFill>
                  <a:schemeClr val="accent2"/>
                </a:solidFill>
              </a:rPr>
              <a:t>13,000 EGP</a:t>
            </a:r>
            <a:endParaRPr lang="en-US" sz="1500" dirty="0"/>
          </a:p>
        </p:txBody>
      </p:sp>
      <p:sp>
        <p:nvSpPr>
          <p:cNvPr id="21" name="Budget footnote"/>
          <p:cNvSpPr txBox="1"/>
          <p:nvPr/>
        </p:nvSpPr>
        <p:spPr>
          <a:xfrm>
            <a:off x="4389120" y="4343400"/>
            <a:ext cx="4297680" cy="274320"/>
          </a:xfrm>
          <a:prstGeom prst="rect">
            <a:avLst/>
          </a:prstGeom>
          <a:noFill/>
          <a:ln/>
        </p:spPr>
        <p:txBody>
          <a:bodyPr wrap="square" lIns="0" tIns="0" rIns="0" bIns="0" rtlCol="0" anchor="t"/>
          <a:lstStyle/>
          <a:p>
            <a:pPr indent="0" marL="0">
              <a:buNone/>
            </a:pPr>
            <a:r>
              <a:rPr lang="en-US" sz="1000" dirty="0">
                <a:solidFill>
                  <a:schemeClr val="accent5"/>
                </a:solidFill>
              </a:rPr>
              <a:t>This is a proposed budget for the presentation.</a:t>
            </a:r>
            <a:endParaRPr lang="en-US" sz="10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06  TIMELINE</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The First Month</a:t>
            </a:r>
            <a:endParaRPr lang="en-US" sz="3200" dirty="0"/>
          </a:p>
        </p:txBody>
      </p:sp>
      <p:sp>
        <p:nvSpPr>
          <p:cNvPr id="4" name="Timeline line"/>
          <p:cNvSpPr/>
          <p:nvPr/>
        </p:nvSpPr>
        <p:spPr>
          <a:xfrm>
            <a:off x="1485900" y="2103120"/>
            <a:ext cx="6172200" cy="0"/>
          </a:xfrm>
          <a:prstGeom prst="line">
            <a:avLst/>
          </a:prstGeom>
          <a:noFill/>
          <a:ln w="38100">
            <a:solidFill>
              <a:srgbClr val="E8C9A6"/>
            </a:solidFill>
            <a:prstDash val="dash"/>
          </a:ln>
        </p:spPr>
      </p:sp>
      <p:sp>
        <p:nvSpPr>
          <p:cNvPr id="5" name="Week pill 1"/>
          <p:cNvSpPr/>
          <p:nvPr/>
        </p:nvSpPr>
        <p:spPr>
          <a:xfrm>
            <a:off x="982980" y="1298448"/>
            <a:ext cx="1005840" cy="310896"/>
          </a:xfrm>
          <a:prstGeom prst="roundRect">
            <a:avLst>
              <a:gd name="adj" fmla="val 50000"/>
            </a:avLst>
          </a:prstGeom>
          <a:solidFill>
            <a:schemeClr val="accent4"/>
          </a:solidFill>
          <a:ln/>
        </p:spPr>
      </p:sp>
      <p:sp>
        <p:nvSpPr>
          <p:cNvPr id="6" name="Week label 1"/>
          <p:cNvSpPr txBox="1"/>
          <p:nvPr/>
        </p:nvSpPr>
        <p:spPr>
          <a:xfrm>
            <a:off x="982980" y="1298448"/>
            <a:ext cx="1005840" cy="310896"/>
          </a:xfrm>
          <a:prstGeom prst="rect">
            <a:avLst/>
          </a:prstGeom>
          <a:noFill/>
          <a:ln/>
        </p:spPr>
        <p:txBody>
          <a:bodyPr wrap="square" lIns="0" tIns="0" rIns="0" bIns="0" rtlCol="0" anchor="ctr"/>
          <a:lstStyle/>
          <a:p>
            <a:pPr algn="ctr" indent="0" marL="0">
              <a:buNone/>
            </a:pPr>
            <a:r>
              <a:rPr lang="en-US" sz="1100" b="1" spc="100" kern="0" dirty="0">
                <a:solidFill>
                  <a:schemeClr val="bg1"/>
                </a:solidFill>
              </a:rPr>
              <a:t>WEEK 1</a:t>
            </a:r>
            <a:endParaRPr lang="en-US" sz="1100" dirty="0"/>
          </a:p>
        </p:txBody>
      </p:sp>
      <p:sp>
        <p:nvSpPr>
          <p:cNvPr id="7" name="Research and planning circle"/>
          <p:cNvSpPr/>
          <p:nvPr/>
        </p:nvSpPr>
        <p:spPr>
          <a:xfrm>
            <a:off x="1101852" y="1719072"/>
            <a:ext cx="768096" cy="768096"/>
          </a:xfrm>
          <a:prstGeom prst="ellipse">
            <a:avLst/>
          </a:prstGeom>
          <a:solidFill>
            <a:schemeClr val="tx2"/>
          </a:solidFill>
          <a:ln/>
        </p:spPr>
      </p:sp>
      <p:pic>
        <p:nvPicPr>
          <p:cNvPr id="8" name="Research and planning icon" descr="Research and planning">    </p:cNvPr>
          <p:cNvPicPr>
            <a:picLocks noChangeAspect="1"/>
          </p:cNvPicPr>
          <p:nvPr/>
        </p:nvPicPr>
        <p:blipFill>
          <a:blip r:embed="rId1"/>
          <a:stretch>
            <a:fillRect/>
          </a:stretch>
        </p:blipFill>
        <p:spPr>
          <a:xfrm>
            <a:off x="1309238" y="1926458"/>
            <a:ext cx="353324" cy="353324"/>
          </a:xfrm>
          <a:prstGeom prst="rect">
            <a:avLst/>
          </a:prstGeom>
        </p:spPr>
      </p:pic>
      <p:sp>
        <p:nvSpPr>
          <p:cNvPr id="9" name="Week pill 2"/>
          <p:cNvSpPr/>
          <p:nvPr/>
        </p:nvSpPr>
        <p:spPr>
          <a:xfrm>
            <a:off x="3040380" y="1298448"/>
            <a:ext cx="1005840" cy="310896"/>
          </a:xfrm>
          <a:prstGeom prst="roundRect">
            <a:avLst>
              <a:gd name="adj" fmla="val 50000"/>
            </a:avLst>
          </a:prstGeom>
          <a:solidFill>
            <a:schemeClr val="accent4"/>
          </a:solidFill>
          <a:ln/>
        </p:spPr>
      </p:sp>
      <p:sp>
        <p:nvSpPr>
          <p:cNvPr id="10" name="Week label 2"/>
          <p:cNvSpPr txBox="1"/>
          <p:nvPr/>
        </p:nvSpPr>
        <p:spPr>
          <a:xfrm>
            <a:off x="3040380" y="1298448"/>
            <a:ext cx="1005840" cy="310896"/>
          </a:xfrm>
          <a:prstGeom prst="rect">
            <a:avLst/>
          </a:prstGeom>
          <a:noFill/>
          <a:ln/>
        </p:spPr>
        <p:txBody>
          <a:bodyPr wrap="square" lIns="0" tIns="0" rIns="0" bIns="0" rtlCol="0" anchor="ctr"/>
          <a:lstStyle/>
          <a:p>
            <a:pPr algn="ctr" indent="0" marL="0">
              <a:buNone/>
            </a:pPr>
            <a:r>
              <a:rPr lang="en-US" sz="1100" b="1" spc="100" kern="0" dirty="0">
                <a:solidFill>
                  <a:schemeClr val="bg1"/>
                </a:solidFill>
              </a:rPr>
              <a:t>WEEK 2</a:t>
            </a:r>
            <a:endParaRPr lang="en-US" sz="1100" dirty="0"/>
          </a:p>
        </p:txBody>
      </p:sp>
      <p:sp>
        <p:nvSpPr>
          <p:cNvPr id="11" name="Content creation circle"/>
          <p:cNvSpPr/>
          <p:nvPr/>
        </p:nvSpPr>
        <p:spPr>
          <a:xfrm>
            <a:off x="3159252" y="1719072"/>
            <a:ext cx="768096" cy="768096"/>
          </a:xfrm>
          <a:prstGeom prst="ellipse">
            <a:avLst/>
          </a:prstGeom>
          <a:solidFill>
            <a:schemeClr val="tx2"/>
          </a:solidFill>
          <a:ln/>
        </p:spPr>
      </p:sp>
      <p:pic>
        <p:nvPicPr>
          <p:cNvPr id="12" name="Content creation icon" descr="Content creation">    </p:cNvPr>
          <p:cNvPicPr>
            <a:picLocks noChangeAspect="1"/>
          </p:cNvPicPr>
          <p:nvPr/>
        </p:nvPicPr>
        <p:blipFill>
          <a:blip r:embed="rId2"/>
          <a:stretch>
            <a:fillRect/>
          </a:stretch>
        </p:blipFill>
        <p:spPr>
          <a:xfrm>
            <a:off x="3366638" y="1926458"/>
            <a:ext cx="353324" cy="353324"/>
          </a:xfrm>
          <a:prstGeom prst="rect">
            <a:avLst/>
          </a:prstGeom>
        </p:spPr>
      </p:pic>
      <p:sp>
        <p:nvSpPr>
          <p:cNvPr id="13" name="Week pill 3"/>
          <p:cNvSpPr/>
          <p:nvPr/>
        </p:nvSpPr>
        <p:spPr>
          <a:xfrm>
            <a:off x="5097780" y="1298448"/>
            <a:ext cx="1005840" cy="310896"/>
          </a:xfrm>
          <a:prstGeom prst="roundRect">
            <a:avLst>
              <a:gd name="adj" fmla="val 50000"/>
            </a:avLst>
          </a:prstGeom>
          <a:solidFill>
            <a:schemeClr val="accent4"/>
          </a:solidFill>
          <a:ln/>
        </p:spPr>
      </p:sp>
      <p:sp>
        <p:nvSpPr>
          <p:cNvPr id="14" name="Week label 3"/>
          <p:cNvSpPr txBox="1"/>
          <p:nvPr/>
        </p:nvSpPr>
        <p:spPr>
          <a:xfrm>
            <a:off x="5097780" y="1298448"/>
            <a:ext cx="1005840" cy="310896"/>
          </a:xfrm>
          <a:prstGeom prst="rect">
            <a:avLst/>
          </a:prstGeom>
          <a:noFill/>
          <a:ln/>
        </p:spPr>
        <p:txBody>
          <a:bodyPr wrap="square" lIns="0" tIns="0" rIns="0" bIns="0" rtlCol="0" anchor="ctr"/>
          <a:lstStyle/>
          <a:p>
            <a:pPr algn="ctr" indent="0" marL="0">
              <a:buNone/>
            </a:pPr>
            <a:r>
              <a:rPr lang="en-US" sz="1100" b="1" spc="100" kern="0" dirty="0">
                <a:solidFill>
                  <a:schemeClr val="bg1"/>
                </a:solidFill>
              </a:rPr>
              <a:t>WEEK 3</a:t>
            </a:r>
            <a:endParaRPr lang="en-US" sz="1100" dirty="0"/>
          </a:p>
        </p:txBody>
      </p:sp>
      <p:sp>
        <p:nvSpPr>
          <p:cNvPr id="15" name="Launch marketing campaigns circle"/>
          <p:cNvSpPr/>
          <p:nvPr/>
        </p:nvSpPr>
        <p:spPr>
          <a:xfrm>
            <a:off x="5216652" y="1719072"/>
            <a:ext cx="768096" cy="768096"/>
          </a:xfrm>
          <a:prstGeom prst="ellipse">
            <a:avLst/>
          </a:prstGeom>
          <a:solidFill>
            <a:schemeClr val="accent1"/>
          </a:solidFill>
          <a:ln/>
        </p:spPr>
      </p:sp>
      <p:pic>
        <p:nvPicPr>
          <p:cNvPr id="16" name="Launch marketing campaigns icon" descr="Launch marketing campaigns">    </p:cNvPr>
          <p:cNvPicPr>
            <a:picLocks noChangeAspect="1"/>
          </p:cNvPicPr>
          <p:nvPr/>
        </p:nvPicPr>
        <p:blipFill>
          <a:blip r:embed="rId3"/>
          <a:stretch>
            <a:fillRect/>
          </a:stretch>
        </p:blipFill>
        <p:spPr>
          <a:xfrm>
            <a:off x="5424038" y="1926458"/>
            <a:ext cx="353324" cy="353324"/>
          </a:xfrm>
          <a:prstGeom prst="rect">
            <a:avLst/>
          </a:prstGeom>
        </p:spPr>
      </p:pic>
      <p:sp>
        <p:nvSpPr>
          <p:cNvPr id="17" name="Week pill 4"/>
          <p:cNvSpPr/>
          <p:nvPr/>
        </p:nvSpPr>
        <p:spPr>
          <a:xfrm>
            <a:off x="7155180" y="1298448"/>
            <a:ext cx="1005840" cy="310896"/>
          </a:xfrm>
          <a:prstGeom prst="roundRect">
            <a:avLst>
              <a:gd name="adj" fmla="val 50000"/>
            </a:avLst>
          </a:prstGeom>
          <a:solidFill>
            <a:schemeClr val="accent4"/>
          </a:solidFill>
          <a:ln/>
        </p:spPr>
      </p:sp>
      <p:sp>
        <p:nvSpPr>
          <p:cNvPr id="18" name="Week label 4"/>
          <p:cNvSpPr txBox="1"/>
          <p:nvPr/>
        </p:nvSpPr>
        <p:spPr>
          <a:xfrm>
            <a:off x="7155180" y="1298448"/>
            <a:ext cx="1005840" cy="310896"/>
          </a:xfrm>
          <a:prstGeom prst="rect">
            <a:avLst/>
          </a:prstGeom>
          <a:noFill/>
          <a:ln/>
        </p:spPr>
        <p:txBody>
          <a:bodyPr wrap="square" lIns="0" tIns="0" rIns="0" bIns="0" rtlCol="0" anchor="ctr"/>
          <a:lstStyle/>
          <a:p>
            <a:pPr algn="ctr" indent="0" marL="0">
              <a:buNone/>
            </a:pPr>
            <a:r>
              <a:rPr lang="en-US" sz="1100" b="1" spc="100" kern="0" dirty="0">
                <a:solidFill>
                  <a:schemeClr val="bg1"/>
                </a:solidFill>
              </a:rPr>
              <a:t>WEEK 4</a:t>
            </a:r>
            <a:endParaRPr lang="en-US" sz="1100" dirty="0"/>
          </a:p>
        </p:txBody>
      </p:sp>
      <p:sp>
        <p:nvSpPr>
          <p:cNvPr id="19" name="Measure results and improve circle"/>
          <p:cNvSpPr/>
          <p:nvPr/>
        </p:nvSpPr>
        <p:spPr>
          <a:xfrm>
            <a:off x="7274052" y="1719072"/>
            <a:ext cx="768096" cy="768096"/>
          </a:xfrm>
          <a:prstGeom prst="ellipse">
            <a:avLst/>
          </a:prstGeom>
          <a:solidFill>
            <a:schemeClr val="tx2"/>
          </a:solidFill>
          <a:ln/>
        </p:spPr>
      </p:sp>
      <p:pic>
        <p:nvPicPr>
          <p:cNvPr id="20" name="Measure results and improve icon" descr="Measure results and improve">    </p:cNvPr>
          <p:cNvPicPr>
            <a:picLocks noChangeAspect="1"/>
          </p:cNvPicPr>
          <p:nvPr/>
        </p:nvPicPr>
        <p:blipFill>
          <a:blip r:embed="rId4"/>
          <a:stretch>
            <a:fillRect/>
          </a:stretch>
        </p:blipFill>
        <p:spPr>
          <a:xfrm>
            <a:off x="7481438" y="1926458"/>
            <a:ext cx="353324" cy="353324"/>
          </a:xfrm>
          <a:prstGeom prst="rect">
            <a:avLst/>
          </a:prstGeom>
        </p:spPr>
      </p:pic>
      <p:sp>
        <p:nvSpPr>
          <p:cNvPr id="21" name="Week card 1"/>
          <p:cNvSpPr/>
          <p:nvPr/>
        </p:nvSpPr>
        <p:spPr>
          <a:xfrm>
            <a:off x="571500" y="2743200"/>
            <a:ext cx="1828800" cy="1783080"/>
          </a:xfrm>
          <a:prstGeom prst="roundRect">
            <a:avLst>
              <a:gd name="adj" fmla="val 6154"/>
            </a:avLst>
          </a:prstGeom>
          <a:solidFill>
            <a:schemeClr val="bg2"/>
          </a:solidFill>
          <a:ln/>
        </p:spPr>
      </p:sp>
      <p:pic>
        <p:nvPicPr>
          <p:cNvPr id="22" name="Research and planning illustration" descr="Research and planning illustration">    </p:cNvPr>
          <p:cNvPicPr>
            <a:picLocks noChangeAspect="1"/>
          </p:cNvPicPr>
          <p:nvPr/>
        </p:nvPicPr>
        <p:blipFill>
          <a:blip r:embed="rId5"/>
          <a:stretch>
            <a:fillRect/>
          </a:stretch>
        </p:blipFill>
        <p:spPr>
          <a:xfrm>
            <a:off x="662940" y="2834640"/>
            <a:ext cx="1645920" cy="960120"/>
          </a:xfrm>
          <a:prstGeom prst="rect">
            <a:avLst/>
          </a:prstGeom>
        </p:spPr>
      </p:pic>
      <p:sp>
        <p:nvSpPr>
          <p:cNvPr id="23" name="Week title 1"/>
          <p:cNvSpPr txBox="1"/>
          <p:nvPr/>
        </p:nvSpPr>
        <p:spPr>
          <a:xfrm>
            <a:off x="708660" y="3886200"/>
            <a:ext cx="1554480" cy="548640"/>
          </a:xfrm>
          <a:prstGeom prst="rect">
            <a:avLst/>
          </a:prstGeom>
          <a:noFill/>
          <a:ln/>
        </p:spPr>
        <p:txBody>
          <a:bodyPr wrap="square" lIns="0" tIns="0" rIns="0" bIns="0" rtlCol="0" anchor="t"/>
          <a:lstStyle/>
          <a:p>
            <a:pPr indent="0" marL="0">
              <a:buNone/>
            </a:pPr>
            <a:r>
              <a:rPr lang="en-US" sz="1400" b="1" dirty="0">
                <a:solidFill>
                  <a:schemeClr val="tx2"/>
                </a:solidFill>
              </a:rPr>
              <a:t>Research and planning</a:t>
            </a:r>
            <a:endParaRPr lang="en-US" sz="1400" dirty="0"/>
          </a:p>
        </p:txBody>
      </p:sp>
      <p:sp>
        <p:nvSpPr>
          <p:cNvPr id="24" name="Week card 2"/>
          <p:cNvSpPr/>
          <p:nvPr/>
        </p:nvSpPr>
        <p:spPr>
          <a:xfrm>
            <a:off x="2628900" y="2743200"/>
            <a:ext cx="1828800" cy="1783080"/>
          </a:xfrm>
          <a:prstGeom prst="roundRect">
            <a:avLst>
              <a:gd name="adj" fmla="val 6154"/>
            </a:avLst>
          </a:prstGeom>
          <a:solidFill>
            <a:schemeClr val="bg2"/>
          </a:solidFill>
          <a:ln/>
        </p:spPr>
      </p:sp>
      <p:pic>
        <p:nvPicPr>
          <p:cNvPr id="25" name="Content creation illustration" descr="Content creation illustration">    </p:cNvPr>
          <p:cNvPicPr>
            <a:picLocks noChangeAspect="1"/>
          </p:cNvPicPr>
          <p:nvPr/>
        </p:nvPicPr>
        <p:blipFill>
          <a:blip r:embed="rId6"/>
          <a:stretch>
            <a:fillRect/>
          </a:stretch>
        </p:blipFill>
        <p:spPr>
          <a:xfrm>
            <a:off x="2720340" y="2834640"/>
            <a:ext cx="1645920" cy="960120"/>
          </a:xfrm>
          <a:prstGeom prst="rect">
            <a:avLst/>
          </a:prstGeom>
        </p:spPr>
      </p:pic>
      <p:sp>
        <p:nvSpPr>
          <p:cNvPr id="26" name="Week title 2"/>
          <p:cNvSpPr txBox="1"/>
          <p:nvPr/>
        </p:nvSpPr>
        <p:spPr>
          <a:xfrm>
            <a:off x="2766060" y="3886200"/>
            <a:ext cx="1554480" cy="548640"/>
          </a:xfrm>
          <a:prstGeom prst="rect">
            <a:avLst/>
          </a:prstGeom>
          <a:noFill/>
          <a:ln/>
        </p:spPr>
        <p:txBody>
          <a:bodyPr wrap="square" lIns="0" tIns="0" rIns="0" bIns="0" rtlCol="0" anchor="t"/>
          <a:lstStyle/>
          <a:p>
            <a:pPr indent="0" marL="0">
              <a:buNone/>
            </a:pPr>
            <a:r>
              <a:rPr lang="en-US" sz="1400" b="1" dirty="0">
                <a:solidFill>
                  <a:schemeClr val="tx2"/>
                </a:solidFill>
              </a:rPr>
              <a:t>Content creation</a:t>
            </a:r>
            <a:endParaRPr lang="en-US" sz="1400" dirty="0"/>
          </a:p>
        </p:txBody>
      </p:sp>
      <p:sp>
        <p:nvSpPr>
          <p:cNvPr id="27" name="Week card 3"/>
          <p:cNvSpPr/>
          <p:nvPr/>
        </p:nvSpPr>
        <p:spPr>
          <a:xfrm>
            <a:off x="4686300" y="2743200"/>
            <a:ext cx="1828800" cy="1783080"/>
          </a:xfrm>
          <a:prstGeom prst="roundRect">
            <a:avLst>
              <a:gd name="adj" fmla="val 6154"/>
            </a:avLst>
          </a:prstGeom>
          <a:solidFill>
            <a:schemeClr val="bg2"/>
          </a:solidFill>
          <a:ln/>
        </p:spPr>
      </p:sp>
      <p:pic>
        <p:nvPicPr>
          <p:cNvPr id="28" name="Launch marketing campaigns illustration" descr="Launch marketing campaigns illustration">    </p:cNvPr>
          <p:cNvPicPr>
            <a:picLocks noChangeAspect="1"/>
          </p:cNvPicPr>
          <p:nvPr/>
        </p:nvPicPr>
        <p:blipFill>
          <a:blip r:embed="rId7"/>
          <a:stretch>
            <a:fillRect/>
          </a:stretch>
        </p:blipFill>
        <p:spPr>
          <a:xfrm>
            <a:off x="4777740" y="2834640"/>
            <a:ext cx="1645920" cy="960120"/>
          </a:xfrm>
          <a:prstGeom prst="rect">
            <a:avLst/>
          </a:prstGeom>
        </p:spPr>
      </p:pic>
      <p:sp>
        <p:nvSpPr>
          <p:cNvPr id="29" name="Week title 3"/>
          <p:cNvSpPr txBox="1"/>
          <p:nvPr/>
        </p:nvSpPr>
        <p:spPr>
          <a:xfrm>
            <a:off x="4823460" y="3886200"/>
            <a:ext cx="1554480" cy="548640"/>
          </a:xfrm>
          <a:prstGeom prst="rect">
            <a:avLst/>
          </a:prstGeom>
          <a:noFill/>
          <a:ln/>
        </p:spPr>
        <p:txBody>
          <a:bodyPr wrap="square" lIns="0" tIns="0" rIns="0" bIns="0" rtlCol="0" anchor="t"/>
          <a:lstStyle/>
          <a:p>
            <a:pPr indent="0" marL="0">
              <a:buNone/>
            </a:pPr>
            <a:r>
              <a:rPr lang="en-US" sz="1400" b="1" dirty="0">
                <a:solidFill>
                  <a:schemeClr val="tx2"/>
                </a:solidFill>
              </a:rPr>
              <a:t>Launch marketing campaigns</a:t>
            </a:r>
            <a:endParaRPr lang="en-US" sz="1400" dirty="0"/>
          </a:p>
        </p:txBody>
      </p:sp>
      <p:sp>
        <p:nvSpPr>
          <p:cNvPr id="30" name="Week card 4"/>
          <p:cNvSpPr/>
          <p:nvPr/>
        </p:nvSpPr>
        <p:spPr>
          <a:xfrm>
            <a:off x="6743700" y="2743200"/>
            <a:ext cx="1828800" cy="1783080"/>
          </a:xfrm>
          <a:prstGeom prst="roundRect">
            <a:avLst>
              <a:gd name="adj" fmla="val 6154"/>
            </a:avLst>
          </a:prstGeom>
          <a:solidFill>
            <a:schemeClr val="bg2"/>
          </a:solidFill>
          <a:ln/>
        </p:spPr>
      </p:sp>
      <p:pic>
        <p:nvPicPr>
          <p:cNvPr id="31" name="Measure results and improve illustration" descr="Measure results and improve illustration">    </p:cNvPr>
          <p:cNvPicPr>
            <a:picLocks noChangeAspect="1"/>
          </p:cNvPicPr>
          <p:nvPr/>
        </p:nvPicPr>
        <p:blipFill>
          <a:blip r:embed="rId8"/>
          <a:stretch>
            <a:fillRect/>
          </a:stretch>
        </p:blipFill>
        <p:spPr>
          <a:xfrm>
            <a:off x="6835140" y="2834640"/>
            <a:ext cx="1645920" cy="960120"/>
          </a:xfrm>
          <a:prstGeom prst="rect">
            <a:avLst/>
          </a:prstGeom>
        </p:spPr>
      </p:pic>
      <p:sp>
        <p:nvSpPr>
          <p:cNvPr id="32" name="Week title 4"/>
          <p:cNvSpPr txBox="1"/>
          <p:nvPr/>
        </p:nvSpPr>
        <p:spPr>
          <a:xfrm>
            <a:off x="6880860" y="3886200"/>
            <a:ext cx="1554480" cy="548640"/>
          </a:xfrm>
          <a:prstGeom prst="rect">
            <a:avLst/>
          </a:prstGeom>
          <a:noFill/>
          <a:ln/>
        </p:spPr>
        <p:txBody>
          <a:bodyPr wrap="square" lIns="0" tIns="0" rIns="0" bIns="0" rtlCol="0" anchor="t"/>
          <a:lstStyle/>
          <a:p>
            <a:pPr indent="0" marL="0">
              <a:buNone/>
            </a:pPr>
            <a:r>
              <a:rPr lang="en-US" sz="1400" b="1" dirty="0">
                <a:solidFill>
                  <a:schemeClr val="tx2"/>
                </a:solidFill>
              </a:rPr>
              <a:t>Measure results and improve</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07  BENEFITS</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How the Café Benefits</a:t>
            </a:r>
            <a:endParaRPr lang="en-US" sz="3200" dirty="0"/>
          </a:p>
        </p:txBody>
      </p:sp>
      <p:pic>
        <p:nvPicPr>
          <p:cNvPr id="4" name="Happy customers illustration" descr="Happy customers illustration">    </p:cNvPr>
          <p:cNvPicPr>
            <a:picLocks noChangeAspect="1"/>
          </p:cNvPicPr>
          <p:nvPr/>
        </p:nvPicPr>
        <p:blipFill>
          <a:blip r:embed="rId1"/>
          <a:stretch>
            <a:fillRect/>
          </a:stretch>
        </p:blipFill>
        <p:spPr>
          <a:xfrm>
            <a:off x="457200" y="1325880"/>
            <a:ext cx="3566160" cy="3291840"/>
          </a:xfrm>
          <a:prstGeom prst="rect">
            <a:avLst/>
          </a:prstGeom>
        </p:spPr>
      </p:pic>
      <p:sp>
        <p:nvSpPr>
          <p:cNvPr id="5" name="Reach more people circle"/>
          <p:cNvSpPr/>
          <p:nvPr/>
        </p:nvSpPr>
        <p:spPr>
          <a:xfrm>
            <a:off x="4389120" y="1325880"/>
            <a:ext cx="457200" cy="457200"/>
          </a:xfrm>
          <a:prstGeom prst="ellipse">
            <a:avLst/>
          </a:prstGeom>
          <a:solidFill>
            <a:schemeClr val="accent4"/>
          </a:solidFill>
          <a:ln/>
        </p:spPr>
      </p:sp>
      <p:pic>
        <p:nvPicPr>
          <p:cNvPr id="6" name="Reach more people icon" descr="Reach more people">    </p:cNvPr>
          <p:cNvPicPr>
            <a:picLocks noChangeAspect="1"/>
          </p:cNvPicPr>
          <p:nvPr/>
        </p:nvPicPr>
        <p:blipFill>
          <a:blip r:embed="rId2"/>
          <a:stretch>
            <a:fillRect/>
          </a:stretch>
        </p:blipFill>
        <p:spPr>
          <a:xfrm>
            <a:off x="4512564" y="1449324"/>
            <a:ext cx="210312" cy="210312"/>
          </a:xfrm>
          <a:prstGeom prst="rect">
            <a:avLst/>
          </a:prstGeom>
        </p:spPr>
      </p:pic>
      <p:sp>
        <p:nvSpPr>
          <p:cNvPr id="7" name="Row text 1"/>
          <p:cNvSpPr txBox="1"/>
          <p:nvPr/>
        </p:nvSpPr>
        <p:spPr>
          <a:xfrm>
            <a:off x="5029200" y="1325880"/>
            <a:ext cx="3657600" cy="457200"/>
          </a:xfrm>
          <a:prstGeom prst="rect">
            <a:avLst/>
          </a:prstGeom>
          <a:noFill/>
          <a:ln/>
        </p:spPr>
        <p:txBody>
          <a:bodyPr wrap="square" lIns="0" tIns="0" rIns="0" bIns="0" rtlCol="0" anchor="ctr"/>
          <a:lstStyle/>
          <a:p>
            <a:pPr indent="0" marL="0">
              <a:buNone/>
            </a:pPr>
            <a:r>
              <a:rPr lang="en-US" sz="1600" b="1" dirty="0">
                <a:solidFill>
                  <a:schemeClr val="tx2"/>
                </a:solidFill>
              </a:rPr>
              <a:t>Reach more people</a:t>
            </a:r>
            <a:endParaRPr lang="en-US" sz="1600" dirty="0"/>
          </a:p>
        </p:txBody>
      </p:sp>
      <p:sp>
        <p:nvSpPr>
          <p:cNvPr id="8" name="Attract new customers circle"/>
          <p:cNvSpPr/>
          <p:nvPr/>
        </p:nvSpPr>
        <p:spPr>
          <a:xfrm>
            <a:off x="4389120" y="1984248"/>
            <a:ext cx="457200" cy="457200"/>
          </a:xfrm>
          <a:prstGeom prst="ellipse">
            <a:avLst/>
          </a:prstGeom>
          <a:solidFill>
            <a:schemeClr val="accent4"/>
          </a:solidFill>
          <a:ln/>
        </p:spPr>
      </p:sp>
      <p:pic>
        <p:nvPicPr>
          <p:cNvPr id="9" name="Attract new customers icon" descr="Attract new customers">    </p:cNvPr>
          <p:cNvPicPr>
            <a:picLocks noChangeAspect="1"/>
          </p:cNvPicPr>
          <p:nvPr/>
        </p:nvPicPr>
        <p:blipFill>
          <a:blip r:embed="rId3"/>
          <a:stretch>
            <a:fillRect/>
          </a:stretch>
        </p:blipFill>
        <p:spPr>
          <a:xfrm>
            <a:off x="4512564" y="2107692"/>
            <a:ext cx="210312" cy="210312"/>
          </a:xfrm>
          <a:prstGeom prst="rect">
            <a:avLst/>
          </a:prstGeom>
        </p:spPr>
      </p:pic>
      <p:sp>
        <p:nvSpPr>
          <p:cNvPr id="10" name="Row text 2"/>
          <p:cNvSpPr txBox="1"/>
          <p:nvPr/>
        </p:nvSpPr>
        <p:spPr>
          <a:xfrm>
            <a:off x="5029200" y="1984248"/>
            <a:ext cx="3657600" cy="457200"/>
          </a:xfrm>
          <a:prstGeom prst="rect">
            <a:avLst/>
          </a:prstGeom>
          <a:noFill/>
          <a:ln/>
        </p:spPr>
        <p:txBody>
          <a:bodyPr wrap="square" lIns="0" tIns="0" rIns="0" bIns="0" rtlCol="0" anchor="ctr"/>
          <a:lstStyle/>
          <a:p>
            <a:pPr indent="0" marL="0">
              <a:buNone/>
            </a:pPr>
            <a:r>
              <a:rPr lang="en-US" sz="1600" b="1" dirty="0">
                <a:solidFill>
                  <a:schemeClr val="tx2"/>
                </a:solidFill>
              </a:rPr>
              <a:t>Attract new customers</a:t>
            </a:r>
            <a:endParaRPr lang="en-US" sz="1600" dirty="0"/>
          </a:p>
        </p:txBody>
      </p:sp>
      <p:sp>
        <p:nvSpPr>
          <p:cNvPr id="11" name="Build a strong brand circle"/>
          <p:cNvSpPr/>
          <p:nvPr/>
        </p:nvSpPr>
        <p:spPr>
          <a:xfrm>
            <a:off x="4389120" y="2642616"/>
            <a:ext cx="457200" cy="457200"/>
          </a:xfrm>
          <a:prstGeom prst="ellipse">
            <a:avLst/>
          </a:prstGeom>
          <a:solidFill>
            <a:schemeClr val="accent4"/>
          </a:solidFill>
          <a:ln/>
        </p:spPr>
      </p:sp>
      <p:pic>
        <p:nvPicPr>
          <p:cNvPr id="12" name="Build a strong brand icon" descr="Build a strong brand">    </p:cNvPr>
          <p:cNvPicPr>
            <a:picLocks noChangeAspect="1"/>
          </p:cNvPicPr>
          <p:nvPr/>
        </p:nvPicPr>
        <p:blipFill>
          <a:blip r:embed="rId4"/>
          <a:stretch>
            <a:fillRect/>
          </a:stretch>
        </p:blipFill>
        <p:spPr>
          <a:xfrm>
            <a:off x="4512564" y="2766060"/>
            <a:ext cx="210312" cy="210312"/>
          </a:xfrm>
          <a:prstGeom prst="rect">
            <a:avLst/>
          </a:prstGeom>
        </p:spPr>
      </p:pic>
      <p:sp>
        <p:nvSpPr>
          <p:cNvPr id="13" name="Row text 3"/>
          <p:cNvSpPr txBox="1"/>
          <p:nvPr/>
        </p:nvSpPr>
        <p:spPr>
          <a:xfrm>
            <a:off x="5029200" y="2642616"/>
            <a:ext cx="3657600" cy="457200"/>
          </a:xfrm>
          <a:prstGeom prst="rect">
            <a:avLst/>
          </a:prstGeom>
          <a:noFill/>
          <a:ln/>
        </p:spPr>
        <p:txBody>
          <a:bodyPr wrap="square" lIns="0" tIns="0" rIns="0" bIns="0" rtlCol="0" anchor="ctr"/>
          <a:lstStyle/>
          <a:p>
            <a:pPr indent="0" marL="0">
              <a:buNone/>
            </a:pPr>
            <a:r>
              <a:rPr lang="en-US" sz="1600" b="1" dirty="0">
                <a:solidFill>
                  <a:schemeClr val="tx2"/>
                </a:solidFill>
              </a:rPr>
              <a:t>Build a strong brand</a:t>
            </a:r>
            <a:endParaRPr lang="en-US" sz="1600" dirty="0"/>
          </a:p>
        </p:txBody>
      </p:sp>
      <p:sp>
        <p:nvSpPr>
          <p:cNvPr id="14" name="Improve customer engagement circle"/>
          <p:cNvSpPr/>
          <p:nvPr/>
        </p:nvSpPr>
        <p:spPr>
          <a:xfrm>
            <a:off x="4389120" y="3300984"/>
            <a:ext cx="457200" cy="457200"/>
          </a:xfrm>
          <a:prstGeom prst="ellipse">
            <a:avLst/>
          </a:prstGeom>
          <a:solidFill>
            <a:schemeClr val="accent4"/>
          </a:solidFill>
          <a:ln/>
        </p:spPr>
      </p:sp>
      <p:pic>
        <p:nvPicPr>
          <p:cNvPr id="15" name="Improve customer engagement icon" descr="Improve customer engagement">    </p:cNvPr>
          <p:cNvPicPr>
            <a:picLocks noChangeAspect="1"/>
          </p:cNvPicPr>
          <p:nvPr/>
        </p:nvPicPr>
        <p:blipFill>
          <a:blip r:embed="rId5"/>
          <a:stretch>
            <a:fillRect/>
          </a:stretch>
        </p:blipFill>
        <p:spPr>
          <a:xfrm>
            <a:off x="4512564" y="3424428"/>
            <a:ext cx="210312" cy="210312"/>
          </a:xfrm>
          <a:prstGeom prst="rect">
            <a:avLst/>
          </a:prstGeom>
        </p:spPr>
      </p:pic>
      <p:sp>
        <p:nvSpPr>
          <p:cNvPr id="16" name="Row text 4"/>
          <p:cNvSpPr txBox="1"/>
          <p:nvPr/>
        </p:nvSpPr>
        <p:spPr>
          <a:xfrm>
            <a:off x="5029200" y="3300984"/>
            <a:ext cx="3657600" cy="457200"/>
          </a:xfrm>
          <a:prstGeom prst="rect">
            <a:avLst/>
          </a:prstGeom>
          <a:noFill/>
          <a:ln/>
        </p:spPr>
        <p:txBody>
          <a:bodyPr wrap="square" lIns="0" tIns="0" rIns="0" bIns="0" rtlCol="0" anchor="ctr"/>
          <a:lstStyle/>
          <a:p>
            <a:pPr indent="0" marL="0">
              <a:buNone/>
            </a:pPr>
            <a:r>
              <a:rPr lang="en-US" sz="1600" b="1" dirty="0">
                <a:solidFill>
                  <a:schemeClr val="tx2"/>
                </a:solidFill>
              </a:rPr>
              <a:t>Improve customer engagement</a:t>
            </a:r>
            <a:endParaRPr lang="en-US" sz="1600" dirty="0"/>
          </a:p>
        </p:txBody>
      </p:sp>
      <p:sp>
        <p:nvSpPr>
          <p:cNvPr id="17" name="Better chance of higher sales circle"/>
          <p:cNvSpPr/>
          <p:nvPr/>
        </p:nvSpPr>
        <p:spPr>
          <a:xfrm>
            <a:off x="4389120" y="3959352"/>
            <a:ext cx="457200" cy="457200"/>
          </a:xfrm>
          <a:prstGeom prst="ellipse">
            <a:avLst/>
          </a:prstGeom>
          <a:solidFill>
            <a:schemeClr val="accent4"/>
          </a:solidFill>
          <a:ln/>
        </p:spPr>
      </p:sp>
      <p:pic>
        <p:nvPicPr>
          <p:cNvPr id="18" name="Better chance of higher sales icon" descr="Better chance of higher sales">    </p:cNvPr>
          <p:cNvPicPr>
            <a:picLocks noChangeAspect="1"/>
          </p:cNvPicPr>
          <p:nvPr/>
        </p:nvPicPr>
        <p:blipFill>
          <a:blip r:embed="rId6"/>
          <a:stretch>
            <a:fillRect/>
          </a:stretch>
        </p:blipFill>
        <p:spPr>
          <a:xfrm>
            <a:off x="4512564" y="4082796"/>
            <a:ext cx="210312" cy="210312"/>
          </a:xfrm>
          <a:prstGeom prst="rect">
            <a:avLst/>
          </a:prstGeom>
        </p:spPr>
      </p:pic>
      <p:sp>
        <p:nvSpPr>
          <p:cNvPr id="19" name="Row text 5"/>
          <p:cNvSpPr txBox="1"/>
          <p:nvPr/>
        </p:nvSpPr>
        <p:spPr>
          <a:xfrm>
            <a:off x="5029200" y="3959352"/>
            <a:ext cx="3657600" cy="457200"/>
          </a:xfrm>
          <a:prstGeom prst="rect">
            <a:avLst/>
          </a:prstGeom>
          <a:noFill/>
          <a:ln/>
        </p:spPr>
        <p:txBody>
          <a:bodyPr wrap="square" lIns="0" tIns="0" rIns="0" bIns="0" rtlCol="0" anchor="ctr"/>
          <a:lstStyle/>
          <a:p>
            <a:pPr indent="0" marL="0">
              <a:buNone/>
            </a:pPr>
            <a:r>
              <a:rPr lang="en-US" sz="1600" b="1" dirty="0">
                <a:solidFill>
                  <a:schemeClr val="tx2"/>
                </a:solidFill>
              </a:rPr>
              <a:t>Better chance of higher sales</a:t>
            </a:r>
            <a:endParaRPr lang="en-US" sz="16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08  EXPECTED RESULTS</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Our Month-One Targets</a:t>
            </a:r>
            <a:endParaRPr lang="en-US" sz="3200" dirty="0"/>
          </a:p>
        </p:txBody>
      </p:sp>
      <p:sp>
        <p:nvSpPr>
          <p:cNvPr id="4" name="Target card 1"/>
          <p:cNvSpPr/>
          <p:nvPr/>
        </p:nvSpPr>
        <p:spPr>
          <a:xfrm>
            <a:off x="457200" y="1325880"/>
            <a:ext cx="1920240" cy="1874520"/>
          </a:xfrm>
          <a:prstGeom prst="roundRect">
            <a:avLst>
              <a:gd name="adj" fmla="val 5854"/>
            </a:avLst>
          </a:prstGeom>
          <a:solidFill>
            <a:schemeClr val="bg2"/>
          </a:solidFill>
          <a:ln/>
        </p:spPr>
      </p:sp>
      <p:sp>
        <p:nvSpPr>
          <p:cNvPr id="5" name="Target 1 circle"/>
          <p:cNvSpPr/>
          <p:nvPr/>
        </p:nvSpPr>
        <p:spPr>
          <a:xfrm>
            <a:off x="640080" y="1481328"/>
            <a:ext cx="475488" cy="475488"/>
          </a:xfrm>
          <a:prstGeom prst="ellipse">
            <a:avLst/>
          </a:prstGeom>
          <a:solidFill>
            <a:schemeClr val="tx2"/>
          </a:solidFill>
          <a:ln/>
        </p:spPr>
      </p:sp>
      <p:pic>
        <p:nvPicPr>
          <p:cNvPr id="6" name="Target 1 icon" descr="Target 1">    </p:cNvPr>
          <p:cNvPicPr>
            <a:picLocks noChangeAspect="1"/>
          </p:cNvPicPr>
          <p:nvPr/>
        </p:nvPicPr>
        <p:blipFill>
          <a:blip r:embed="rId1"/>
          <a:stretch>
            <a:fillRect/>
          </a:stretch>
        </p:blipFill>
        <p:spPr>
          <a:xfrm>
            <a:off x="768462" y="1609710"/>
            <a:ext cx="218724" cy="218724"/>
          </a:xfrm>
          <a:prstGeom prst="rect">
            <a:avLst/>
          </a:prstGeom>
        </p:spPr>
      </p:pic>
      <p:sp>
        <p:nvSpPr>
          <p:cNvPr id="7" name="Target value 1"/>
          <p:cNvSpPr txBox="1"/>
          <p:nvPr/>
        </p:nvSpPr>
        <p:spPr>
          <a:xfrm>
            <a:off x="640080" y="2057400"/>
            <a:ext cx="1600200" cy="54864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40K+</a:t>
            </a:r>
            <a:endParaRPr lang="en-US" sz="3400" dirty="0"/>
          </a:p>
        </p:txBody>
      </p:sp>
      <p:sp>
        <p:nvSpPr>
          <p:cNvPr id="8" name="Target label 1"/>
          <p:cNvSpPr txBox="1"/>
          <p:nvPr/>
        </p:nvSpPr>
        <p:spPr>
          <a:xfrm>
            <a:off x="640080" y="2633472"/>
            <a:ext cx="1600200" cy="502920"/>
          </a:xfrm>
          <a:prstGeom prst="rect">
            <a:avLst/>
          </a:prstGeom>
          <a:noFill/>
          <a:ln/>
        </p:spPr>
        <p:txBody>
          <a:bodyPr wrap="square" lIns="0" tIns="0" rIns="0" bIns="0" rtlCol="0" anchor="t"/>
          <a:lstStyle/>
          <a:p>
            <a:pPr indent="0" marL="0">
              <a:buNone/>
            </a:pPr>
            <a:r>
              <a:rPr lang="en-US" sz="1200" dirty="0">
                <a:solidFill>
                  <a:schemeClr val="tx2"/>
                </a:solidFill>
              </a:rPr>
              <a:t>people nearby see The Daily Cup</a:t>
            </a:r>
            <a:endParaRPr lang="en-US" sz="1200" dirty="0"/>
          </a:p>
        </p:txBody>
      </p:sp>
      <p:sp>
        <p:nvSpPr>
          <p:cNvPr id="9" name="Target card 2"/>
          <p:cNvSpPr/>
          <p:nvPr/>
        </p:nvSpPr>
        <p:spPr>
          <a:xfrm>
            <a:off x="2560320" y="1325880"/>
            <a:ext cx="1920240" cy="1874520"/>
          </a:xfrm>
          <a:prstGeom prst="roundRect">
            <a:avLst>
              <a:gd name="adj" fmla="val 5854"/>
            </a:avLst>
          </a:prstGeom>
          <a:solidFill>
            <a:schemeClr val="bg2"/>
          </a:solidFill>
          <a:ln/>
        </p:spPr>
      </p:sp>
      <p:sp>
        <p:nvSpPr>
          <p:cNvPr id="10" name="Target 2 circle"/>
          <p:cNvSpPr/>
          <p:nvPr/>
        </p:nvSpPr>
        <p:spPr>
          <a:xfrm>
            <a:off x="2743200" y="1481328"/>
            <a:ext cx="475488" cy="475488"/>
          </a:xfrm>
          <a:prstGeom prst="ellipse">
            <a:avLst/>
          </a:prstGeom>
          <a:solidFill>
            <a:schemeClr val="tx2"/>
          </a:solidFill>
          <a:ln/>
        </p:spPr>
      </p:sp>
      <p:pic>
        <p:nvPicPr>
          <p:cNvPr id="11" name="Target 2 icon" descr="Target 2">    </p:cNvPr>
          <p:cNvPicPr>
            <a:picLocks noChangeAspect="1"/>
          </p:cNvPicPr>
          <p:nvPr/>
        </p:nvPicPr>
        <p:blipFill>
          <a:blip r:embed="rId2"/>
          <a:stretch>
            <a:fillRect/>
          </a:stretch>
        </p:blipFill>
        <p:spPr>
          <a:xfrm>
            <a:off x="2871582" y="1609710"/>
            <a:ext cx="218724" cy="218724"/>
          </a:xfrm>
          <a:prstGeom prst="rect">
            <a:avLst/>
          </a:prstGeom>
        </p:spPr>
      </p:pic>
      <p:sp>
        <p:nvSpPr>
          <p:cNvPr id="12" name="Target value 2"/>
          <p:cNvSpPr txBox="1"/>
          <p:nvPr/>
        </p:nvSpPr>
        <p:spPr>
          <a:xfrm>
            <a:off x="2743200" y="2057400"/>
            <a:ext cx="1600200" cy="54864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+500</a:t>
            </a:r>
            <a:endParaRPr lang="en-US" sz="3400" dirty="0"/>
          </a:p>
        </p:txBody>
      </p:sp>
      <p:sp>
        <p:nvSpPr>
          <p:cNvPr id="13" name="Target label 2"/>
          <p:cNvSpPr txBox="1"/>
          <p:nvPr/>
        </p:nvSpPr>
        <p:spPr>
          <a:xfrm>
            <a:off x="2743200" y="2633472"/>
            <a:ext cx="1600200" cy="502920"/>
          </a:xfrm>
          <a:prstGeom prst="rect">
            <a:avLst/>
          </a:prstGeom>
          <a:noFill/>
          <a:ln/>
        </p:spPr>
        <p:txBody>
          <a:bodyPr wrap="square" lIns="0" tIns="0" rIns="0" bIns="0" rtlCol="0" anchor="t"/>
          <a:lstStyle/>
          <a:p>
            <a:pPr indent="0" marL="0">
              <a:buNone/>
            </a:pPr>
            <a:r>
              <a:rPr lang="en-US" sz="1200" dirty="0">
                <a:solidFill>
                  <a:schemeClr val="tx2"/>
                </a:solidFill>
              </a:rPr>
              <a:t>new Instagram followers</a:t>
            </a:r>
            <a:endParaRPr lang="en-US" sz="1200" dirty="0"/>
          </a:p>
        </p:txBody>
      </p:sp>
      <p:sp>
        <p:nvSpPr>
          <p:cNvPr id="14" name="Target card 3"/>
          <p:cNvSpPr/>
          <p:nvPr/>
        </p:nvSpPr>
        <p:spPr>
          <a:xfrm>
            <a:off x="4663440" y="1325880"/>
            <a:ext cx="1920240" cy="1874520"/>
          </a:xfrm>
          <a:prstGeom prst="roundRect">
            <a:avLst>
              <a:gd name="adj" fmla="val 5854"/>
            </a:avLst>
          </a:prstGeom>
          <a:solidFill>
            <a:schemeClr val="bg2"/>
          </a:solidFill>
          <a:ln/>
        </p:spPr>
      </p:sp>
      <p:sp>
        <p:nvSpPr>
          <p:cNvPr id="15" name="Target 3 circle"/>
          <p:cNvSpPr/>
          <p:nvPr/>
        </p:nvSpPr>
        <p:spPr>
          <a:xfrm>
            <a:off x="4846320" y="1481328"/>
            <a:ext cx="475488" cy="475488"/>
          </a:xfrm>
          <a:prstGeom prst="ellipse">
            <a:avLst/>
          </a:prstGeom>
          <a:solidFill>
            <a:schemeClr val="tx2"/>
          </a:solidFill>
          <a:ln/>
        </p:spPr>
      </p:sp>
      <p:pic>
        <p:nvPicPr>
          <p:cNvPr id="16" name="Target 3 icon" descr="Target 3">    </p:cNvPr>
          <p:cNvPicPr>
            <a:picLocks noChangeAspect="1"/>
          </p:cNvPicPr>
          <p:nvPr/>
        </p:nvPicPr>
        <p:blipFill>
          <a:blip r:embed="rId3"/>
          <a:stretch>
            <a:fillRect/>
          </a:stretch>
        </p:blipFill>
        <p:spPr>
          <a:xfrm>
            <a:off x="4974702" y="1609710"/>
            <a:ext cx="218724" cy="218724"/>
          </a:xfrm>
          <a:prstGeom prst="rect">
            <a:avLst/>
          </a:prstGeom>
        </p:spPr>
      </p:pic>
      <p:sp>
        <p:nvSpPr>
          <p:cNvPr id="17" name="Target value 3"/>
          <p:cNvSpPr txBox="1"/>
          <p:nvPr/>
        </p:nvSpPr>
        <p:spPr>
          <a:xfrm>
            <a:off x="4846320" y="2057400"/>
            <a:ext cx="1600200" cy="54864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100+</a:t>
            </a:r>
            <a:endParaRPr lang="en-US" sz="3400" dirty="0"/>
          </a:p>
        </p:txBody>
      </p:sp>
      <p:sp>
        <p:nvSpPr>
          <p:cNvPr id="18" name="Target label 3"/>
          <p:cNvSpPr txBox="1"/>
          <p:nvPr/>
        </p:nvSpPr>
        <p:spPr>
          <a:xfrm>
            <a:off x="4846320" y="2633472"/>
            <a:ext cx="1600200" cy="502920"/>
          </a:xfrm>
          <a:prstGeom prst="rect">
            <a:avLst/>
          </a:prstGeom>
          <a:noFill/>
          <a:ln/>
        </p:spPr>
        <p:txBody>
          <a:bodyPr wrap="square" lIns="0" tIns="0" rIns="0" bIns="0" rtlCol="0" anchor="t"/>
          <a:lstStyle/>
          <a:p>
            <a:pPr indent="0" marL="0">
              <a:buNone/>
            </a:pPr>
            <a:r>
              <a:rPr lang="en-US" sz="1200" dirty="0">
                <a:solidFill>
                  <a:schemeClr val="tx2"/>
                </a:solidFill>
              </a:rPr>
              <a:t>messages, calls and direction requests</a:t>
            </a:r>
            <a:endParaRPr lang="en-US" sz="1200" dirty="0"/>
          </a:p>
        </p:txBody>
      </p:sp>
      <p:sp>
        <p:nvSpPr>
          <p:cNvPr id="19" name="Target card 4"/>
          <p:cNvSpPr/>
          <p:nvPr/>
        </p:nvSpPr>
        <p:spPr>
          <a:xfrm>
            <a:off x="6766560" y="1325880"/>
            <a:ext cx="1920240" cy="1874520"/>
          </a:xfrm>
          <a:prstGeom prst="roundRect">
            <a:avLst>
              <a:gd name="adj" fmla="val 5854"/>
            </a:avLst>
          </a:prstGeom>
          <a:solidFill>
            <a:schemeClr val="accent4"/>
          </a:solidFill>
          <a:ln/>
        </p:spPr>
      </p:sp>
      <p:sp>
        <p:nvSpPr>
          <p:cNvPr id="20" name="Target 4 circle"/>
          <p:cNvSpPr/>
          <p:nvPr/>
        </p:nvSpPr>
        <p:spPr>
          <a:xfrm>
            <a:off x="6949440" y="1481328"/>
            <a:ext cx="475488" cy="475488"/>
          </a:xfrm>
          <a:prstGeom prst="ellipse">
            <a:avLst/>
          </a:prstGeom>
          <a:solidFill>
            <a:schemeClr val="bg1"/>
          </a:solidFill>
          <a:ln/>
        </p:spPr>
      </p:sp>
      <p:pic>
        <p:nvPicPr>
          <p:cNvPr id="21" name="Target 4 icon" descr="Target 4">    </p:cNvPr>
          <p:cNvPicPr>
            <a:picLocks noChangeAspect="1"/>
          </p:cNvPicPr>
          <p:nvPr/>
        </p:nvPicPr>
        <p:blipFill>
          <a:blip r:embed="rId4"/>
          <a:stretch>
            <a:fillRect/>
          </a:stretch>
        </p:blipFill>
        <p:spPr>
          <a:xfrm>
            <a:off x="7077822" y="1609710"/>
            <a:ext cx="218724" cy="218724"/>
          </a:xfrm>
          <a:prstGeom prst="rect">
            <a:avLst/>
          </a:prstGeom>
        </p:spPr>
      </p:pic>
      <p:sp>
        <p:nvSpPr>
          <p:cNvPr id="22" name="Target value 4"/>
          <p:cNvSpPr txBox="1"/>
          <p:nvPr/>
        </p:nvSpPr>
        <p:spPr>
          <a:xfrm>
            <a:off x="6949440" y="2057400"/>
            <a:ext cx="1600200" cy="548640"/>
          </a:xfrm>
          <a:prstGeom prst="rect">
            <a:avLst/>
          </a:prstGeom>
          <a:noFill/>
          <a:ln/>
        </p:spPr>
        <p:txBody>
          <a:bodyPr wrap="square" lIns="0" tIns="0" rIns="0" bIns="0" rtlCol="0" anchor="ctr"/>
          <a:lstStyle/>
          <a:p>
            <a:pPr indent="0" marL="0">
              <a:buNone/>
            </a:pPr>
            <a:r>
              <a:rPr lang="en-US" sz="3400" b="1" dirty="0">
                <a:solidFill>
                  <a:schemeClr val="bg1"/>
                </a:solidFill>
                <a:latin typeface="Cambria" pitchFamily="34" charset="0"/>
                <a:ea typeface="Cambria" pitchFamily="34" charset="-122"/>
                <a:cs typeface="Cambria" pitchFamily="34" charset="-120"/>
              </a:rPr>
              <a:t>+10</a:t>
            </a:r>
            <a:endParaRPr lang="en-US" sz="3400" dirty="0"/>
          </a:p>
        </p:txBody>
      </p:sp>
      <p:sp>
        <p:nvSpPr>
          <p:cNvPr id="23" name="Target label 4"/>
          <p:cNvSpPr txBox="1"/>
          <p:nvPr/>
        </p:nvSpPr>
        <p:spPr>
          <a:xfrm>
            <a:off x="6949440" y="2633472"/>
            <a:ext cx="1600200" cy="502920"/>
          </a:xfrm>
          <a:prstGeom prst="rect">
            <a:avLst/>
          </a:prstGeom>
          <a:noFill/>
          <a:ln/>
        </p:spPr>
        <p:txBody>
          <a:bodyPr wrap="square" lIns="0" tIns="0" rIns="0" bIns="0" rtlCol="0" anchor="t"/>
          <a:lstStyle/>
          <a:p>
            <a:pPr indent="0" marL="0">
              <a:buNone/>
            </a:pPr>
            <a:r>
              <a:rPr lang="en-US" sz="1200" dirty="0">
                <a:solidFill>
                  <a:schemeClr val="bg1"/>
                </a:solidFill>
              </a:rPr>
              <a:t>extra customers every day</a:t>
            </a:r>
            <a:endParaRPr lang="en-US" sz="1200" dirty="0"/>
          </a:p>
        </p:txBody>
      </p:sp>
      <p:sp>
        <p:nvSpPr>
          <p:cNvPr id="24" name="Report box"/>
          <p:cNvSpPr/>
          <p:nvPr/>
        </p:nvSpPr>
        <p:spPr>
          <a:xfrm>
            <a:off x="457200" y="3383280"/>
            <a:ext cx="8229600" cy="868680"/>
          </a:xfrm>
          <a:prstGeom prst="roundRect">
            <a:avLst>
              <a:gd name="adj" fmla="val 12632"/>
            </a:avLst>
          </a:prstGeom>
          <a:solidFill>
            <a:schemeClr val="tx2"/>
          </a:solidFill>
          <a:ln/>
        </p:spPr>
      </p:sp>
      <p:sp>
        <p:nvSpPr>
          <p:cNvPr id="25" name="Weekly report circle"/>
          <p:cNvSpPr/>
          <p:nvPr/>
        </p:nvSpPr>
        <p:spPr>
          <a:xfrm>
            <a:off x="685800" y="3538728"/>
            <a:ext cx="548640" cy="548640"/>
          </a:xfrm>
          <a:prstGeom prst="ellipse">
            <a:avLst/>
          </a:prstGeom>
          <a:solidFill>
            <a:schemeClr val="accent4"/>
          </a:solidFill>
          <a:ln/>
        </p:spPr>
      </p:sp>
      <p:pic>
        <p:nvPicPr>
          <p:cNvPr id="26" name="Weekly report icon" descr="Weekly report">    </p:cNvPr>
          <p:cNvPicPr>
            <a:picLocks noChangeAspect="1"/>
          </p:cNvPicPr>
          <p:nvPr/>
        </p:nvPicPr>
        <p:blipFill>
          <a:blip r:embed="rId5"/>
          <a:stretch>
            <a:fillRect/>
          </a:stretch>
        </p:blipFill>
        <p:spPr>
          <a:xfrm>
            <a:off x="833933" y="3686861"/>
            <a:ext cx="252374" cy="252374"/>
          </a:xfrm>
          <a:prstGeom prst="rect">
            <a:avLst/>
          </a:prstGeom>
        </p:spPr>
      </p:pic>
      <p:sp>
        <p:nvSpPr>
          <p:cNvPr id="27" name="Report text"/>
          <p:cNvSpPr txBox="1"/>
          <p:nvPr/>
        </p:nvSpPr>
        <p:spPr>
          <a:xfrm>
            <a:off x="1463040" y="3383280"/>
            <a:ext cx="7040880" cy="868680"/>
          </a:xfrm>
          <a:prstGeom prst="rect">
            <a:avLst/>
          </a:prstGeom>
          <a:noFill/>
          <a:ln/>
        </p:spPr>
        <p:txBody>
          <a:bodyPr wrap="square" lIns="0" tIns="0" rIns="0" bIns="0" rtlCol="0" anchor="ctr"/>
          <a:lstStyle/>
          <a:p>
            <a:pPr indent="0" marL="0">
              <a:buNone/>
            </a:pPr>
            <a:r>
              <a:rPr lang="en-US" sz="1700" b="1" dirty="0">
                <a:solidFill>
                  <a:schemeClr val="bg1"/>
                </a:solidFill>
              </a:rPr>
              <a:t>You see every number, every week</a:t>
            </a:r>
            <a:endParaRPr lang="en-US" sz="1700" dirty="0"/>
          </a:p>
          <a:p>
            <a:pPr indent="0" marL="0">
              <a:buNone/>
            </a:pPr>
            <a:r>
              <a:rPr lang="en-US" sz="1300" dirty="0">
                <a:solidFill>
                  <a:schemeClr val="accent2"/>
                </a:solidFill>
              </a:rPr>
              <a:t>A simple weekly report: reach, followers, messages, visits and sales</a:t>
            </a:r>
            <a:endParaRPr lang="en-US" sz="1700" dirty="0"/>
          </a:p>
        </p:txBody>
      </p:sp>
      <p:sp>
        <p:nvSpPr>
          <p:cNvPr id="28" name="Targets footnote"/>
          <p:cNvSpPr txBox="1"/>
          <p:nvPr/>
        </p:nvSpPr>
        <p:spPr>
          <a:xfrm>
            <a:off x="457200" y="434340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Targets are based on a 4,000 EGP monthly ad budget and are confirmed after the week-1 review.</a:t>
            </a:r>
            <a:endParaRPr lang="en-US" sz="10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09  RETURN ON INVESTMENT</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The Plan Pays for Itself</a:t>
            </a:r>
            <a:endParaRPr lang="en-US" sz="3200" dirty="0"/>
          </a:p>
        </p:txBody>
      </p:sp>
      <p:sp>
        <p:nvSpPr>
          <p:cNvPr id="4" name="Equation box 1"/>
          <p:cNvSpPr/>
          <p:nvPr/>
        </p:nvSpPr>
        <p:spPr>
          <a:xfrm>
            <a:off x="457200" y="1325880"/>
            <a:ext cx="2438430" cy="1143000"/>
          </a:xfrm>
          <a:prstGeom prst="roundRect">
            <a:avLst>
              <a:gd name="adj" fmla="val 9600"/>
            </a:avLst>
          </a:prstGeom>
          <a:solidFill>
            <a:schemeClr val="bg2"/>
          </a:solidFill>
          <a:ln/>
        </p:spPr>
      </p:sp>
      <p:sp>
        <p:nvSpPr>
          <p:cNvPr id="5" name="Equation text 1"/>
          <p:cNvSpPr txBox="1"/>
          <p:nvPr/>
        </p:nvSpPr>
        <p:spPr>
          <a:xfrm>
            <a:off x="640080" y="1325880"/>
            <a:ext cx="2072670" cy="1143000"/>
          </a:xfrm>
          <a:prstGeom prst="rect">
            <a:avLst/>
          </a:prstGeom>
          <a:noFill/>
          <a:ln/>
        </p:spPr>
        <p:txBody>
          <a:bodyPr wrap="square" lIns="0" tIns="0" rIns="0" bIns="0" rtlCol="0" anchor="ctr"/>
          <a:lstStyle/>
          <a:p>
            <a:pPr algn="ctr" indent="0" marL="0">
              <a:buNone/>
            </a:pPr>
            <a:r>
              <a:rPr lang="en-US" sz="2800" b="1" dirty="0">
                <a:solidFill>
                  <a:schemeClr val="tx2"/>
                </a:solidFill>
                <a:latin typeface="Cambria" pitchFamily="34" charset="0"/>
                <a:ea typeface="Cambria" pitchFamily="34" charset="-122"/>
                <a:cs typeface="Cambria" pitchFamily="34" charset="-120"/>
              </a:rPr>
              <a:t>13,000 EGP</a:t>
            </a:r>
            <a:endParaRPr lang="en-US" sz="2800" dirty="0"/>
          </a:p>
          <a:p>
            <a:pPr algn="ctr" indent="0" marL="0">
              <a:buNone/>
            </a:pPr>
            <a:r>
              <a:rPr lang="en-US" sz="1300" dirty="0">
                <a:solidFill>
                  <a:schemeClr val="accent5"/>
                </a:solidFill>
              </a:rPr>
              <a:t>monthly investment</a:t>
            </a:r>
            <a:endParaRPr lang="en-US" sz="2800" dirty="0"/>
          </a:p>
        </p:txBody>
      </p:sp>
      <p:sp>
        <p:nvSpPr>
          <p:cNvPr id="6" name="Operator 1"/>
          <p:cNvSpPr txBox="1"/>
          <p:nvPr/>
        </p:nvSpPr>
        <p:spPr>
          <a:xfrm>
            <a:off x="2895630" y="1325880"/>
            <a:ext cx="457200" cy="1143000"/>
          </a:xfrm>
          <a:prstGeom prst="rect">
            <a:avLst/>
          </a:prstGeom>
          <a:noFill/>
          <a:ln/>
        </p:spPr>
        <p:txBody>
          <a:bodyPr wrap="square" lIns="0" tIns="0" rIns="0" bIns="0" rtlCol="0" anchor="ctr"/>
          <a:lstStyle/>
          <a:p>
            <a:pPr algn="ctr" indent="0" marL="0">
              <a:buNone/>
            </a:pPr>
            <a:r>
              <a:rPr lang="en-US" sz="3000" b="1" dirty="0">
                <a:solidFill>
                  <a:schemeClr val="accent1"/>
                </a:solidFill>
              </a:rPr>
              <a:t>÷</a:t>
            </a:r>
            <a:endParaRPr lang="en-US" sz="3000" dirty="0"/>
          </a:p>
        </p:txBody>
      </p:sp>
      <p:sp>
        <p:nvSpPr>
          <p:cNvPr id="7" name="Equation box 2"/>
          <p:cNvSpPr/>
          <p:nvPr/>
        </p:nvSpPr>
        <p:spPr>
          <a:xfrm>
            <a:off x="3352830" y="1325880"/>
            <a:ext cx="2438430" cy="1143000"/>
          </a:xfrm>
          <a:prstGeom prst="roundRect">
            <a:avLst>
              <a:gd name="adj" fmla="val 9600"/>
            </a:avLst>
          </a:prstGeom>
          <a:solidFill>
            <a:schemeClr val="bg2"/>
          </a:solidFill>
          <a:ln/>
        </p:spPr>
      </p:sp>
      <p:sp>
        <p:nvSpPr>
          <p:cNvPr id="8" name="Equation text 2"/>
          <p:cNvSpPr txBox="1"/>
          <p:nvPr/>
        </p:nvSpPr>
        <p:spPr>
          <a:xfrm>
            <a:off x="3535710" y="1325880"/>
            <a:ext cx="2072670" cy="1143000"/>
          </a:xfrm>
          <a:prstGeom prst="rect">
            <a:avLst/>
          </a:prstGeom>
          <a:noFill/>
          <a:ln/>
        </p:spPr>
        <p:txBody>
          <a:bodyPr wrap="square" lIns="0" tIns="0" rIns="0" bIns="0" rtlCol="0" anchor="ctr"/>
          <a:lstStyle/>
          <a:p>
            <a:pPr algn="ctr" indent="0" marL="0">
              <a:buNone/>
            </a:pPr>
            <a:r>
              <a:rPr lang="en-US" sz="2800" b="1" dirty="0">
                <a:solidFill>
                  <a:schemeClr val="tx2"/>
                </a:solidFill>
                <a:latin typeface="Cambria" pitchFamily="34" charset="0"/>
                <a:ea typeface="Cambria" pitchFamily="34" charset="-122"/>
                <a:cs typeface="Cambria" pitchFamily="34" charset="-120"/>
              </a:rPr>
              <a:t>100 EGP</a:t>
            </a:r>
            <a:endParaRPr lang="en-US" sz="2800" dirty="0"/>
          </a:p>
          <a:p>
            <a:pPr algn="ctr" indent="0" marL="0">
              <a:buNone/>
            </a:pPr>
            <a:r>
              <a:rPr lang="en-US" sz="1300" dirty="0">
                <a:solidFill>
                  <a:schemeClr val="accent5"/>
                </a:solidFill>
              </a:rPr>
              <a:t>profit per customer*</a:t>
            </a:r>
            <a:endParaRPr lang="en-US" sz="2800" dirty="0"/>
          </a:p>
        </p:txBody>
      </p:sp>
      <p:sp>
        <p:nvSpPr>
          <p:cNvPr id="9" name="Operator 2"/>
          <p:cNvSpPr txBox="1"/>
          <p:nvPr/>
        </p:nvSpPr>
        <p:spPr>
          <a:xfrm>
            <a:off x="5791261" y="1325880"/>
            <a:ext cx="457200" cy="1143000"/>
          </a:xfrm>
          <a:prstGeom prst="rect">
            <a:avLst/>
          </a:prstGeom>
          <a:noFill/>
          <a:ln/>
        </p:spPr>
        <p:txBody>
          <a:bodyPr wrap="square" lIns="0" tIns="0" rIns="0" bIns="0" rtlCol="0" anchor="ctr"/>
          <a:lstStyle/>
          <a:p>
            <a:pPr algn="ctr" indent="0" marL="0">
              <a:buNone/>
            </a:pPr>
            <a:r>
              <a:rPr lang="en-US" sz="3000" b="1" dirty="0">
                <a:solidFill>
                  <a:schemeClr val="accent1"/>
                </a:solidFill>
              </a:rPr>
              <a:t>=</a:t>
            </a:r>
            <a:endParaRPr lang="en-US" sz="3000" dirty="0"/>
          </a:p>
        </p:txBody>
      </p:sp>
      <p:sp>
        <p:nvSpPr>
          <p:cNvPr id="10" name="Equation box 3"/>
          <p:cNvSpPr/>
          <p:nvPr/>
        </p:nvSpPr>
        <p:spPr>
          <a:xfrm>
            <a:off x="6248461" y="1325880"/>
            <a:ext cx="2438430" cy="1143000"/>
          </a:xfrm>
          <a:prstGeom prst="roundRect">
            <a:avLst>
              <a:gd name="adj" fmla="val 9600"/>
            </a:avLst>
          </a:prstGeom>
          <a:solidFill>
            <a:schemeClr val="tx2"/>
          </a:solidFill>
          <a:ln/>
        </p:spPr>
      </p:sp>
      <p:sp>
        <p:nvSpPr>
          <p:cNvPr id="11" name="Equation text 3"/>
          <p:cNvSpPr txBox="1"/>
          <p:nvPr/>
        </p:nvSpPr>
        <p:spPr>
          <a:xfrm>
            <a:off x="6431341" y="1325880"/>
            <a:ext cx="2072670" cy="1143000"/>
          </a:xfrm>
          <a:prstGeom prst="rect">
            <a:avLst/>
          </a:prstGeom>
          <a:noFill/>
          <a:ln/>
        </p:spPr>
        <p:txBody>
          <a:bodyPr wrap="square" lIns="0" tIns="0" rIns="0" bIns="0" rtlCol="0" anchor="ctr"/>
          <a:lstStyle/>
          <a:p>
            <a:pPr algn="ctr" indent="0" marL="0">
              <a:buNone/>
            </a:pPr>
            <a:r>
              <a:rPr lang="en-US" sz="2800" b="1" dirty="0">
                <a:solidFill>
                  <a:schemeClr val="bg1"/>
                </a:solidFill>
                <a:latin typeface="Cambria" pitchFamily="34" charset="0"/>
                <a:ea typeface="Cambria" pitchFamily="34" charset="-122"/>
                <a:cs typeface="Cambria" pitchFamily="34" charset="-120"/>
              </a:rPr>
              <a:t>130</a:t>
            </a:r>
            <a:endParaRPr lang="en-US" sz="2800" dirty="0"/>
          </a:p>
          <a:p>
            <a:pPr algn="ctr" indent="0" marL="0">
              <a:buNone/>
            </a:pPr>
            <a:r>
              <a:rPr lang="en-US" sz="1300" dirty="0">
                <a:solidFill>
                  <a:schemeClr val="accent2"/>
                </a:solidFill>
              </a:rPr>
              <a:t>customers a month</a:t>
            </a:r>
            <a:endParaRPr lang="en-US" sz="2800" dirty="0"/>
          </a:p>
        </p:txBody>
      </p:sp>
      <p:sp>
        <p:nvSpPr>
          <p:cNvPr id="12" name="Break-even callout"/>
          <p:cNvSpPr/>
          <p:nvPr/>
        </p:nvSpPr>
        <p:spPr>
          <a:xfrm>
            <a:off x="457200" y="2697480"/>
            <a:ext cx="3840480" cy="1600200"/>
          </a:xfrm>
          <a:prstGeom prst="roundRect">
            <a:avLst>
              <a:gd name="adj" fmla="val 6857"/>
            </a:avLst>
          </a:prstGeom>
          <a:solidFill>
            <a:schemeClr val="accent4"/>
          </a:solidFill>
          <a:ln/>
        </p:spPr>
      </p:sp>
      <p:sp>
        <p:nvSpPr>
          <p:cNvPr id="13" name="Break-even text"/>
          <p:cNvSpPr txBox="1"/>
          <p:nvPr/>
        </p:nvSpPr>
        <p:spPr>
          <a:xfrm>
            <a:off x="685800" y="2697480"/>
            <a:ext cx="3429000" cy="1600200"/>
          </a:xfrm>
          <a:prstGeom prst="rect">
            <a:avLst/>
          </a:prstGeom>
          <a:noFill/>
          <a:ln/>
        </p:spPr>
        <p:txBody>
          <a:bodyPr wrap="square" lIns="0" tIns="0" rIns="0" bIns="0" rtlCol="0" anchor="ctr"/>
          <a:lstStyle/>
          <a:p>
            <a:pPr indent="0" marL="0">
              <a:buNone/>
            </a:pPr>
            <a:r>
              <a:rPr lang="en-US" sz="3200" b="1" dirty="0">
                <a:solidFill>
                  <a:schemeClr val="bg1"/>
                </a:solidFill>
                <a:latin typeface="Cambria" pitchFamily="34" charset="0"/>
                <a:ea typeface="Cambria" pitchFamily="34" charset="-122"/>
                <a:cs typeface="Cambria" pitchFamily="34" charset="-120"/>
              </a:rPr>
              <a:t>Less than 5</a:t>
            </a:r>
            <a:endParaRPr lang="en-US" sz="3200" dirty="0"/>
          </a:p>
          <a:p>
            <a:pPr indent="0" marL="0">
              <a:buNone/>
            </a:pPr>
            <a:r>
              <a:rPr lang="en-US" sz="1500" dirty="0">
                <a:solidFill>
                  <a:schemeClr val="bg1"/>
                </a:solidFill>
              </a:rPr>
              <a:t>extra customers a day covers the full cost. Our target is 10.</a:t>
            </a:r>
            <a:endParaRPr lang="en-US" sz="3200" dirty="0"/>
          </a:p>
        </p:txBody>
      </p:sp>
      <p:graphicFrame>
        <p:nvGraphicFramePr>
          <p:cNvPr id="14" name="Investment vs gain chart" descr=""/>
          <p:cNvGraphicFramePr/>
          <p:nvPr/>
        </p:nvGraphicFramePr>
        <p:xfrm>
          <a:off x="4526280" y="2606040"/>
          <a:ext cx="4160520" cy="1783080"/>
        </p:xfrm>
        <a:graphic xmlns:a="http://schemas.openxmlformats.org/drawingml/2006/main">
          <a:graphicData uri="http://schemas.openxmlformats.org/drawingml/2006/chart">
            <c:chart xmlns:c="http://schemas.openxmlformats.org/drawingml/2006/chart" r:id="rId1"/>
          </a:graphicData>
        </a:graphic>
      </p:graphicFrame>
      <p:sp>
        <p:nvSpPr>
          <p:cNvPr id="15" name="ROI footnote"/>
          <p:cNvSpPr txBox="1"/>
          <p:nvPr/>
        </p:nvSpPr>
        <p:spPr>
          <a:xfrm>
            <a:off x="457200" y="43891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*Assumes an average bill of 150 EGP and about 65% margin after ingredients. At target: 10 customers × 30 days × 100 EGP = 30,000 EGP.</a:t>
            </a:r>
            <a:endParaRPr lang="en-US" sz="10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10  FUTURE WORK</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After the First Month</a:t>
            </a:r>
            <a:endParaRPr lang="en-US" sz="3200" dirty="0"/>
          </a:p>
        </p:txBody>
      </p:sp>
      <p:sp>
        <p:nvSpPr>
          <p:cNvPr id="4" name="Growth step 1"/>
          <p:cNvSpPr/>
          <p:nvPr/>
        </p:nvSpPr>
        <p:spPr>
          <a:xfrm>
            <a:off x="457200" y="3383280"/>
            <a:ext cx="1517904" cy="1143000"/>
          </a:xfrm>
          <a:prstGeom prst="roundRect">
            <a:avLst>
              <a:gd name="adj" fmla="val 8000"/>
            </a:avLst>
          </a:prstGeom>
          <a:solidFill>
            <a:schemeClr val="bg2"/>
          </a:solidFill>
          <a:ln/>
        </p:spPr>
      </p:sp>
      <p:sp>
        <p:nvSpPr>
          <p:cNvPr id="5" name="Food influencers circle"/>
          <p:cNvSpPr/>
          <p:nvPr/>
        </p:nvSpPr>
        <p:spPr>
          <a:xfrm>
            <a:off x="941832" y="2724912"/>
            <a:ext cx="548640" cy="548640"/>
          </a:xfrm>
          <a:prstGeom prst="ellipse">
            <a:avLst/>
          </a:prstGeom>
          <a:solidFill>
            <a:schemeClr val="accent1"/>
          </a:solidFill>
          <a:ln/>
        </p:spPr>
      </p:sp>
      <p:pic>
        <p:nvPicPr>
          <p:cNvPr id="6" name="Food influencers icon" descr="Food influencers">    </p:cNvPr>
          <p:cNvPicPr>
            <a:picLocks noChangeAspect="1"/>
          </p:cNvPicPr>
          <p:nvPr/>
        </p:nvPicPr>
        <p:blipFill>
          <a:blip r:embed="rId1"/>
          <a:stretch>
            <a:fillRect/>
          </a:stretch>
        </p:blipFill>
        <p:spPr>
          <a:xfrm>
            <a:off x="1089965" y="2873045"/>
            <a:ext cx="252374" cy="252374"/>
          </a:xfrm>
          <a:prstGeom prst="rect">
            <a:avLst/>
          </a:prstGeom>
        </p:spPr>
      </p:pic>
      <p:sp>
        <p:nvSpPr>
          <p:cNvPr id="7" name="Growth text 1"/>
          <p:cNvSpPr txBox="1"/>
          <p:nvPr/>
        </p:nvSpPr>
        <p:spPr>
          <a:xfrm>
            <a:off x="566928" y="3493008"/>
            <a:ext cx="1298448" cy="685800"/>
          </a:xfrm>
          <a:prstGeom prst="rect">
            <a:avLst/>
          </a:prstGeom>
          <a:noFill/>
          <a:ln/>
        </p:spPr>
        <p:txBody>
          <a:bodyPr wrap="square" lIns="0" tIns="0" rIns="0" bIns="0" rtlCol="0" anchor="t"/>
          <a:lstStyle/>
          <a:p>
            <a:pPr indent="0" marL="0">
              <a:buNone/>
            </a:pPr>
            <a:r>
              <a:rPr lang="en-US" sz="1400" b="1" dirty="0">
                <a:solidFill>
                  <a:schemeClr val="tx2"/>
                </a:solidFill>
              </a:rPr>
              <a:t>Food influencers</a:t>
            </a:r>
            <a:endParaRPr lang="en-US" sz="1400" dirty="0"/>
          </a:p>
        </p:txBody>
      </p:sp>
      <p:sp>
        <p:nvSpPr>
          <p:cNvPr id="8" name="Growth step 2"/>
          <p:cNvSpPr/>
          <p:nvPr/>
        </p:nvSpPr>
        <p:spPr>
          <a:xfrm>
            <a:off x="2139696" y="3090672"/>
            <a:ext cx="1517904" cy="1435608"/>
          </a:xfrm>
          <a:prstGeom prst="roundRect">
            <a:avLst>
              <a:gd name="adj" fmla="val 6369"/>
            </a:avLst>
          </a:prstGeom>
          <a:solidFill>
            <a:schemeClr val="accent2"/>
          </a:solidFill>
          <a:ln/>
        </p:spPr>
      </p:sp>
      <p:sp>
        <p:nvSpPr>
          <p:cNvPr id="9" name="Loyalty programs circle"/>
          <p:cNvSpPr/>
          <p:nvPr/>
        </p:nvSpPr>
        <p:spPr>
          <a:xfrm>
            <a:off x="2624328" y="2432304"/>
            <a:ext cx="548640" cy="548640"/>
          </a:xfrm>
          <a:prstGeom prst="ellipse">
            <a:avLst/>
          </a:prstGeom>
          <a:solidFill>
            <a:schemeClr val="accent1"/>
          </a:solidFill>
          <a:ln/>
        </p:spPr>
      </p:sp>
      <p:pic>
        <p:nvPicPr>
          <p:cNvPr id="10" name="Loyalty programs icon" descr="Loyalty programs">    </p:cNvPr>
          <p:cNvPicPr>
            <a:picLocks noChangeAspect="1"/>
          </p:cNvPicPr>
          <p:nvPr/>
        </p:nvPicPr>
        <p:blipFill>
          <a:blip r:embed="rId2"/>
          <a:stretch>
            <a:fillRect/>
          </a:stretch>
        </p:blipFill>
        <p:spPr>
          <a:xfrm>
            <a:off x="2772461" y="2580437"/>
            <a:ext cx="252374" cy="252374"/>
          </a:xfrm>
          <a:prstGeom prst="rect">
            <a:avLst/>
          </a:prstGeom>
        </p:spPr>
      </p:pic>
      <p:sp>
        <p:nvSpPr>
          <p:cNvPr id="11" name="Growth text 2"/>
          <p:cNvSpPr txBox="1"/>
          <p:nvPr/>
        </p:nvSpPr>
        <p:spPr>
          <a:xfrm>
            <a:off x="2249424" y="3200400"/>
            <a:ext cx="1298448" cy="685800"/>
          </a:xfrm>
          <a:prstGeom prst="rect">
            <a:avLst/>
          </a:prstGeom>
          <a:noFill/>
          <a:ln/>
        </p:spPr>
        <p:txBody>
          <a:bodyPr wrap="square" lIns="0" tIns="0" rIns="0" bIns="0" rtlCol="0" anchor="t"/>
          <a:lstStyle/>
          <a:p>
            <a:pPr indent="0" marL="0">
              <a:buNone/>
            </a:pPr>
            <a:r>
              <a:rPr lang="en-US" sz="1400" b="1" dirty="0">
                <a:solidFill>
                  <a:schemeClr val="tx2"/>
                </a:solidFill>
              </a:rPr>
              <a:t>Loyalty programs</a:t>
            </a:r>
            <a:endParaRPr lang="en-US" sz="1400" dirty="0"/>
          </a:p>
        </p:txBody>
      </p:sp>
      <p:sp>
        <p:nvSpPr>
          <p:cNvPr id="12" name="Growth step 3"/>
          <p:cNvSpPr/>
          <p:nvPr/>
        </p:nvSpPr>
        <p:spPr>
          <a:xfrm>
            <a:off x="3822192" y="2798064"/>
            <a:ext cx="1517904" cy="1728216"/>
          </a:xfrm>
          <a:prstGeom prst="roundRect">
            <a:avLst>
              <a:gd name="adj" fmla="val 6024"/>
            </a:avLst>
          </a:prstGeom>
          <a:solidFill>
            <a:schemeClr val="accent4"/>
          </a:solidFill>
          <a:ln/>
        </p:spPr>
      </p:sp>
      <p:sp>
        <p:nvSpPr>
          <p:cNvPr id="13" name="Seasonal offers circle"/>
          <p:cNvSpPr/>
          <p:nvPr/>
        </p:nvSpPr>
        <p:spPr>
          <a:xfrm>
            <a:off x="4306824" y="2139696"/>
            <a:ext cx="548640" cy="548640"/>
          </a:xfrm>
          <a:prstGeom prst="ellipse">
            <a:avLst/>
          </a:prstGeom>
          <a:solidFill>
            <a:schemeClr val="accent1"/>
          </a:solidFill>
          <a:ln/>
        </p:spPr>
      </p:sp>
      <p:pic>
        <p:nvPicPr>
          <p:cNvPr id="14" name="Seasonal offers icon" descr="Seasonal offers">    </p:cNvPr>
          <p:cNvPicPr>
            <a:picLocks noChangeAspect="1"/>
          </p:cNvPicPr>
          <p:nvPr/>
        </p:nvPicPr>
        <p:blipFill>
          <a:blip r:embed="rId3"/>
          <a:stretch>
            <a:fillRect/>
          </a:stretch>
        </p:blipFill>
        <p:spPr>
          <a:xfrm>
            <a:off x="4454957" y="2287829"/>
            <a:ext cx="252374" cy="252374"/>
          </a:xfrm>
          <a:prstGeom prst="rect">
            <a:avLst/>
          </a:prstGeom>
        </p:spPr>
      </p:pic>
      <p:sp>
        <p:nvSpPr>
          <p:cNvPr id="15" name="Growth text 3"/>
          <p:cNvSpPr txBox="1"/>
          <p:nvPr/>
        </p:nvSpPr>
        <p:spPr>
          <a:xfrm>
            <a:off x="3931920" y="2907792"/>
            <a:ext cx="1298448" cy="685800"/>
          </a:xfrm>
          <a:prstGeom prst="rect">
            <a:avLst/>
          </a:prstGeom>
          <a:noFill/>
          <a:ln/>
        </p:spPr>
        <p:txBody>
          <a:bodyPr wrap="square" lIns="0" tIns="0" rIns="0" bIns="0" rtlCol="0" anchor="t"/>
          <a:lstStyle/>
          <a:p>
            <a:pPr indent="0" marL="0">
              <a:buNone/>
            </a:pPr>
            <a:r>
              <a:rPr lang="en-US" sz="1400" b="1" dirty="0">
                <a:solidFill>
                  <a:schemeClr val="bg1"/>
                </a:solidFill>
              </a:rPr>
              <a:t>Seasonal offers</a:t>
            </a:r>
            <a:endParaRPr lang="en-US" sz="1400" dirty="0"/>
          </a:p>
        </p:txBody>
      </p:sp>
      <p:sp>
        <p:nvSpPr>
          <p:cNvPr id="16" name="Growth step 4"/>
          <p:cNvSpPr/>
          <p:nvPr/>
        </p:nvSpPr>
        <p:spPr>
          <a:xfrm>
            <a:off x="5504688" y="2505456"/>
            <a:ext cx="1517904" cy="2020824"/>
          </a:xfrm>
          <a:prstGeom prst="roundRect">
            <a:avLst>
              <a:gd name="adj" fmla="val 6024"/>
            </a:avLst>
          </a:prstGeom>
          <a:solidFill>
            <a:schemeClr val="accent3"/>
          </a:solidFill>
          <a:ln/>
        </p:spPr>
      </p:sp>
      <p:sp>
        <p:nvSpPr>
          <p:cNvPr id="17" name="Expand the best ads circle"/>
          <p:cNvSpPr/>
          <p:nvPr/>
        </p:nvSpPr>
        <p:spPr>
          <a:xfrm>
            <a:off x="5989320" y="1847088"/>
            <a:ext cx="548640" cy="548640"/>
          </a:xfrm>
          <a:prstGeom prst="ellipse">
            <a:avLst/>
          </a:prstGeom>
          <a:solidFill>
            <a:schemeClr val="accent1"/>
          </a:solidFill>
          <a:ln/>
        </p:spPr>
      </p:sp>
      <p:pic>
        <p:nvPicPr>
          <p:cNvPr id="18" name="Expand the best ads icon" descr="Expand the best ads">    </p:cNvPr>
          <p:cNvPicPr>
            <a:picLocks noChangeAspect="1"/>
          </p:cNvPicPr>
          <p:nvPr/>
        </p:nvPicPr>
        <p:blipFill>
          <a:blip r:embed="rId4"/>
          <a:stretch>
            <a:fillRect/>
          </a:stretch>
        </p:blipFill>
        <p:spPr>
          <a:xfrm>
            <a:off x="6137453" y="1995221"/>
            <a:ext cx="252374" cy="252374"/>
          </a:xfrm>
          <a:prstGeom prst="rect">
            <a:avLst/>
          </a:prstGeom>
        </p:spPr>
      </p:pic>
      <p:sp>
        <p:nvSpPr>
          <p:cNvPr id="19" name="Growth text 4"/>
          <p:cNvSpPr txBox="1"/>
          <p:nvPr/>
        </p:nvSpPr>
        <p:spPr>
          <a:xfrm>
            <a:off x="5614416" y="2615184"/>
            <a:ext cx="1298448" cy="685800"/>
          </a:xfrm>
          <a:prstGeom prst="rect">
            <a:avLst/>
          </a:prstGeom>
          <a:noFill/>
          <a:ln/>
        </p:spPr>
        <p:txBody>
          <a:bodyPr wrap="square" lIns="0" tIns="0" rIns="0" bIns="0" rtlCol="0" anchor="t"/>
          <a:lstStyle/>
          <a:p>
            <a:pPr indent="0" marL="0">
              <a:buNone/>
            </a:pPr>
            <a:r>
              <a:rPr lang="en-US" sz="1400" b="1" dirty="0">
                <a:solidFill>
                  <a:schemeClr val="bg1"/>
                </a:solidFill>
              </a:rPr>
              <a:t>Expand the best ads</a:t>
            </a:r>
            <a:endParaRPr lang="en-US" sz="1400" dirty="0"/>
          </a:p>
        </p:txBody>
      </p:sp>
      <p:sp>
        <p:nvSpPr>
          <p:cNvPr id="20" name="Growth step 5"/>
          <p:cNvSpPr/>
          <p:nvPr/>
        </p:nvSpPr>
        <p:spPr>
          <a:xfrm>
            <a:off x="7187184" y="2212848"/>
            <a:ext cx="1517904" cy="2313432"/>
          </a:xfrm>
          <a:prstGeom prst="roundRect">
            <a:avLst>
              <a:gd name="adj" fmla="val 6024"/>
            </a:avLst>
          </a:prstGeom>
          <a:solidFill>
            <a:schemeClr val="tx2"/>
          </a:solidFill>
          <a:ln/>
        </p:spPr>
      </p:sp>
      <p:sp>
        <p:nvSpPr>
          <p:cNvPr id="21" name="Long-term strategy circle"/>
          <p:cNvSpPr/>
          <p:nvPr/>
        </p:nvSpPr>
        <p:spPr>
          <a:xfrm>
            <a:off x="7671816" y="1554480"/>
            <a:ext cx="548640" cy="548640"/>
          </a:xfrm>
          <a:prstGeom prst="ellipse">
            <a:avLst/>
          </a:prstGeom>
          <a:solidFill>
            <a:schemeClr val="accent1"/>
          </a:solidFill>
          <a:ln/>
        </p:spPr>
      </p:sp>
      <p:pic>
        <p:nvPicPr>
          <p:cNvPr id="22" name="Long-term strategy icon" descr="Long-term strategy">    </p:cNvPr>
          <p:cNvPicPr>
            <a:picLocks noChangeAspect="1"/>
          </p:cNvPicPr>
          <p:nvPr/>
        </p:nvPicPr>
        <p:blipFill>
          <a:blip r:embed="rId5"/>
          <a:stretch>
            <a:fillRect/>
          </a:stretch>
        </p:blipFill>
        <p:spPr>
          <a:xfrm>
            <a:off x="7819949" y="1702613"/>
            <a:ext cx="252374" cy="252374"/>
          </a:xfrm>
          <a:prstGeom prst="rect">
            <a:avLst/>
          </a:prstGeom>
        </p:spPr>
      </p:pic>
      <p:sp>
        <p:nvSpPr>
          <p:cNvPr id="23" name="Growth text 5"/>
          <p:cNvSpPr txBox="1"/>
          <p:nvPr/>
        </p:nvSpPr>
        <p:spPr>
          <a:xfrm>
            <a:off x="7296912" y="2322576"/>
            <a:ext cx="1298448" cy="685800"/>
          </a:xfrm>
          <a:prstGeom prst="rect">
            <a:avLst/>
          </a:prstGeom>
          <a:noFill/>
          <a:ln/>
        </p:spPr>
        <p:txBody>
          <a:bodyPr wrap="square" lIns="0" tIns="0" rIns="0" bIns="0" rtlCol="0" anchor="t"/>
          <a:lstStyle/>
          <a:p>
            <a:pPr indent="0" marL="0">
              <a:buNone/>
            </a:pPr>
            <a:r>
              <a:rPr lang="en-US" sz="1400" b="1" dirty="0">
                <a:solidFill>
                  <a:schemeClr val="bg1"/>
                </a:solidFill>
              </a:rPr>
              <a:t>Long-term strategy</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11  WHY CHOOSE US</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Why Pulse Marketing</a:t>
            </a:r>
            <a:endParaRPr lang="en-US" sz="3200" dirty="0"/>
          </a:p>
        </p:txBody>
      </p:sp>
      <p:sp>
        <p:nvSpPr>
          <p:cNvPr id="4" name="Reason card 1"/>
          <p:cNvSpPr/>
          <p:nvPr/>
        </p:nvSpPr>
        <p:spPr>
          <a:xfrm>
            <a:off x="457200" y="1325880"/>
            <a:ext cx="2606040" cy="1463040"/>
          </a:xfrm>
          <a:prstGeom prst="roundRect">
            <a:avLst>
              <a:gd name="adj" fmla="val 7500"/>
            </a:avLst>
          </a:prstGeom>
          <a:solidFill>
            <a:schemeClr val="bg2"/>
          </a:solidFill>
          <a:ln/>
        </p:spPr>
      </p:sp>
      <p:sp>
        <p:nvSpPr>
          <p:cNvPr id="5" name="Café specialists circle"/>
          <p:cNvSpPr/>
          <p:nvPr/>
        </p:nvSpPr>
        <p:spPr>
          <a:xfrm>
            <a:off x="640080" y="1527048"/>
            <a:ext cx="502920" cy="502920"/>
          </a:xfrm>
          <a:prstGeom prst="ellipse">
            <a:avLst/>
          </a:prstGeom>
          <a:solidFill>
            <a:schemeClr val="accent1"/>
          </a:solidFill>
          <a:ln/>
        </p:spPr>
      </p:sp>
      <p:pic>
        <p:nvPicPr>
          <p:cNvPr id="6" name="Café specialists icon" descr="Café specialists">    </p:cNvPr>
          <p:cNvPicPr>
            <a:picLocks noChangeAspect="1"/>
          </p:cNvPicPr>
          <p:nvPr/>
        </p:nvPicPr>
        <p:blipFill>
          <a:blip r:embed="rId1"/>
          <a:stretch>
            <a:fillRect/>
          </a:stretch>
        </p:blipFill>
        <p:spPr>
          <a:xfrm>
            <a:off x="775868" y="1662836"/>
            <a:ext cx="231343" cy="231343"/>
          </a:xfrm>
          <a:prstGeom prst="rect">
            <a:avLst/>
          </a:prstGeom>
        </p:spPr>
      </p:pic>
      <p:sp>
        <p:nvSpPr>
          <p:cNvPr id="7" name="Reason title 1"/>
          <p:cNvSpPr txBox="1"/>
          <p:nvPr/>
        </p:nvSpPr>
        <p:spPr>
          <a:xfrm>
            <a:off x="1280160" y="1527048"/>
            <a:ext cx="1691640" cy="502920"/>
          </a:xfrm>
          <a:prstGeom prst="rect">
            <a:avLst/>
          </a:prstGeom>
          <a:noFill/>
          <a:ln/>
        </p:spPr>
        <p:txBody>
          <a:bodyPr wrap="square" lIns="0" tIns="0" rIns="0" bIns="0" rtlCol="0" anchor="ctr"/>
          <a:lstStyle/>
          <a:p>
            <a:pPr indent="0" marL="0">
              <a:buNone/>
            </a:pPr>
            <a:r>
              <a:rPr lang="en-US" sz="1500" b="1" dirty="0">
                <a:solidFill>
                  <a:schemeClr val="tx2"/>
                </a:solidFill>
              </a:rPr>
              <a:t>Café specialists</a:t>
            </a:r>
            <a:endParaRPr lang="en-US" sz="1500" dirty="0"/>
          </a:p>
        </p:txBody>
      </p:sp>
      <p:sp>
        <p:nvSpPr>
          <p:cNvPr id="8" name="Reason text 1"/>
          <p:cNvSpPr txBox="1"/>
          <p:nvPr/>
        </p:nvSpPr>
        <p:spPr>
          <a:xfrm>
            <a:off x="640080" y="2148840"/>
            <a:ext cx="2286000" cy="566928"/>
          </a:xfrm>
          <a:prstGeom prst="rect">
            <a:avLst/>
          </a:prstGeom>
          <a:noFill/>
          <a:ln/>
        </p:spPr>
        <p:txBody>
          <a:bodyPr wrap="square" lIns="0" tIns="0" rIns="0" bIns="0" rtlCol="0" anchor="t"/>
          <a:lstStyle/>
          <a:p>
            <a:pPr indent="0" marL="0">
              <a:buNone/>
            </a:pPr>
            <a:r>
              <a:rPr lang="en-US" sz="1300" dirty="0">
                <a:solidFill>
                  <a:schemeClr val="tx1"/>
                </a:solidFill>
              </a:rPr>
              <a:t>We know what brings people into a café</a:t>
            </a:r>
            <a:endParaRPr lang="en-US" sz="1300" dirty="0"/>
          </a:p>
        </p:txBody>
      </p:sp>
      <p:sp>
        <p:nvSpPr>
          <p:cNvPr id="9" name="Reason card 2"/>
          <p:cNvSpPr/>
          <p:nvPr/>
        </p:nvSpPr>
        <p:spPr>
          <a:xfrm>
            <a:off x="3268980" y="1325880"/>
            <a:ext cx="2606040" cy="1463040"/>
          </a:xfrm>
          <a:prstGeom prst="roundRect">
            <a:avLst>
              <a:gd name="adj" fmla="val 7500"/>
            </a:avLst>
          </a:prstGeom>
          <a:solidFill>
            <a:schemeClr val="bg2"/>
          </a:solidFill>
          <a:ln/>
        </p:spPr>
      </p:sp>
      <p:sp>
        <p:nvSpPr>
          <p:cNvPr id="10" name="Your own team circle"/>
          <p:cNvSpPr/>
          <p:nvPr/>
        </p:nvSpPr>
        <p:spPr>
          <a:xfrm>
            <a:off x="3451860" y="1527048"/>
            <a:ext cx="502920" cy="502920"/>
          </a:xfrm>
          <a:prstGeom prst="ellipse">
            <a:avLst/>
          </a:prstGeom>
          <a:solidFill>
            <a:schemeClr val="accent1"/>
          </a:solidFill>
          <a:ln/>
        </p:spPr>
      </p:sp>
      <p:pic>
        <p:nvPicPr>
          <p:cNvPr id="11" name="Your own team icon" descr="Your own team">    </p:cNvPr>
          <p:cNvPicPr>
            <a:picLocks noChangeAspect="1"/>
          </p:cNvPicPr>
          <p:nvPr/>
        </p:nvPicPr>
        <p:blipFill>
          <a:blip r:embed="rId2"/>
          <a:stretch>
            <a:fillRect/>
          </a:stretch>
        </p:blipFill>
        <p:spPr>
          <a:xfrm>
            <a:off x="3587648" y="1662836"/>
            <a:ext cx="231343" cy="231343"/>
          </a:xfrm>
          <a:prstGeom prst="rect">
            <a:avLst/>
          </a:prstGeom>
        </p:spPr>
      </p:pic>
      <p:sp>
        <p:nvSpPr>
          <p:cNvPr id="12" name="Reason title 2"/>
          <p:cNvSpPr txBox="1"/>
          <p:nvPr/>
        </p:nvSpPr>
        <p:spPr>
          <a:xfrm>
            <a:off x="4091940" y="1527048"/>
            <a:ext cx="1691640" cy="502920"/>
          </a:xfrm>
          <a:prstGeom prst="rect">
            <a:avLst/>
          </a:prstGeom>
          <a:noFill/>
          <a:ln/>
        </p:spPr>
        <p:txBody>
          <a:bodyPr wrap="square" lIns="0" tIns="0" rIns="0" bIns="0" rtlCol="0" anchor="ctr"/>
          <a:lstStyle/>
          <a:p>
            <a:pPr indent="0" marL="0">
              <a:buNone/>
            </a:pPr>
            <a:r>
              <a:rPr lang="en-US" sz="1500" b="1" dirty="0">
                <a:solidFill>
                  <a:schemeClr val="tx2"/>
                </a:solidFill>
              </a:rPr>
              <a:t>Your own team</a:t>
            </a:r>
            <a:endParaRPr lang="en-US" sz="1500" dirty="0"/>
          </a:p>
        </p:txBody>
      </p:sp>
      <p:sp>
        <p:nvSpPr>
          <p:cNvPr id="13" name="Reason text 2"/>
          <p:cNvSpPr txBox="1"/>
          <p:nvPr/>
        </p:nvSpPr>
        <p:spPr>
          <a:xfrm>
            <a:off x="3451860" y="2148840"/>
            <a:ext cx="2286000" cy="566928"/>
          </a:xfrm>
          <a:prstGeom prst="rect">
            <a:avLst/>
          </a:prstGeom>
          <a:noFill/>
          <a:ln/>
        </p:spPr>
        <p:txBody>
          <a:bodyPr wrap="square" lIns="0" tIns="0" rIns="0" bIns="0" rtlCol="0" anchor="t"/>
          <a:lstStyle/>
          <a:p>
            <a:pPr indent="0" marL="0">
              <a:buNone/>
            </a:pPr>
            <a:r>
              <a:rPr lang="en-US" sz="1300" dirty="0">
                <a:solidFill>
                  <a:schemeClr val="tx1"/>
                </a:solidFill>
              </a:rPr>
              <a:t>A dedicated manager for The Daily Cup</a:t>
            </a:r>
            <a:endParaRPr lang="en-US" sz="1300" dirty="0"/>
          </a:p>
        </p:txBody>
      </p:sp>
      <p:sp>
        <p:nvSpPr>
          <p:cNvPr id="14" name="Reason card 3"/>
          <p:cNvSpPr/>
          <p:nvPr/>
        </p:nvSpPr>
        <p:spPr>
          <a:xfrm>
            <a:off x="6080760" y="1325880"/>
            <a:ext cx="2606040" cy="1463040"/>
          </a:xfrm>
          <a:prstGeom prst="roundRect">
            <a:avLst>
              <a:gd name="adj" fmla="val 7500"/>
            </a:avLst>
          </a:prstGeom>
          <a:solidFill>
            <a:schemeClr val="bg2"/>
          </a:solidFill>
          <a:ln/>
        </p:spPr>
      </p:sp>
      <p:sp>
        <p:nvSpPr>
          <p:cNvPr id="15" name="Weekly reports circle"/>
          <p:cNvSpPr/>
          <p:nvPr/>
        </p:nvSpPr>
        <p:spPr>
          <a:xfrm>
            <a:off x="6263640" y="1527048"/>
            <a:ext cx="502920" cy="502920"/>
          </a:xfrm>
          <a:prstGeom prst="ellipse">
            <a:avLst/>
          </a:prstGeom>
          <a:solidFill>
            <a:schemeClr val="accent1"/>
          </a:solidFill>
          <a:ln/>
        </p:spPr>
      </p:sp>
      <p:pic>
        <p:nvPicPr>
          <p:cNvPr id="16" name="Weekly reports icon" descr="Weekly reports">    </p:cNvPr>
          <p:cNvPicPr>
            <a:picLocks noChangeAspect="1"/>
          </p:cNvPicPr>
          <p:nvPr/>
        </p:nvPicPr>
        <p:blipFill>
          <a:blip r:embed="rId3"/>
          <a:stretch>
            <a:fillRect/>
          </a:stretch>
        </p:blipFill>
        <p:spPr>
          <a:xfrm>
            <a:off x="6399428" y="1662836"/>
            <a:ext cx="231343" cy="231343"/>
          </a:xfrm>
          <a:prstGeom prst="rect">
            <a:avLst/>
          </a:prstGeom>
        </p:spPr>
      </p:pic>
      <p:sp>
        <p:nvSpPr>
          <p:cNvPr id="17" name="Reason title 3"/>
          <p:cNvSpPr txBox="1"/>
          <p:nvPr/>
        </p:nvSpPr>
        <p:spPr>
          <a:xfrm>
            <a:off x="6903720" y="1527048"/>
            <a:ext cx="1691640" cy="502920"/>
          </a:xfrm>
          <a:prstGeom prst="rect">
            <a:avLst/>
          </a:prstGeom>
          <a:noFill/>
          <a:ln/>
        </p:spPr>
        <p:txBody>
          <a:bodyPr wrap="square" lIns="0" tIns="0" rIns="0" bIns="0" rtlCol="0" anchor="ctr"/>
          <a:lstStyle/>
          <a:p>
            <a:pPr indent="0" marL="0">
              <a:buNone/>
            </a:pPr>
            <a:r>
              <a:rPr lang="en-US" sz="1500" b="1" dirty="0">
                <a:solidFill>
                  <a:schemeClr val="tx2"/>
                </a:solidFill>
              </a:rPr>
              <a:t>Weekly reports</a:t>
            </a:r>
            <a:endParaRPr lang="en-US" sz="1500" dirty="0"/>
          </a:p>
        </p:txBody>
      </p:sp>
      <p:sp>
        <p:nvSpPr>
          <p:cNvPr id="18" name="Reason text 3"/>
          <p:cNvSpPr txBox="1"/>
          <p:nvPr/>
        </p:nvSpPr>
        <p:spPr>
          <a:xfrm>
            <a:off x="6263640" y="2148840"/>
            <a:ext cx="2286000" cy="566928"/>
          </a:xfrm>
          <a:prstGeom prst="rect">
            <a:avLst/>
          </a:prstGeom>
          <a:noFill/>
          <a:ln/>
        </p:spPr>
        <p:txBody>
          <a:bodyPr wrap="square" lIns="0" tIns="0" rIns="0" bIns="0" rtlCol="0" anchor="t"/>
          <a:lstStyle/>
          <a:p>
            <a:pPr indent="0" marL="0">
              <a:buNone/>
            </a:pPr>
            <a:r>
              <a:rPr lang="en-US" sz="1300" dirty="0">
                <a:solidFill>
                  <a:schemeClr val="tx1"/>
                </a:solidFill>
              </a:rPr>
              <a:t>See exactly what your money does</a:t>
            </a:r>
            <a:endParaRPr lang="en-US" sz="1300" dirty="0"/>
          </a:p>
        </p:txBody>
      </p:sp>
      <p:sp>
        <p:nvSpPr>
          <p:cNvPr id="19" name="Reason card 4"/>
          <p:cNvSpPr/>
          <p:nvPr/>
        </p:nvSpPr>
        <p:spPr>
          <a:xfrm>
            <a:off x="457200" y="2971800"/>
            <a:ext cx="2606040" cy="1463040"/>
          </a:xfrm>
          <a:prstGeom prst="roundRect">
            <a:avLst>
              <a:gd name="adj" fmla="val 7500"/>
            </a:avLst>
          </a:prstGeom>
          <a:solidFill>
            <a:schemeClr val="tx2"/>
          </a:solidFill>
          <a:ln/>
        </p:spPr>
      </p:sp>
      <p:sp>
        <p:nvSpPr>
          <p:cNvPr id="20" name="No long-term contract circle"/>
          <p:cNvSpPr/>
          <p:nvPr/>
        </p:nvSpPr>
        <p:spPr>
          <a:xfrm>
            <a:off x="640080" y="3172968"/>
            <a:ext cx="502920" cy="502920"/>
          </a:xfrm>
          <a:prstGeom prst="ellipse">
            <a:avLst/>
          </a:prstGeom>
          <a:solidFill>
            <a:schemeClr val="accent4"/>
          </a:solidFill>
          <a:ln/>
        </p:spPr>
      </p:sp>
      <p:pic>
        <p:nvPicPr>
          <p:cNvPr id="21" name="No long-term contract icon" descr="No long-term contract">    </p:cNvPr>
          <p:cNvPicPr>
            <a:picLocks noChangeAspect="1"/>
          </p:cNvPicPr>
          <p:nvPr/>
        </p:nvPicPr>
        <p:blipFill>
          <a:blip r:embed="rId4"/>
          <a:stretch>
            <a:fillRect/>
          </a:stretch>
        </p:blipFill>
        <p:spPr>
          <a:xfrm>
            <a:off x="775868" y="3308756"/>
            <a:ext cx="231343" cy="231343"/>
          </a:xfrm>
          <a:prstGeom prst="rect">
            <a:avLst/>
          </a:prstGeom>
        </p:spPr>
      </p:pic>
      <p:sp>
        <p:nvSpPr>
          <p:cNvPr id="22" name="Reason title 4"/>
          <p:cNvSpPr txBox="1"/>
          <p:nvPr/>
        </p:nvSpPr>
        <p:spPr>
          <a:xfrm>
            <a:off x="1280160" y="3172968"/>
            <a:ext cx="1691640" cy="502920"/>
          </a:xfrm>
          <a:prstGeom prst="rect">
            <a:avLst/>
          </a:prstGeom>
          <a:noFill/>
          <a:ln/>
        </p:spPr>
        <p:txBody>
          <a:bodyPr wrap="square" lIns="0" tIns="0" rIns="0" bIns="0" rtlCol="0" anchor="ctr"/>
          <a:lstStyle/>
          <a:p>
            <a:pPr indent="0" marL="0">
              <a:buNone/>
            </a:pPr>
            <a:r>
              <a:rPr lang="en-US" sz="1500" b="1" dirty="0">
                <a:solidFill>
                  <a:schemeClr val="bg1"/>
                </a:solidFill>
              </a:rPr>
              <a:t>No long-term contract</a:t>
            </a:r>
            <a:endParaRPr lang="en-US" sz="1500" dirty="0"/>
          </a:p>
        </p:txBody>
      </p:sp>
      <p:sp>
        <p:nvSpPr>
          <p:cNvPr id="23" name="Reason text 4"/>
          <p:cNvSpPr txBox="1"/>
          <p:nvPr/>
        </p:nvSpPr>
        <p:spPr>
          <a:xfrm>
            <a:off x="640080" y="3794760"/>
            <a:ext cx="2286000" cy="566928"/>
          </a:xfrm>
          <a:prstGeom prst="rect">
            <a:avLst/>
          </a:prstGeom>
          <a:noFill/>
          <a:ln/>
        </p:spPr>
        <p:txBody>
          <a:bodyPr wrap="square" lIns="0" tIns="0" rIns="0" bIns="0" rtlCol="0" anchor="t"/>
          <a:lstStyle/>
          <a:p>
            <a:pPr indent="0" marL="0">
              <a:buNone/>
            </a:pPr>
            <a:r>
              <a:rPr lang="en-US" sz="1300" dirty="0">
                <a:solidFill>
                  <a:schemeClr val="accent2"/>
                </a:solidFill>
              </a:rPr>
              <a:t>Month to month: stay because it works</a:t>
            </a:r>
            <a:endParaRPr lang="en-US" sz="1300" dirty="0"/>
          </a:p>
        </p:txBody>
      </p:sp>
      <p:sp>
        <p:nvSpPr>
          <p:cNvPr id="24" name="Reason card 5"/>
          <p:cNvSpPr/>
          <p:nvPr/>
        </p:nvSpPr>
        <p:spPr>
          <a:xfrm>
            <a:off x="3268980" y="2971800"/>
            <a:ext cx="2606040" cy="1463040"/>
          </a:xfrm>
          <a:prstGeom prst="roundRect">
            <a:avLst>
              <a:gd name="adj" fmla="val 7500"/>
            </a:avLst>
          </a:prstGeom>
          <a:solidFill>
            <a:schemeClr val="tx2"/>
          </a:solidFill>
          <a:ln/>
        </p:spPr>
      </p:sp>
      <p:sp>
        <p:nvSpPr>
          <p:cNvPr id="25" name="Free audit circle"/>
          <p:cNvSpPr/>
          <p:nvPr/>
        </p:nvSpPr>
        <p:spPr>
          <a:xfrm>
            <a:off x="3451860" y="3172968"/>
            <a:ext cx="502920" cy="502920"/>
          </a:xfrm>
          <a:prstGeom prst="ellipse">
            <a:avLst/>
          </a:prstGeom>
          <a:solidFill>
            <a:schemeClr val="accent4"/>
          </a:solidFill>
          <a:ln/>
        </p:spPr>
      </p:sp>
      <p:pic>
        <p:nvPicPr>
          <p:cNvPr id="26" name="Free audit icon" descr="Free audit">    </p:cNvPr>
          <p:cNvPicPr>
            <a:picLocks noChangeAspect="1"/>
          </p:cNvPicPr>
          <p:nvPr/>
        </p:nvPicPr>
        <p:blipFill>
          <a:blip r:embed="rId5"/>
          <a:stretch>
            <a:fillRect/>
          </a:stretch>
        </p:blipFill>
        <p:spPr>
          <a:xfrm>
            <a:off x="3587648" y="3308756"/>
            <a:ext cx="231343" cy="231343"/>
          </a:xfrm>
          <a:prstGeom prst="rect">
            <a:avLst/>
          </a:prstGeom>
        </p:spPr>
      </p:pic>
      <p:sp>
        <p:nvSpPr>
          <p:cNvPr id="27" name="Reason title 5"/>
          <p:cNvSpPr txBox="1"/>
          <p:nvPr/>
        </p:nvSpPr>
        <p:spPr>
          <a:xfrm>
            <a:off x="4091940" y="3172968"/>
            <a:ext cx="1691640" cy="502920"/>
          </a:xfrm>
          <a:prstGeom prst="rect">
            <a:avLst/>
          </a:prstGeom>
          <a:noFill/>
          <a:ln/>
        </p:spPr>
        <p:txBody>
          <a:bodyPr wrap="square" lIns="0" tIns="0" rIns="0" bIns="0" rtlCol="0" anchor="ctr"/>
          <a:lstStyle/>
          <a:p>
            <a:pPr indent="0" marL="0">
              <a:buNone/>
            </a:pPr>
            <a:r>
              <a:rPr lang="en-US" sz="1500" b="1" dirty="0">
                <a:solidFill>
                  <a:schemeClr val="bg1"/>
                </a:solidFill>
              </a:rPr>
              <a:t>Free audit</a:t>
            </a:r>
            <a:endParaRPr lang="en-US" sz="1500" dirty="0"/>
          </a:p>
        </p:txBody>
      </p:sp>
      <p:sp>
        <p:nvSpPr>
          <p:cNvPr id="28" name="Reason text 5"/>
          <p:cNvSpPr txBox="1"/>
          <p:nvPr/>
        </p:nvSpPr>
        <p:spPr>
          <a:xfrm>
            <a:off x="3451860" y="3794760"/>
            <a:ext cx="2286000" cy="566928"/>
          </a:xfrm>
          <a:prstGeom prst="rect">
            <a:avLst/>
          </a:prstGeom>
          <a:noFill/>
          <a:ln/>
        </p:spPr>
        <p:txBody>
          <a:bodyPr wrap="square" lIns="0" tIns="0" rIns="0" bIns="0" rtlCol="0" anchor="t"/>
          <a:lstStyle/>
          <a:p>
            <a:pPr indent="0" marL="0">
              <a:buNone/>
            </a:pPr>
            <a:r>
              <a:rPr lang="en-US" sz="1300" dirty="0">
                <a:solidFill>
                  <a:schemeClr val="accent2"/>
                </a:solidFill>
              </a:rPr>
              <a:t>A free review of your pages in week 1</a:t>
            </a:r>
            <a:endParaRPr lang="en-US" sz="1300" dirty="0"/>
          </a:p>
        </p:txBody>
      </p:sp>
      <p:sp>
        <p:nvSpPr>
          <p:cNvPr id="29" name="Reason card 6"/>
          <p:cNvSpPr/>
          <p:nvPr/>
        </p:nvSpPr>
        <p:spPr>
          <a:xfrm>
            <a:off x="6080760" y="2971800"/>
            <a:ext cx="2606040" cy="1463040"/>
          </a:xfrm>
          <a:prstGeom prst="roundRect">
            <a:avLst>
              <a:gd name="adj" fmla="val 7500"/>
            </a:avLst>
          </a:prstGeom>
          <a:solidFill>
            <a:schemeClr val="tx2"/>
          </a:solidFill>
          <a:ln/>
        </p:spPr>
      </p:sp>
      <p:sp>
        <p:nvSpPr>
          <p:cNvPr id="30" name="Reach guarantee circle"/>
          <p:cNvSpPr/>
          <p:nvPr/>
        </p:nvSpPr>
        <p:spPr>
          <a:xfrm>
            <a:off x="6263640" y="3172968"/>
            <a:ext cx="502920" cy="502920"/>
          </a:xfrm>
          <a:prstGeom prst="ellipse">
            <a:avLst/>
          </a:prstGeom>
          <a:solidFill>
            <a:schemeClr val="accent4"/>
          </a:solidFill>
          <a:ln/>
        </p:spPr>
      </p:sp>
      <p:pic>
        <p:nvPicPr>
          <p:cNvPr id="31" name="Reach guarantee icon" descr="Reach guarantee">    </p:cNvPr>
          <p:cNvPicPr>
            <a:picLocks noChangeAspect="1"/>
          </p:cNvPicPr>
          <p:nvPr/>
        </p:nvPicPr>
        <p:blipFill>
          <a:blip r:embed="rId6"/>
          <a:stretch>
            <a:fillRect/>
          </a:stretch>
        </p:blipFill>
        <p:spPr>
          <a:xfrm>
            <a:off x="6399428" y="3308756"/>
            <a:ext cx="231343" cy="231343"/>
          </a:xfrm>
          <a:prstGeom prst="rect">
            <a:avLst/>
          </a:prstGeom>
        </p:spPr>
      </p:pic>
      <p:sp>
        <p:nvSpPr>
          <p:cNvPr id="32" name="Reason title 6"/>
          <p:cNvSpPr txBox="1"/>
          <p:nvPr/>
        </p:nvSpPr>
        <p:spPr>
          <a:xfrm>
            <a:off x="6903720" y="3172968"/>
            <a:ext cx="1691640" cy="502920"/>
          </a:xfrm>
          <a:prstGeom prst="rect">
            <a:avLst/>
          </a:prstGeom>
          <a:noFill/>
          <a:ln/>
        </p:spPr>
        <p:txBody>
          <a:bodyPr wrap="square" lIns="0" tIns="0" rIns="0" bIns="0" rtlCol="0" anchor="ctr"/>
          <a:lstStyle/>
          <a:p>
            <a:pPr indent="0" marL="0">
              <a:buNone/>
            </a:pPr>
            <a:r>
              <a:rPr lang="en-US" sz="1500" b="1" dirty="0">
                <a:solidFill>
                  <a:schemeClr val="bg1"/>
                </a:solidFill>
              </a:rPr>
              <a:t>Reach guarantee</a:t>
            </a:r>
            <a:endParaRPr lang="en-US" sz="1500" dirty="0"/>
          </a:p>
        </p:txBody>
      </p:sp>
      <p:sp>
        <p:nvSpPr>
          <p:cNvPr id="33" name="Reason text 6"/>
          <p:cNvSpPr txBox="1"/>
          <p:nvPr/>
        </p:nvSpPr>
        <p:spPr>
          <a:xfrm>
            <a:off x="6263640" y="3794760"/>
            <a:ext cx="2286000" cy="566928"/>
          </a:xfrm>
          <a:prstGeom prst="rect">
            <a:avLst/>
          </a:prstGeom>
          <a:noFill/>
          <a:ln/>
        </p:spPr>
        <p:txBody>
          <a:bodyPr wrap="square" lIns="0" tIns="0" rIns="0" bIns="0" rtlCol="0" anchor="t"/>
          <a:lstStyle/>
          <a:p>
            <a:pPr indent="0" marL="0">
              <a:buNone/>
            </a:pPr>
            <a:r>
              <a:rPr lang="en-US" sz="1300" dirty="0">
                <a:solidFill>
                  <a:schemeClr val="accent2"/>
                </a:solidFill>
              </a:rPr>
              <a:t>Miss the reach target? An extra week of ads at no fee</a:t>
            </a:r>
            <a:endParaRPr lang="en-US" sz="13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914400"/>
            <a:ext cx="4389120" cy="320040"/>
          </a:xfrm>
          <a:prstGeom prst="rect">
            <a:avLst/>
          </a:prstGeom>
          <a:noFill/>
          <a:ln/>
        </p:spPr>
        <p:txBody>
          <a:bodyPr wrap="square" lIns="0" tIns="0" rIns="0" bIns="0" rtlCol="0"/>
          <a:lstStyle/>
          <a:p>
            <a:pPr indent="0" marL="0">
              <a:buNone/>
            </a:pPr>
            <a:r>
              <a:rPr lang="en-US" sz="1200" b="1" spc="300" kern="0" dirty="0">
                <a:solidFill>
                  <a:schemeClr val="accent2"/>
                </a:solidFill>
              </a:rPr>
              <a:t>12  CONCLUSION</a:t>
            </a:r>
            <a:endParaRPr lang="en-US" sz="1200" dirty="0"/>
          </a:p>
        </p:txBody>
      </p:sp>
      <p:sp>
        <p:nvSpPr>
          <p:cNvPr id="3" name="Text 0"/>
          <p:cNvSpPr/>
          <p:nvPr>
            <p:ph idx="101" type="title" hasCustomPrompt="1"/>
          </p:nvPr>
        </p:nvSpPr>
        <p:spPr>
          <a:xfrm>
            <a:off x="548640" y="1325880"/>
            <a:ext cx="4389120" cy="146304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Let's Grow Together!</a:t>
            </a:r>
            <a:endParaRPr lang="en-US" sz="4000" dirty="0"/>
          </a:p>
        </p:txBody>
      </p:sp>
      <p:sp>
        <p:nvSpPr>
          <p:cNvPr id="4" name="Text 0"/>
          <p:cNvSpPr/>
          <p:nvPr>
            <p:ph idx="102" type="body" hasCustomPrompt="1"/>
          </p:nvPr>
        </p:nvSpPr>
        <p:spPr>
          <a:xfrm>
            <a:off x="548640" y="2880360"/>
            <a:ext cx="4206240" cy="1005840"/>
          </a:xfrm>
          <a:prstGeom prst="rect">
            <a:avLst/>
          </a:prstGeom>
          <a:noFill/>
          <a:ln/>
        </p:spPr>
        <p:txBody>
          <a:bodyPr wrap="square" lIns="0" tIns="0" rIns="0" bIns="0" rtlCol="0" anchor="t"/>
          <a:lstStyle/>
          <a:p>
            <a:pPr algn="l" indent="0" marL="0">
              <a:buNone/>
            </a:pPr>
            <a:r>
              <a:rPr lang="en-US" sz="1500" dirty="0">
                <a:solidFill>
                  <a:schemeClr val="accent2"/>
                </a:solidFill>
              </a:rPr>
              <a:t>Start this month and see results within 30 days.</a:t>
            </a:r>
            <a:endParaRPr lang="en-US" sz="1500" dirty="0"/>
          </a:p>
        </p:txBody>
      </p:sp>
      <p:sp>
        <p:nvSpPr>
          <p:cNvPr id="5" name="Offer badge"/>
          <p:cNvSpPr/>
          <p:nvPr/>
        </p:nvSpPr>
        <p:spPr>
          <a:xfrm>
            <a:off x="548640" y="3429000"/>
            <a:ext cx="4206240" cy="548640"/>
          </a:xfrm>
          <a:prstGeom prst="roundRect">
            <a:avLst>
              <a:gd name="adj" fmla="val 50000"/>
            </a:avLst>
          </a:prstGeom>
          <a:solidFill>
            <a:schemeClr val="accent1"/>
          </a:solidFill>
          <a:ln/>
        </p:spPr>
      </p:sp>
      <p:pic>
        <p:nvPicPr>
          <p:cNvPr id="6" name="Offer icon" descr="preencoded.png">    </p:cNvPr>
          <p:cNvPicPr>
            <a:picLocks noChangeAspect="1"/>
          </p:cNvPicPr>
          <p:nvPr/>
        </p:nvPicPr>
        <p:blipFill>
          <a:blip r:embed="rId1"/>
          <a:stretch>
            <a:fillRect/>
          </a:stretch>
        </p:blipFill>
        <p:spPr>
          <a:xfrm>
            <a:off x="731520" y="3547872"/>
            <a:ext cx="310896" cy="310896"/>
          </a:xfrm>
          <a:prstGeom prst="rect">
            <a:avLst/>
          </a:prstGeom>
        </p:spPr>
      </p:pic>
      <p:sp>
        <p:nvSpPr>
          <p:cNvPr id="7" name="Offer text"/>
          <p:cNvSpPr txBox="1"/>
          <p:nvPr/>
        </p:nvSpPr>
        <p:spPr>
          <a:xfrm>
            <a:off x="1188720" y="3429000"/>
            <a:ext cx="3474720" cy="548640"/>
          </a:xfrm>
          <a:prstGeom prst="rect">
            <a:avLst/>
          </a:prstGeom>
          <a:noFill/>
          <a:ln/>
        </p:spPr>
        <p:txBody>
          <a:bodyPr wrap="square" lIns="0" tIns="0" rIns="0" bIns="0" rtlCol="0" anchor="ctr"/>
          <a:lstStyle/>
          <a:p>
            <a:pPr indent="0" marL="0">
              <a:buNone/>
            </a:pPr>
            <a:r>
              <a:rPr lang="en-US" sz="1400" b="1" dirty="0">
                <a:solidFill>
                  <a:schemeClr val="bg1"/>
                </a:solidFill>
              </a:rPr>
              <a:t>Start this month: free menu photo shoot</a:t>
            </a:r>
            <a:endParaRPr lang="en-US" sz="1400" dirty="0"/>
          </a:p>
        </p:txBody>
      </p:sp>
      <p:sp>
        <p:nvSpPr>
          <p:cNvPr id="8" name="Agency name"/>
          <p:cNvSpPr txBox="1"/>
          <p:nvPr/>
        </p:nvSpPr>
        <p:spPr>
          <a:xfrm>
            <a:off x="548640" y="4206240"/>
            <a:ext cx="4389120" cy="320040"/>
          </a:xfrm>
          <a:prstGeom prst="rect">
            <a:avLst/>
          </a:prstGeom>
          <a:noFill/>
          <a:ln/>
        </p:spPr>
        <p:txBody>
          <a:bodyPr wrap="square" lIns="0" tIns="0" rIns="0" bIns="0" rtlCol="0" anchor="ctr"/>
          <a:lstStyle/>
          <a:p>
            <a:pPr indent="0" marL="0">
              <a:buNone/>
            </a:pPr>
            <a:r>
              <a:rPr lang="en-US" sz="1300" dirty="0">
                <a:solidFill>
                  <a:schemeClr val="accent2"/>
                </a:solidFill>
              </a:rPr>
              <a:t>Pulse Marketing</a:t>
            </a:r>
            <a:endParaRPr lang="en-US" sz="1300" dirty="0"/>
          </a:p>
        </p:txBody>
      </p:sp>
      <p:pic>
        <p:nvPicPr>
          <p:cNvPr id="9" name="Next steps illustration" descr="Next steps illustration">    </p:cNvPr>
          <p:cNvPicPr>
            <a:picLocks noChangeAspect="1"/>
          </p:cNvPicPr>
          <p:nvPr/>
        </p:nvPicPr>
        <p:blipFill>
          <a:blip r:embed="rId2"/>
          <a:stretch>
            <a:fillRect/>
          </a:stretch>
        </p:blipFill>
        <p:spPr>
          <a:xfrm>
            <a:off x="5166360" y="594360"/>
            <a:ext cx="3520440" cy="3931920"/>
          </a:xfrm>
          <a:prstGeom prst="rect">
            <a:avLst/>
          </a:prstGeom>
        </p:spPr>
      </p:pic>
    </p:spTree>
  </p:cSld>
  <p:clrMapOvr>
    <a:masterClrMapping/>
  </p:clrMapOvr>
</p:sld>
</file>

<file path=ppt/theme/theme1.xml><?xml version="1.0" encoding="utf-8"?>
<a:theme xmlns:a="http://schemas.openxmlformats.org/drawingml/2006/main" name="Espresso">
  <a:themeElements>
    <a:clrScheme name="Espresso">
      <a:dk1>
        <a:srgbClr val="231B16"/>
      </a:dk1>
      <a:lt1>
        <a:srgbClr val="FFFFFF"/>
      </a:lt1>
      <a:dk2>
        <a:srgbClr val="2E1F17"/>
      </a:dk2>
      <a:lt2>
        <a:srgbClr val="F4ECE5"/>
      </a:lt2>
      <a:accent1>
        <a:srgbClr val="C27A3A"/>
      </a:accent1>
      <a:accent2>
        <a:srgbClr val="E8C9A6"/>
      </a:accent2>
      <a:accent3>
        <a:srgbClr val="6F4E37"/>
      </a:accent3>
      <a:accent4>
        <a:srgbClr val="5B7F5E"/>
      </a:accent4>
      <a:accent5>
        <a:srgbClr val="8C7F76"/>
      </a:accent5>
      <a:accent6>
        <a:srgbClr val="A6513A"/>
      </a:accent6>
      <a:hlink>
        <a:srgbClr val="C27A3A"/>
      </a:hlink>
      <a:folHlink>
        <a:srgbClr val="6F4E37"/>
      </a:folHlink>
    </a:clrScheme>
    <a:fontScheme name="Espress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Digital Marketing Proposal - The Daily Cup</dc:title>
  <dc:subject>PptxGenJS Presentation</dc:subject>
  <dc:creator>Pulse Marketing</dc:creator>
  <cp:lastModifiedBy>Pulse Marketing</cp:lastModifiedBy>
  <cp:revision>1</cp:revision>
  <dcterms:created xsi:type="dcterms:W3CDTF">2026-10-20T12:12:34Z</dcterms:created>
  <dcterms:modified xsi:type="dcterms:W3CDTF">2026-10-20T12:12:34Z</dcterms:modified>
</cp:coreProperties>
</file>