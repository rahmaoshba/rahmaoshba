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e2b1dd3d-62ba-4e62-df16-e882d4886722}">
          <p14:sldIdLst>
            <p14:sldId id="256"/>
            <p14:sldId id="257"/>
          </p14:sldIdLst>
        </p14:section>
        <p14:section name="Problem" id="{49f65fef-79c9-ef57-eb77-9c9846c35fab}">
          <p14:sldIdLst>
            <p14:sldId id="258"/>
          </p14:sldIdLst>
        </p14:section>
        <p14:section name="Solution" id="{1dd3e3ab-358d-cdff-2b0c-54b83b9ab916}">
          <p14:sldIdLst>
            <p14:sldId id="259"/>
            <p14:sldId id="260"/>
          </p14:sldIdLst>
        </p14:section>
        <p14:section name="Budget and Timeline" id="{da5e3706-3aa2-8250-fd5d-62c22d81ef7c}">
          <p14:sldIdLst>
            <p14:sldId id="261"/>
            <p14:sldId id="262"/>
          </p14:sldIdLst>
        </p14:section>
        <p14:section name="Results" id="{acff62f4-050c-9ce2-49a1-737b1cc3ff45}">
          <p14:sldIdLst>
            <p14:sldId id="263"/>
            <p14:sldId id="264"/>
            <p14:sldId id="265"/>
          </p14:sldIdLst>
        </p14:section>
        <p14:section name="Conclusion" id="{79dde2e4-27d2-468c-c1c0-15917b20f069}">
          <p14:sldIdLst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Budget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E1F17"/>
              </a:solidFill>
              <a:ln w="254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C27A3A"/>
              </a:solidFill>
              <a:ln w="254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2"/>
            <c:bubble3D val="0"/>
            <c:spPr>
              <a:solidFill>
                <a:srgbClr val="5B7F5E"/>
              </a:solidFill>
              <a:ln w="254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3"/>
            <c:bubble3D val="0"/>
            <c:spPr>
              <a:solidFill>
                <a:srgbClr val="E8C9A6"/>
              </a:solidFill>
              <a:ln w="254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Social media management</c:v>
                </c:pt>
                <c:pt idx="1">
                  <c:v>Paid advertising</c:v>
                </c:pt>
                <c:pt idx="2">
                  <c:v>Content creation</c:v>
                </c:pt>
                <c:pt idx="3">
                  <c:v>Reporting and optimization</c:v>
                </c:pt>
              </c:strCache>
            </c:strRef>
          </c:cat>
          <c:val>
            <c:numRef>
              <c:f>Sheet1!$B$2:$B$5</c:f>
              <c:numCache>
                <c:ptCount val="4"/>
                <c:pt idx="0">
                  <c:v>5000</c:v>
                </c:pt>
                <c:pt idx="1">
                  <c:v>4000</c:v>
                </c:pt>
                <c:pt idx="2">
                  <c:v>3000</c:v>
                </c:pt>
                <c:pt idx="3">
                  <c:v>1000</c:v>
                </c:pt>
              </c:numCache>
            </c:numRef>
          </c:val>
        </c:ser>
        <c:firstSliceAng val="0"/>
        <c:holeSize val="62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yourselves and BrandBrew Marketing.
"Today we'll show you how we can help The Daily Cup reach more customers and grow its business."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Our marketing agency wants to help The Daily Cup grow its business.
Our goals are to:
- Increase brand awareness.
- Attract more customers.
- Increase sales.
- Improve social media presence.
We will use social media, online advertising, and creative content to achieve these goals (shown in the picture).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café may face some challenges:
- Low brand awareness.
- Few followers and low engagement on social media.
- Strong competition from other cafés.
- Difficulty attracting new customers.
- Low sales during some periods.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Our agency offers four main services:
- Social Media Management: create regular posts, reels, and stories.
- Paid Advertising: run Facebook and Instagram ads.
- Content Creation: take attractive photos and videos of products.
- Promotions: offer discounts and special deals to attract customers.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will follow five simple steps:
1. Research the market and competitors.
2. Identify the target audience.
3. Create a monthly content plan.
4. Publish content and launch advertisements.
5. Measure results and improve the campaign.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Monthly budget:
- Social media management: 5,000 EGP
- Paid advertising: 4,000 EGP
- Content creation: 3,000 EGP
- Reporting and optimization: 1,000 EGP
Total: 13,000 EGP per month.
This is a proposed budget for the presentation.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Week 1: Research and planning.
Week 2: Content creation.
Week 3: Launch marketing campaigns.
Week 4: Measure results and improve.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Working with our agency will help the café:
- Reach more people.
- Attract new customers.
- Build a strong brand.
- Improve customer engagement.
- Increase the chance of higher sales.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During the first month, we aim to achieve:
- More social media followers and engagement.
- More customer inquiries.
- Greater awareness of the café.
- More visits from potential customers.
- Improved sales performance.
We will track the results to understand what works best.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After the first month, we plan to:
- Work with local food influencers.
- Launch loyalty programs for regular customers.
- Create seasonal offers.
- Expand successful advertising campaigns.
- Develop a long-term marketing strategy.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Our agency is ready to help The Daily Cup grow and reach more customers.
We believe that a good marketing strategy can improve the café's online presence and support its business growth.
Let's grow together! Then thank the owner and open for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914400"/>
            <a:ext cx="438912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300" kern="0" dirty="0">
                <a:solidFill>
                  <a:schemeClr val="accent2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325880"/>
            <a:ext cx="438912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880360"/>
            <a:ext cx="420624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500" dirty="0">
                <a:solidFill>
                  <a:schemeClr val="accent2"/>
                </a:solidFill>
              </a:defRPr>
            </a:lvl1pPr>
          </a:lstStyle>
          <a:p>
            <a:pPr algn="l" indent="0" marL="0">
              <a:buNone/>
            </a:pPr>
            <a:endParaRPr lang="en-US" sz="15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200" kern="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30352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457200" y="4800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BrandBrew Marketing  |  Digital Marketing Proposal for The Daily Cup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image" Target="../media/image-9-9.png"/><Relationship Id="rId10" Type="http://schemas.openxmlformats.org/officeDocument/2006/relationships/image" Target="../media/image-9-10.png"/><Relationship Id="rId11" Type="http://schemas.openxmlformats.org/officeDocument/2006/relationships/image" Target="../media/image-9-11.png"/><Relationship Id="rId12" Type="http://schemas.openxmlformats.org/officeDocument/2006/relationships/slideLayout" Target="../slideLayouts/slideLayout3.xml"/><Relationship Id="rId1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91440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2"/>
                </a:solidFill>
              </a:rPr>
              <a:t>PRESENTED BY BRANDBREW MARKETING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325880"/>
            <a:ext cx="4389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Digital Marketing Proposal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880360"/>
            <a:ext cx="4206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For The Daily Cup Café</a:t>
            </a:r>
            <a:endParaRPr lang="en-US" sz="1500" dirty="0"/>
          </a:p>
        </p:txBody>
      </p:sp>
      <p:pic>
        <p:nvPicPr>
          <p:cNvPr id="5" name="Café illustration" descr="Café illustr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66360" y="594360"/>
            <a:ext cx="3520440" cy="39319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01  EXECUTIVE SUMMARY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3035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Executive Summary</a:t>
            </a:r>
            <a:endParaRPr lang="en-US" sz="3200" dirty="0"/>
          </a:p>
        </p:txBody>
      </p:sp>
      <p:pic>
        <p:nvPicPr>
          <p:cNvPr id="4" name="Social media, online ads and content illustration" descr="Social media, online ads and content illustr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25880"/>
            <a:ext cx="3566160" cy="3291840"/>
          </a:xfrm>
          <a:prstGeom prst="rect">
            <a:avLst/>
          </a:prstGeom>
        </p:spPr>
      </p:pic>
      <p:sp>
        <p:nvSpPr>
          <p:cNvPr id="5" name="Goal statement"/>
          <p:cNvSpPr txBox="1"/>
          <p:nvPr/>
        </p:nvSpPr>
        <p:spPr>
          <a:xfrm>
            <a:off x="4389120" y="132588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Our goal: help The Daily Cup grow</a:t>
            </a:r>
            <a:endParaRPr lang="en-US" sz="2000" dirty="0"/>
          </a:p>
        </p:txBody>
      </p:sp>
      <p:sp>
        <p:nvSpPr>
          <p:cNvPr id="6" name="Increase brand awareness circle"/>
          <p:cNvSpPr/>
          <p:nvPr/>
        </p:nvSpPr>
        <p:spPr>
          <a:xfrm>
            <a:off x="4389120" y="201168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7" name="Increase brand awareness icon" descr="Increase brand awarenes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12564" y="2135124"/>
            <a:ext cx="210312" cy="210312"/>
          </a:xfrm>
          <a:prstGeom prst="rect">
            <a:avLst/>
          </a:prstGeom>
        </p:spPr>
      </p:pic>
      <p:sp>
        <p:nvSpPr>
          <p:cNvPr id="8" name="Row text 1"/>
          <p:cNvSpPr txBox="1"/>
          <p:nvPr/>
        </p:nvSpPr>
        <p:spPr>
          <a:xfrm>
            <a:off x="5029200" y="20116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Increase brand awareness</a:t>
            </a:r>
            <a:endParaRPr lang="en-US" sz="1600" dirty="0"/>
          </a:p>
        </p:txBody>
      </p:sp>
      <p:sp>
        <p:nvSpPr>
          <p:cNvPr id="9" name="Attract more customers circle"/>
          <p:cNvSpPr/>
          <p:nvPr/>
        </p:nvSpPr>
        <p:spPr>
          <a:xfrm>
            <a:off x="4389120" y="2670048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Attract more customers icon" descr="Attract more customer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12564" y="2793492"/>
            <a:ext cx="210312" cy="210312"/>
          </a:xfrm>
          <a:prstGeom prst="rect">
            <a:avLst/>
          </a:prstGeom>
        </p:spPr>
      </p:pic>
      <p:sp>
        <p:nvSpPr>
          <p:cNvPr id="11" name="Row text 2"/>
          <p:cNvSpPr txBox="1"/>
          <p:nvPr/>
        </p:nvSpPr>
        <p:spPr>
          <a:xfrm>
            <a:off x="5029200" y="267004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Attract more customers</a:t>
            </a:r>
            <a:endParaRPr lang="en-US" sz="1600" dirty="0"/>
          </a:p>
        </p:txBody>
      </p:sp>
      <p:sp>
        <p:nvSpPr>
          <p:cNvPr id="12" name="Increase sales circle"/>
          <p:cNvSpPr/>
          <p:nvPr/>
        </p:nvSpPr>
        <p:spPr>
          <a:xfrm>
            <a:off x="4389120" y="3328416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3" name="Increase sales icon" descr="Increase sale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12564" y="3451860"/>
            <a:ext cx="210312" cy="210312"/>
          </a:xfrm>
          <a:prstGeom prst="rect">
            <a:avLst/>
          </a:prstGeom>
        </p:spPr>
      </p:pic>
      <p:sp>
        <p:nvSpPr>
          <p:cNvPr id="14" name="Row text 3"/>
          <p:cNvSpPr txBox="1"/>
          <p:nvPr/>
        </p:nvSpPr>
        <p:spPr>
          <a:xfrm>
            <a:off x="5029200" y="332841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Increase sales</a:t>
            </a:r>
            <a:endParaRPr lang="en-US" sz="1600" dirty="0"/>
          </a:p>
        </p:txBody>
      </p:sp>
      <p:sp>
        <p:nvSpPr>
          <p:cNvPr id="15" name="Improve social media presence circle"/>
          <p:cNvSpPr/>
          <p:nvPr/>
        </p:nvSpPr>
        <p:spPr>
          <a:xfrm>
            <a:off x="4389120" y="3986784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6" name="Improve social media presence icon" descr="Improve social media presenc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12564" y="4110228"/>
            <a:ext cx="210312" cy="210312"/>
          </a:xfrm>
          <a:prstGeom prst="rect">
            <a:avLst/>
          </a:prstGeom>
        </p:spPr>
      </p:pic>
      <p:sp>
        <p:nvSpPr>
          <p:cNvPr id="17" name="Row text 4"/>
          <p:cNvSpPr txBox="1"/>
          <p:nvPr/>
        </p:nvSpPr>
        <p:spPr>
          <a:xfrm>
            <a:off x="5029200" y="3986784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Improve social media presence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02  PROBLEM STATEMENT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3035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Challenges</a:t>
            </a:r>
            <a:endParaRPr lang="en-US" sz="3200" dirty="0"/>
          </a:p>
        </p:txBody>
      </p:sp>
      <p:sp>
        <p:nvSpPr>
          <p:cNvPr id="4" name="Low brand awareness circle"/>
          <p:cNvSpPr/>
          <p:nvPr/>
        </p:nvSpPr>
        <p:spPr>
          <a:xfrm>
            <a:off x="457200" y="1325880"/>
            <a:ext cx="457200" cy="45720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5" name="Low brand awareness icon" descr="Low brand awarenes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0644" y="1449324"/>
            <a:ext cx="210312" cy="210312"/>
          </a:xfrm>
          <a:prstGeom prst="rect">
            <a:avLst/>
          </a:prstGeom>
        </p:spPr>
      </p:pic>
      <p:sp>
        <p:nvSpPr>
          <p:cNvPr id="6" name="Row text 1"/>
          <p:cNvSpPr txBox="1"/>
          <p:nvPr/>
        </p:nvSpPr>
        <p:spPr>
          <a:xfrm>
            <a:off x="1097280" y="132588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Low brand awareness</a:t>
            </a:r>
            <a:endParaRPr lang="en-US" sz="1600" dirty="0"/>
          </a:p>
        </p:txBody>
      </p:sp>
      <p:sp>
        <p:nvSpPr>
          <p:cNvPr id="7" name="Few followers, low engagement circle"/>
          <p:cNvSpPr/>
          <p:nvPr/>
        </p:nvSpPr>
        <p:spPr>
          <a:xfrm>
            <a:off x="457200" y="1984248"/>
            <a:ext cx="457200" cy="45720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8" name="Few followers, low engagement icon" descr="Few followers, low engageme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" y="2107692"/>
            <a:ext cx="210312" cy="210312"/>
          </a:xfrm>
          <a:prstGeom prst="rect">
            <a:avLst/>
          </a:prstGeom>
        </p:spPr>
      </p:pic>
      <p:sp>
        <p:nvSpPr>
          <p:cNvPr id="9" name="Row text 2"/>
          <p:cNvSpPr txBox="1"/>
          <p:nvPr/>
        </p:nvSpPr>
        <p:spPr>
          <a:xfrm>
            <a:off x="1097280" y="1984248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Few followers, low engagement</a:t>
            </a:r>
            <a:endParaRPr lang="en-US" sz="1600" dirty="0"/>
          </a:p>
        </p:txBody>
      </p:sp>
      <p:sp>
        <p:nvSpPr>
          <p:cNvPr id="10" name="Strong competition from other cafés circle"/>
          <p:cNvSpPr/>
          <p:nvPr/>
        </p:nvSpPr>
        <p:spPr>
          <a:xfrm>
            <a:off x="457200" y="2642616"/>
            <a:ext cx="457200" cy="45720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1" name="Strong competition from other cafés icon" descr="Strong competition from other café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" y="2766060"/>
            <a:ext cx="210312" cy="210312"/>
          </a:xfrm>
          <a:prstGeom prst="rect">
            <a:avLst/>
          </a:prstGeom>
        </p:spPr>
      </p:pic>
      <p:sp>
        <p:nvSpPr>
          <p:cNvPr id="12" name="Row text 3"/>
          <p:cNvSpPr txBox="1"/>
          <p:nvPr/>
        </p:nvSpPr>
        <p:spPr>
          <a:xfrm>
            <a:off x="1097280" y="2642616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Strong competition from other cafés</a:t>
            </a:r>
            <a:endParaRPr lang="en-US" sz="1600" dirty="0"/>
          </a:p>
        </p:txBody>
      </p:sp>
      <p:sp>
        <p:nvSpPr>
          <p:cNvPr id="13" name="Hard to attract new customers circle"/>
          <p:cNvSpPr/>
          <p:nvPr/>
        </p:nvSpPr>
        <p:spPr>
          <a:xfrm>
            <a:off x="457200" y="3300984"/>
            <a:ext cx="457200" cy="45720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4" name="Hard to attract new customers icon" descr="Hard to attract new customer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0644" y="3424428"/>
            <a:ext cx="210312" cy="210312"/>
          </a:xfrm>
          <a:prstGeom prst="rect">
            <a:avLst/>
          </a:prstGeom>
        </p:spPr>
      </p:pic>
      <p:sp>
        <p:nvSpPr>
          <p:cNvPr id="15" name="Row text 4"/>
          <p:cNvSpPr txBox="1"/>
          <p:nvPr/>
        </p:nvSpPr>
        <p:spPr>
          <a:xfrm>
            <a:off x="1097280" y="3300984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Hard to attract new customers</a:t>
            </a:r>
            <a:endParaRPr lang="en-US" sz="1600" dirty="0"/>
          </a:p>
        </p:txBody>
      </p:sp>
      <p:sp>
        <p:nvSpPr>
          <p:cNvPr id="16" name="Low sales in some periods circle"/>
          <p:cNvSpPr/>
          <p:nvPr/>
        </p:nvSpPr>
        <p:spPr>
          <a:xfrm>
            <a:off x="457200" y="3959352"/>
            <a:ext cx="457200" cy="45720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7" name="Low sales in some periods icon" descr="Low sales in some period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0644" y="4082796"/>
            <a:ext cx="210312" cy="210312"/>
          </a:xfrm>
          <a:prstGeom prst="rect">
            <a:avLst/>
          </a:prstGeom>
        </p:spPr>
      </p:pic>
      <p:sp>
        <p:nvSpPr>
          <p:cNvPr id="18" name="Row text 5"/>
          <p:cNvSpPr txBox="1"/>
          <p:nvPr/>
        </p:nvSpPr>
        <p:spPr>
          <a:xfrm>
            <a:off x="1097280" y="3959352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Low sales in some periods</a:t>
            </a:r>
            <a:endParaRPr lang="en-US" sz="1600" dirty="0"/>
          </a:p>
        </p:txBody>
      </p:sp>
      <p:pic>
        <p:nvPicPr>
          <p:cNvPr id="19" name="Weak social media illustration" descr="Weak social media illustratio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20640" y="1325880"/>
            <a:ext cx="3566160" cy="32918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03  PROPOSED SOLUTION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3035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Our Four Main Services</a:t>
            </a:r>
            <a:endParaRPr lang="en-US" sz="3200" dirty="0"/>
          </a:p>
        </p:txBody>
      </p:sp>
      <p:sp>
        <p:nvSpPr>
          <p:cNvPr id="4" name="Service card 1"/>
          <p:cNvSpPr/>
          <p:nvPr/>
        </p:nvSpPr>
        <p:spPr>
          <a:xfrm>
            <a:off x="457200" y="1325880"/>
            <a:ext cx="1920240" cy="32004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</p:sp>
      <p:pic>
        <p:nvPicPr>
          <p:cNvPr id="5" name="Social Media Management illustration" descr="Social Media Management illustr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1737360" cy="1600200"/>
          </a:xfrm>
          <a:prstGeom prst="rect">
            <a:avLst/>
          </a:prstGeom>
        </p:spPr>
      </p:pic>
      <p:sp>
        <p:nvSpPr>
          <p:cNvPr id="6" name="Service title 1"/>
          <p:cNvSpPr txBox="1"/>
          <p:nvPr/>
        </p:nvSpPr>
        <p:spPr>
          <a:xfrm>
            <a:off x="594360" y="315468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Social Media Management</a:t>
            </a:r>
            <a:endParaRPr lang="en-US" sz="1500" dirty="0"/>
          </a:p>
        </p:txBody>
      </p:sp>
      <p:sp>
        <p:nvSpPr>
          <p:cNvPr id="7" name="Service text 1"/>
          <p:cNvSpPr txBox="1"/>
          <p:nvPr/>
        </p:nvSpPr>
        <p:spPr>
          <a:xfrm>
            <a:off x="594360" y="3730752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Regular posts, reels and stories</a:t>
            </a:r>
            <a:endParaRPr lang="en-US" sz="1300" dirty="0"/>
          </a:p>
        </p:txBody>
      </p:sp>
      <p:sp>
        <p:nvSpPr>
          <p:cNvPr id="8" name="Service card 2"/>
          <p:cNvSpPr/>
          <p:nvPr/>
        </p:nvSpPr>
        <p:spPr>
          <a:xfrm>
            <a:off x="2560320" y="1325880"/>
            <a:ext cx="1920240" cy="32004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</p:sp>
      <p:pic>
        <p:nvPicPr>
          <p:cNvPr id="9" name="Paid Advertising illustration" descr="Paid Advertising illustrati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1760" y="1417320"/>
            <a:ext cx="1737360" cy="1600200"/>
          </a:xfrm>
          <a:prstGeom prst="rect">
            <a:avLst/>
          </a:prstGeom>
        </p:spPr>
      </p:pic>
      <p:sp>
        <p:nvSpPr>
          <p:cNvPr id="10" name="Service title 2"/>
          <p:cNvSpPr txBox="1"/>
          <p:nvPr/>
        </p:nvSpPr>
        <p:spPr>
          <a:xfrm>
            <a:off x="2697480" y="315468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Paid Advertising</a:t>
            </a:r>
            <a:endParaRPr lang="en-US" sz="1500" dirty="0"/>
          </a:p>
        </p:txBody>
      </p:sp>
      <p:sp>
        <p:nvSpPr>
          <p:cNvPr id="11" name="Service text 2"/>
          <p:cNvSpPr txBox="1"/>
          <p:nvPr/>
        </p:nvSpPr>
        <p:spPr>
          <a:xfrm>
            <a:off x="2697480" y="3730752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Facebook and Instagram ads</a:t>
            </a:r>
            <a:endParaRPr lang="en-US" sz="1300" dirty="0"/>
          </a:p>
        </p:txBody>
      </p:sp>
      <p:sp>
        <p:nvSpPr>
          <p:cNvPr id="12" name="Service card 3"/>
          <p:cNvSpPr/>
          <p:nvPr/>
        </p:nvSpPr>
        <p:spPr>
          <a:xfrm>
            <a:off x="4663440" y="1325880"/>
            <a:ext cx="1920240" cy="32004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</p:sp>
      <p:pic>
        <p:nvPicPr>
          <p:cNvPr id="13" name="Content Creation illustration" descr="Content Creation illustrati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1417320"/>
            <a:ext cx="1737360" cy="1600200"/>
          </a:xfrm>
          <a:prstGeom prst="rect">
            <a:avLst/>
          </a:prstGeom>
        </p:spPr>
      </p:pic>
      <p:sp>
        <p:nvSpPr>
          <p:cNvPr id="14" name="Service title 3"/>
          <p:cNvSpPr txBox="1"/>
          <p:nvPr/>
        </p:nvSpPr>
        <p:spPr>
          <a:xfrm>
            <a:off x="4800600" y="315468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Content Creation</a:t>
            </a:r>
            <a:endParaRPr lang="en-US" sz="1500" dirty="0"/>
          </a:p>
        </p:txBody>
      </p:sp>
      <p:sp>
        <p:nvSpPr>
          <p:cNvPr id="15" name="Service text 3"/>
          <p:cNvSpPr txBox="1"/>
          <p:nvPr/>
        </p:nvSpPr>
        <p:spPr>
          <a:xfrm>
            <a:off x="4800600" y="3730752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Attractive photos and videos of products</a:t>
            </a:r>
            <a:endParaRPr lang="en-US" sz="1300" dirty="0"/>
          </a:p>
        </p:txBody>
      </p:sp>
      <p:sp>
        <p:nvSpPr>
          <p:cNvPr id="16" name="Service card 4"/>
          <p:cNvSpPr/>
          <p:nvPr/>
        </p:nvSpPr>
        <p:spPr>
          <a:xfrm>
            <a:off x="6766560" y="1325880"/>
            <a:ext cx="1920240" cy="32004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</p:sp>
      <p:pic>
        <p:nvPicPr>
          <p:cNvPr id="17" name="Promotions illustration" descr="Promotions illustrati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0" y="1417320"/>
            <a:ext cx="1737360" cy="1600200"/>
          </a:xfrm>
          <a:prstGeom prst="rect">
            <a:avLst/>
          </a:prstGeom>
        </p:spPr>
      </p:pic>
      <p:sp>
        <p:nvSpPr>
          <p:cNvPr id="18" name="Service title 4"/>
          <p:cNvSpPr txBox="1"/>
          <p:nvPr/>
        </p:nvSpPr>
        <p:spPr>
          <a:xfrm>
            <a:off x="6903720" y="315468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Promotions</a:t>
            </a:r>
            <a:endParaRPr lang="en-US" sz="1500" dirty="0"/>
          </a:p>
        </p:txBody>
      </p:sp>
      <p:sp>
        <p:nvSpPr>
          <p:cNvPr id="19" name="Service text 4"/>
          <p:cNvSpPr txBox="1"/>
          <p:nvPr/>
        </p:nvSpPr>
        <p:spPr>
          <a:xfrm>
            <a:off x="6903720" y="3730752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Discounts and special deals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04  IMPLEMENTATION PLAN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3035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Simple Steps</a:t>
            </a:r>
            <a:endParaRPr lang="en-US" sz="3200" dirty="0"/>
          </a:p>
        </p:txBody>
      </p:sp>
      <p:sp>
        <p:nvSpPr>
          <p:cNvPr id="4" name="Step connector"/>
          <p:cNvSpPr/>
          <p:nvPr/>
        </p:nvSpPr>
        <p:spPr>
          <a:xfrm>
            <a:off x="1280160" y="1965960"/>
            <a:ext cx="6583680" cy="0"/>
          </a:xfrm>
          <a:prstGeom prst="line">
            <a:avLst/>
          </a:prstGeom>
          <a:noFill/>
          <a:ln w="38100">
            <a:solidFill>
              <a:srgbClr val="E8C9A6"/>
            </a:solidFill>
            <a:prstDash val="solid"/>
          </a:ln>
        </p:spPr>
      </p:sp>
      <p:sp>
        <p:nvSpPr>
          <p:cNvPr id="5" name="Research circle"/>
          <p:cNvSpPr/>
          <p:nvPr/>
        </p:nvSpPr>
        <p:spPr>
          <a:xfrm>
            <a:off x="822960" y="1508760"/>
            <a:ext cx="914400" cy="91440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6" name="Research icon" descr="Researc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9848" y="1755648"/>
            <a:ext cx="420624" cy="420624"/>
          </a:xfrm>
          <a:prstGeom prst="rect">
            <a:avLst/>
          </a:prstGeom>
        </p:spPr>
      </p:pic>
      <p:sp>
        <p:nvSpPr>
          <p:cNvPr id="7" name="Step badge 1"/>
          <p:cNvSpPr/>
          <p:nvPr/>
        </p:nvSpPr>
        <p:spPr>
          <a:xfrm>
            <a:off x="1463040" y="1463040"/>
            <a:ext cx="329184" cy="329184"/>
          </a:xfrm>
          <a:prstGeom prst="ellipse">
            <a:avLst/>
          </a:prstGeom>
          <a:solidFill>
            <a:schemeClr val="accent2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8" name="Step number 1"/>
          <p:cNvSpPr txBox="1"/>
          <p:nvPr/>
        </p:nvSpPr>
        <p:spPr>
          <a:xfrm>
            <a:off x="1463040" y="14630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1</a:t>
            </a:r>
            <a:endParaRPr lang="en-US" sz="1200" dirty="0"/>
          </a:p>
        </p:txBody>
      </p:sp>
      <p:sp>
        <p:nvSpPr>
          <p:cNvPr id="9" name="Step title 1"/>
          <p:cNvSpPr txBox="1"/>
          <p:nvPr/>
        </p:nvSpPr>
        <p:spPr>
          <a:xfrm>
            <a:off x="548640" y="260604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Research</a:t>
            </a:r>
            <a:endParaRPr lang="en-US" sz="1600" dirty="0"/>
          </a:p>
        </p:txBody>
      </p:sp>
      <p:sp>
        <p:nvSpPr>
          <p:cNvPr id="10" name="Step text 1"/>
          <p:cNvSpPr txBox="1"/>
          <p:nvPr/>
        </p:nvSpPr>
        <p:spPr>
          <a:xfrm>
            <a:off x="548640" y="297180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Market and competitors</a:t>
            </a:r>
            <a:endParaRPr lang="en-US" sz="1300" dirty="0"/>
          </a:p>
        </p:txBody>
      </p:sp>
      <p:sp>
        <p:nvSpPr>
          <p:cNvPr id="11" name="Audience circle"/>
          <p:cNvSpPr/>
          <p:nvPr/>
        </p:nvSpPr>
        <p:spPr>
          <a:xfrm>
            <a:off x="2468880" y="1508760"/>
            <a:ext cx="914400" cy="91440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2" name="Audience icon" descr="Audienc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5768" y="1755648"/>
            <a:ext cx="420624" cy="420624"/>
          </a:xfrm>
          <a:prstGeom prst="rect">
            <a:avLst/>
          </a:prstGeom>
        </p:spPr>
      </p:pic>
      <p:sp>
        <p:nvSpPr>
          <p:cNvPr id="13" name="Step badge 2"/>
          <p:cNvSpPr/>
          <p:nvPr/>
        </p:nvSpPr>
        <p:spPr>
          <a:xfrm>
            <a:off x="3108960" y="1463040"/>
            <a:ext cx="329184" cy="329184"/>
          </a:xfrm>
          <a:prstGeom prst="ellipse">
            <a:avLst/>
          </a:prstGeom>
          <a:solidFill>
            <a:schemeClr val="accent2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Step number 2"/>
          <p:cNvSpPr txBox="1"/>
          <p:nvPr/>
        </p:nvSpPr>
        <p:spPr>
          <a:xfrm>
            <a:off x="3108960" y="14630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2</a:t>
            </a:r>
            <a:endParaRPr lang="en-US" sz="1200" dirty="0"/>
          </a:p>
        </p:txBody>
      </p:sp>
      <p:sp>
        <p:nvSpPr>
          <p:cNvPr id="15" name="Step title 2"/>
          <p:cNvSpPr txBox="1"/>
          <p:nvPr/>
        </p:nvSpPr>
        <p:spPr>
          <a:xfrm>
            <a:off x="2194560" y="260604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Audience</a:t>
            </a:r>
            <a:endParaRPr lang="en-US" sz="1600" dirty="0"/>
          </a:p>
        </p:txBody>
      </p:sp>
      <p:sp>
        <p:nvSpPr>
          <p:cNvPr id="16" name="Step text 2"/>
          <p:cNvSpPr txBox="1"/>
          <p:nvPr/>
        </p:nvSpPr>
        <p:spPr>
          <a:xfrm>
            <a:off x="2194560" y="297180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Identify who to target</a:t>
            </a:r>
            <a:endParaRPr lang="en-US" sz="1300" dirty="0"/>
          </a:p>
        </p:txBody>
      </p:sp>
      <p:sp>
        <p:nvSpPr>
          <p:cNvPr id="17" name="Content Plan circle"/>
          <p:cNvSpPr/>
          <p:nvPr/>
        </p:nvSpPr>
        <p:spPr>
          <a:xfrm>
            <a:off x="4114800" y="1508760"/>
            <a:ext cx="914400" cy="91440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8" name="Content Plan icon" descr="Content Pla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1688" y="1755648"/>
            <a:ext cx="420624" cy="420624"/>
          </a:xfrm>
          <a:prstGeom prst="rect">
            <a:avLst/>
          </a:prstGeom>
        </p:spPr>
      </p:pic>
      <p:sp>
        <p:nvSpPr>
          <p:cNvPr id="19" name="Step badge 3"/>
          <p:cNvSpPr/>
          <p:nvPr/>
        </p:nvSpPr>
        <p:spPr>
          <a:xfrm>
            <a:off x="4754880" y="1463040"/>
            <a:ext cx="329184" cy="329184"/>
          </a:xfrm>
          <a:prstGeom prst="ellipse">
            <a:avLst/>
          </a:prstGeom>
          <a:solidFill>
            <a:schemeClr val="accent2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0" name="Step number 3"/>
          <p:cNvSpPr txBox="1"/>
          <p:nvPr/>
        </p:nvSpPr>
        <p:spPr>
          <a:xfrm>
            <a:off x="4754880" y="14630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3</a:t>
            </a:r>
            <a:endParaRPr lang="en-US" sz="1200" dirty="0"/>
          </a:p>
        </p:txBody>
      </p:sp>
      <p:sp>
        <p:nvSpPr>
          <p:cNvPr id="21" name="Step title 3"/>
          <p:cNvSpPr txBox="1"/>
          <p:nvPr/>
        </p:nvSpPr>
        <p:spPr>
          <a:xfrm>
            <a:off x="3840480" y="260604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Content Plan</a:t>
            </a:r>
            <a:endParaRPr lang="en-US" sz="1600" dirty="0"/>
          </a:p>
        </p:txBody>
      </p:sp>
      <p:sp>
        <p:nvSpPr>
          <p:cNvPr id="22" name="Step text 3"/>
          <p:cNvSpPr txBox="1"/>
          <p:nvPr/>
        </p:nvSpPr>
        <p:spPr>
          <a:xfrm>
            <a:off x="3840480" y="297180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 plan for the month</a:t>
            </a:r>
            <a:endParaRPr lang="en-US" sz="1300" dirty="0"/>
          </a:p>
        </p:txBody>
      </p:sp>
      <p:sp>
        <p:nvSpPr>
          <p:cNvPr id="23" name="Launch circle"/>
          <p:cNvSpPr/>
          <p:nvPr/>
        </p:nvSpPr>
        <p:spPr>
          <a:xfrm>
            <a:off x="5760720" y="1508760"/>
            <a:ext cx="914400" cy="9144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4" name="Launch icon" descr="Launch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07608" y="1755648"/>
            <a:ext cx="420624" cy="420624"/>
          </a:xfrm>
          <a:prstGeom prst="rect">
            <a:avLst/>
          </a:prstGeom>
        </p:spPr>
      </p:pic>
      <p:sp>
        <p:nvSpPr>
          <p:cNvPr id="25" name="Step badge 4"/>
          <p:cNvSpPr/>
          <p:nvPr/>
        </p:nvSpPr>
        <p:spPr>
          <a:xfrm>
            <a:off x="6400800" y="1463040"/>
            <a:ext cx="329184" cy="329184"/>
          </a:xfrm>
          <a:prstGeom prst="ellipse">
            <a:avLst/>
          </a:prstGeom>
          <a:solidFill>
            <a:schemeClr val="accent2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6" name="Step number 4"/>
          <p:cNvSpPr txBox="1"/>
          <p:nvPr/>
        </p:nvSpPr>
        <p:spPr>
          <a:xfrm>
            <a:off x="6400800" y="14630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4</a:t>
            </a:r>
            <a:endParaRPr lang="en-US" sz="1200" dirty="0"/>
          </a:p>
        </p:txBody>
      </p:sp>
      <p:sp>
        <p:nvSpPr>
          <p:cNvPr id="27" name="Step title 4"/>
          <p:cNvSpPr txBox="1"/>
          <p:nvPr/>
        </p:nvSpPr>
        <p:spPr>
          <a:xfrm>
            <a:off x="5486400" y="260604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Launch</a:t>
            </a:r>
            <a:endParaRPr lang="en-US" sz="1600" dirty="0"/>
          </a:p>
        </p:txBody>
      </p:sp>
      <p:sp>
        <p:nvSpPr>
          <p:cNvPr id="28" name="Step text 4"/>
          <p:cNvSpPr txBox="1"/>
          <p:nvPr/>
        </p:nvSpPr>
        <p:spPr>
          <a:xfrm>
            <a:off x="5486400" y="297180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Publish content and ads</a:t>
            </a:r>
            <a:endParaRPr lang="en-US" sz="1300" dirty="0"/>
          </a:p>
        </p:txBody>
      </p:sp>
      <p:sp>
        <p:nvSpPr>
          <p:cNvPr id="29" name="Measure circle"/>
          <p:cNvSpPr/>
          <p:nvPr/>
        </p:nvSpPr>
        <p:spPr>
          <a:xfrm>
            <a:off x="7406640" y="1508760"/>
            <a:ext cx="914400" cy="91440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30" name="Measure icon" descr="Measur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53528" y="1755648"/>
            <a:ext cx="420624" cy="420624"/>
          </a:xfrm>
          <a:prstGeom prst="rect">
            <a:avLst/>
          </a:prstGeom>
        </p:spPr>
      </p:pic>
      <p:sp>
        <p:nvSpPr>
          <p:cNvPr id="31" name="Step badge 5"/>
          <p:cNvSpPr/>
          <p:nvPr/>
        </p:nvSpPr>
        <p:spPr>
          <a:xfrm>
            <a:off x="8046720" y="1463040"/>
            <a:ext cx="329184" cy="329184"/>
          </a:xfrm>
          <a:prstGeom prst="ellipse">
            <a:avLst/>
          </a:prstGeom>
          <a:solidFill>
            <a:schemeClr val="accent2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2" name="Step number 5"/>
          <p:cNvSpPr txBox="1"/>
          <p:nvPr/>
        </p:nvSpPr>
        <p:spPr>
          <a:xfrm>
            <a:off x="8046720" y="14630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5</a:t>
            </a:r>
            <a:endParaRPr lang="en-US" sz="1200" dirty="0"/>
          </a:p>
        </p:txBody>
      </p:sp>
      <p:sp>
        <p:nvSpPr>
          <p:cNvPr id="33" name="Step title 5"/>
          <p:cNvSpPr txBox="1"/>
          <p:nvPr/>
        </p:nvSpPr>
        <p:spPr>
          <a:xfrm>
            <a:off x="7132320" y="260604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Measure</a:t>
            </a:r>
            <a:endParaRPr lang="en-US" sz="1600" dirty="0"/>
          </a:p>
        </p:txBody>
      </p:sp>
      <p:sp>
        <p:nvSpPr>
          <p:cNvPr id="34" name="Step text 5"/>
          <p:cNvSpPr txBox="1"/>
          <p:nvPr/>
        </p:nvSpPr>
        <p:spPr>
          <a:xfrm>
            <a:off x="7132320" y="297180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Track results and improve</a:t>
            </a:r>
            <a:endParaRPr lang="en-US" sz="1300" dirty="0"/>
          </a:p>
        </p:txBody>
      </p:sp>
      <p:sp>
        <p:nvSpPr>
          <p:cNvPr id="35" name="Repeat note box"/>
          <p:cNvSpPr/>
          <p:nvPr/>
        </p:nvSpPr>
        <p:spPr>
          <a:xfrm>
            <a:off x="2103120" y="3886200"/>
            <a:ext cx="4937760" cy="54864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pic>
        <p:nvPicPr>
          <p:cNvPr id="36" name="Repeat 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31720" y="4023360"/>
            <a:ext cx="274320" cy="274320"/>
          </a:xfrm>
          <a:prstGeom prst="rect">
            <a:avLst/>
          </a:prstGeom>
        </p:spPr>
      </p:pic>
      <p:sp>
        <p:nvSpPr>
          <p:cNvPr id="37" name="Repeat note"/>
          <p:cNvSpPr txBox="1"/>
          <p:nvPr/>
        </p:nvSpPr>
        <p:spPr>
          <a:xfrm>
            <a:off x="2743200" y="388620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What we learn in step 5 improves next month's plan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05  BUDGET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3035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Monthly Budget</a:t>
            </a:r>
            <a:endParaRPr lang="en-US" sz="3200" dirty="0"/>
          </a:p>
        </p:txBody>
      </p:sp>
      <p:graphicFrame>
        <p:nvGraphicFramePr>
          <p:cNvPr id="4" name="Budget doughnut" descr=""/>
          <p:cNvGraphicFramePr/>
          <p:nvPr/>
        </p:nvGraphicFramePr>
        <p:xfrm>
          <a:off x="548640" y="1280160"/>
          <a:ext cx="338328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Budget total center"/>
          <p:cNvSpPr txBox="1"/>
          <p:nvPr/>
        </p:nvSpPr>
        <p:spPr>
          <a:xfrm>
            <a:off x="1234440" y="251460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13,000</a:t>
            </a:r>
            <a:endParaRPr lang="en-US" sz="30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EGP / month</a:t>
            </a:r>
            <a:endParaRPr lang="en-US" sz="3000" dirty="0"/>
          </a:p>
        </p:txBody>
      </p:sp>
      <p:sp>
        <p:nvSpPr>
          <p:cNvPr id="6" name="Legend dot 1"/>
          <p:cNvSpPr/>
          <p:nvPr/>
        </p:nvSpPr>
        <p:spPr>
          <a:xfrm>
            <a:off x="4480560" y="1591056"/>
            <a:ext cx="219456" cy="219456"/>
          </a:xfrm>
          <a:prstGeom prst="ellipse">
            <a:avLst/>
          </a:prstGeom>
          <a:solidFill>
            <a:srgbClr val="2E1F17"/>
          </a:solidFill>
          <a:ln/>
        </p:spPr>
      </p:sp>
      <p:sp>
        <p:nvSpPr>
          <p:cNvPr id="7" name="Budget item 1"/>
          <p:cNvSpPr txBox="1"/>
          <p:nvPr/>
        </p:nvSpPr>
        <p:spPr>
          <a:xfrm>
            <a:off x="4846320" y="1463040"/>
            <a:ext cx="2651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Social media management</a:t>
            </a:r>
            <a:endParaRPr lang="en-US" sz="1500" dirty="0"/>
          </a:p>
        </p:txBody>
      </p:sp>
      <p:sp>
        <p:nvSpPr>
          <p:cNvPr id="8" name="Budget amount 1"/>
          <p:cNvSpPr txBox="1"/>
          <p:nvPr/>
        </p:nvSpPr>
        <p:spPr>
          <a:xfrm>
            <a:off x="7223760" y="1463040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5,000 EGP</a:t>
            </a:r>
            <a:endParaRPr lang="en-US" sz="1500" dirty="0"/>
          </a:p>
        </p:txBody>
      </p:sp>
      <p:sp>
        <p:nvSpPr>
          <p:cNvPr id="9" name="Legend dot 2"/>
          <p:cNvSpPr/>
          <p:nvPr/>
        </p:nvSpPr>
        <p:spPr>
          <a:xfrm>
            <a:off x="4480560" y="2157984"/>
            <a:ext cx="219456" cy="219456"/>
          </a:xfrm>
          <a:prstGeom prst="ellipse">
            <a:avLst/>
          </a:prstGeom>
          <a:solidFill>
            <a:srgbClr val="C27A3A"/>
          </a:solidFill>
          <a:ln/>
        </p:spPr>
      </p:sp>
      <p:sp>
        <p:nvSpPr>
          <p:cNvPr id="10" name="Budget item 2"/>
          <p:cNvSpPr txBox="1"/>
          <p:nvPr/>
        </p:nvSpPr>
        <p:spPr>
          <a:xfrm>
            <a:off x="4846320" y="2029968"/>
            <a:ext cx="2651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Paid advertising</a:t>
            </a:r>
            <a:endParaRPr lang="en-US" sz="1500" dirty="0"/>
          </a:p>
        </p:txBody>
      </p:sp>
      <p:sp>
        <p:nvSpPr>
          <p:cNvPr id="11" name="Budget amount 2"/>
          <p:cNvSpPr txBox="1"/>
          <p:nvPr/>
        </p:nvSpPr>
        <p:spPr>
          <a:xfrm>
            <a:off x="7223760" y="2029968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4,000 EGP</a:t>
            </a:r>
            <a:endParaRPr lang="en-US" sz="1500" dirty="0"/>
          </a:p>
        </p:txBody>
      </p:sp>
      <p:sp>
        <p:nvSpPr>
          <p:cNvPr id="12" name="Legend dot 3"/>
          <p:cNvSpPr/>
          <p:nvPr/>
        </p:nvSpPr>
        <p:spPr>
          <a:xfrm>
            <a:off x="4480560" y="2724912"/>
            <a:ext cx="219456" cy="219456"/>
          </a:xfrm>
          <a:prstGeom prst="ellipse">
            <a:avLst/>
          </a:prstGeom>
          <a:solidFill>
            <a:srgbClr val="5B7F5E"/>
          </a:solidFill>
          <a:ln/>
        </p:spPr>
      </p:sp>
      <p:sp>
        <p:nvSpPr>
          <p:cNvPr id="13" name="Budget item 3"/>
          <p:cNvSpPr txBox="1"/>
          <p:nvPr/>
        </p:nvSpPr>
        <p:spPr>
          <a:xfrm>
            <a:off x="4846320" y="2596896"/>
            <a:ext cx="2651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Content creation</a:t>
            </a:r>
            <a:endParaRPr lang="en-US" sz="1500" dirty="0"/>
          </a:p>
        </p:txBody>
      </p:sp>
      <p:sp>
        <p:nvSpPr>
          <p:cNvPr id="14" name="Budget amount 3"/>
          <p:cNvSpPr txBox="1"/>
          <p:nvPr/>
        </p:nvSpPr>
        <p:spPr>
          <a:xfrm>
            <a:off x="7223760" y="2596896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3,000 EGP</a:t>
            </a:r>
            <a:endParaRPr lang="en-US" sz="1500" dirty="0"/>
          </a:p>
        </p:txBody>
      </p:sp>
      <p:sp>
        <p:nvSpPr>
          <p:cNvPr id="15" name="Legend dot 4"/>
          <p:cNvSpPr/>
          <p:nvPr/>
        </p:nvSpPr>
        <p:spPr>
          <a:xfrm>
            <a:off x="4480560" y="3291840"/>
            <a:ext cx="219456" cy="219456"/>
          </a:xfrm>
          <a:prstGeom prst="ellipse">
            <a:avLst/>
          </a:prstGeom>
          <a:solidFill>
            <a:srgbClr val="E8C9A6"/>
          </a:solidFill>
          <a:ln/>
        </p:spPr>
      </p:sp>
      <p:sp>
        <p:nvSpPr>
          <p:cNvPr id="16" name="Budget item 4"/>
          <p:cNvSpPr txBox="1"/>
          <p:nvPr/>
        </p:nvSpPr>
        <p:spPr>
          <a:xfrm>
            <a:off x="4846320" y="3163824"/>
            <a:ext cx="2651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Reporting and optimization</a:t>
            </a:r>
            <a:endParaRPr lang="en-US" sz="1500" dirty="0"/>
          </a:p>
        </p:txBody>
      </p:sp>
      <p:sp>
        <p:nvSpPr>
          <p:cNvPr id="17" name="Budget amount 4"/>
          <p:cNvSpPr txBox="1"/>
          <p:nvPr/>
        </p:nvSpPr>
        <p:spPr>
          <a:xfrm>
            <a:off x="7223760" y="3163824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1,000 EGP</a:t>
            </a:r>
            <a:endParaRPr lang="en-US" sz="1500" dirty="0"/>
          </a:p>
        </p:txBody>
      </p:sp>
      <p:sp>
        <p:nvSpPr>
          <p:cNvPr id="18" name="Total box"/>
          <p:cNvSpPr/>
          <p:nvPr/>
        </p:nvSpPr>
        <p:spPr>
          <a:xfrm>
            <a:off x="4389120" y="3767328"/>
            <a:ext cx="4297680" cy="502920"/>
          </a:xfrm>
          <a:prstGeom prst="roundRect">
            <a:avLst>
              <a:gd name="adj" fmla="val 18182"/>
            </a:avLst>
          </a:prstGeom>
          <a:solidFill>
            <a:schemeClr val="tx2"/>
          </a:solidFill>
          <a:ln/>
        </p:spPr>
      </p:sp>
      <p:sp>
        <p:nvSpPr>
          <p:cNvPr id="19" name="Total label"/>
          <p:cNvSpPr txBox="1"/>
          <p:nvPr/>
        </p:nvSpPr>
        <p:spPr>
          <a:xfrm>
            <a:off x="4572000" y="3767328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Total</a:t>
            </a:r>
            <a:endParaRPr lang="en-US" sz="1500" dirty="0"/>
          </a:p>
        </p:txBody>
      </p:sp>
      <p:sp>
        <p:nvSpPr>
          <p:cNvPr id="20" name="Total value"/>
          <p:cNvSpPr txBox="1"/>
          <p:nvPr/>
        </p:nvSpPr>
        <p:spPr>
          <a:xfrm>
            <a:off x="6949440" y="3767328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13,000 EGP</a:t>
            </a:r>
            <a:endParaRPr lang="en-US" sz="1500" dirty="0"/>
          </a:p>
        </p:txBody>
      </p:sp>
      <p:sp>
        <p:nvSpPr>
          <p:cNvPr id="21" name="Budget footnote"/>
          <p:cNvSpPr txBox="1"/>
          <p:nvPr/>
        </p:nvSpPr>
        <p:spPr>
          <a:xfrm>
            <a:off x="4389120" y="434340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This is a proposed budget for the presentation.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06  TIMELINE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3035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First Month</a:t>
            </a:r>
            <a:endParaRPr lang="en-US" sz="3200" dirty="0"/>
          </a:p>
        </p:txBody>
      </p:sp>
      <p:sp>
        <p:nvSpPr>
          <p:cNvPr id="4" name="Timeline line"/>
          <p:cNvSpPr/>
          <p:nvPr/>
        </p:nvSpPr>
        <p:spPr>
          <a:xfrm>
            <a:off x="1485900" y="2103120"/>
            <a:ext cx="6172200" cy="0"/>
          </a:xfrm>
          <a:prstGeom prst="line">
            <a:avLst/>
          </a:prstGeom>
          <a:noFill/>
          <a:ln w="38100">
            <a:solidFill>
              <a:srgbClr val="E8C9A6"/>
            </a:solidFill>
            <a:prstDash val="dash"/>
          </a:ln>
        </p:spPr>
      </p:sp>
      <p:sp>
        <p:nvSpPr>
          <p:cNvPr id="5" name="Week pill 1"/>
          <p:cNvSpPr/>
          <p:nvPr/>
        </p:nvSpPr>
        <p:spPr>
          <a:xfrm>
            <a:off x="982980" y="1298448"/>
            <a:ext cx="1005840" cy="310896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</p:sp>
      <p:sp>
        <p:nvSpPr>
          <p:cNvPr id="6" name="Week label 1"/>
          <p:cNvSpPr txBox="1"/>
          <p:nvPr/>
        </p:nvSpPr>
        <p:spPr>
          <a:xfrm>
            <a:off x="982980" y="1298448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chemeClr val="bg1"/>
                </a:solidFill>
              </a:rPr>
              <a:t>WEEK 1</a:t>
            </a:r>
            <a:endParaRPr lang="en-US" sz="1100" dirty="0"/>
          </a:p>
        </p:txBody>
      </p:sp>
      <p:sp>
        <p:nvSpPr>
          <p:cNvPr id="7" name="Research and planning circle"/>
          <p:cNvSpPr/>
          <p:nvPr/>
        </p:nvSpPr>
        <p:spPr>
          <a:xfrm>
            <a:off x="1101852" y="1719072"/>
            <a:ext cx="768096" cy="768096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8" name="Research and planning icon" descr="Research and plann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09238" y="1926458"/>
            <a:ext cx="353324" cy="353324"/>
          </a:xfrm>
          <a:prstGeom prst="rect">
            <a:avLst/>
          </a:prstGeom>
        </p:spPr>
      </p:pic>
      <p:sp>
        <p:nvSpPr>
          <p:cNvPr id="9" name="Week pill 2"/>
          <p:cNvSpPr/>
          <p:nvPr/>
        </p:nvSpPr>
        <p:spPr>
          <a:xfrm>
            <a:off x="3040380" y="1298448"/>
            <a:ext cx="1005840" cy="310896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</p:sp>
      <p:sp>
        <p:nvSpPr>
          <p:cNvPr id="10" name="Week label 2"/>
          <p:cNvSpPr txBox="1"/>
          <p:nvPr/>
        </p:nvSpPr>
        <p:spPr>
          <a:xfrm>
            <a:off x="3040380" y="1298448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chemeClr val="bg1"/>
                </a:solidFill>
              </a:rPr>
              <a:t>WEEK 2</a:t>
            </a:r>
            <a:endParaRPr lang="en-US" sz="1100" dirty="0"/>
          </a:p>
        </p:txBody>
      </p:sp>
      <p:sp>
        <p:nvSpPr>
          <p:cNvPr id="11" name="Content creation circle"/>
          <p:cNvSpPr/>
          <p:nvPr/>
        </p:nvSpPr>
        <p:spPr>
          <a:xfrm>
            <a:off x="3159252" y="1719072"/>
            <a:ext cx="768096" cy="768096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2" name="Content creation icon" descr="Content creati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66638" y="1926458"/>
            <a:ext cx="353324" cy="353324"/>
          </a:xfrm>
          <a:prstGeom prst="rect">
            <a:avLst/>
          </a:prstGeom>
        </p:spPr>
      </p:pic>
      <p:sp>
        <p:nvSpPr>
          <p:cNvPr id="13" name="Week pill 3"/>
          <p:cNvSpPr/>
          <p:nvPr/>
        </p:nvSpPr>
        <p:spPr>
          <a:xfrm>
            <a:off x="5097780" y="1298448"/>
            <a:ext cx="1005840" cy="310896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</p:sp>
      <p:sp>
        <p:nvSpPr>
          <p:cNvPr id="14" name="Week label 3"/>
          <p:cNvSpPr txBox="1"/>
          <p:nvPr/>
        </p:nvSpPr>
        <p:spPr>
          <a:xfrm>
            <a:off x="5097780" y="1298448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chemeClr val="bg1"/>
                </a:solidFill>
              </a:rPr>
              <a:t>WEEK 3</a:t>
            </a:r>
            <a:endParaRPr lang="en-US" sz="1100" dirty="0"/>
          </a:p>
        </p:txBody>
      </p:sp>
      <p:sp>
        <p:nvSpPr>
          <p:cNvPr id="15" name="Launch marketing campaigns circle"/>
          <p:cNvSpPr/>
          <p:nvPr/>
        </p:nvSpPr>
        <p:spPr>
          <a:xfrm>
            <a:off x="5216652" y="1719072"/>
            <a:ext cx="768096" cy="768096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6" name="Launch marketing campaigns icon" descr="Launch marketing campaign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24038" y="1926458"/>
            <a:ext cx="353324" cy="353324"/>
          </a:xfrm>
          <a:prstGeom prst="rect">
            <a:avLst/>
          </a:prstGeom>
        </p:spPr>
      </p:pic>
      <p:sp>
        <p:nvSpPr>
          <p:cNvPr id="17" name="Week pill 4"/>
          <p:cNvSpPr/>
          <p:nvPr/>
        </p:nvSpPr>
        <p:spPr>
          <a:xfrm>
            <a:off x="7155180" y="1298448"/>
            <a:ext cx="1005840" cy="310896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</p:sp>
      <p:sp>
        <p:nvSpPr>
          <p:cNvPr id="18" name="Week label 4"/>
          <p:cNvSpPr txBox="1"/>
          <p:nvPr/>
        </p:nvSpPr>
        <p:spPr>
          <a:xfrm>
            <a:off x="7155180" y="1298448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chemeClr val="bg1"/>
                </a:solidFill>
              </a:rPr>
              <a:t>WEEK 4</a:t>
            </a:r>
            <a:endParaRPr lang="en-US" sz="1100" dirty="0"/>
          </a:p>
        </p:txBody>
      </p:sp>
      <p:sp>
        <p:nvSpPr>
          <p:cNvPr id="19" name="Measure results and improve circle"/>
          <p:cNvSpPr/>
          <p:nvPr/>
        </p:nvSpPr>
        <p:spPr>
          <a:xfrm>
            <a:off x="7274052" y="1719072"/>
            <a:ext cx="768096" cy="768096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0" name="Measure results and improve icon" descr="Measure results and improv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81438" y="1926458"/>
            <a:ext cx="353324" cy="353324"/>
          </a:xfrm>
          <a:prstGeom prst="rect">
            <a:avLst/>
          </a:prstGeom>
        </p:spPr>
      </p:pic>
      <p:sp>
        <p:nvSpPr>
          <p:cNvPr id="21" name="Week card 1"/>
          <p:cNvSpPr/>
          <p:nvPr/>
        </p:nvSpPr>
        <p:spPr>
          <a:xfrm>
            <a:off x="571500" y="2743200"/>
            <a:ext cx="1828800" cy="178308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/>
        </p:spPr>
      </p:sp>
      <p:pic>
        <p:nvPicPr>
          <p:cNvPr id="22" name="Research and planning illustration" descr="Research and planning illustrati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2940" y="2834640"/>
            <a:ext cx="1645920" cy="960120"/>
          </a:xfrm>
          <a:prstGeom prst="rect">
            <a:avLst/>
          </a:prstGeom>
        </p:spPr>
      </p:pic>
      <p:sp>
        <p:nvSpPr>
          <p:cNvPr id="23" name="Week title 1"/>
          <p:cNvSpPr txBox="1"/>
          <p:nvPr/>
        </p:nvSpPr>
        <p:spPr>
          <a:xfrm>
            <a:off x="708660" y="388620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Research and planning</a:t>
            </a:r>
            <a:endParaRPr lang="en-US" sz="1400" dirty="0"/>
          </a:p>
        </p:txBody>
      </p:sp>
      <p:sp>
        <p:nvSpPr>
          <p:cNvPr id="24" name="Week card 2"/>
          <p:cNvSpPr/>
          <p:nvPr/>
        </p:nvSpPr>
        <p:spPr>
          <a:xfrm>
            <a:off x="2628900" y="2743200"/>
            <a:ext cx="1828800" cy="178308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/>
        </p:spPr>
      </p:sp>
      <p:pic>
        <p:nvPicPr>
          <p:cNvPr id="25" name="Content creation illustration" descr="Content creation illustratio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20340" y="2834640"/>
            <a:ext cx="1645920" cy="960120"/>
          </a:xfrm>
          <a:prstGeom prst="rect">
            <a:avLst/>
          </a:prstGeom>
        </p:spPr>
      </p:pic>
      <p:sp>
        <p:nvSpPr>
          <p:cNvPr id="26" name="Week title 2"/>
          <p:cNvSpPr txBox="1"/>
          <p:nvPr/>
        </p:nvSpPr>
        <p:spPr>
          <a:xfrm>
            <a:off x="2766060" y="388620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Content creation</a:t>
            </a:r>
            <a:endParaRPr lang="en-US" sz="1400" dirty="0"/>
          </a:p>
        </p:txBody>
      </p:sp>
      <p:sp>
        <p:nvSpPr>
          <p:cNvPr id="27" name="Week card 3"/>
          <p:cNvSpPr/>
          <p:nvPr/>
        </p:nvSpPr>
        <p:spPr>
          <a:xfrm>
            <a:off x="4686300" y="2743200"/>
            <a:ext cx="1828800" cy="178308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/>
        </p:spPr>
      </p:sp>
      <p:pic>
        <p:nvPicPr>
          <p:cNvPr id="28" name="Launch marketing campaigns illustration" descr="Launch marketing campaigns illustratio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77740" y="2834640"/>
            <a:ext cx="1645920" cy="960120"/>
          </a:xfrm>
          <a:prstGeom prst="rect">
            <a:avLst/>
          </a:prstGeom>
        </p:spPr>
      </p:pic>
      <p:sp>
        <p:nvSpPr>
          <p:cNvPr id="29" name="Week title 3"/>
          <p:cNvSpPr txBox="1"/>
          <p:nvPr/>
        </p:nvSpPr>
        <p:spPr>
          <a:xfrm>
            <a:off x="4823460" y="388620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Launch marketing campaigns</a:t>
            </a:r>
            <a:endParaRPr lang="en-US" sz="1400" dirty="0"/>
          </a:p>
        </p:txBody>
      </p:sp>
      <p:sp>
        <p:nvSpPr>
          <p:cNvPr id="30" name="Week card 4"/>
          <p:cNvSpPr/>
          <p:nvPr/>
        </p:nvSpPr>
        <p:spPr>
          <a:xfrm>
            <a:off x="6743700" y="2743200"/>
            <a:ext cx="1828800" cy="178308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/>
        </p:spPr>
      </p:sp>
      <p:pic>
        <p:nvPicPr>
          <p:cNvPr id="31" name="Measure results and improve illustration" descr="Measure results and improve illustration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35140" y="2834640"/>
            <a:ext cx="1645920" cy="960120"/>
          </a:xfrm>
          <a:prstGeom prst="rect">
            <a:avLst/>
          </a:prstGeom>
        </p:spPr>
      </p:pic>
      <p:sp>
        <p:nvSpPr>
          <p:cNvPr id="32" name="Week title 4"/>
          <p:cNvSpPr txBox="1"/>
          <p:nvPr/>
        </p:nvSpPr>
        <p:spPr>
          <a:xfrm>
            <a:off x="6880860" y="388620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Measure results and improve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07  BENEFITS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3035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Café Benefits</a:t>
            </a:r>
            <a:endParaRPr lang="en-US" sz="3200" dirty="0"/>
          </a:p>
        </p:txBody>
      </p:sp>
      <p:pic>
        <p:nvPicPr>
          <p:cNvPr id="4" name="Happy customers illustration" descr="Happy customers illustr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25880"/>
            <a:ext cx="3566160" cy="3291840"/>
          </a:xfrm>
          <a:prstGeom prst="rect">
            <a:avLst/>
          </a:prstGeom>
        </p:spPr>
      </p:pic>
      <p:sp>
        <p:nvSpPr>
          <p:cNvPr id="5" name="Reach more people circle"/>
          <p:cNvSpPr/>
          <p:nvPr/>
        </p:nvSpPr>
        <p:spPr>
          <a:xfrm>
            <a:off x="4389120" y="1325880"/>
            <a:ext cx="457200" cy="45720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6" name="Reach more people icon" descr="Reach more peop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12564" y="1449324"/>
            <a:ext cx="210312" cy="210312"/>
          </a:xfrm>
          <a:prstGeom prst="rect">
            <a:avLst/>
          </a:prstGeom>
        </p:spPr>
      </p:pic>
      <p:sp>
        <p:nvSpPr>
          <p:cNvPr id="7" name="Row text 1"/>
          <p:cNvSpPr txBox="1"/>
          <p:nvPr/>
        </p:nvSpPr>
        <p:spPr>
          <a:xfrm>
            <a:off x="5029200" y="13258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Reach more people</a:t>
            </a:r>
            <a:endParaRPr lang="en-US" sz="1600" dirty="0"/>
          </a:p>
        </p:txBody>
      </p:sp>
      <p:sp>
        <p:nvSpPr>
          <p:cNvPr id="8" name="Attract new customers circle"/>
          <p:cNvSpPr/>
          <p:nvPr/>
        </p:nvSpPr>
        <p:spPr>
          <a:xfrm>
            <a:off x="4389120" y="1984248"/>
            <a:ext cx="457200" cy="45720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9" name="Attract new customers icon" descr="Attract new customer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12564" y="2107692"/>
            <a:ext cx="210312" cy="210312"/>
          </a:xfrm>
          <a:prstGeom prst="rect">
            <a:avLst/>
          </a:prstGeom>
        </p:spPr>
      </p:pic>
      <p:sp>
        <p:nvSpPr>
          <p:cNvPr id="10" name="Row text 2"/>
          <p:cNvSpPr txBox="1"/>
          <p:nvPr/>
        </p:nvSpPr>
        <p:spPr>
          <a:xfrm>
            <a:off x="5029200" y="198424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Attract new customers</a:t>
            </a:r>
            <a:endParaRPr lang="en-US" sz="1600" dirty="0"/>
          </a:p>
        </p:txBody>
      </p:sp>
      <p:sp>
        <p:nvSpPr>
          <p:cNvPr id="11" name="Build a strong brand circle"/>
          <p:cNvSpPr/>
          <p:nvPr/>
        </p:nvSpPr>
        <p:spPr>
          <a:xfrm>
            <a:off x="4389120" y="2642616"/>
            <a:ext cx="457200" cy="45720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12" name="Build a strong brand icon" descr="Build a strong bran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12564" y="2766060"/>
            <a:ext cx="210312" cy="210312"/>
          </a:xfrm>
          <a:prstGeom prst="rect">
            <a:avLst/>
          </a:prstGeom>
        </p:spPr>
      </p:pic>
      <p:sp>
        <p:nvSpPr>
          <p:cNvPr id="13" name="Row text 3"/>
          <p:cNvSpPr txBox="1"/>
          <p:nvPr/>
        </p:nvSpPr>
        <p:spPr>
          <a:xfrm>
            <a:off x="5029200" y="264261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Build a strong brand</a:t>
            </a:r>
            <a:endParaRPr lang="en-US" sz="1600" dirty="0"/>
          </a:p>
        </p:txBody>
      </p:sp>
      <p:sp>
        <p:nvSpPr>
          <p:cNvPr id="14" name="Improve customer engagement circle"/>
          <p:cNvSpPr/>
          <p:nvPr/>
        </p:nvSpPr>
        <p:spPr>
          <a:xfrm>
            <a:off x="4389120" y="3300984"/>
            <a:ext cx="457200" cy="45720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15" name="Improve customer engagement icon" descr="Improve customer engagemen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12564" y="3424428"/>
            <a:ext cx="210312" cy="210312"/>
          </a:xfrm>
          <a:prstGeom prst="rect">
            <a:avLst/>
          </a:prstGeom>
        </p:spPr>
      </p:pic>
      <p:sp>
        <p:nvSpPr>
          <p:cNvPr id="16" name="Row text 4"/>
          <p:cNvSpPr txBox="1"/>
          <p:nvPr/>
        </p:nvSpPr>
        <p:spPr>
          <a:xfrm>
            <a:off x="5029200" y="3300984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Improve customer engagement</a:t>
            </a:r>
            <a:endParaRPr lang="en-US" sz="1600" dirty="0"/>
          </a:p>
        </p:txBody>
      </p:sp>
      <p:sp>
        <p:nvSpPr>
          <p:cNvPr id="17" name="Better chance of higher sales circle"/>
          <p:cNvSpPr/>
          <p:nvPr/>
        </p:nvSpPr>
        <p:spPr>
          <a:xfrm>
            <a:off x="4389120" y="3959352"/>
            <a:ext cx="457200" cy="45720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18" name="Better chance of higher sales icon" descr="Better chance of higher sale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12564" y="4082796"/>
            <a:ext cx="210312" cy="210312"/>
          </a:xfrm>
          <a:prstGeom prst="rect">
            <a:avLst/>
          </a:prstGeom>
        </p:spPr>
      </p:pic>
      <p:sp>
        <p:nvSpPr>
          <p:cNvPr id="19" name="Row text 5"/>
          <p:cNvSpPr txBox="1"/>
          <p:nvPr/>
        </p:nvSpPr>
        <p:spPr>
          <a:xfrm>
            <a:off x="5029200" y="395935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Better chance of higher sales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08  EXPECTED RESULTS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3035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Aim for in Month One</a:t>
            </a:r>
            <a:endParaRPr lang="en-US" sz="3200" dirty="0"/>
          </a:p>
        </p:txBody>
      </p:sp>
      <p:sp>
        <p:nvSpPr>
          <p:cNvPr id="4" name="Result card 1"/>
          <p:cNvSpPr/>
          <p:nvPr/>
        </p:nvSpPr>
        <p:spPr>
          <a:xfrm>
            <a:off x="457200" y="1325880"/>
            <a:ext cx="1517904" cy="1828800"/>
          </a:xfrm>
          <a:prstGeom prst="roundRect">
            <a:avLst>
              <a:gd name="adj" fmla="val 7229"/>
            </a:avLst>
          </a:prstGeom>
          <a:solidFill>
            <a:schemeClr val="bg2"/>
          </a:solidFill>
          <a:ln/>
        </p:spPr>
      </p:sp>
      <p:sp>
        <p:nvSpPr>
          <p:cNvPr id="5" name="Followers circle"/>
          <p:cNvSpPr/>
          <p:nvPr/>
        </p:nvSpPr>
        <p:spPr>
          <a:xfrm>
            <a:off x="621792" y="1490472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6" name="Followers icon" descr="Follower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9925" y="1638605"/>
            <a:ext cx="252374" cy="252374"/>
          </a:xfrm>
          <a:prstGeom prst="rect">
            <a:avLst/>
          </a:prstGeom>
        </p:spPr>
      </p:pic>
      <p:sp>
        <p:nvSpPr>
          <p:cNvPr id="7" name="Increase 1 circle"/>
          <p:cNvSpPr/>
          <p:nvPr/>
        </p:nvSpPr>
        <p:spPr>
          <a:xfrm>
            <a:off x="1426464" y="1536192"/>
            <a:ext cx="384048" cy="384048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8" name="Increase 1 icon" descr="Increase 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0157" y="1639885"/>
            <a:ext cx="176662" cy="176662"/>
          </a:xfrm>
          <a:prstGeom prst="rect">
            <a:avLst/>
          </a:prstGeom>
        </p:spPr>
      </p:pic>
      <p:sp>
        <p:nvSpPr>
          <p:cNvPr id="9" name="Result text 1"/>
          <p:cNvSpPr txBox="1"/>
          <p:nvPr/>
        </p:nvSpPr>
        <p:spPr>
          <a:xfrm>
            <a:off x="621792" y="2194560"/>
            <a:ext cx="1280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More followers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and engagement</a:t>
            </a:r>
            <a:endParaRPr lang="en-US" sz="1500" dirty="0"/>
          </a:p>
        </p:txBody>
      </p:sp>
      <p:sp>
        <p:nvSpPr>
          <p:cNvPr id="10" name="Result card 2"/>
          <p:cNvSpPr/>
          <p:nvPr/>
        </p:nvSpPr>
        <p:spPr>
          <a:xfrm>
            <a:off x="2139696" y="1325880"/>
            <a:ext cx="1517904" cy="1828800"/>
          </a:xfrm>
          <a:prstGeom prst="roundRect">
            <a:avLst>
              <a:gd name="adj" fmla="val 7229"/>
            </a:avLst>
          </a:prstGeom>
          <a:solidFill>
            <a:schemeClr val="bg2"/>
          </a:solidFill>
          <a:ln/>
        </p:spPr>
      </p:sp>
      <p:sp>
        <p:nvSpPr>
          <p:cNvPr id="11" name="Inquiries circle"/>
          <p:cNvSpPr/>
          <p:nvPr/>
        </p:nvSpPr>
        <p:spPr>
          <a:xfrm>
            <a:off x="2304288" y="1490472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2" name="Inquiries icon" descr="Inquiri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52421" y="1638605"/>
            <a:ext cx="252374" cy="252374"/>
          </a:xfrm>
          <a:prstGeom prst="rect">
            <a:avLst/>
          </a:prstGeom>
        </p:spPr>
      </p:pic>
      <p:sp>
        <p:nvSpPr>
          <p:cNvPr id="13" name="Increase 2 circle"/>
          <p:cNvSpPr/>
          <p:nvPr/>
        </p:nvSpPr>
        <p:spPr>
          <a:xfrm>
            <a:off x="3108960" y="1536192"/>
            <a:ext cx="384048" cy="384048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14" name="Increase 2 icon" descr="Increase 2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2653" y="1639885"/>
            <a:ext cx="176662" cy="176662"/>
          </a:xfrm>
          <a:prstGeom prst="rect">
            <a:avLst/>
          </a:prstGeom>
        </p:spPr>
      </p:pic>
      <p:sp>
        <p:nvSpPr>
          <p:cNvPr id="15" name="Result text 2"/>
          <p:cNvSpPr txBox="1"/>
          <p:nvPr/>
        </p:nvSpPr>
        <p:spPr>
          <a:xfrm>
            <a:off x="2304288" y="2194560"/>
            <a:ext cx="1280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More inquiries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from customers</a:t>
            </a:r>
            <a:endParaRPr lang="en-US" sz="1500" dirty="0"/>
          </a:p>
        </p:txBody>
      </p:sp>
      <p:sp>
        <p:nvSpPr>
          <p:cNvPr id="16" name="Result card 3"/>
          <p:cNvSpPr/>
          <p:nvPr/>
        </p:nvSpPr>
        <p:spPr>
          <a:xfrm>
            <a:off x="3822192" y="1325880"/>
            <a:ext cx="1517904" cy="1828800"/>
          </a:xfrm>
          <a:prstGeom prst="roundRect">
            <a:avLst>
              <a:gd name="adj" fmla="val 7229"/>
            </a:avLst>
          </a:prstGeom>
          <a:solidFill>
            <a:schemeClr val="bg2"/>
          </a:solidFill>
          <a:ln/>
        </p:spPr>
      </p:sp>
      <p:sp>
        <p:nvSpPr>
          <p:cNvPr id="17" name="Awareness circle"/>
          <p:cNvSpPr/>
          <p:nvPr/>
        </p:nvSpPr>
        <p:spPr>
          <a:xfrm>
            <a:off x="3986784" y="1490472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8" name="Awareness icon" descr="Awarenes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34917" y="1638605"/>
            <a:ext cx="252374" cy="252374"/>
          </a:xfrm>
          <a:prstGeom prst="rect">
            <a:avLst/>
          </a:prstGeom>
        </p:spPr>
      </p:pic>
      <p:sp>
        <p:nvSpPr>
          <p:cNvPr id="19" name="Increase 3 circle"/>
          <p:cNvSpPr/>
          <p:nvPr/>
        </p:nvSpPr>
        <p:spPr>
          <a:xfrm>
            <a:off x="4791456" y="1536192"/>
            <a:ext cx="384048" cy="384048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20" name="Increase 3 icon" descr="Increase 3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95149" y="1639885"/>
            <a:ext cx="176662" cy="176662"/>
          </a:xfrm>
          <a:prstGeom prst="rect">
            <a:avLst/>
          </a:prstGeom>
        </p:spPr>
      </p:pic>
      <p:sp>
        <p:nvSpPr>
          <p:cNvPr id="21" name="Result text 3"/>
          <p:cNvSpPr txBox="1"/>
          <p:nvPr/>
        </p:nvSpPr>
        <p:spPr>
          <a:xfrm>
            <a:off x="3986784" y="2194560"/>
            <a:ext cx="1280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More awareness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of the café</a:t>
            </a:r>
            <a:endParaRPr lang="en-US" sz="1500" dirty="0"/>
          </a:p>
        </p:txBody>
      </p:sp>
      <p:sp>
        <p:nvSpPr>
          <p:cNvPr id="22" name="Result card 4"/>
          <p:cNvSpPr/>
          <p:nvPr/>
        </p:nvSpPr>
        <p:spPr>
          <a:xfrm>
            <a:off x="5504688" y="1325880"/>
            <a:ext cx="1517904" cy="1828800"/>
          </a:xfrm>
          <a:prstGeom prst="roundRect">
            <a:avLst>
              <a:gd name="adj" fmla="val 7229"/>
            </a:avLst>
          </a:prstGeom>
          <a:solidFill>
            <a:schemeClr val="bg2"/>
          </a:solidFill>
          <a:ln/>
        </p:spPr>
      </p:sp>
      <p:sp>
        <p:nvSpPr>
          <p:cNvPr id="23" name="Visits circle"/>
          <p:cNvSpPr/>
          <p:nvPr/>
        </p:nvSpPr>
        <p:spPr>
          <a:xfrm>
            <a:off x="5669280" y="1490472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4" name="Visits icon" descr="Visits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17413" y="1638605"/>
            <a:ext cx="252374" cy="252374"/>
          </a:xfrm>
          <a:prstGeom prst="rect">
            <a:avLst/>
          </a:prstGeom>
        </p:spPr>
      </p:pic>
      <p:sp>
        <p:nvSpPr>
          <p:cNvPr id="25" name="Increase 4 circle"/>
          <p:cNvSpPr/>
          <p:nvPr/>
        </p:nvSpPr>
        <p:spPr>
          <a:xfrm>
            <a:off x="6473952" y="1536192"/>
            <a:ext cx="384048" cy="384048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26" name="Increase 4 icon" descr="Increase 4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77645" y="1639885"/>
            <a:ext cx="176662" cy="176662"/>
          </a:xfrm>
          <a:prstGeom prst="rect">
            <a:avLst/>
          </a:prstGeom>
        </p:spPr>
      </p:pic>
      <p:sp>
        <p:nvSpPr>
          <p:cNvPr id="27" name="Result text 4"/>
          <p:cNvSpPr txBox="1"/>
          <p:nvPr/>
        </p:nvSpPr>
        <p:spPr>
          <a:xfrm>
            <a:off x="5669280" y="2194560"/>
            <a:ext cx="1280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More visits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from new customers</a:t>
            </a:r>
            <a:endParaRPr lang="en-US" sz="1500" dirty="0"/>
          </a:p>
        </p:txBody>
      </p:sp>
      <p:sp>
        <p:nvSpPr>
          <p:cNvPr id="28" name="Result card 5"/>
          <p:cNvSpPr/>
          <p:nvPr/>
        </p:nvSpPr>
        <p:spPr>
          <a:xfrm>
            <a:off x="7187184" y="1325880"/>
            <a:ext cx="1517904" cy="1828800"/>
          </a:xfrm>
          <a:prstGeom prst="roundRect">
            <a:avLst>
              <a:gd name="adj" fmla="val 7229"/>
            </a:avLst>
          </a:prstGeom>
          <a:solidFill>
            <a:schemeClr val="bg2"/>
          </a:solidFill>
          <a:ln/>
        </p:spPr>
      </p:sp>
      <p:sp>
        <p:nvSpPr>
          <p:cNvPr id="29" name="Sales circle"/>
          <p:cNvSpPr/>
          <p:nvPr/>
        </p:nvSpPr>
        <p:spPr>
          <a:xfrm>
            <a:off x="7351776" y="1490472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30" name="Sales icon" descr="Sales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499909" y="1638605"/>
            <a:ext cx="252374" cy="252374"/>
          </a:xfrm>
          <a:prstGeom prst="rect">
            <a:avLst/>
          </a:prstGeom>
        </p:spPr>
      </p:pic>
      <p:sp>
        <p:nvSpPr>
          <p:cNvPr id="31" name="Increase 5 circle"/>
          <p:cNvSpPr/>
          <p:nvPr/>
        </p:nvSpPr>
        <p:spPr>
          <a:xfrm>
            <a:off x="8156448" y="1536192"/>
            <a:ext cx="384048" cy="384048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32" name="Increase 5 icon" descr="Increase 5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260141" y="1639885"/>
            <a:ext cx="176662" cy="176662"/>
          </a:xfrm>
          <a:prstGeom prst="rect">
            <a:avLst/>
          </a:prstGeom>
        </p:spPr>
      </p:pic>
      <p:sp>
        <p:nvSpPr>
          <p:cNvPr id="33" name="Result text 5"/>
          <p:cNvSpPr txBox="1"/>
          <p:nvPr/>
        </p:nvSpPr>
        <p:spPr>
          <a:xfrm>
            <a:off x="7351776" y="2194560"/>
            <a:ext cx="1280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More sales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performance</a:t>
            </a:r>
            <a:endParaRPr lang="en-US" sz="1500" dirty="0"/>
          </a:p>
        </p:txBody>
      </p:sp>
      <p:sp>
        <p:nvSpPr>
          <p:cNvPr id="34" name="Tracking box"/>
          <p:cNvSpPr/>
          <p:nvPr/>
        </p:nvSpPr>
        <p:spPr>
          <a:xfrm>
            <a:off x="457200" y="3429000"/>
            <a:ext cx="8229600" cy="109728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/>
        </p:spPr>
      </p:sp>
      <p:sp>
        <p:nvSpPr>
          <p:cNvPr id="35" name="Tracking circle"/>
          <p:cNvSpPr/>
          <p:nvPr/>
        </p:nvSpPr>
        <p:spPr>
          <a:xfrm>
            <a:off x="731520" y="3657600"/>
            <a:ext cx="640080" cy="64008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36" name="Tracking icon" descr="Tracki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04342" y="3830422"/>
            <a:ext cx="294437" cy="294437"/>
          </a:xfrm>
          <a:prstGeom prst="rect">
            <a:avLst/>
          </a:prstGeom>
        </p:spPr>
      </p:pic>
      <p:sp>
        <p:nvSpPr>
          <p:cNvPr id="37" name="Tracking text"/>
          <p:cNvSpPr txBox="1"/>
          <p:nvPr/>
        </p:nvSpPr>
        <p:spPr>
          <a:xfrm>
            <a:off x="1600200" y="3429000"/>
            <a:ext cx="6858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We track the results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to understand what works best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09  FUTURE WORK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3035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After the First Month</a:t>
            </a:r>
            <a:endParaRPr lang="en-US" sz="3200" dirty="0"/>
          </a:p>
        </p:txBody>
      </p:sp>
      <p:sp>
        <p:nvSpPr>
          <p:cNvPr id="4" name="Growth step 1"/>
          <p:cNvSpPr/>
          <p:nvPr/>
        </p:nvSpPr>
        <p:spPr>
          <a:xfrm>
            <a:off x="457200" y="3383280"/>
            <a:ext cx="1517904" cy="11430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</p:sp>
      <p:sp>
        <p:nvSpPr>
          <p:cNvPr id="5" name="Food influencers circle"/>
          <p:cNvSpPr/>
          <p:nvPr/>
        </p:nvSpPr>
        <p:spPr>
          <a:xfrm>
            <a:off x="941832" y="2724912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Food influencers icon" descr="Food influencer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9965" y="2873045"/>
            <a:ext cx="252374" cy="252374"/>
          </a:xfrm>
          <a:prstGeom prst="rect">
            <a:avLst/>
          </a:prstGeom>
        </p:spPr>
      </p:pic>
      <p:sp>
        <p:nvSpPr>
          <p:cNvPr id="7" name="Growth text 1"/>
          <p:cNvSpPr txBox="1"/>
          <p:nvPr/>
        </p:nvSpPr>
        <p:spPr>
          <a:xfrm>
            <a:off x="566928" y="3493008"/>
            <a:ext cx="12984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Food influencers</a:t>
            </a:r>
            <a:endParaRPr lang="en-US" sz="1400" dirty="0"/>
          </a:p>
        </p:txBody>
      </p:sp>
      <p:sp>
        <p:nvSpPr>
          <p:cNvPr id="8" name="Growth step 2"/>
          <p:cNvSpPr/>
          <p:nvPr/>
        </p:nvSpPr>
        <p:spPr>
          <a:xfrm>
            <a:off x="2139696" y="3090672"/>
            <a:ext cx="1517904" cy="1435608"/>
          </a:xfrm>
          <a:prstGeom prst="roundRect">
            <a:avLst>
              <a:gd name="adj" fmla="val 6369"/>
            </a:avLst>
          </a:prstGeom>
          <a:solidFill>
            <a:schemeClr val="accent2"/>
          </a:solidFill>
          <a:ln/>
        </p:spPr>
      </p:sp>
      <p:sp>
        <p:nvSpPr>
          <p:cNvPr id="9" name="Loyalty programs circle"/>
          <p:cNvSpPr/>
          <p:nvPr/>
        </p:nvSpPr>
        <p:spPr>
          <a:xfrm>
            <a:off x="2624328" y="2432304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Loyalty programs icon" descr="Loyalty program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2461" y="2580437"/>
            <a:ext cx="252374" cy="252374"/>
          </a:xfrm>
          <a:prstGeom prst="rect">
            <a:avLst/>
          </a:prstGeom>
        </p:spPr>
      </p:pic>
      <p:sp>
        <p:nvSpPr>
          <p:cNvPr id="11" name="Growth text 2"/>
          <p:cNvSpPr txBox="1"/>
          <p:nvPr/>
        </p:nvSpPr>
        <p:spPr>
          <a:xfrm>
            <a:off x="2249424" y="3200400"/>
            <a:ext cx="12984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Loyalty programs</a:t>
            </a:r>
            <a:endParaRPr lang="en-US" sz="1400" dirty="0"/>
          </a:p>
        </p:txBody>
      </p:sp>
      <p:sp>
        <p:nvSpPr>
          <p:cNvPr id="12" name="Growth step 3"/>
          <p:cNvSpPr/>
          <p:nvPr/>
        </p:nvSpPr>
        <p:spPr>
          <a:xfrm>
            <a:off x="3822192" y="2798064"/>
            <a:ext cx="1517904" cy="1728216"/>
          </a:xfrm>
          <a:prstGeom prst="roundRect">
            <a:avLst>
              <a:gd name="adj" fmla="val 6024"/>
            </a:avLst>
          </a:prstGeom>
          <a:solidFill>
            <a:schemeClr val="accent4"/>
          </a:solidFill>
          <a:ln/>
        </p:spPr>
      </p:sp>
      <p:sp>
        <p:nvSpPr>
          <p:cNvPr id="13" name="Seasonal offers circle"/>
          <p:cNvSpPr/>
          <p:nvPr/>
        </p:nvSpPr>
        <p:spPr>
          <a:xfrm>
            <a:off x="4306824" y="2139696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4" name="Seasonal offers icon" descr="Seasonal offer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54957" y="2287829"/>
            <a:ext cx="252374" cy="252374"/>
          </a:xfrm>
          <a:prstGeom prst="rect">
            <a:avLst/>
          </a:prstGeom>
        </p:spPr>
      </p:pic>
      <p:sp>
        <p:nvSpPr>
          <p:cNvPr id="15" name="Growth text 3"/>
          <p:cNvSpPr txBox="1"/>
          <p:nvPr/>
        </p:nvSpPr>
        <p:spPr>
          <a:xfrm>
            <a:off x="3931920" y="2907792"/>
            <a:ext cx="12984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Seasonal offers</a:t>
            </a:r>
            <a:endParaRPr lang="en-US" sz="1400" dirty="0"/>
          </a:p>
        </p:txBody>
      </p:sp>
      <p:sp>
        <p:nvSpPr>
          <p:cNvPr id="16" name="Growth step 4"/>
          <p:cNvSpPr/>
          <p:nvPr/>
        </p:nvSpPr>
        <p:spPr>
          <a:xfrm>
            <a:off x="5504688" y="2505456"/>
            <a:ext cx="1517904" cy="2020824"/>
          </a:xfrm>
          <a:prstGeom prst="roundRect">
            <a:avLst>
              <a:gd name="adj" fmla="val 6024"/>
            </a:avLst>
          </a:prstGeom>
          <a:solidFill>
            <a:schemeClr val="accent3"/>
          </a:solidFill>
          <a:ln/>
        </p:spPr>
      </p:sp>
      <p:sp>
        <p:nvSpPr>
          <p:cNvPr id="17" name="Expand the best ads circle"/>
          <p:cNvSpPr/>
          <p:nvPr/>
        </p:nvSpPr>
        <p:spPr>
          <a:xfrm>
            <a:off x="5989320" y="1847088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8" name="Expand the best ads icon" descr="Expand the best ad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37453" y="1995221"/>
            <a:ext cx="252374" cy="252374"/>
          </a:xfrm>
          <a:prstGeom prst="rect">
            <a:avLst/>
          </a:prstGeom>
        </p:spPr>
      </p:pic>
      <p:sp>
        <p:nvSpPr>
          <p:cNvPr id="19" name="Growth text 4"/>
          <p:cNvSpPr txBox="1"/>
          <p:nvPr/>
        </p:nvSpPr>
        <p:spPr>
          <a:xfrm>
            <a:off x="5614416" y="2615184"/>
            <a:ext cx="12984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Expand the best ads</a:t>
            </a:r>
            <a:endParaRPr lang="en-US" sz="1400" dirty="0"/>
          </a:p>
        </p:txBody>
      </p:sp>
      <p:sp>
        <p:nvSpPr>
          <p:cNvPr id="20" name="Growth step 5"/>
          <p:cNvSpPr/>
          <p:nvPr/>
        </p:nvSpPr>
        <p:spPr>
          <a:xfrm>
            <a:off x="7187184" y="2212848"/>
            <a:ext cx="1517904" cy="2313432"/>
          </a:xfrm>
          <a:prstGeom prst="roundRect">
            <a:avLst>
              <a:gd name="adj" fmla="val 6024"/>
            </a:avLst>
          </a:prstGeom>
          <a:solidFill>
            <a:schemeClr val="tx2"/>
          </a:solidFill>
          <a:ln/>
        </p:spPr>
      </p:sp>
      <p:sp>
        <p:nvSpPr>
          <p:cNvPr id="21" name="Long-term strategy circle"/>
          <p:cNvSpPr/>
          <p:nvPr/>
        </p:nvSpPr>
        <p:spPr>
          <a:xfrm>
            <a:off x="7671816" y="155448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2" name="Long-term strategy icon" descr="Long-term strategy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19949" y="1702613"/>
            <a:ext cx="252374" cy="252374"/>
          </a:xfrm>
          <a:prstGeom prst="rect">
            <a:avLst/>
          </a:prstGeom>
        </p:spPr>
      </p:pic>
      <p:sp>
        <p:nvSpPr>
          <p:cNvPr id="23" name="Growth text 5"/>
          <p:cNvSpPr txBox="1"/>
          <p:nvPr/>
        </p:nvSpPr>
        <p:spPr>
          <a:xfrm>
            <a:off x="7296912" y="2322576"/>
            <a:ext cx="12984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Long-term strategy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91440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2"/>
                </a:solidFill>
              </a:rPr>
              <a:t>10  CONCLUSION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325880"/>
            <a:ext cx="4389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Let's Grow Together!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880360"/>
            <a:ext cx="4206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We're ready to help The Daily Cup grow and reach more customers.</a:t>
            </a:r>
            <a:endParaRPr lang="en-US" sz="1500" dirty="0"/>
          </a:p>
        </p:txBody>
      </p:sp>
      <p:sp>
        <p:nvSpPr>
          <p:cNvPr id="5" name="Contact details"/>
          <p:cNvSpPr txBox="1"/>
          <p:nvPr/>
        </p:nvSpPr>
        <p:spPr>
          <a:xfrm>
            <a:off x="548640" y="406908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BrandBrew Marketing   |   [Phone]   |   [Email]</a:t>
            </a:r>
            <a:endParaRPr lang="en-US" sz="1300" dirty="0"/>
          </a:p>
        </p:txBody>
      </p:sp>
      <p:pic>
        <p:nvPicPr>
          <p:cNvPr id="6" name="Partnership illustration" descr="Partnership illustr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66360" y="594360"/>
            <a:ext cx="3520440" cy="39319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Espresso">
  <a:themeElements>
    <a:clrScheme name="Espresso">
      <a:dk1>
        <a:srgbClr val="231B16"/>
      </a:dk1>
      <a:lt1>
        <a:srgbClr val="FFFFFF"/>
      </a:lt1>
      <a:dk2>
        <a:srgbClr val="2E1F17"/>
      </a:dk2>
      <a:lt2>
        <a:srgbClr val="F4ECE5"/>
      </a:lt2>
      <a:accent1>
        <a:srgbClr val="C27A3A"/>
      </a:accent1>
      <a:accent2>
        <a:srgbClr val="E8C9A6"/>
      </a:accent2>
      <a:accent3>
        <a:srgbClr val="6F4E37"/>
      </a:accent3>
      <a:accent4>
        <a:srgbClr val="5B7F5E"/>
      </a:accent4>
      <a:accent5>
        <a:srgbClr val="8C7F76"/>
      </a:accent5>
      <a:accent6>
        <a:srgbClr val="A6513A"/>
      </a:accent6>
      <a:hlink>
        <a:srgbClr val="C27A3A"/>
      </a:hlink>
      <a:folHlink>
        <a:srgbClr val="6F4E37"/>
      </a:folHlink>
    </a:clrScheme>
    <a:fontScheme name="Espresso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Digital Marketing Proposal - The Daily Cup</dc:title>
  <dc:subject>PptxGenJS Presentation</dc:subject>
  <dc:creator>BrandBrew Marketing</dc:creator>
  <cp:lastModifiedBy>BrandBrew Marketing</cp:lastModifiedBy>
  <cp:revision>1</cp:revision>
  <dcterms:created xsi:type="dcterms:W3CDTF">2026-10-20T08:25:14Z</dcterms:created>
  <dcterms:modified xsi:type="dcterms:W3CDTF">2026-10-20T08:25:14Z</dcterms:modified>
</cp:coreProperties>
</file>