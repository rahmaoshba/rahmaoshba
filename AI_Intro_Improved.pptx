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العنوان: مقدمة عن الذكاء الاصطناعي. عرّف نفسك واذكر إن المحاضرة هتبدأ من تعريف الذكاء الاصطناعي وتنتهي بأنواع تعلم الآلة والتعلم العميق.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المحاضرة: هنبدأ بتعريف الذكاء الاصطناعي، وبعدين علاقته بتعلم الآلة والتعلم العميق وتاريخه، ليه الطلب عليه زاد، أمثلة من حياتنا، وأخيرًا أنواع تعلم الآلة بالتفصيل.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جون مكارثي عرّف الذكاء الاصطناعي سنة 1956 بإنه: علم وهندسة صناعة آلات ذكية. يعني إننا نخلي الكمبيوتر يعمل حاجات كانت محتاجة ذكاء بشري.
المفاهيم الأساسية: معالجة اللغة الطبيعية (فهم كلام البشر)، تعلم الآلة (التعلم من البيانات)، تمثيل المعرفة (تخزين المعلومات بشكل يقدر الكمبيوتر يستنتج منه)، الاستدلال الآلي (الوصول لاستنتاجات)، الرؤية بالحاسوب (فهم الصور والفيديو)، والروبوتات.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الفكرة هنا إن المصطلحات دي مش مترادفة، دي دواير جوه بعض:
- الذكاء الاصطناعي هو الدايرة الكبيرة: أي تقنية بتخلي الآلة تقلد سلوك الإنسان.
- تعلم الآلة جزء منه: الآلة بتتعلم من البيانات بدل ما نبرمج لها كل قاعدة.
- التعلم العميق جزء من تعلم الآلة: بيستخدم شبكات عصبية متعددة الطبقات.
يعني كل Deep Learning هو Machine Learning، وكل Machine Learning هو AI، لكن العكس مش صحيح.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التسلسل الزمني:
- الخمسينات: ظهور مصطلح الذكاء الاصطناعي سنة 1956 في مؤتمر دارتموث، والهدف كان بناء برامج وآلات ذكية.
- الثمانينات: انتشار تعلم الآلة، يعني الآلة تتعلم من البيانات من غير ما نكتب لها كل القواعد.
- العشرينات من الألفية (2010s): التعلم العميق بقى عملي بسبب البيانات الضخمة وكروت الشاشة القوية (GPU).
- 2020s: الذكاء الاصطناعي التوليدي زي ChatGPT ومولدات الصور.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ليه الذكاء الاصطناعي انتشر دلوقتي بالذات رغم إن فكرته من الخمسينات؟ تلات أسباب:
1- قوة الحوسبة: كروت الشاشة والسحابة خلت تدريب النماذج الكبيرة ممكن.
2- خوارزميات أفضل: زي الشبكات العصبية العميقة.
3- بيانات ضخمة: الإنترنت والموبايلات بتنتج كميات هائلة من البيانات اللي النماذج بتتعلم 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من حياتنا:
- جوجل: لما تكتب في البحث بيتوقع باقي الجملة (Autocomplete).
- Google Duplex / Assistant: بيفهم الكلام ويرد عليك بشكل طبيعي، وممكن يعمل حجز بالتليفون.
- فلتر الإسبام: بيصنّف كل إيميل هل هو عادي ولا رسالة مزعجة.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فيسبوك: بيتعرف على الوجوه في الصور ويقترح تعمل Tag لأصحابك (رؤية بالحاسوب).
- تسلا: السيارة ذاتية القيادة بتشوف الطريق والعربيات والمشاة وتاخد قرار لحظي.
- نتفليكس: نظام توصيات بيرشح لك أفلام حسب اللي اتفرجت عليه.
- أوبر: التسعير الديناميكي، السعر بيتغير حسب الطلب والزحمة في نفس اللحظة.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تعلم الآلة فرع من الذكاء الاصطناعي بيستخدم البيانات والخوارزميات عشان يقلد طريقة تعلم الإنسان، ودقته بتتحسن مع الوقت.
الفرق الجوهري (الرسمة): في البرمجة التقليدية إحنا بنكتب القواعد بإيدينا والبرنامج يطلع الإجابات. في تعلم الآلة بندي الخوارزمية بيانات ومعاها الإجابات الصحيحة، وهي اللي تستنتج القواعد بنفسها (النموذج)، وبعدين نستخدم النموذج على بيانات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أنواع تعلم الآلة الأساسية:
1- التعلم الموجَّه (Supervised): بيانات عليها إجابات (Labels).
2- التعلم غير الموجَّه (Unsupervised): بيانات من غير إجابات، والنموذج يكتشف الأنماط لوحده.
3- التعلم المعزز (Reinforcement): التعلم بالتجربة والخطأ عن طريق مكافأة وعقاب.
4- التعلم العميق: أسلوب بيستخدم الشبكات العصبية، وممكن يُستخدم مع أي نوع من الأنواع اللي فاتت.
فيه كمان نوع وسط اسمه Semi-supervised بيستخدم شوية بيانات عليها Labels وكتير من 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التعلم الموجَّه: بنعلّم النموذج زي ما المدرس بيعلّم الطالب؛ بنديله صور كتير ونقوله دي «كلب» ودي «قطة». بعد التدريب لما نديله صورة جديدة يقدر يقول هي إيه.
أشهر الخوارزميات: الانحدار الخطي (للتنبؤ بقيمة رقمية زي السعر)، الانحدار اللوجستي (للتصنيف لفئتين)، شجرة القرار، الغابة العشوائية (مجموعة أشجار قرار)، SVM، وأقرب K جيران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تطبيقات التعلم الموجَّه: كشف الوجوه، التعرف على التوقيع، كشف الرسائل المزعجة، التنبؤ بالطقس، والتنبؤ بأسعار البيوت حسب أسعار السوق.
القاسم المشترك: في كل حالة عندنا بيانات قديمة معروف إجابتها، فالنموذج يتعلم 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التعلم غير الموجَّه: مفيش Labels. بنديله بيانات خام وهو يكتشف لوحده المجموعات والأنماط.
الرسمة بتقارن: فوق (موجَّه) قلناله دي «تفاح» فبقى يتعرف على التفاح. تحت (غير موجَّه) اديناه فواكه مخلوطة من غير أسماء، فجمّع المتشابه مع بعضه.
الخوارزميات: K-Means (تقسيم البيانات لمجموعات)، PCA (تقليل عدد الأبعاد/الخصائص مع الحفاظ على أهم المعلومات)، وقواعد الارتباط (زي: اللي بيشتري عيش غالبًا بيشتري جبنة).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تطبيقات التعلم غير الموجَّه: تحليل آراء الناس على السوشيال ميديا، كشف الاحتيال، كشف البرمجيات الخبيثة، واكتشاف أخطاء إدخال البيانات.
معظمها قائم على فكرة «كشف الشاذ» (Anomaly detection): النموذج بيتعلم الشكل الطبيعي للبيانات، وأي حاجة بعيدة عنه تبقى مشبوهة.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التعلم المعزز: فيه «وكيل» (Agent) موجود في «بيئة» (Environment). الوكيل بياخد فعل (Action)، البيئة بترد عليه بحالة جديدة (State) ومكافأة أو عقاب (Reward). ومع التكرار بيتعلم أنهي أفعال بتجيب أكبر مكافأة.
مثال الكلب: الكلب هو الوكيل، لو قام ومشى ياخد بسكوتة (مكافأة)، فمع الوقت بيتعلم يمشي لما نطلب منه.
أمثلة حقيقية: الألعاب (AlphaGo)، الروبوتات، والعربيات ذاتية القيادة.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التعلم العميق مستوحى من المخ: الخلية العصبية الحقيقية بتستقبل إشارات من الـ Dendrites وتطلعها عن طريق الـ Axon.
الخلية الصناعية (Perceptron) بتعمل نفس الفكرة: تاخد مدخلات (x)، تضرب كل واحد في وزن (w) بيعبّر عن أهميته، تجمعهم (z)، وتعدّي النتيجة على دالة تفعيل (f) عشان تطلع المخرج (y).
لما نرص طبقات كتير من الخلايا دي ورا بعض تبقى شبكة «عميقة»، ومن هنا جه اسم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أشهر خوارزميات التعلم العميق:
- CNN: الأشهر في الصور (التعرف على الوجوه، السيارات الذاتية).
- RNN و LSTM: للبيانات المتسلسلة زي النصوص والكلام والأسعار عبر الزمن، وLSTM بتفتكر المعلومات لمدة أطول.
- GAN: شبكتين بيتنافسوا، واحدة بتولّد بيانات مزيفة والتانية بتحاول تكشفها؛ بتُستخدم لتوليد صور واقعية.
- MLP: الشبكة الأساسية متعددة الطبقات.
- RBFN، SOM (للتجميع)، و DBN.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ملخص للمقارنة بين الأنواع التلاتة من حيث: نوع البيانات، الهدف، الخوارزميات، ومثال تطبيقي. مفيدة للمراجعة قبل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 الحضور وافتح باب الأسئلة.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5760720" y="822960"/>
            <a:ext cx="3291840" cy="3291840"/>
          </a:xfrm>
          <a:prstGeom prst="ellipse">
            <a:avLst/>
          </a:prstGeom>
          <a:solidFill>
            <a:srgbClr val="6D5DF6">
              <a:alpha val="20000"/>
            </a:srgbClr>
          </a:solidFill>
          <a:ln w="12700">
            <a:solidFill>
              <a:srgbClr val="6D5DF6">
                <a:alpha val="20000"/>
              </a:srgbClr>
            </a:solidFill>
            <a:prstDash val="solid"/>
          </a:ln>
        </p:spPr>
      </p:sp>
      <p:sp>
        <p:nvSpPr>
          <p:cNvPr id="3" name="Shape 1"/>
          <p:cNvSpPr/>
          <p:nvPr/>
        </p:nvSpPr>
        <p:spPr>
          <a:xfrm>
            <a:off x="6217920" y="1280160"/>
            <a:ext cx="2377440" cy="2377440"/>
          </a:xfrm>
          <a:prstGeom prst="ellipse">
            <a:avLst/>
          </a:prstGeom>
          <a:solidFill>
            <a:srgbClr val="6D5DF6"/>
          </a:solidFill>
          <a:ln w="12700">
            <a:solidFill>
              <a:srgbClr val="6D5DF6"/>
            </a:solidFill>
            <a:prstDash val="solid"/>
          </a:ln>
        </p:spPr>
      </p:sp>
      <p:pic>
        <p:nvPicPr>
          <p:cNvPr id="4" name="Image 0" descr="preencoded.png">    </p:cNvPr>
          <p:cNvPicPr>
            <a:picLocks noChangeAspect="1"/>
          </p:cNvPicPr>
          <p:nvPr/>
        </p:nvPicPr>
        <p:blipFill>
          <a:blip r:embed="rId1"/>
          <a:stretch>
            <a:fillRect/>
          </a:stretch>
        </p:blipFill>
        <p:spPr>
          <a:xfrm>
            <a:off x="6812280" y="1874520"/>
            <a:ext cx="1188720" cy="1188720"/>
          </a:xfrm>
          <a:prstGeom prst="rect">
            <a:avLst/>
          </a:prstGeom>
        </p:spPr>
      </p:pic>
      <p:sp>
        <p:nvSpPr>
          <p:cNvPr id="5" name="Text 2"/>
          <p:cNvSpPr txBox="1"/>
          <p:nvPr/>
        </p:nvSpPr>
        <p:spPr>
          <a:xfrm>
            <a:off x="548640" y="1234440"/>
            <a:ext cx="5120640" cy="320040"/>
          </a:xfrm>
          <a:prstGeom prst="rect">
            <a:avLst/>
          </a:prstGeom>
          <a:noFill/>
          <a:ln/>
        </p:spPr>
        <p:txBody>
          <a:bodyPr wrap="square" lIns="0" tIns="0" rIns="0" bIns="0" rtlCol="0" anchor="ctr"/>
          <a:lstStyle/>
          <a:p>
            <a:pPr indent="0" marL="0">
              <a:buNone/>
            </a:pPr>
            <a:r>
              <a:rPr lang="en-US" sz="1400" b="1" spc="400" kern="0" dirty="0">
                <a:solidFill>
                  <a:srgbClr val="FFB547"/>
                </a:solidFill>
                <a:latin typeface="Calibri" pitchFamily="34" charset="0"/>
                <a:ea typeface="Calibri" pitchFamily="34" charset="-122"/>
                <a:cs typeface="Calibri" pitchFamily="34" charset="-120"/>
              </a:rPr>
              <a:t>INTRODUCTION TO</a:t>
            </a:r>
            <a:endParaRPr lang="en-US" sz="1400" dirty="0"/>
          </a:p>
        </p:txBody>
      </p:sp>
      <p:sp>
        <p:nvSpPr>
          <p:cNvPr id="6" name="Text 3"/>
          <p:cNvSpPr txBox="1"/>
          <p:nvPr/>
        </p:nvSpPr>
        <p:spPr>
          <a:xfrm>
            <a:off x="548640" y="1600200"/>
            <a:ext cx="5303520" cy="12801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Artificial Intelligence</a:t>
            </a:r>
            <a:endParaRPr lang="en-US" sz="4400" dirty="0"/>
          </a:p>
        </p:txBody>
      </p:sp>
      <p:sp>
        <p:nvSpPr>
          <p:cNvPr id="7" name="Text 4"/>
          <p:cNvSpPr txBox="1"/>
          <p:nvPr/>
        </p:nvSpPr>
        <p:spPr>
          <a:xfrm>
            <a:off x="548640" y="2926080"/>
            <a:ext cx="5120640" cy="548640"/>
          </a:xfrm>
          <a:prstGeom prst="rect">
            <a:avLst/>
          </a:prstGeom>
          <a:noFill/>
          <a:ln/>
        </p:spPr>
        <p:txBody>
          <a:bodyPr wrap="square" lIns="0" tIns="0" rIns="0" bIns="0" rtlCol="0" anchor="ctr"/>
          <a:lstStyle/>
          <a:p>
            <a:pPr indent="0" marL="0">
              <a:buNone/>
            </a:pPr>
            <a:r>
              <a:rPr lang="en-US" sz="1600" dirty="0">
                <a:solidFill>
                  <a:srgbClr val="D9D6FF"/>
                </a:solidFill>
                <a:latin typeface="Calibri" pitchFamily="34" charset="0"/>
                <a:ea typeface="Calibri" pitchFamily="34" charset="-122"/>
                <a:cs typeface="Calibri" pitchFamily="34" charset="-120"/>
              </a:rPr>
              <a:t>From the basics of AI to Machine Learning and Deep Learning</a:t>
            </a:r>
            <a:endParaRPr lang="en-US" sz="1600" dirty="0"/>
          </a:p>
        </p:txBody>
      </p:sp>
      <p:sp>
        <p:nvSpPr>
          <p:cNvPr id="8" name="Text 5"/>
          <p:cNvSpPr txBox="1"/>
          <p:nvPr/>
        </p:nvSpPr>
        <p:spPr>
          <a:xfrm>
            <a:off x="548640" y="41148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Eng. Rahma Khaled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AGENDA</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Table of Contents</a:t>
            </a:r>
            <a:endParaRPr lang="en-US" sz="3000" dirty="0"/>
          </a:p>
        </p:txBody>
      </p:sp>
      <p:sp>
        <p:nvSpPr>
          <p:cNvPr id="4" name="Shape 2"/>
          <p:cNvSpPr/>
          <p:nvPr/>
        </p:nvSpPr>
        <p:spPr>
          <a:xfrm>
            <a:off x="457200" y="118872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5" name="Text 3"/>
          <p:cNvSpPr txBox="1"/>
          <p:nvPr/>
        </p:nvSpPr>
        <p:spPr>
          <a:xfrm>
            <a:off x="685800" y="137160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01</a:t>
            </a:r>
            <a:endParaRPr lang="en-US" sz="2600" dirty="0"/>
          </a:p>
        </p:txBody>
      </p:sp>
      <p:sp>
        <p:nvSpPr>
          <p:cNvPr id="6" name="Text 4"/>
          <p:cNvSpPr txBox="1"/>
          <p:nvPr/>
        </p:nvSpPr>
        <p:spPr>
          <a:xfrm>
            <a:off x="685800" y="187452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What is AI?</a:t>
            </a:r>
            <a:endParaRPr lang="en-US" sz="1600" dirty="0"/>
          </a:p>
        </p:txBody>
      </p:sp>
      <p:sp>
        <p:nvSpPr>
          <p:cNvPr id="7" name="Text 5"/>
          <p:cNvSpPr txBox="1"/>
          <p:nvPr/>
        </p:nvSpPr>
        <p:spPr>
          <a:xfrm>
            <a:off x="685800" y="219456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Definition &amp; core concepts</a:t>
            </a:r>
            <a:endParaRPr lang="en-US" sz="1100" dirty="0"/>
          </a:p>
        </p:txBody>
      </p:sp>
      <p:sp>
        <p:nvSpPr>
          <p:cNvPr id="8" name="Shape 6"/>
          <p:cNvSpPr/>
          <p:nvPr/>
        </p:nvSpPr>
        <p:spPr>
          <a:xfrm>
            <a:off x="3291840" y="118872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9" name="Text 7"/>
          <p:cNvSpPr txBox="1"/>
          <p:nvPr/>
        </p:nvSpPr>
        <p:spPr>
          <a:xfrm>
            <a:off x="3520440" y="137160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520440" y="187452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AI, ML &amp; Deep Learning</a:t>
            </a:r>
            <a:endParaRPr lang="en-US" sz="1600" dirty="0"/>
          </a:p>
        </p:txBody>
      </p:sp>
      <p:sp>
        <p:nvSpPr>
          <p:cNvPr id="11" name="Text 9"/>
          <p:cNvSpPr txBox="1"/>
          <p:nvPr/>
        </p:nvSpPr>
        <p:spPr>
          <a:xfrm>
            <a:off x="3520440" y="219456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How they relate + short history</a:t>
            </a:r>
            <a:endParaRPr lang="en-US" sz="1100" dirty="0"/>
          </a:p>
        </p:txBody>
      </p:sp>
      <p:sp>
        <p:nvSpPr>
          <p:cNvPr id="12" name="Shape 10"/>
          <p:cNvSpPr/>
          <p:nvPr/>
        </p:nvSpPr>
        <p:spPr>
          <a:xfrm>
            <a:off x="6126480" y="118872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3" name="Text 11"/>
          <p:cNvSpPr txBox="1"/>
          <p:nvPr/>
        </p:nvSpPr>
        <p:spPr>
          <a:xfrm>
            <a:off x="6355080" y="137160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03</a:t>
            </a:r>
            <a:endParaRPr lang="en-US" sz="2600" dirty="0"/>
          </a:p>
        </p:txBody>
      </p:sp>
      <p:sp>
        <p:nvSpPr>
          <p:cNvPr id="14" name="Text 12"/>
          <p:cNvSpPr txBox="1"/>
          <p:nvPr/>
        </p:nvSpPr>
        <p:spPr>
          <a:xfrm>
            <a:off x="6355080" y="187452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Demand for AI</a:t>
            </a:r>
            <a:endParaRPr lang="en-US" sz="1600" dirty="0"/>
          </a:p>
        </p:txBody>
      </p:sp>
      <p:sp>
        <p:nvSpPr>
          <p:cNvPr id="15" name="Text 13"/>
          <p:cNvSpPr txBox="1"/>
          <p:nvPr/>
        </p:nvSpPr>
        <p:spPr>
          <a:xfrm>
            <a:off x="6355080" y="219456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Why AI is booming now</a:t>
            </a:r>
            <a:endParaRPr lang="en-US" sz="1100" dirty="0"/>
          </a:p>
        </p:txBody>
      </p:sp>
      <p:sp>
        <p:nvSpPr>
          <p:cNvPr id="16" name="Shape 14"/>
          <p:cNvSpPr/>
          <p:nvPr/>
        </p:nvSpPr>
        <p:spPr>
          <a:xfrm>
            <a:off x="457200" y="292608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7" name="Text 15"/>
          <p:cNvSpPr txBox="1"/>
          <p:nvPr/>
        </p:nvSpPr>
        <p:spPr>
          <a:xfrm>
            <a:off x="685800" y="310896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04</a:t>
            </a:r>
            <a:endParaRPr lang="en-US" sz="2600" dirty="0"/>
          </a:p>
        </p:txBody>
      </p:sp>
      <p:sp>
        <p:nvSpPr>
          <p:cNvPr id="18" name="Text 16"/>
          <p:cNvSpPr txBox="1"/>
          <p:nvPr/>
        </p:nvSpPr>
        <p:spPr>
          <a:xfrm>
            <a:off x="685800" y="361188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AI Applications</a:t>
            </a:r>
            <a:endParaRPr lang="en-US" sz="1600" dirty="0"/>
          </a:p>
        </p:txBody>
      </p:sp>
      <p:sp>
        <p:nvSpPr>
          <p:cNvPr id="19" name="Text 17"/>
          <p:cNvSpPr txBox="1"/>
          <p:nvPr/>
        </p:nvSpPr>
        <p:spPr>
          <a:xfrm>
            <a:off x="685800" y="393192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AI in products we use daily</a:t>
            </a:r>
            <a:endParaRPr lang="en-US" sz="1100" dirty="0"/>
          </a:p>
        </p:txBody>
      </p:sp>
      <p:sp>
        <p:nvSpPr>
          <p:cNvPr id="20" name="Shape 18"/>
          <p:cNvSpPr/>
          <p:nvPr/>
        </p:nvSpPr>
        <p:spPr>
          <a:xfrm>
            <a:off x="3291840" y="292608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1" name="Text 19"/>
          <p:cNvSpPr txBox="1"/>
          <p:nvPr/>
        </p:nvSpPr>
        <p:spPr>
          <a:xfrm>
            <a:off x="3520440" y="310896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05</a:t>
            </a:r>
            <a:endParaRPr lang="en-US" sz="2600" dirty="0"/>
          </a:p>
        </p:txBody>
      </p:sp>
      <p:sp>
        <p:nvSpPr>
          <p:cNvPr id="22" name="Text 20"/>
          <p:cNvSpPr txBox="1"/>
          <p:nvPr/>
        </p:nvSpPr>
        <p:spPr>
          <a:xfrm>
            <a:off x="3520440" y="361188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Machine Learning</a:t>
            </a:r>
            <a:endParaRPr lang="en-US" sz="1600" dirty="0"/>
          </a:p>
        </p:txBody>
      </p:sp>
      <p:sp>
        <p:nvSpPr>
          <p:cNvPr id="23" name="Text 21"/>
          <p:cNvSpPr txBox="1"/>
          <p:nvPr/>
        </p:nvSpPr>
        <p:spPr>
          <a:xfrm>
            <a:off x="3520440" y="393192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Definition &amp; how it differs</a:t>
            </a:r>
            <a:endParaRPr lang="en-US" sz="1100" dirty="0"/>
          </a:p>
        </p:txBody>
      </p:sp>
      <p:sp>
        <p:nvSpPr>
          <p:cNvPr id="24" name="Shape 22"/>
          <p:cNvSpPr/>
          <p:nvPr/>
        </p:nvSpPr>
        <p:spPr>
          <a:xfrm>
            <a:off x="6126480" y="2926080"/>
            <a:ext cx="25603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5" name="Text 23"/>
          <p:cNvSpPr txBox="1"/>
          <p:nvPr/>
        </p:nvSpPr>
        <p:spPr>
          <a:xfrm>
            <a:off x="6355080" y="3108960"/>
            <a:ext cx="914400" cy="457200"/>
          </a:xfrm>
          <a:prstGeom prst="rect">
            <a:avLst/>
          </a:prstGeom>
          <a:noFill/>
          <a:ln/>
        </p:spPr>
        <p:txBody>
          <a:bodyPr wrap="square" lIns="0" tIns="0" rIns="0" bIns="0" rtlCol="0" anchor="ctr"/>
          <a:lstStyle/>
          <a:p>
            <a:pPr indent="0" marL="0">
              <a:buNone/>
            </a:pPr>
            <a:r>
              <a:rPr lang="en-US" sz="2600" b="1" dirty="0">
                <a:solidFill>
                  <a:srgbClr val="6D5DF6"/>
                </a:solidFill>
                <a:latin typeface="Calibri" pitchFamily="34" charset="0"/>
                <a:ea typeface="Calibri" pitchFamily="34" charset="-122"/>
                <a:cs typeface="Calibri" pitchFamily="34" charset="-120"/>
              </a:rPr>
              <a:t>06</a:t>
            </a:r>
            <a:endParaRPr lang="en-US" sz="2600" dirty="0"/>
          </a:p>
        </p:txBody>
      </p:sp>
      <p:sp>
        <p:nvSpPr>
          <p:cNvPr id="26" name="Text 24"/>
          <p:cNvSpPr txBox="1"/>
          <p:nvPr/>
        </p:nvSpPr>
        <p:spPr>
          <a:xfrm>
            <a:off x="6355080" y="3611880"/>
            <a:ext cx="2103120"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Types of ML</a:t>
            </a:r>
            <a:endParaRPr lang="en-US" sz="1600" dirty="0"/>
          </a:p>
        </p:txBody>
      </p:sp>
      <p:sp>
        <p:nvSpPr>
          <p:cNvPr id="27" name="Text 25"/>
          <p:cNvSpPr txBox="1"/>
          <p:nvPr/>
        </p:nvSpPr>
        <p:spPr>
          <a:xfrm>
            <a:off x="6355080" y="3931920"/>
            <a:ext cx="2103120" cy="320040"/>
          </a:xfrm>
          <a:prstGeom prst="rect">
            <a:avLst/>
          </a:prstGeom>
          <a:noFill/>
          <a:ln/>
        </p:spPr>
        <p:txBody>
          <a:bodyPr wrap="square" lIns="0" tIns="0" rIns="0" bIns="0" rtlCol="0" anchor="ctr"/>
          <a:lstStyle/>
          <a:p>
            <a:pPr indent="0" marL="0">
              <a:buNone/>
            </a:pPr>
            <a:r>
              <a:rPr lang="en-US" sz="1100" dirty="0">
                <a:solidFill>
                  <a:srgbClr val="6B6A80"/>
                </a:solidFill>
                <a:latin typeface="Calibri" pitchFamily="34" charset="0"/>
                <a:ea typeface="Calibri" pitchFamily="34" charset="-122"/>
                <a:cs typeface="Calibri" pitchFamily="34" charset="-120"/>
              </a:rPr>
              <a:t>Supervised · Unsupervised · RL · DL</a:t>
            </a:r>
            <a:endParaRPr lang="en-US" sz="1100" dirty="0"/>
          </a:p>
        </p:txBody>
      </p:sp>
      <p:sp>
        <p:nvSpPr>
          <p:cNvPr id="28" name="Text 26"/>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01 · WHAT IS AI?</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Artificial Intelligence</a:t>
            </a:r>
            <a:endParaRPr lang="en-US" sz="3000" dirty="0"/>
          </a:p>
        </p:txBody>
      </p:sp>
      <p:sp>
        <p:nvSpPr>
          <p:cNvPr id="4" name="Shape 2"/>
          <p:cNvSpPr/>
          <p:nvPr/>
        </p:nvSpPr>
        <p:spPr>
          <a:xfrm>
            <a:off x="457200" y="1188720"/>
            <a:ext cx="3840480" cy="3291840"/>
          </a:xfrm>
          <a:prstGeom prst="roundRect">
            <a:avLst>
              <a:gd name="adj" fmla="val 4167"/>
            </a:avLst>
          </a:prstGeom>
          <a:solidFill>
            <a:srgbClr val="1E1B4B"/>
          </a:solidFill>
          <a:ln w="12700">
            <a:solidFill>
              <a:srgbClr val="1E1B4B"/>
            </a:solidFill>
            <a:prstDash val="solid"/>
          </a:ln>
        </p:spPr>
      </p:sp>
      <p:pic>
        <p:nvPicPr>
          <p:cNvPr id="5" name="Image 0" descr="preencoded.png">    </p:cNvPr>
          <p:cNvPicPr>
            <a:picLocks noChangeAspect="1"/>
          </p:cNvPicPr>
          <p:nvPr/>
        </p:nvPicPr>
        <p:blipFill>
          <a:blip r:embed="rId1"/>
          <a:stretch>
            <a:fillRect/>
          </a:stretch>
        </p:blipFill>
        <p:spPr>
          <a:xfrm>
            <a:off x="731520" y="1463040"/>
            <a:ext cx="457200" cy="457200"/>
          </a:xfrm>
          <a:prstGeom prst="rect">
            <a:avLst/>
          </a:prstGeom>
        </p:spPr>
      </p:pic>
      <p:sp>
        <p:nvSpPr>
          <p:cNvPr id="6" name="Text 3"/>
          <p:cNvSpPr txBox="1"/>
          <p:nvPr/>
        </p:nvSpPr>
        <p:spPr>
          <a:xfrm>
            <a:off x="731520" y="2011680"/>
            <a:ext cx="3291840" cy="1371600"/>
          </a:xfrm>
          <a:prstGeom prst="rect">
            <a:avLst/>
          </a:prstGeom>
          <a:noFill/>
          <a:ln/>
        </p:spPr>
        <p:txBody>
          <a:bodyPr wrap="square" lIns="0" tIns="0" rIns="0" bIns="0" rtlCol="0" anchor="t"/>
          <a:lstStyle/>
          <a:p>
            <a:pPr indent="0" marL="0">
              <a:buNone/>
            </a:pPr>
            <a:r>
              <a:rPr lang="en-US" sz="2200" b="1" i="1" dirty="0">
                <a:solidFill>
                  <a:srgbClr val="FFFFFF"/>
                </a:solidFill>
                <a:latin typeface="Calibri" pitchFamily="34" charset="0"/>
                <a:ea typeface="Calibri" pitchFamily="34" charset="-122"/>
                <a:cs typeface="Calibri" pitchFamily="34" charset="-120"/>
              </a:rPr>
              <a:t>The science and engineering of making intelligent machines.</a:t>
            </a:r>
            <a:endParaRPr lang="en-US" sz="2200" dirty="0"/>
          </a:p>
        </p:txBody>
      </p:sp>
      <p:sp>
        <p:nvSpPr>
          <p:cNvPr id="7" name="Text 4"/>
          <p:cNvSpPr txBox="1"/>
          <p:nvPr/>
        </p:nvSpPr>
        <p:spPr>
          <a:xfrm>
            <a:off x="731520" y="3611880"/>
            <a:ext cx="3291840" cy="640080"/>
          </a:xfrm>
          <a:prstGeom prst="rect">
            <a:avLst/>
          </a:prstGeom>
          <a:noFill/>
          <a:ln/>
        </p:spPr>
        <p:txBody>
          <a:bodyPr wrap="square" lIns="0" tIns="0" rIns="0" bIns="0" rtlCol="0" anchor="ctr"/>
          <a:lstStyle/>
          <a:p>
            <a:pPr indent="0" marL="0">
              <a:buNone/>
            </a:pPr>
            <a:r>
              <a:rPr lang="en-US" sz="1300" b="1" dirty="0">
                <a:solidFill>
                  <a:srgbClr val="FFB547"/>
                </a:solidFill>
                <a:latin typeface="Calibri" pitchFamily="34" charset="0"/>
                <a:ea typeface="Calibri" pitchFamily="34" charset="-122"/>
                <a:cs typeface="Calibri" pitchFamily="34" charset="-120"/>
              </a:rPr>
              <a:t>John McCarthy</a:t>
            </a:r>
            <a:endParaRPr lang="en-US" sz="1300" dirty="0"/>
          </a:p>
          <a:p>
            <a:pPr indent="0" marL="0">
              <a:buNone/>
            </a:pPr>
            <a:r>
              <a:rPr lang="en-US" sz="1300" dirty="0">
                <a:solidFill>
                  <a:srgbClr val="D9D6FF"/>
                </a:solidFill>
                <a:latin typeface="Calibri" pitchFamily="34" charset="0"/>
                <a:ea typeface="Calibri" pitchFamily="34" charset="-122"/>
                <a:cs typeface="Calibri" pitchFamily="34" charset="-120"/>
              </a:rPr>
              <a:t>who coined the term “AI” in 1956</a:t>
            </a:r>
            <a:endParaRPr lang="en-US" sz="1300" dirty="0"/>
          </a:p>
        </p:txBody>
      </p:sp>
      <p:sp>
        <p:nvSpPr>
          <p:cNvPr id="8" name="Text 5"/>
          <p:cNvSpPr txBox="1"/>
          <p:nvPr/>
        </p:nvSpPr>
        <p:spPr>
          <a:xfrm>
            <a:off x="4663440" y="1188720"/>
            <a:ext cx="4023360" cy="32004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Core concepts of AI</a:t>
            </a:r>
            <a:endParaRPr lang="en-US" sz="1600" dirty="0"/>
          </a:p>
        </p:txBody>
      </p:sp>
      <p:sp>
        <p:nvSpPr>
          <p:cNvPr id="9" name="Shape 6"/>
          <p:cNvSpPr/>
          <p:nvPr/>
        </p:nvSpPr>
        <p:spPr>
          <a:xfrm>
            <a:off x="4663440" y="1645920"/>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0" name="Shape 7"/>
          <p:cNvSpPr/>
          <p:nvPr/>
        </p:nvSpPr>
        <p:spPr>
          <a:xfrm>
            <a:off x="4800600" y="1828800"/>
            <a:ext cx="502920" cy="502920"/>
          </a:xfrm>
          <a:prstGeom prst="ellipse">
            <a:avLst/>
          </a:prstGeom>
          <a:solidFill>
            <a:srgbClr val="EEEDFF"/>
          </a:solidFill>
          <a:ln w="12700">
            <a:solidFill>
              <a:srgbClr val="EEEDFF"/>
            </a:solidFill>
            <a:prstDash val="solid"/>
          </a:ln>
        </p:spPr>
      </p:sp>
      <p:pic>
        <p:nvPicPr>
          <p:cNvPr id="11" name="Image 1" descr="preencoded.png">    </p:cNvPr>
          <p:cNvPicPr>
            <a:picLocks noChangeAspect="1"/>
          </p:cNvPicPr>
          <p:nvPr/>
        </p:nvPicPr>
        <p:blipFill>
          <a:blip r:embed="rId2"/>
          <a:stretch>
            <a:fillRect/>
          </a:stretch>
        </p:blipFill>
        <p:spPr>
          <a:xfrm>
            <a:off x="4931359" y="1959559"/>
            <a:ext cx="241402" cy="241402"/>
          </a:xfrm>
          <a:prstGeom prst="rect">
            <a:avLst/>
          </a:prstGeom>
        </p:spPr>
      </p:pic>
      <p:sp>
        <p:nvSpPr>
          <p:cNvPr id="12" name="Text 8"/>
          <p:cNvSpPr txBox="1"/>
          <p:nvPr/>
        </p:nvSpPr>
        <p:spPr>
          <a:xfrm>
            <a:off x="5394960" y="1737360"/>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Natural Language Processing</a:t>
            </a:r>
            <a:endParaRPr lang="en-US" sz="1200" dirty="0"/>
          </a:p>
        </p:txBody>
      </p:sp>
      <p:sp>
        <p:nvSpPr>
          <p:cNvPr id="13" name="Shape 9"/>
          <p:cNvSpPr/>
          <p:nvPr/>
        </p:nvSpPr>
        <p:spPr>
          <a:xfrm>
            <a:off x="6766560" y="1645920"/>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4" name="Shape 10"/>
          <p:cNvSpPr/>
          <p:nvPr/>
        </p:nvSpPr>
        <p:spPr>
          <a:xfrm>
            <a:off x="6903720" y="1828800"/>
            <a:ext cx="502920" cy="502920"/>
          </a:xfrm>
          <a:prstGeom prst="ellipse">
            <a:avLst/>
          </a:prstGeom>
          <a:solidFill>
            <a:srgbClr val="EEEDFF"/>
          </a:solidFill>
          <a:ln w="12700">
            <a:solidFill>
              <a:srgbClr val="EEEDFF"/>
            </a:solidFill>
            <a:prstDash val="solid"/>
          </a:ln>
        </p:spPr>
      </p:sp>
      <p:pic>
        <p:nvPicPr>
          <p:cNvPr id="15" name="Image 2" descr="preencoded.png">    </p:cNvPr>
          <p:cNvPicPr>
            <a:picLocks noChangeAspect="1"/>
          </p:cNvPicPr>
          <p:nvPr/>
        </p:nvPicPr>
        <p:blipFill>
          <a:blip r:embed="rId3"/>
          <a:stretch>
            <a:fillRect/>
          </a:stretch>
        </p:blipFill>
        <p:spPr>
          <a:xfrm>
            <a:off x="7034479" y="1959559"/>
            <a:ext cx="241402" cy="241402"/>
          </a:xfrm>
          <a:prstGeom prst="rect">
            <a:avLst/>
          </a:prstGeom>
        </p:spPr>
      </p:pic>
      <p:sp>
        <p:nvSpPr>
          <p:cNvPr id="16" name="Text 11"/>
          <p:cNvSpPr txBox="1"/>
          <p:nvPr/>
        </p:nvSpPr>
        <p:spPr>
          <a:xfrm>
            <a:off x="7498080" y="1737360"/>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Machine Learning</a:t>
            </a:r>
            <a:endParaRPr lang="en-US" sz="1200" dirty="0"/>
          </a:p>
        </p:txBody>
      </p:sp>
      <p:sp>
        <p:nvSpPr>
          <p:cNvPr id="17" name="Shape 12"/>
          <p:cNvSpPr/>
          <p:nvPr/>
        </p:nvSpPr>
        <p:spPr>
          <a:xfrm>
            <a:off x="4663440" y="2633472"/>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8" name="Shape 13"/>
          <p:cNvSpPr/>
          <p:nvPr/>
        </p:nvSpPr>
        <p:spPr>
          <a:xfrm>
            <a:off x="4800600" y="2816352"/>
            <a:ext cx="502920" cy="502920"/>
          </a:xfrm>
          <a:prstGeom prst="ellipse">
            <a:avLst/>
          </a:prstGeom>
          <a:solidFill>
            <a:srgbClr val="EEEDFF"/>
          </a:solidFill>
          <a:ln w="12700">
            <a:solidFill>
              <a:srgbClr val="EEEDFF"/>
            </a:solidFill>
            <a:prstDash val="solid"/>
          </a:ln>
        </p:spPr>
      </p:sp>
      <p:pic>
        <p:nvPicPr>
          <p:cNvPr id="19" name="Image 3" descr="preencoded.png">    </p:cNvPr>
          <p:cNvPicPr>
            <a:picLocks noChangeAspect="1"/>
          </p:cNvPicPr>
          <p:nvPr/>
        </p:nvPicPr>
        <p:blipFill>
          <a:blip r:embed="rId4"/>
          <a:stretch>
            <a:fillRect/>
          </a:stretch>
        </p:blipFill>
        <p:spPr>
          <a:xfrm>
            <a:off x="4931359" y="2947111"/>
            <a:ext cx="241402" cy="241402"/>
          </a:xfrm>
          <a:prstGeom prst="rect">
            <a:avLst/>
          </a:prstGeom>
        </p:spPr>
      </p:pic>
      <p:sp>
        <p:nvSpPr>
          <p:cNvPr id="20" name="Text 14"/>
          <p:cNvSpPr txBox="1"/>
          <p:nvPr/>
        </p:nvSpPr>
        <p:spPr>
          <a:xfrm>
            <a:off x="5394960" y="2724912"/>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Knowledge Representation</a:t>
            </a:r>
            <a:endParaRPr lang="en-US" sz="1200" dirty="0"/>
          </a:p>
        </p:txBody>
      </p:sp>
      <p:sp>
        <p:nvSpPr>
          <p:cNvPr id="21" name="Shape 15"/>
          <p:cNvSpPr/>
          <p:nvPr/>
        </p:nvSpPr>
        <p:spPr>
          <a:xfrm>
            <a:off x="6766560" y="2633472"/>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2" name="Shape 16"/>
          <p:cNvSpPr/>
          <p:nvPr/>
        </p:nvSpPr>
        <p:spPr>
          <a:xfrm>
            <a:off x="6903720" y="2816352"/>
            <a:ext cx="502920" cy="502920"/>
          </a:xfrm>
          <a:prstGeom prst="ellipse">
            <a:avLst/>
          </a:prstGeom>
          <a:solidFill>
            <a:srgbClr val="EEEDFF"/>
          </a:solidFill>
          <a:ln w="12700">
            <a:solidFill>
              <a:srgbClr val="EEEDFF"/>
            </a:solidFill>
            <a:prstDash val="solid"/>
          </a:ln>
        </p:spPr>
      </p:sp>
      <p:pic>
        <p:nvPicPr>
          <p:cNvPr id="23" name="Image 4" descr="preencoded.png">    </p:cNvPr>
          <p:cNvPicPr>
            <a:picLocks noChangeAspect="1"/>
          </p:cNvPicPr>
          <p:nvPr/>
        </p:nvPicPr>
        <p:blipFill>
          <a:blip r:embed="rId5"/>
          <a:stretch>
            <a:fillRect/>
          </a:stretch>
        </p:blipFill>
        <p:spPr>
          <a:xfrm>
            <a:off x="7034479" y="2947111"/>
            <a:ext cx="241402" cy="241402"/>
          </a:xfrm>
          <a:prstGeom prst="rect">
            <a:avLst/>
          </a:prstGeom>
        </p:spPr>
      </p:pic>
      <p:sp>
        <p:nvSpPr>
          <p:cNvPr id="24" name="Text 17"/>
          <p:cNvSpPr txBox="1"/>
          <p:nvPr/>
        </p:nvSpPr>
        <p:spPr>
          <a:xfrm>
            <a:off x="7498080" y="2724912"/>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Automated Reasoning</a:t>
            </a:r>
            <a:endParaRPr lang="en-US" sz="1200" dirty="0"/>
          </a:p>
        </p:txBody>
      </p:sp>
      <p:sp>
        <p:nvSpPr>
          <p:cNvPr id="25" name="Shape 18"/>
          <p:cNvSpPr/>
          <p:nvPr/>
        </p:nvSpPr>
        <p:spPr>
          <a:xfrm>
            <a:off x="4663440" y="3621024"/>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6" name="Shape 19"/>
          <p:cNvSpPr/>
          <p:nvPr/>
        </p:nvSpPr>
        <p:spPr>
          <a:xfrm>
            <a:off x="4800600" y="3803904"/>
            <a:ext cx="502920" cy="502920"/>
          </a:xfrm>
          <a:prstGeom prst="ellipse">
            <a:avLst/>
          </a:prstGeom>
          <a:solidFill>
            <a:srgbClr val="EEEDFF"/>
          </a:solidFill>
          <a:ln w="12700">
            <a:solidFill>
              <a:srgbClr val="EEEDFF"/>
            </a:solidFill>
            <a:prstDash val="solid"/>
          </a:ln>
        </p:spPr>
      </p:sp>
      <p:pic>
        <p:nvPicPr>
          <p:cNvPr id="27" name="Image 5" descr="preencoded.png">    </p:cNvPr>
          <p:cNvPicPr>
            <a:picLocks noChangeAspect="1"/>
          </p:cNvPicPr>
          <p:nvPr/>
        </p:nvPicPr>
        <p:blipFill>
          <a:blip r:embed="rId6"/>
          <a:stretch>
            <a:fillRect/>
          </a:stretch>
        </p:blipFill>
        <p:spPr>
          <a:xfrm>
            <a:off x="4931359" y="3934663"/>
            <a:ext cx="241402" cy="241402"/>
          </a:xfrm>
          <a:prstGeom prst="rect">
            <a:avLst/>
          </a:prstGeom>
        </p:spPr>
      </p:pic>
      <p:sp>
        <p:nvSpPr>
          <p:cNvPr id="28" name="Text 20"/>
          <p:cNvSpPr txBox="1"/>
          <p:nvPr/>
        </p:nvSpPr>
        <p:spPr>
          <a:xfrm>
            <a:off x="5394960" y="3712464"/>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Computer Vision</a:t>
            </a:r>
            <a:endParaRPr lang="en-US" sz="1200" dirty="0"/>
          </a:p>
        </p:txBody>
      </p:sp>
      <p:sp>
        <p:nvSpPr>
          <p:cNvPr id="29" name="Shape 21"/>
          <p:cNvSpPr/>
          <p:nvPr/>
        </p:nvSpPr>
        <p:spPr>
          <a:xfrm>
            <a:off x="6766560" y="3621024"/>
            <a:ext cx="192024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30" name="Shape 22"/>
          <p:cNvSpPr/>
          <p:nvPr/>
        </p:nvSpPr>
        <p:spPr>
          <a:xfrm>
            <a:off x="6903720" y="3803904"/>
            <a:ext cx="502920" cy="502920"/>
          </a:xfrm>
          <a:prstGeom prst="ellipse">
            <a:avLst/>
          </a:prstGeom>
          <a:solidFill>
            <a:srgbClr val="EEEDFF"/>
          </a:solidFill>
          <a:ln w="12700">
            <a:solidFill>
              <a:srgbClr val="EEEDFF"/>
            </a:solidFill>
            <a:prstDash val="solid"/>
          </a:ln>
        </p:spPr>
      </p:sp>
      <p:pic>
        <p:nvPicPr>
          <p:cNvPr id="31" name="Image 6" descr="preencoded.png">    </p:cNvPr>
          <p:cNvPicPr>
            <a:picLocks noChangeAspect="1"/>
          </p:cNvPicPr>
          <p:nvPr/>
        </p:nvPicPr>
        <p:blipFill>
          <a:blip r:embed="rId7"/>
          <a:stretch>
            <a:fillRect/>
          </a:stretch>
        </p:blipFill>
        <p:spPr>
          <a:xfrm>
            <a:off x="7034479" y="3934663"/>
            <a:ext cx="241402" cy="241402"/>
          </a:xfrm>
          <a:prstGeom prst="rect">
            <a:avLst/>
          </a:prstGeom>
        </p:spPr>
      </p:pic>
      <p:sp>
        <p:nvSpPr>
          <p:cNvPr id="32" name="Text 23"/>
          <p:cNvSpPr txBox="1"/>
          <p:nvPr/>
        </p:nvSpPr>
        <p:spPr>
          <a:xfrm>
            <a:off x="7498080" y="3712464"/>
            <a:ext cx="1097280" cy="685800"/>
          </a:xfrm>
          <a:prstGeom prst="rect">
            <a:avLst/>
          </a:prstGeom>
          <a:noFill/>
          <a:ln/>
        </p:spPr>
        <p:txBody>
          <a:bodyPr wrap="square" lIns="0" tIns="0" rIns="0" bIns="0" rtlCol="0" anchor="ctr"/>
          <a:lstStyle/>
          <a:p>
            <a:pPr indent="0" marL="0">
              <a:buNone/>
            </a:pPr>
            <a:r>
              <a:rPr lang="en-US" sz="1200" b="1" dirty="0">
                <a:solidFill>
                  <a:srgbClr val="2B2A3D"/>
                </a:solidFill>
                <a:latin typeface="Calibri" pitchFamily="34" charset="0"/>
                <a:ea typeface="Calibri" pitchFamily="34" charset="-122"/>
                <a:cs typeface="Calibri" pitchFamily="34" charset="-120"/>
              </a:rPr>
              <a:t>Robotics</a:t>
            </a:r>
            <a:endParaRPr lang="en-US" sz="1200" dirty="0"/>
          </a:p>
        </p:txBody>
      </p:sp>
      <p:sp>
        <p:nvSpPr>
          <p:cNvPr id="33" name="Text 2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02 · AI, ML &amp; DEEP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How AI, ML and DL Relate</a:t>
            </a:r>
            <a:endParaRPr lang="en-US" sz="3000" dirty="0"/>
          </a:p>
        </p:txBody>
      </p:sp>
      <p:sp>
        <p:nvSpPr>
          <p:cNvPr id="4" name="Shape 2"/>
          <p:cNvSpPr/>
          <p:nvPr/>
        </p:nvSpPr>
        <p:spPr>
          <a:xfrm>
            <a:off x="731520" y="1280160"/>
            <a:ext cx="3291840" cy="3291840"/>
          </a:xfrm>
          <a:prstGeom prst="ellipse">
            <a:avLst/>
          </a:prstGeom>
          <a:solidFill>
            <a:srgbClr val="1E1B4B"/>
          </a:solidFill>
          <a:ln w="19050">
            <a:solidFill>
              <a:srgbClr val="FFFFFF"/>
            </a:solidFill>
            <a:prstDash val="solid"/>
          </a:ln>
        </p:spPr>
      </p:sp>
      <p:sp>
        <p:nvSpPr>
          <p:cNvPr id="5" name="Shape 3"/>
          <p:cNvSpPr/>
          <p:nvPr/>
        </p:nvSpPr>
        <p:spPr>
          <a:xfrm>
            <a:off x="1188720" y="1988820"/>
            <a:ext cx="2377440" cy="2377440"/>
          </a:xfrm>
          <a:prstGeom prst="ellipse">
            <a:avLst/>
          </a:prstGeom>
          <a:solidFill>
            <a:srgbClr val="3F37A8"/>
          </a:solidFill>
          <a:ln w="19050">
            <a:solidFill>
              <a:srgbClr val="FFFFFF"/>
            </a:solidFill>
            <a:prstDash val="solid"/>
          </a:ln>
        </p:spPr>
      </p:sp>
      <p:sp>
        <p:nvSpPr>
          <p:cNvPr id="6" name="Shape 4"/>
          <p:cNvSpPr/>
          <p:nvPr/>
        </p:nvSpPr>
        <p:spPr>
          <a:xfrm>
            <a:off x="1645920" y="2697480"/>
            <a:ext cx="1463040" cy="1463040"/>
          </a:xfrm>
          <a:prstGeom prst="ellipse">
            <a:avLst/>
          </a:prstGeom>
          <a:solidFill>
            <a:srgbClr val="6D5DF6"/>
          </a:solidFill>
          <a:ln w="19050">
            <a:solidFill>
              <a:srgbClr val="FFFFFF"/>
            </a:solidFill>
            <a:prstDash val="solid"/>
          </a:ln>
        </p:spPr>
      </p:sp>
      <p:sp>
        <p:nvSpPr>
          <p:cNvPr id="7" name="Text 5"/>
          <p:cNvSpPr txBox="1"/>
          <p:nvPr/>
        </p:nvSpPr>
        <p:spPr>
          <a:xfrm>
            <a:off x="1005840" y="1417320"/>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Artificial Intelligence</a:t>
            </a:r>
            <a:endParaRPr lang="en-US" sz="1200" dirty="0"/>
          </a:p>
        </p:txBody>
      </p:sp>
      <p:sp>
        <p:nvSpPr>
          <p:cNvPr id="8" name="Text 6"/>
          <p:cNvSpPr txBox="1"/>
          <p:nvPr/>
        </p:nvSpPr>
        <p:spPr>
          <a:xfrm>
            <a:off x="1005840" y="2148840"/>
            <a:ext cx="274320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Machine Learning</a:t>
            </a:r>
            <a:endParaRPr lang="en-US" sz="1200" dirty="0"/>
          </a:p>
        </p:txBody>
      </p:sp>
      <p:sp>
        <p:nvSpPr>
          <p:cNvPr id="9" name="Text 7"/>
          <p:cNvSpPr txBox="1"/>
          <p:nvPr/>
        </p:nvSpPr>
        <p:spPr>
          <a:xfrm>
            <a:off x="1005840" y="3063240"/>
            <a:ext cx="2743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Deep Learning</a:t>
            </a:r>
            <a:endParaRPr lang="en-US" sz="1300" dirty="0"/>
          </a:p>
        </p:txBody>
      </p:sp>
      <p:sp>
        <p:nvSpPr>
          <p:cNvPr id="10" name="Shape 8"/>
          <p:cNvSpPr/>
          <p:nvPr/>
        </p:nvSpPr>
        <p:spPr>
          <a:xfrm>
            <a:off x="4572000" y="1307592"/>
            <a:ext cx="256032" cy="256032"/>
          </a:xfrm>
          <a:prstGeom prst="ellipse">
            <a:avLst/>
          </a:prstGeom>
          <a:solidFill>
            <a:srgbClr val="1E1B4B"/>
          </a:solidFill>
          <a:ln w="12700">
            <a:solidFill>
              <a:srgbClr val="1E1B4B"/>
            </a:solidFill>
            <a:prstDash val="solid"/>
          </a:ln>
        </p:spPr>
      </p:sp>
      <p:sp>
        <p:nvSpPr>
          <p:cNvPr id="11" name="Text 9"/>
          <p:cNvSpPr txBox="1"/>
          <p:nvPr/>
        </p:nvSpPr>
        <p:spPr>
          <a:xfrm>
            <a:off x="4983480" y="1234440"/>
            <a:ext cx="3749040" cy="365760"/>
          </a:xfrm>
          <a:prstGeom prst="rect">
            <a:avLst/>
          </a:prstGeom>
          <a:noFill/>
          <a:ln/>
        </p:spPr>
        <p:txBody>
          <a:bodyPr wrap="square" lIns="0" tIns="0" rIns="0" bIns="0" rtlCol="0" anchor="ctr"/>
          <a:lstStyle/>
          <a:p>
            <a:pPr indent="0" marL="0">
              <a:buNone/>
            </a:pPr>
            <a:r>
              <a:rPr lang="en-US" sz="1700" b="1" dirty="0">
                <a:solidFill>
                  <a:srgbClr val="1E1B4B"/>
                </a:solidFill>
                <a:latin typeface="Calibri" pitchFamily="34" charset="0"/>
                <a:ea typeface="Calibri" pitchFamily="34" charset="-122"/>
                <a:cs typeface="Calibri" pitchFamily="34" charset="-120"/>
              </a:rPr>
              <a:t>Artificial Intelligence</a:t>
            </a:r>
            <a:endParaRPr lang="en-US" sz="1700" dirty="0"/>
          </a:p>
        </p:txBody>
      </p:sp>
      <p:sp>
        <p:nvSpPr>
          <p:cNvPr id="12" name="Text 10"/>
          <p:cNvSpPr txBox="1"/>
          <p:nvPr/>
        </p:nvSpPr>
        <p:spPr>
          <a:xfrm>
            <a:off x="4983480" y="1618488"/>
            <a:ext cx="3749040" cy="59436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Any technique that enables machines to mimic human behaviour.</a:t>
            </a:r>
            <a:endParaRPr lang="en-US" sz="1300" dirty="0"/>
          </a:p>
        </p:txBody>
      </p:sp>
      <p:sp>
        <p:nvSpPr>
          <p:cNvPr id="13" name="Shape 11"/>
          <p:cNvSpPr/>
          <p:nvPr/>
        </p:nvSpPr>
        <p:spPr>
          <a:xfrm>
            <a:off x="4572000" y="2404872"/>
            <a:ext cx="256032" cy="256032"/>
          </a:xfrm>
          <a:prstGeom prst="ellipse">
            <a:avLst/>
          </a:prstGeom>
          <a:solidFill>
            <a:srgbClr val="3F37A8"/>
          </a:solidFill>
          <a:ln w="12700">
            <a:solidFill>
              <a:srgbClr val="3F37A8"/>
            </a:solidFill>
            <a:prstDash val="solid"/>
          </a:ln>
        </p:spPr>
      </p:sp>
      <p:sp>
        <p:nvSpPr>
          <p:cNvPr id="14" name="Text 12"/>
          <p:cNvSpPr txBox="1"/>
          <p:nvPr/>
        </p:nvSpPr>
        <p:spPr>
          <a:xfrm>
            <a:off x="4983480" y="2331720"/>
            <a:ext cx="3749040" cy="365760"/>
          </a:xfrm>
          <a:prstGeom prst="rect">
            <a:avLst/>
          </a:prstGeom>
          <a:noFill/>
          <a:ln/>
        </p:spPr>
        <p:txBody>
          <a:bodyPr wrap="square" lIns="0" tIns="0" rIns="0" bIns="0" rtlCol="0" anchor="ctr"/>
          <a:lstStyle/>
          <a:p>
            <a:pPr indent="0" marL="0">
              <a:buNone/>
            </a:pPr>
            <a:r>
              <a:rPr lang="en-US" sz="1700" b="1" dirty="0">
                <a:solidFill>
                  <a:srgbClr val="1E1B4B"/>
                </a:solidFill>
                <a:latin typeface="Calibri" pitchFamily="34" charset="0"/>
                <a:ea typeface="Calibri" pitchFamily="34" charset="-122"/>
                <a:cs typeface="Calibri" pitchFamily="34" charset="-120"/>
              </a:rPr>
              <a:t>Machine Learning</a:t>
            </a:r>
            <a:endParaRPr lang="en-US" sz="1700" dirty="0"/>
          </a:p>
        </p:txBody>
      </p:sp>
      <p:sp>
        <p:nvSpPr>
          <p:cNvPr id="15" name="Text 13"/>
          <p:cNvSpPr txBox="1"/>
          <p:nvPr/>
        </p:nvSpPr>
        <p:spPr>
          <a:xfrm>
            <a:off x="4983480" y="2715768"/>
            <a:ext cx="3749040" cy="59436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A subset of AI that uses statistical methods so machines improve with experience (data).</a:t>
            </a:r>
            <a:endParaRPr lang="en-US" sz="1300" dirty="0"/>
          </a:p>
        </p:txBody>
      </p:sp>
      <p:sp>
        <p:nvSpPr>
          <p:cNvPr id="16" name="Shape 14"/>
          <p:cNvSpPr/>
          <p:nvPr/>
        </p:nvSpPr>
        <p:spPr>
          <a:xfrm>
            <a:off x="4572000" y="3502152"/>
            <a:ext cx="256032" cy="256032"/>
          </a:xfrm>
          <a:prstGeom prst="ellipse">
            <a:avLst/>
          </a:prstGeom>
          <a:solidFill>
            <a:srgbClr val="6D5DF6"/>
          </a:solidFill>
          <a:ln w="12700">
            <a:solidFill>
              <a:srgbClr val="6D5DF6"/>
            </a:solidFill>
            <a:prstDash val="solid"/>
          </a:ln>
        </p:spPr>
      </p:sp>
      <p:sp>
        <p:nvSpPr>
          <p:cNvPr id="17" name="Text 15"/>
          <p:cNvSpPr txBox="1"/>
          <p:nvPr/>
        </p:nvSpPr>
        <p:spPr>
          <a:xfrm>
            <a:off x="4983480" y="3429000"/>
            <a:ext cx="3749040" cy="365760"/>
          </a:xfrm>
          <a:prstGeom prst="rect">
            <a:avLst/>
          </a:prstGeom>
          <a:noFill/>
          <a:ln/>
        </p:spPr>
        <p:txBody>
          <a:bodyPr wrap="square" lIns="0" tIns="0" rIns="0" bIns="0" rtlCol="0" anchor="ctr"/>
          <a:lstStyle/>
          <a:p>
            <a:pPr indent="0" marL="0">
              <a:buNone/>
            </a:pPr>
            <a:r>
              <a:rPr lang="en-US" sz="1700" b="1" dirty="0">
                <a:solidFill>
                  <a:srgbClr val="1E1B4B"/>
                </a:solidFill>
                <a:latin typeface="Calibri" pitchFamily="34" charset="0"/>
                <a:ea typeface="Calibri" pitchFamily="34" charset="-122"/>
                <a:cs typeface="Calibri" pitchFamily="34" charset="-120"/>
              </a:rPr>
              <a:t>Deep Learning</a:t>
            </a:r>
            <a:endParaRPr lang="en-US" sz="1700" dirty="0"/>
          </a:p>
        </p:txBody>
      </p:sp>
      <p:sp>
        <p:nvSpPr>
          <p:cNvPr id="18" name="Text 16"/>
          <p:cNvSpPr txBox="1"/>
          <p:nvPr/>
        </p:nvSpPr>
        <p:spPr>
          <a:xfrm>
            <a:off x="4983480" y="3813048"/>
            <a:ext cx="3749040" cy="59436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A subset of ML that uses multi-layer neural networks to learn complex patterns.</a:t>
            </a:r>
            <a:endParaRPr lang="en-US" sz="1300" dirty="0"/>
          </a:p>
        </p:txBody>
      </p:sp>
      <p:sp>
        <p:nvSpPr>
          <p:cNvPr id="19" name="Text 1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02 · A BRIEF HISTORY</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History of AI</a:t>
            </a:r>
            <a:endParaRPr lang="en-US" sz="3000" dirty="0"/>
          </a:p>
        </p:txBody>
      </p:sp>
      <p:sp>
        <p:nvSpPr>
          <p:cNvPr id="4" name="Shape 2"/>
          <p:cNvSpPr/>
          <p:nvPr/>
        </p:nvSpPr>
        <p:spPr>
          <a:xfrm>
            <a:off x="640080" y="2743200"/>
            <a:ext cx="7863840" cy="0"/>
          </a:xfrm>
          <a:prstGeom prst="line">
            <a:avLst/>
          </a:prstGeom>
          <a:noFill/>
          <a:ln w="38100">
            <a:solidFill>
              <a:srgbClr val="D9D6FF"/>
            </a:solidFill>
            <a:prstDash val="solid"/>
          </a:ln>
        </p:spPr>
      </p:sp>
      <p:sp>
        <p:nvSpPr>
          <p:cNvPr id="5" name="Shape 3"/>
          <p:cNvSpPr/>
          <p:nvPr/>
        </p:nvSpPr>
        <p:spPr>
          <a:xfrm>
            <a:off x="1335024" y="2615184"/>
            <a:ext cx="256032" cy="256032"/>
          </a:xfrm>
          <a:prstGeom prst="ellipse">
            <a:avLst/>
          </a:prstGeom>
          <a:solidFill>
            <a:srgbClr val="1E1B4B"/>
          </a:solidFill>
          <a:ln w="25400">
            <a:solidFill>
              <a:srgbClr val="FFFFFF"/>
            </a:solidFill>
            <a:prstDash val="solid"/>
          </a:ln>
        </p:spPr>
      </p:sp>
      <p:sp>
        <p:nvSpPr>
          <p:cNvPr id="6" name="Text 4"/>
          <p:cNvSpPr txBox="1"/>
          <p:nvPr/>
        </p:nvSpPr>
        <p:spPr>
          <a:xfrm>
            <a:off x="548640" y="1783080"/>
            <a:ext cx="1828800" cy="457200"/>
          </a:xfrm>
          <a:prstGeom prst="rect">
            <a:avLst/>
          </a:prstGeom>
          <a:noFill/>
          <a:ln/>
        </p:spPr>
        <p:txBody>
          <a:bodyPr wrap="square" lIns="0" tIns="0" rIns="0" bIns="0" rtlCol="0" anchor="ctr"/>
          <a:lstStyle/>
          <a:p>
            <a:pPr algn="ctr" indent="0" marL="0">
              <a:buNone/>
            </a:pPr>
            <a:r>
              <a:rPr lang="en-US" sz="2600" b="1" dirty="0">
                <a:solidFill>
                  <a:srgbClr val="1E1B4B"/>
                </a:solidFill>
                <a:latin typeface="Calibri" pitchFamily="34" charset="0"/>
                <a:ea typeface="Calibri" pitchFamily="34" charset="-122"/>
                <a:cs typeface="Calibri" pitchFamily="34" charset="-120"/>
              </a:rPr>
              <a:t>1950s</a:t>
            </a:r>
            <a:endParaRPr lang="en-US" sz="2600" dirty="0"/>
          </a:p>
        </p:txBody>
      </p:sp>
      <p:sp>
        <p:nvSpPr>
          <p:cNvPr id="7" name="Text 5"/>
          <p:cNvSpPr txBox="1"/>
          <p:nvPr/>
        </p:nvSpPr>
        <p:spPr>
          <a:xfrm>
            <a:off x="548640" y="2240280"/>
            <a:ext cx="1828800" cy="27432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Artificial Intelligence</a:t>
            </a:r>
            <a:endParaRPr lang="en-US" sz="1300" dirty="0"/>
          </a:p>
        </p:txBody>
      </p:sp>
      <p:sp>
        <p:nvSpPr>
          <p:cNvPr id="8" name="Shape 6"/>
          <p:cNvSpPr/>
          <p:nvPr/>
        </p:nvSpPr>
        <p:spPr>
          <a:xfrm>
            <a:off x="548640" y="306324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9" name="Text 7"/>
          <p:cNvSpPr txBox="1"/>
          <p:nvPr/>
        </p:nvSpPr>
        <p:spPr>
          <a:xfrm>
            <a:off x="685800" y="3154680"/>
            <a:ext cx="1554480" cy="1234440"/>
          </a:xfrm>
          <a:prstGeom prst="rect">
            <a:avLst/>
          </a:prstGeom>
          <a:noFill/>
          <a:ln/>
        </p:spPr>
        <p:txBody>
          <a:bodyPr wrap="square" lIns="0" tIns="0" rIns="0" bIns="0" rtlCol="0" anchor="ctr"/>
          <a:lstStyle/>
          <a:p>
            <a:pPr indent="0" marL="0">
              <a:buNone/>
            </a:pPr>
            <a:r>
              <a:rPr lang="en-US" sz="1150" dirty="0">
                <a:solidFill>
                  <a:srgbClr val="2B2A3D"/>
                </a:solidFill>
                <a:latin typeface="Calibri" pitchFamily="34" charset="0"/>
                <a:ea typeface="Calibri" pitchFamily="34" charset="-122"/>
                <a:cs typeface="Calibri" pitchFamily="34" charset="-120"/>
              </a:rPr>
              <a:t>1956 – the term “AI” is coined at the Dartmouth workshop. Goal: engineering intelligent machines &amp; programs.</a:t>
            </a:r>
            <a:endParaRPr lang="en-US" sz="1150" dirty="0"/>
          </a:p>
        </p:txBody>
      </p:sp>
      <p:sp>
        <p:nvSpPr>
          <p:cNvPr id="10" name="Shape 8"/>
          <p:cNvSpPr/>
          <p:nvPr/>
        </p:nvSpPr>
        <p:spPr>
          <a:xfrm>
            <a:off x="3410712" y="2615184"/>
            <a:ext cx="256032" cy="256032"/>
          </a:xfrm>
          <a:prstGeom prst="ellipse">
            <a:avLst/>
          </a:prstGeom>
          <a:solidFill>
            <a:srgbClr val="3F37A8"/>
          </a:solidFill>
          <a:ln w="25400">
            <a:solidFill>
              <a:srgbClr val="FFFFFF"/>
            </a:solidFill>
            <a:prstDash val="solid"/>
          </a:ln>
        </p:spPr>
      </p:sp>
      <p:sp>
        <p:nvSpPr>
          <p:cNvPr id="11" name="Text 9"/>
          <p:cNvSpPr txBox="1"/>
          <p:nvPr/>
        </p:nvSpPr>
        <p:spPr>
          <a:xfrm>
            <a:off x="2624328" y="1783080"/>
            <a:ext cx="1828800" cy="457200"/>
          </a:xfrm>
          <a:prstGeom prst="rect">
            <a:avLst/>
          </a:prstGeom>
          <a:noFill/>
          <a:ln/>
        </p:spPr>
        <p:txBody>
          <a:bodyPr wrap="square" lIns="0" tIns="0" rIns="0" bIns="0" rtlCol="0" anchor="ctr"/>
          <a:lstStyle/>
          <a:p>
            <a:pPr algn="ctr" indent="0" marL="0">
              <a:buNone/>
            </a:pPr>
            <a:r>
              <a:rPr lang="en-US" sz="2600" b="1" dirty="0">
                <a:solidFill>
                  <a:srgbClr val="3F37A8"/>
                </a:solidFill>
                <a:latin typeface="Calibri" pitchFamily="34" charset="0"/>
                <a:ea typeface="Calibri" pitchFamily="34" charset="-122"/>
                <a:cs typeface="Calibri" pitchFamily="34" charset="-120"/>
              </a:rPr>
              <a:t>1980s</a:t>
            </a:r>
            <a:endParaRPr lang="en-US" sz="2600" dirty="0"/>
          </a:p>
        </p:txBody>
      </p:sp>
      <p:sp>
        <p:nvSpPr>
          <p:cNvPr id="12" name="Text 10"/>
          <p:cNvSpPr txBox="1"/>
          <p:nvPr/>
        </p:nvSpPr>
        <p:spPr>
          <a:xfrm>
            <a:off x="2624328" y="2240280"/>
            <a:ext cx="1828800" cy="27432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Machine Learning</a:t>
            </a:r>
            <a:endParaRPr lang="en-US" sz="1300" dirty="0"/>
          </a:p>
        </p:txBody>
      </p:sp>
      <p:sp>
        <p:nvSpPr>
          <p:cNvPr id="13" name="Shape 11"/>
          <p:cNvSpPr/>
          <p:nvPr/>
        </p:nvSpPr>
        <p:spPr>
          <a:xfrm>
            <a:off x="2624328" y="306324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4" name="Text 12"/>
          <p:cNvSpPr txBox="1"/>
          <p:nvPr/>
        </p:nvSpPr>
        <p:spPr>
          <a:xfrm>
            <a:off x="2761488" y="3154680"/>
            <a:ext cx="1554480" cy="1234440"/>
          </a:xfrm>
          <a:prstGeom prst="rect">
            <a:avLst/>
          </a:prstGeom>
          <a:noFill/>
          <a:ln/>
        </p:spPr>
        <p:txBody>
          <a:bodyPr wrap="square" lIns="0" tIns="0" rIns="0" bIns="0" rtlCol="0" anchor="ctr"/>
          <a:lstStyle/>
          <a:p>
            <a:pPr indent="0" marL="0">
              <a:buNone/>
            </a:pPr>
            <a:r>
              <a:rPr lang="en-US" sz="1150" dirty="0">
                <a:solidFill>
                  <a:srgbClr val="2B2A3D"/>
                </a:solidFill>
                <a:latin typeface="Calibri" pitchFamily="34" charset="0"/>
                <a:ea typeface="Calibri" pitchFamily="34" charset="-122"/>
                <a:cs typeface="Calibri" pitchFamily="34" charset="-120"/>
              </a:rPr>
              <a:t>Machines learn from data instead of being explicitly programmed with rules.</a:t>
            </a:r>
            <a:endParaRPr lang="en-US" sz="1150" dirty="0"/>
          </a:p>
        </p:txBody>
      </p:sp>
      <p:sp>
        <p:nvSpPr>
          <p:cNvPr id="15" name="Shape 13"/>
          <p:cNvSpPr/>
          <p:nvPr/>
        </p:nvSpPr>
        <p:spPr>
          <a:xfrm>
            <a:off x="5486400" y="2615184"/>
            <a:ext cx="256032" cy="256032"/>
          </a:xfrm>
          <a:prstGeom prst="ellipse">
            <a:avLst/>
          </a:prstGeom>
          <a:solidFill>
            <a:srgbClr val="6D5DF6"/>
          </a:solidFill>
          <a:ln w="25400">
            <a:solidFill>
              <a:srgbClr val="FFFFFF"/>
            </a:solidFill>
            <a:prstDash val="solid"/>
          </a:ln>
        </p:spPr>
      </p:sp>
      <p:sp>
        <p:nvSpPr>
          <p:cNvPr id="16" name="Text 14"/>
          <p:cNvSpPr txBox="1"/>
          <p:nvPr/>
        </p:nvSpPr>
        <p:spPr>
          <a:xfrm>
            <a:off x="4700016" y="1783080"/>
            <a:ext cx="1828800" cy="457200"/>
          </a:xfrm>
          <a:prstGeom prst="rect">
            <a:avLst/>
          </a:prstGeom>
          <a:noFill/>
          <a:ln/>
        </p:spPr>
        <p:txBody>
          <a:bodyPr wrap="square" lIns="0" tIns="0" rIns="0" bIns="0" rtlCol="0" anchor="ctr"/>
          <a:lstStyle/>
          <a:p>
            <a:pPr algn="ctr" indent="0" marL="0">
              <a:buNone/>
            </a:pPr>
            <a:r>
              <a:rPr lang="en-US" sz="2600" b="1" dirty="0">
                <a:solidFill>
                  <a:srgbClr val="6D5DF6"/>
                </a:solidFill>
                <a:latin typeface="Calibri" pitchFamily="34" charset="0"/>
                <a:ea typeface="Calibri" pitchFamily="34" charset="-122"/>
                <a:cs typeface="Calibri" pitchFamily="34" charset="-120"/>
              </a:rPr>
              <a:t>2010s</a:t>
            </a:r>
            <a:endParaRPr lang="en-US" sz="2600" dirty="0"/>
          </a:p>
        </p:txBody>
      </p:sp>
      <p:sp>
        <p:nvSpPr>
          <p:cNvPr id="17" name="Text 15"/>
          <p:cNvSpPr txBox="1"/>
          <p:nvPr/>
        </p:nvSpPr>
        <p:spPr>
          <a:xfrm>
            <a:off x="4700016" y="2240280"/>
            <a:ext cx="1828800" cy="27432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Deep Learning</a:t>
            </a:r>
            <a:endParaRPr lang="en-US" sz="1300" dirty="0"/>
          </a:p>
        </p:txBody>
      </p:sp>
      <p:sp>
        <p:nvSpPr>
          <p:cNvPr id="18" name="Shape 16"/>
          <p:cNvSpPr/>
          <p:nvPr/>
        </p:nvSpPr>
        <p:spPr>
          <a:xfrm>
            <a:off x="4700016" y="306324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9" name="Text 17"/>
          <p:cNvSpPr txBox="1"/>
          <p:nvPr/>
        </p:nvSpPr>
        <p:spPr>
          <a:xfrm>
            <a:off x="4837176" y="3154680"/>
            <a:ext cx="1554480" cy="1234440"/>
          </a:xfrm>
          <a:prstGeom prst="rect">
            <a:avLst/>
          </a:prstGeom>
          <a:noFill/>
          <a:ln/>
        </p:spPr>
        <p:txBody>
          <a:bodyPr wrap="square" lIns="0" tIns="0" rIns="0" bIns="0" rtlCol="0" anchor="ctr"/>
          <a:lstStyle/>
          <a:p>
            <a:pPr indent="0" marL="0">
              <a:buNone/>
            </a:pPr>
            <a:r>
              <a:rPr lang="en-US" sz="1150" dirty="0">
                <a:solidFill>
                  <a:srgbClr val="2B2A3D"/>
                </a:solidFill>
                <a:latin typeface="Calibri" pitchFamily="34" charset="0"/>
                <a:ea typeface="Calibri" pitchFamily="34" charset="-122"/>
                <a:cs typeface="Calibri" pitchFamily="34" charset="-120"/>
              </a:rPr>
              <a:t>Big data + GPUs make deep neural networks practical (e.g. 2012 image-recognition breakthrough).</a:t>
            </a:r>
            <a:endParaRPr lang="en-US" sz="1150" dirty="0"/>
          </a:p>
        </p:txBody>
      </p:sp>
      <p:sp>
        <p:nvSpPr>
          <p:cNvPr id="20" name="Shape 18"/>
          <p:cNvSpPr/>
          <p:nvPr/>
        </p:nvSpPr>
        <p:spPr>
          <a:xfrm>
            <a:off x="7562088" y="2615184"/>
            <a:ext cx="256032" cy="256032"/>
          </a:xfrm>
          <a:prstGeom prst="ellipse">
            <a:avLst/>
          </a:prstGeom>
          <a:solidFill>
            <a:srgbClr val="FFB547"/>
          </a:solidFill>
          <a:ln w="25400">
            <a:solidFill>
              <a:srgbClr val="FFFFFF"/>
            </a:solidFill>
            <a:prstDash val="solid"/>
          </a:ln>
        </p:spPr>
      </p:sp>
      <p:sp>
        <p:nvSpPr>
          <p:cNvPr id="21" name="Text 19"/>
          <p:cNvSpPr txBox="1"/>
          <p:nvPr/>
        </p:nvSpPr>
        <p:spPr>
          <a:xfrm>
            <a:off x="6775704" y="1783080"/>
            <a:ext cx="1828800" cy="457200"/>
          </a:xfrm>
          <a:prstGeom prst="rect">
            <a:avLst/>
          </a:prstGeom>
          <a:noFill/>
          <a:ln/>
        </p:spPr>
        <p:txBody>
          <a:bodyPr wrap="square" lIns="0" tIns="0" rIns="0" bIns="0" rtlCol="0" anchor="ctr"/>
          <a:lstStyle/>
          <a:p>
            <a:pPr algn="ctr" indent="0" marL="0">
              <a:buNone/>
            </a:pPr>
            <a:r>
              <a:rPr lang="en-US" sz="2600" b="1" dirty="0">
                <a:solidFill>
                  <a:srgbClr val="C77C00"/>
                </a:solidFill>
                <a:latin typeface="Calibri" pitchFamily="34" charset="0"/>
                <a:ea typeface="Calibri" pitchFamily="34" charset="-122"/>
                <a:cs typeface="Calibri" pitchFamily="34" charset="-120"/>
              </a:rPr>
              <a:t>2020s</a:t>
            </a:r>
            <a:endParaRPr lang="en-US" sz="2600" dirty="0"/>
          </a:p>
        </p:txBody>
      </p:sp>
      <p:sp>
        <p:nvSpPr>
          <p:cNvPr id="22" name="Text 20"/>
          <p:cNvSpPr txBox="1"/>
          <p:nvPr/>
        </p:nvSpPr>
        <p:spPr>
          <a:xfrm>
            <a:off x="6775704" y="2240280"/>
            <a:ext cx="1828800" cy="27432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Generative AI</a:t>
            </a:r>
            <a:endParaRPr lang="en-US" sz="1300" dirty="0"/>
          </a:p>
        </p:txBody>
      </p:sp>
      <p:sp>
        <p:nvSpPr>
          <p:cNvPr id="23" name="Shape 21"/>
          <p:cNvSpPr/>
          <p:nvPr/>
        </p:nvSpPr>
        <p:spPr>
          <a:xfrm>
            <a:off x="6775704" y="3063240"/>
            <a:ext cx="18288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4" name="Text 22"/>
          <p:cNvSpPr txBox="1"/>
          <p:nvPr/>
        </p:nvSpPr>
        <p:spPr>
          <a:xfrm>
            <a:off x="6912864" y="3154680"/>
            <a:ext cx="1554480" cy="1234440"/>
          </a:xfrm>
          <a:prstGeom prst="rect">
            <a:avLst/>
          </a:prstGeom>
          <a:noFill/>
          <a:ln/>
        </p:spPr>
        <p:txBody>
          <a:bodyPr wrap="square" lIns="0" tIns="0" rIns="0" bIns="0" rtlCol="0" anchor="ctr"/>
          <a:lstStyle/>
          <a:p>
            <a:pPr indent="0" marL="0">
              <a:buNone/>
            </a:pPr>
            <a:r>
              <a:rPr lang="en-US" sz="1150" dirty="0">
                <a:solidFill>
                  <a:srgbClr val="2B2A3D"/>
                </a:solidFill>
                <a:latin typeface="Calibri" pitchFamily="34" charset="0"/>
                <a:ea typeface="Calibri" pitchFamily="34" charset="-122"/>
                <a:cs typeface="Calibri" pitchFamily="34" charset="-120"/>
              </a:rPr>
              <a:t>Large language models and image generators bring AI to everyone.</a:t>
            </a:r>
            <a:endParaRPr lang="en-US" sz="1150" dirty="0"/>
          </a:p>
        </p:txBody>
      </p:sp>
      <p:sp>
        <p:nvSpPr>
          <p:cNvPr id="25" name="Text 23"/>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03 · WHY NOW?</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Demand for AI</a:t>
            </a:r>
            <a:endParaRPr lang="en-US" sz="3000" dirty="0"/>
          </a:p>
        </p:txBody>
      </p:sp>
      <p:sp>
        <p:nvSpPr>
          <p:cNvPr id="4" name="Text 2"/>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rgbClr val="6B6A80"/>
                </a:solidFill>
                <a:latin typeface="Calibri" pitchFamily="34" charset="0"/>
                <a:ea typeface="Calibri" pitchFamily="34" charset="-122"/>
                <a:cs typeface="Calibri" pitchFamily="34" charset="-120"/>
              </a:rPr>
              <a:t>Three forces came together to make modern AI possible:</a:t>
            </a:r>
            <a:endParaRPr lang="en-US" sz="1500" dirty="0"/>
          </a:p>
        </p:txBody>
      </p:sp>
      <p:sp>
        <p:nvSpPr>
          <p:cNvPr id="5" name="Shape 3"/>
          <p:cNvSpPr/>
          <p:nvPr/>
        </p:nvSpPr>
        <p:spPr>
          <a:xfrm>
            <a:off x="457200" y="1554480"/>
            <a:ext cx="2560320" cy="283464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6" name="Shape 4"/>
          <p:cNvSpPr/>
          <p:nvPr/>
        </p:nvSpPr>
        <p:spPr>
          <a:xfrm>
            <a:off x="731520" y="1874520"/>
            <a:ext cx="822960" cy="822960"/>
          </a:xfrm>
          <a:prstGeom prst="ellipse">
            <a:avLst/>
          </a:prstGeom>
          <a:solidFill>
            <a:srgbClr val="6D5DF6"/>
          </a:solidFill>
          <a:ln w="12700">
            <a:solidFill>
              <a:srgbClr val="6D5DF6"/>
            </a:solidFill>
            <a:prstDash val="solid"/>
          </a:ln>
        </p:spPr>
      </p:sp>
      <p:pic>
        <p:nvPicPr>
          <p:cNvPr id="7" name="Image 0" descr="preencoded.png">    </p:cNvPr>
          <p:cNvPicPr>
            <a:picLocks noChangeAspect="1"/>
          </p:cNvPicPr>
          <p:nvPr/>
        </p:nvPicPr>
        <p:blipFill>
          <a:blip r:embed="rId1"/>
          <a:stretch>
            <a:fillRect/>
          </a:stretch>
        </p:blipFill>
        <p:spPr>
          <a:xfrm>
            <a:off x="932688" y="2075688"/>
            <a:ext cx="420624" cy="420624"/>
          </a:xfrm>
          <a:prstGeom prst="rect">
            <a:avLst/>
          </a:prstGeom>
        </p:spPr>
      </p:pic>
      <p:sp>
        <p:nvSpPr>
          <p:cNvPr id="8" name="Text 5"/>
          <p:cNvSpPr txBox="1"/>
          <p:nvPr/>
        </p:nvSpPr>
        <p:spPr>
          <a:xfrm>
            <a:off x="685800" y="2880360"/>
            <a:ext cx="2194560" cy="411480"/>
          </a:xfrm>
          <a:prstGeom prst="rect">
            <a:avLst/>
          </a:prstGeom>
          <a:noFill/>
          <a:ln/>
        </p:spPr>
        <p:txBody>
          <a:bodyPr wrap="square" lIns="0" tIns="0" rIns="0" bIns="0" rtlCol="0" anchor="ctr">
            <a:normAutofit/>
          </a:bodyPr>
          <a:lstStyle/>
          <a:p>
            <a:pPr indent="0" marL="0">
              <a:buNone/>
            </a:pPr>
            <a:r>
              <a:rPr lang="en-US" sz="1700" b="1" dirty="0">
                <a:solidFill>
                  <a:srgbClr val="1E1B4B"/>
                </a:solidFill>
                <a:latin typeface="Calibri" pitchFamily="34" charset="0"/>
                <a:ea typeface="Calibri" pitchFamily="34" charset="-122"/>
                <a:cs typeface="Calibri" pitchFamily="34" charset="-120"/>
              </a:rPr>
              <a:t>Computational Power</a:t>
            </a:r>
            <a:endParaRPr lang="en-US" sz="1700" dirty="0"/>
          </a:p>
        </p:txBody>
      </p:sp>
      <p:sp>
        <p:nvSpPr>
          <p:cNvPr id="9" name="Text 6"/>
          <p:cNvSpPr txBox="1"/>
          <p:nvPr/>
        </p:nvSpPr>
        <p:spPr>
          <a:xfrm>
            <a:off x="685800" y="3337560"/>
            <a:ext cx="2103120" cy="8686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GPUs and cloud computing can train huge models in days instead of years.</a:t>
            </a:r>
            <a:endParaRPr lang="en-US" sz="1300" dirty="0"/>
          </a:p>
        </p:txBody>
      </p:sp>
      <p:sp>
        <p:nvSpPr>
          <p:cNvPr id="10" name="Shape 7"/>
          <p:cNvSpPr/>
          <p:nvPr/>
        </p:nvSpPr>
        <p:spPr>
          <a:xfrm>
            <a:off x="3291840" y="1554480"/>
            <a:ext cx="2560320" cy="283464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1" name="Shape 8"/>
          <p:cNvSpPr/>
          <p:nvPr/>
        </p:nvSpPr>
        <p:spPr>
          <a:xfrm>
            <a:off x="3566160" y="1874520"/>
            <a:ext cx="822960" cy="822960"/>
          </a:xfrm>
          <a:prstGeom prst="ellipse">
            <a:avLst/>
          </a:prstGeom>
          <a:solidFill>
            <a:srgbClr val="6D5DF6"/>
          </a:solidFill>
          <a:ln w="12700">
            <a:solidFill>
              <a:srgbClr val="6D5DF6"/>
            </a:solidFill>
            <a:prstDash val="solid"/>
          </a:ln>
        </p:spPr>
      </p:sp>
      <p:pic>
        <p:nvPicPr>
          <p:cNvPr id="12" name="Image 1" descr="preencoded.png">    </p:cNvPr>
          <p:cNvPicPr>
            <a:picLocks noChangeAspect="1"/>
          </p:cNvPicPr>
          <p:nvPr/>
        </p:nvPicPr>
        <p:blipFill>
          <a:blip r:embed="rId2"/>
          <a:stretch>
            <a:fillRect/>
          </a:stretch>
        </p:blipFill>
        <p:spPr>
          <a:xfrm>
            <a:off x="3767328" y="2075688"/>
            <a:ext cx="420624" cy="420624"/>
          </a:xfrm>
          <a:prstGeom prst="rect">
            <a:avLst/>
          </a:prstGeom>
        </p:spPr>
      </p:pic>
      <p:sp>
        <p:nvSpPr>
          <p:cNvPr id="13" name="Text 9"/>
          <p:cNvSpPr txBox="1"/>
          <p:nvPr/>
        </p:nvSpPr>
        <p:spPr>
          <a:xfrm>
            <a:off x="3520440" y="2880360"/>
            <a:ext cx="2194560" cy="411480"/>
          </a:xfrm>
          <a:prstGeom prst="rect">
            <a:avLst/>
          </a:prstGeom>
          <a:noFill/>
          <a:ln/>
        </p:spPr>
        <p:txBody>
          <a:bodyPr wrap="square" lIns="0" tIns="0" rIns="0" bIns="0" rtlCol="0" anchor="ctr">
            <a:normAutofit/>
          </a:bodyPr>
          <a:lstStyle/>
          <a:p>
            <a:pPr indent="0" marL="0">
              <a:buNone/>
            </a:pPr>
            <a:r>
              <a:rPr lang="en-US" sz="1700" b="1" dirty="0">
                <a:solidFill>
                  <a:srgbClr val="1E1B4B"/>
                </a:solidFill>
                <a:latin typeface="Calibri" pitchFamily="34" charset="0"/>
                <a:ea typeface="Calibri" pitchFamily="34" charset="-122"/>
                <a:cs typeface="Calibri" pitchFamily="34" charset="-120"/>
              </a:rPr>
              <a:t>Better Algorithms</a:t>
            </a:r>
            <a:endParaRPr lang="en-US" sz="1700" dirty="0"/>
          </a:p>
        </p:txBody>
      </p:sp>
      <p:sp>
        <p:nvSpPr>
          <p:cNvPr id="14" name="Text 10"/>
          <p:cNvSpPr txBox="1"/>
          <p:nvPr/>
        </p:nvSpPr>
        <p:spPr>
          <a:xfrm>
            <a:off x="3520440" y="3337560"/>
            <a:ext cx="2103120" cy="8686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New techniques (e.g. deep neural networks) learn far more complex patterns.</a:t>
            </a:r>
            <a:endParaRPr lang="en-US" sz="1300" dirty="0"/>
          </a:p>
        </p:txBody>
      </p:sp>
      <p:sp>
        <p:nvSpPr>
          <p:cNvPr id="15" name="Shape 11"/>
          <p:cNvSpPr/>
          <p:nvPr/>
        </p:nvSpPr>
        <p:spPr>
          <a:xfrm>
            <a:off x="6126480" y="1554480"/>
            <a:ext cx="2560320" cy="283464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6" name="Shape 12"/>
          <p:cNvSpPr/>
          <p:nvPr/>
        </p:nvSpPr>
        <p:spPr>
          <a:xfrm>
            <a:off x="6400800" y="1874520"/>
            <a:ext cx="822960" cy="822960"/>
          </a:xfrm>
          <a:prstGeom prst="ellipse">
            <a:avLst/>
          </a:prstGeom>
          <a:solidFill>
            <a:srgbClr val="6D5DF6"/>
          </a:solidFill>
          <a:ln w="12700">
            <a:solidFill>
              <a:srgbClr val="6D5DF6"/>
            </a:solidFill>
            <a:prstDash val="solid"/>
          </a:ln>
        </p:spPr>
      </p:sp>
      <p:pic>
        <p:nvPicPr>
          <p:cNvPr id="17" name="Image 2" descr="preencoded.png">    </p:cNvPr>
          <p:cNvPicPr>
            <a:picLocks noChangeAspect="1"/>
          </p:cNvPicPr>
          <p:nvPr/>
        </p:nvPicPr>
        <p:blipFill>
          <a:blip r:embed="rId3"/>
          <a:stretch>
            <a:fillRect/>
          </a:stretch>
        </p:blipFill>
        <p:spPr>
          <a:xfrm>
            <a:off x="6601968" y="2075688"/>
            <a:ext cx="420624" cy="420624"/>
          </a:xfrm>
          <a:prstGeom prst="rect">
            <a:avLst/>
          </a:prstGeom>
        </p:spPr>
      </p:pic>
      <p:sp>
        <p:nvSpPr>
          <p:cNvPr id="18" name="Text 13"/>
          <p:cNvSpPr txBox="1"/>
          <p:nvPr/>
        </p:nvSpPr>
        <p:spPr>
          <a:xfrm>
            <a:off x="6355080" y="2880360"/>
            <a:ext cx="2194560" cy="411480"/>
          </a:xfrm>
          <a:prstGeom prst="rect">
            <a:avLst/>
          </a:prstGeom>
          <a:noFill/>
          <a:ln/>
        </p:spPr>
        <p:txBody>
          <a:bodyPr wrap="square" lIns="0" tIns="0" rIns="0" bIns="0" rtlCol="0" anchor="ctr">
            <a:normAutofit/>
          </a:bodyPr>
          <a:lstStyle/>
          <a:p>
            <a:pPr indent="0" marL="0">
              <a:buNone/>
            </a:pPr>
            <a:r>
              <a:rPr lang="en-US" sz="1700" b="1" dirty="0">
                <a:solidFill>
                  <a:srgbClr val="1E1B4B"/>
                </a:solidFill>
                <a:latin typeface="Calibri" pitchFamily="34" charset="0"/>
                <a:ea typeface="Calibri" pitchFamily="34" charset="-122"/>
                <a:cs typeface="Calibri" pitchFamily="34" charset="-120"/>
              </a:rPr>
              <a:t>Huge Data</a:t>
            </a:r>
            <a:endParaRPr lang="en-US" sz="1700" dirty="0"/>
          </a:p>
        </p:txBody>
      </p:sp>
      <p:sp>
        <p:nvSpPr>
          <p:cNvPr id="19" name="Text 14"/>
          <p:cNvSpPr txBox="1"/>
          <p:nvPr/>
        </p:nvSpPr>
        <p:spPr>
          <a:xfrm>
            <a:off x="6355080" y="3337560"/>
            <a:ext cx="2103120" cy="8686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The internet, phones and sensors generate massive data to learn from.</a:t>
            </a:r>
            <a:endParaRPr lang="en-US" sz="1300" dirty="0"/>
          </a:p>
        </p:txBody>
      </p:sp>
      <p:sp>
        <p:nvSpPr>
          <p:cNvPr id="20" name="Text 15"/>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04 · AI APPLICATIONS</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AI in Products We Use Every Day</a:t>
            </a:r>
            <a:endParaRPr lang="en-US" sz="3000" dirty="0"/>
          </a:p>
        </p:txBody>
      </p:sp>
      <p:sp>
        <p:nvSpPr>
          <p:cNvPr id="4" name="Shape 2"/>
          <p:cNvSpPr/>
          <p:nvPr/>
        </p:nvSpPr>
        <p:spPr>
          <a:xfrm>
            <a:off x="457200" y="1143000"/>
            <a:ext cx="2560320" cy="338328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5" name="Image 0" descr="/tmp/claude-0/-home-user-RahmaOshba/922a3a1f-80e6-5814-b3d2-eea9a91432ca/scratchpad/img/c_google.png">    </p:cNvPr>
          <p:cNvPicPr>
            <a:picLocks noChangeAspect="1"/>
          </p:cNvPicPr>
          <p:nvPr/>
        </p:nvPicPr>
        <p:blipFill>
          <a:blip r:embed="rId1"/>
          <a:srcRect l="0" r="0" t="0" b="0"/>
          <a:stretch/>
        </p:blipFill>
        <p:spPr>
          <a:xfrm>
            <a:off x="594360" y="1280160"/>
            <a:ext cx="2286000" cy="2011680"/>
          </a:xfrm>
          <a:prstGeom prst="rect">
            <a:avLst/>
          </a:prstGeom>
        </p:spPr>
      </p:pic>
      <p:sp>
        <p:nvSpPr>
          <p:cNvPr id="6" name="Text 3"/>
          <p:cNvSpPr txBox="1"/>
          <p:nvPr/>
        </p:nvSpPr>
        <p:spPr>
          <a:xfrm>
            <a:off x="640080" y="3429000"/>
            <a:ext cx="2194560" cy="365760"/>
          </a:xfrm>
          <a:prstGeom prst="rect">
            <a:avLst/>
          </a:prstGeom>
          <a:noFill/>
          <a:ln/>
        </p:spPr>
        <p:txBody>
          <a:bodyPr wrap="square" lIns="0" tIns="0" rIns="0" bIns="0" rtlCol="0" anchor="ctr"/>
          <a:lstStyle/>
          <a:p>
            <a:pPr indent="0" marL="0">
              <a:buNone/>
            </a:pPr>
            <a:r>
              <a:rPr lang="en-US" sz="1500" b="1" dirty="0">
                <a:solidFill>
                  <a:srgbClr val="1E1B4B"/>
                </a:solidFill>
                <a:latin typeface="Calibri" pitchFamily="34" charset="0"/>
                <a:ea typeface="Calibri" pitchFamily="34" charset="-122"/>
                <a:cs typeface="Calibri" pitchFamily="34" charset="-120"/>
              </a:rPr>
              <a:t>Google Search</a:t>
            </a:r>
            <a:endParaRPr lang="en-US" sz="1500" dirty="0"/>
          </a:p>
        </p:txBody>
      </p:sp>
      <p:sp>
        <p:nvSpPr>
          <p:cNvPr id="7" name="Text 4"/>
          <p:cNvSpPr txBox="1"/>
          <p:nvPr/>
        </p:nvSpPr>
        <p:spPr>
          <a:xfrm>
            <a:off x="640080" y="3794760"/>
            <a:ext cx="2194560" cy="59436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Predicts what you are typing (autocomplete).</a:t>
            </a:r>
            <a:endParaRPr lang="en-US" sz="1200" dirty="0"/>
          </a:p>
        </p:txBody>
      </p:sp>
      <p:sp>
        <p:nvSpPr>
          <p:cNvPr id="8" name="Shape 5"/>
          <p:cNvSpPr/>
          <p:nvPr/>
        </p:nvSpPr>
        <p:spPr>
          <a:xfrm>
            <a:off x="3291840" y="1143000"/>
            <a:ext cx="2560320" cy="338328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9" name="Image 1" descr="/tmp/claude-0/-home-user-RahmaOshba/922a3a1f-80e6-5814-b3d2-eea9a91432ca/scratchpad/img/c_duplex.png">    </p:cNvPr>
          <p:cNvPicPr>
            <a:picLocks noChangeAspect="1"/>
          </p:cNvPicPr>
          <p:nvPr/>
        </p:nvPicPr>
        <p:blipFill>
          <a:blip r:embed="rId2"/>
          <a:srcRect l="0" r="0" t="0" b="0"/>
          <a:stretch/>
        </p:blipFill>
        <p:spPr>
          <a:xfrm>
            <a:off x="3429000" y="1280160"/>
            <a:ext cx="2286000" cy="2011680"/>
          </a:xfrm>
          <a:prstGeom prst="rect">
            <a:avLst/>
          </a:prstGeom>
        </p:spPr>
      </p:pic>
      <p:sp>
        <p:nvSpPr>
          <p:cNvPr id="10" name="Text 6"/>
          <p:cNvSpPr txBox="1"/>
          <p:nvPr/>
        </p:nvSpPr>
        <p:spPr>
          <a:xfrm>
            <a:off x="3474720" y="3429000"/>
            <a:ext cx="2194560" cy="365760"/>
          </a:xfrm>
          <a:prstGeom prst="rect">
            <a:avLst/>
          </a:prstGeom>
          <a:noFill/>
          <a:ln/>
        </p:spPr>
        <p:txBody>
          <a:bodyPr wrap="square" lIns="0" tIns="0" rIns="0" bIns="0" rtlCol="0" anchor="ctr"/>
          <a:lstStyle/>
          <a:p>
            <a:pPr indent="0" marL="0">
              <a:buNone/>
            </a:pPr>
            <a:r>
              <a:rPr lang="en-US" sz="1500" b="1" dirty="0">
                <a:solidFill>
                  <a:srgbClr val="1E1B4B"/>
                </a:solidFill>
                <a:latin typeface="Calibri" pitchFamily="34" charset="0"/>
                <a:ea typeface="Calibri" pitchFamily="34" charset="-122"/>
                <a:cs typeface="Calibri" pitchFamily="34" charset="-120"/>
              </a:rPr>
              <a:t>Google Duplex / Assistant</a:t>
            </a:r>
            <a:endParaRPr lang="en-US" sz="1500" dirty="0"/>
          </a:p>
        </p:txBody>
      </p:sp>
      <p:sp>
        <p:nvSpPr>
          <p:cNvPr id="11" name="Text 7"/>
          <p:cNvSpPr txBox="1"/>
          <p:nvPr/>
        </p:nvSpPr>
        <p:spPr>
          <a:xfrm>
            <a:off x="3474720" y="3794760"/>
            <a:ext cx="2194560" cy="59436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Understands speech and holds natural conversations.</a:t>
            </a:r>
            <a:endParaRPr lang="en-US" sz="1200" dirty="0"/>
          </a:p>
        </p:txBody>
      </p:sp>
      <p:sp>
        <p:nvSpPr>
          <p:cNvPr id="12" name="Shape 8"/>
          <p:cNvSpPr/>
          <p:nvPr/>
        </p:nvSpPr>
        <p:spPr>
          <a:xfrm>
            <a:off x="6126480" y="1143000"/>
            <a:ext cx="2560320" cy="3383280"/>
          </a:xfrm>
          <a:prstGeom prst="roundRect">
            <a:avLst>
              <a:gd name="adj" fmla="val 4286"/>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13" name="Image 2" descr="/tmp/claude-0/-home-user-RahmaOshba/922a3a1f-80e6-5814-b3d2-eea9a91432ca/scratchpad/img/c_spam.png">    </p:cNvPr>
          <p:cNvPicPr>
            <a:picLocks noChangeAspect="1"/>
          </p:cNvPicPr>
          <p:nvPr/>
        </p:nvPicPr>
        <p:blipFill>
          <a:blip r:embed="rId3"/>
          <a:srcRect l="0" r="0" t="0" b="0"/>
          <a:stretch/>
        </p:blipFill>
        <p:spPr>
          <a:xfrm>
            <a:off x="6263640" y="1280160"/>
            <a:ext cx="2286000" cy="2011680"/>
          </a:xfrm>
          <a:prstGeom prst="rect">
            <a:avLst/>
          </a:prstGeom>
        </p:spPr>
      </p:pic>
      <p:sp>
        <p:nvSpPr>
          <p:cNvPr id="14" name="Text 9"/>
          <p:cNvSpPr txBox="1"/>
          <p:nvPr/>
        </p:nvSpPr>
        <p:spPr>
          <a:xfrm>
            <a:off x="6309360" y="3429000"/>
            <a:ext cx="2194560" cy="365760"/>
          </a:xfrm>
          <a:prstGeom prst="rect">
            <a:avLst/>
          </a:prstGeom>
          <a:noFill/>
          <a:ln/>
        </p:spPr>
        <p:txBody>
          <a:bodyPr wrap="square" lIns="0" tIns="0" rIns="0" bIns="0" rtlCol="0" anchor="ctr"/>
          <a:lstStyle/>
          <a:p>
            <a:pPr indent="0" marL="0">
              <a:buNone/>
            </a:pPr>
            <a:r>
              <a:rPr lang="en-US" sz="1500" b="1" dirty="0">
                <a:solidFill>
                  <a:srgbClr val="1E1B4B"/>
                </a:solidFill>
                <a:latin typeface="Calibri" pitchFamily="34" charset="0"/>
                <a:ea typeface="Calibri" pitchFamily="34" charset="-122"/>
                <a:cs typeface="Calibri" pitchFamily="34" charset="-120"/>
              </a:rPr>
              <a:t>Spam Filters</a:t>
            </a:r>
            <a:endParaRPr lang="en-US" sz="1500" dirty="0"/>
          </a:p>
        </p:txBody>
      </p:sp>
      <p:sp>
        <p:nvSpPr>
          <p:cNvPr id="15" name="Text 10"/>
          <p:cNvSpPr txBox="1"/>
          <p:nvPr/>
        </p:nvSpPr>
        <p:spPr>
          <a:xfrm>
            <a:off x="6309360" y="3794760"/>
            <a:ext cx="2194560" cy="59436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Classifies each email as inbox or spam.</a:t>
            </a:r>
            <a:endParaRPr lang="en-US" sz="1200" dirty="0"/>
          </a:p>
        </p:txBody>
      </p:sp>
      <p:sp>
        <p:nvSpPr>
          <p:cNvPr id="16" name="Text 11"/>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04 · AI APPLICATIONS</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More AI Applications</a:t>
            </a:r>
            <a:endParaRPr lang="en-US" sz="3000" dirty="0"/>
          </a:p>
        </p:txBody>
      </p:sp>
      <p:sp>
        <p:nvSpPr>
          <p:cNvPr id="4" name="Shape 2"/>
          <p:cNvSpPr/>
          <p:nvPr/>
        </p:nvSpPr>
        <p:spPr>
          <a:xfrm>
            <a:off x="457200" y="1143000"/>
            <a:ext cx="1874520" cy="338328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5" name="Image 0" descr="/tmp/claude-0/-home-user-RahmaOshba/922a3a1f-80e6-5814-b3d2-eea9a91432ca/scratchpad/img/p08_1.png">    </p:cNvPr>
          <p:cNvPicPr>
            <a:picLocks noChangeAspect="1"/>
          </p:cNvPicPr>
          <p:nvPr/>
        </p:nvPicPr>
        <p:blipFill>
          <a:blip r:embed="rId1"/>
          <a:srcRect l="0" r="0" t="0" b="0"/>
          <a:stretch/>
        </p:blipFill>
        <p:spPr>
          <a:xfrm>
            <a:off x="566928" y="1252728"/>
            <a:ext cx="1655064" cy="1463040"/>
          </a:xfrm>
          <a:prstGeom prst="rect">
            <a:avLst/>
          </a:prstGeom>
        </p:spPr>
      </p:pic>
      <p:sp>
        <p:nvSpPr>
          <p:cNvPr id="6" name="Text 3"/>
          <p:cNvSpPr txBox="1"/>
          <p:nvPr/>
        </p:nvSpPr>
        <p:spPr>
          <a:xfrm>
            <a:off x="621792" y="2926080"/>
            <a:ext cx="1545336"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Facebook</a:t>
            </a:r>
            <a:endParaRPr lang="en-US" sz="1600" dirty="0"/>
          </a:p>
        </p:txBody>
      </p:sp>
      <p:sp>
        <p:nvSpPr>
          <p:cNvPr id="7" name="Text 4"/>
          <p:cNvSpPr txBox="1"/>
          <p:nvPr/>
        </p:nvSpPr>
        <p:spPr>
          <a:xfrm>
            <a:off x="621792" y="3337560"/>
            <a:ext cx="1545336" cy="100584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Detects faces and suggests friends to tag.</a:t>
            </a:r>
            <a:endParaRPr lang="en-US" sz="1200" dirty="0"/>
          </a:p>
        </p:txBody>
      </p:sp>
      <p:sp>
        <p:nvSpPr>
          <p:cNvPr id="8" name="Shape 5"/>
          <p:cNvSpPr/>
          <p:nvPr/>
        </p:nvSpPr>
        <p:spPr>
          <a:xfrm>
            <a:off x="2560320" y="1143000"/>
            <a:ext cx="1874520" cy="338328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9" name="Image 1" descr="/tmp/claude-0/-home-user-RahmaOshba/922a3a1f-80e6-5814-b3d2-eea9a91432ca/scratchpad/img/c_tesla.png">    </p:cNvPr>
          <p:cNvPicPr>
            <a:picLocks noChangeAspect="1"/>
          </p:cNvPicPr>
          <p:nvPr/>
        </p:nvPicPr>
        <p:blipFill>
          <a:blip r:embed="rId2"/>
          <a:srcRect l="0" r="0" t="0" b="0"/>
          <a:stretch/>
        </p:blipFill>
        <p:spPr>
          <a:xfrm>
            <a:off x="2670048" y="1252728"/>
            <a:ext cx="1655064" cy="1463040"/>
          </a:xfrm>
          <a:prstGeom prst="rect">
            <a:avLst/>
          </a:prstGeom>
        </p:spPr>
      </p:pic>
      <p:sp>
        <p:nvSpPr>
          <p:cNvPr id="10" name="Text 6"/>
          <p:cNvSpPr txBox="1"/>
          <p:nvPr/>
        </p:nvSpPr>
        <p:spPr>
          <a:xfrm>
            <a:off x="2724912" y="2926080"/>
            <a:ext cx="1545336"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Tesla</a:t>
            </a:r>
            <a:endParaRPr lang="en-US" sz="1600" dirty="0"/>
          </a:p>
        </p:txBody>
      </p:sp>
      <p:sp>
        <p:nvSpPr>
          <p:cNvPr id="11" name="Text 7"/>
          <p:cNvSpPr txBox="1"/>
          <p:nvPr/>
        </p:nvSpPr>
        <p:spPr>
          <a:xfrm>
            <a:off x="2724912" y="3337560"/>
            <a:ext cx="1545336" cy="100584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Self-driving cars see the road and decide in real time.</a:t>
            </a:r>
            <a:endParaRPr lang="en-US" sz="1200" dirty="0"/>
          </a:p>
        </p:txBody>
      </p:sp>
      <p:sp>
        <p:nvSpPr>
          <p:cNvPr id="12" name="Shape 8"/>
          <p:cNvSpPr/>
          <p:nvPr/>
        </p:nvSpPr>
        <p:spPr>
          <a:xfrm>
            <a:off x="4663440" y="1143000"/>
            <a:ext cx="1874520" cy="338328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13" name="Image 2" descr="/tmp/claude-0/-home-user-RahmaOshba/922a3a1f-80e6-5814-b3d2-eea9a91432ca/scratchpad/img/c_netflix.png">    </p:cNvPr>
          <p:cNvPicPr>
            <a:picLocks noChangeAspect="1"/>
          </p:cNvPicPr>
          <p:nvPr/>
        </p:nvPicPr>
        <p:blipFill>
          <a:blip r:embed="rId3"/>
          <a:srcRect l="0" r="0" t="0" b="0"/>
          <a:stretch/>
        </p:blipFill>
        <p:spPr>
          <a:xfrm>
            <a:off x="4773168" y="1252728"/>
            <a:ext cx="1655064" cy="1463040"/>
          </a:xfrm>
          <a:prstGeom prst="rect">
            <a:avLst/>
          </a:prstGeom>
        </p:spPr>
      </p:pic>
      <p:sp>
        <p:nvSpPr>
          <p:cNvPr id="14" name="Text 9"/>
          <p:cNvSpPr txBox="1"/>
          <p:nvPr/>
        </p:nvSpPr>
        <p:spPr>
          <a:xfrm>
            <a:off x="4828032" y="2926080"/>
            <a:ext cx="1545336"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Netflix</a:t>
            </a:r>
            <a:endParaRPr lang="en-US" sz="1600" dirty="0"/>
          </a:p>
        </p:txBody>
      </p:sp>
      <p:sp>
        <p:nvSpPr>
          <p:cNvPr id="15" name="Text 10"/>
          <p:cNvSpPr txBox="1"/>
          <p:nvPr/>
        </p:nvSpPr>
        <p:spPr>
          <a:xfrm>
            <a:off x="4828032" y="3337560"/>
            <a:ext cx="1545336" cy="100584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Recommends movies based on what you watched.</a:t>
            </a:r>
            <a:endParaRPr lang="en-US" sz="1200" dirty="0"/>
          </a:p>
        </p:txBody>
      </p:sp>
      <p:sp>
        <p:nvSpPr>
          <p:cNvPr id="16" name="Shape 11"/>
          <p:cNvSpPr/>
          <p:nvPr/>
        </p:nvSpPr>
        <p:spPr>
          <a:xfrm>
            <a:off x="6766560" y="1143000"/>
            <a:ext cx="1874520" cy="338328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17" name="Image 3" descr="/tmp/claude-0/-home-user-RahmaOshba/922a3a1f-80e6-5814-b3d2-eea9a91432ca/scratchpad/img/c_uber.png">    </p:cNvPr>
          <p:cNvPicPr>
            <a:picLocks noChangeAspect="1"/>
          </p:cNvPicPr>
          <p:nvPr/>
        </p:nvPicPr>
        <p:blipFill>
          <a:blip r:embed="rId4"/>
          <a:srcRect l="0" r="0" t="0" b="0"/>
          <a:stretch/>
        </p:blipFill>
        <p:spPr>
          <a:xfrm>
            <a:off x="6876288" y="1252728"/>
            <a:ext cx="1655064" cy="1463040"/>
          </a:xfrm>
          <a:prstGeom prst="rect">
            <a:avLst/>
          </a:prstGeom>
        </p:spPr>
      </p:pic>
      <p:sp>
        <p:nvSpPr>
          <p:cNvPr id="18" name="Text 12"/>
          <p:cNvSpPr txBox="1"/>
          <p:nvPr/>
        </p:nvSpPr>
        <p:spPr>
          <a:xfrm>
            <a:off x="6931152" y="2926080"/>
            <a:ext cx="1545336" cy="36576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Uber</a:t>
            </a:r>
            <a:endParaRPr lang="en-US" sz="1600" dirty="0"/>
          </a:p>
        </p:txBody>
      </p:sp>
      <p:sp>
        <p:nvSpPr>
          <p:cNvPr id="19" name="Text 13"/>
          <p:cNvSpPr txBox="1"/>
          <p:nvPr/>
        </p:nvSpPr>
        <p:spPr>
          <a:xfrm>
            <a:off x="6931152" y="3337560"/>
            <a:ext cx="1545336" cy="1005840"/>
          </a:xfrm>
          <a:prstGeom prst="rect">
            <a:avLst/>
          </a:prstGeom>
          <a:noFill/>
          <a:ln/>
        </p:spPr>
        <p:txBody>
          <a:bodyPr wrap="square" lIns="0" tIns="0" rIns="0" bIns="0" rtlCol="0" anchor="t"/>
          <a:lstStyle/>
          <a:p>
            <a:pPr indent="0" marL="0">
              <a:buNone/>
            </a:pPr>
            <a:r>
              <a:rPr lang="en-US" sz="1200" dirty="0">
                <a:solidFill>
                  <a:srgbClr val="2B2A3D"/>
                </a:solidFill>
                <a:latin typeface="Calibri" pitchFamily="34" charset="0"/>
                <a:ea typeface="Calibri" pitchFamily="34" charset="-122"/>
                <a:cs typeface="Calibri" pitchFamily="34" charset="-120"/>
              </a:rPr>
              <a:t>Dynamic (surge) pricing in real time.</a:t>
            </a:r>
            <a:endParaRPr lang="en-US" sz="1200" dirty="0"/>
          </a:p>
        </p:txBody>
      </p:sp>
      <p:sp>
        <p:nvSpPr>
          <p:cNvPr id="20" name="Text 1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05 · MACHINE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What is Machine Learning?</a:t>
            </a:r>
            <a:endParaRPr lang="en-US" sz="3000" dirty="0"/>
          </a:p>
        </p:txBody>
      </p:sp>
      <p:sp>
        <p:nvSpPr>
          <p:cNvPr id="4" name="Text 2"/>
          <p:cNvSpPr txBox="1"/>
          <p:nvPr/>
        </p:nvSpPr>
        <p:spPr>
          <a:xfrm>
            <a:off x="457200" y="1097280"/>
            <a:ext cx="8229600" cy="822960"/>
          </a:xfrm>
          <a:prstGeom prst="rect">
            <a:avLst/>
          </a:prstGeom>
          <a:noFill/>
          <a:ln/>
        </p:spPr>
        <p:txBody>
          <a:bodyPr wrap="square" lIns="0" tIns="0" rIns="0" bIns="0" rtlCol="0" anchor="t"/>
          <a:lstStyle/>
          <a:p>
            <a:pPr indent="0" marL="0">
              <a:buNone/>
            </a:pPr>
            <a:r>
              <a:rPr lang="en-US" sz="1700" b="1" dirty="0">
                <a:solidFill>
                  <a:srgbClr val="6D5DF6"/>
                </a:solidFill>
                <a:latin typeface="Calibri" pitchFamily="34" charset="0"/>
                <a:ea typeface="Calibri" pitchFamily="34" charset="-122"/>
                <a:cs typeface="Calibri" pitchFamily="34" charset="-120"/>
              </a:rPr>
              <a:t>Machine Learning</a:t>
            </a:r>
            <a:pPr indent="0" marL="0">
              <a:buNone/>
            </a:pPr>
            <a:r>
              <a:rPr lang="en-US" sz="1700" dirty="0">
                <a:solidFill>
                  <a:srgbClr val="2B2A3D"/>
                </a:solidFill>
                <a:latin typeface="Calibri" pitchFamily="34" charset="0"/>
                <a:ea typeface="Calibri" pitchFamily="34" charset="-122"/>
                <a:cs typeface="Calibri" pitchFamily="34" charset="-120"/>
              </a:rPr>
              <a:t> is a branch of AI and computer science that uses </a:t>
            </a:r>
            <a:pPr indent="0" marL="0">
              <a:buNone/>
            </a:pPr>
            <a:r>
              <a:rPr lang="en-US" sz="1700" b="1" dirty="0">
                <a:solidFill>
                  <a:srgbClr val="2B2A3D"/>
                </a:solidFill>
                <a:latin typeface="Calibri" pitchFamily="34" charset="0"/>
                <a:ea typeface="Calibri" pitchFamily="34" charset="-122"/>
                <a:cs typeface="Calibri" pitchFamily="34" charset="-120"/>
              </a:rPr>
              <a:t>data and algorithms</a:t>
            </a:r>
            <a:pPr indent="0" marL="0">
              <a:buNone/>
            </a:pPr>
            <a:r>
              <a:rPr lang="en-US" sz="1700" dirty="0">
                <a:solidFill>
                  <a:srgbClr val="2B2A3D"/>
                </a:solidFill>
                <a:latin typeface="Calibri" pitchFamily="34" charset="0"/>
                <a:ea typeface="Calibri" pitchFamily="34" charset="-122"/>
                <a:cs typeface="Calibri" pitchFamily="34" charset="-120"/>
              </a:rPr>
              <a:t> to imitate the way humans learn — gradually improving its accuracy.</a:t>
            </a:r>
            <a:endParaRPr lang="en-US" sz="1700" dirty="0"/>
          </a:p>
        </p:txBody>
      </p:sp>
      <p:sp>
        <p:nvSpPr>
          <p:cNvPr id="5" name="Text 3"/>
          <p:cNvSpPr txBox="1"/>
          <p:nvPr/>
        </p:nvSpPr>
        <p:spPr>
          <a:xfrm>
            <a:off x="457200" y="2103120"/>
            <a:ext cx="1828800" cy="914400"/>
          </a:xfrm>
          <a:prstGeom prst="rect">
            <a:avLst/>
          </a:prstGeom>
          <a:noFill/>
          <a:ln/>
        </p:spPr>
        <p:txBody>
          <a:bodyPr wrap="square" lIns="0" tIns="0" rIns="0" bIns="0" rtlCol="0" anchor="ctr"/>
          <a:lstStyle/>
          <a:p>
            <a:pPr indent="0" marL="0">
              <a:buNone/>
            </a:pPr>
            <a:r>
              <a:rPr lang="en-US" sz="1500" b="1" dirty="0">
                <a:solidFill>
                  <a:srgbClr val="1E1B4B"/>
                </a:solidFill>
                <a:latin typeface="Calibri" pitchFamily="34" charset="0"/>
                <a:ea typeface="Calibri" pitchFamily="34" charset="-122"/>
                <a:cs typeface="Calibri" pitchFamily="34" charset="-120"/>
              </a:rPr>
              <a:t>Traditional programming</a:t>
            </a:r>
            <a:endParaRPr lang="en-US" sz="1500" dirty="0"/>
          </a:p>
        </p:txBody>
      </p:sp>
      <p:sp>
        <p:nvSpPr>
          <p:cNvPr id="6" name="Shape 4"/>
          <p:cNvSpPr/>
          <p:nvPr/>
        </p:nvSpPr>
        <p:spPr>
          <a:xfrm>
            <a:off x="2286000" y="2240280"/>
            <a:ext cx="1371600" cy="640080"/>
          </a:xfrm>
          <a:prstGeom prst="roundRect">
            <a:avLst>
              <a:gd name="adj" fmla="val 14286"/>
            </a:avLst>
          </a:prstGeom>
          <a:solidFill>
            <a:srgbClr val="EEEDFF"/>
          </a:solidFill>
          <a:ln w="12700">
            <a:solidFill>
              <a:srgbClr val="EEEDFF"/>
            </a:solidFill>
            <a:prstDash val="solid"/>
          </a:ln>
        </p:spPr>
      </p:sp>
      <p:sp>
        <p:nvSpPr>
          <p:cNvPr id="7" name="Text 5"/>
          <p:cNvSpPr txBox="1"/>
          <p:nvPr/>
        </p:nvSpPr>
        <p:spPr>
          <a:xfrm>
            <a:off x="2286000" y="2240280"/>
            <a:ext cx="1371600" cy="64008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Data</a:t>
            </a:r>
            <a:endParaRPr lang="en-US" sz="1300" dirty="0"/>
          </a:p>
          <a:p>
            <a:pPr algn="ctr" indent="0" marL="0">
              <a:buNone/>
            </a:pPr>
            <a:r>
              <a:rPr lang="en-US" sz="1300" b="1" dirty="0">
                <a:solidFill>
                  <a:srgbClr val="1E1B4B"/>
                </a:solidFill>
                <a:latin typeface="Calibri" pitchFamily="34" charset="0"/>
                <a:ea typeface="Calibri" pitchFamily="34" charset="-122"/>
                <a:cs typeface="Calibri" pitchFamily="34" charset="-120"/>
              </a:rPr>
              <a:t>+ Rules</a:t>
            </a:r>
            <a:endParaRPr lang="en-US" sz="1300" dirty="0"/>
          </a:p>
        </p:txBody>
      </p:sp>
      <p:pic>
        <p:nvPicPr>
          <p:cNvPr id="8" name="Image 0" descr="preencoded.png">    </p:cNvPr>
          <p:cNvPicPr>
            <a:picLocks noChangeAspect="1"/>
          </p:cNvPicPr>
          <p:nvPr/>
        </p:nvPicPr>
        <p:blipFill>
          <a:blip r:embed="rId1"/>
          <a:stretch>
            <a:fillRect/>
          </a:stretch>
        </p:blipFill>
        <p:spPr>
          <a:xfrm>
            <a:off x="3794760" y="2423160"/>
            <a:ext cx="274320" cy="274320"/>
          </a:xfrm>
          <a:prstGeom prst="rect">
            <a:avLst/>
          </a:prstGeom>
        </p:spPr>
      </p:pic>
      <p:sp>
        <p:nvSpPr>
          <p:cNvPr id="9" name="Shape 6"/>
          <p:cNvSpPr/>
          <p:nvPr/>
        </p:nvSpPr>
        <p:spPr>
          <a:xfrm>
            <a:off x="4206240" y="2240280"/>
            <a:ext cx="1828800" cy="640080"/>
          </a:xfrm>
          <a:prstGeom prst="roundRect">
            <a:avLst>
              <a:gd name="adj" fmla="val 14286"/>
            </a:avLst>
          </a:prstGeom>
          <a:solidFill>
            <a:srgbClr val="1E1B4B"/>
          </a:solidFill>
          <a:ln w="12700">
            <a:solidFill>
              <a:srgbClr val="1E1B4B"/>
            </a:solidFill>
            <a:prstDash val="solid"/>
          </a:ln>
        </p:spPr>
      </p:sp>
      <p:sp>
        <p:nvSpPr>
          <p:cNvPr id="10" name="Text 7"/>
          <p:cNvSpPr txBox="1"/>
          <p:nvPr/>
        </p:nvSpPr>
        <p:spPr>
          <a:xfrm>
            <a:off x="4206240" y="2240280"/>
            <a:ext cx="18288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Program</a:t>
            </a:r>
            <a:endParaRPr lang="en-US" sz="1300" dirty="0"/>
          </a:p>
        </p:txBody>
      </p:sp>
      <p:pic>
        <p:nvPicPr>
          <p:cNvPr id="11" name="Image 1" descr="preencoded.png">    </p:cNvPr>
          <p:cNvPicPr>
            <a:picLocks noChangeAspect="1"/>
          </p:cNvPicPr>
          <p:nvPr/>
        </p:nvPicPr>
        <p:blipFill>
          <a:blip r:embed="rId2"/>
          <a:stretch>
            <a:fillRect/>
          </a:stretch>
        </p:blipFill>
        <p:spPr>
          <a:xfrm>
            <a:off x="6172200" y="2423160"/>
            <a:ext cx="274320" cy="274320"/>
          </a:xfrm>
          <a:prstGeom prst="rect">
            <a:avLst/>
          </a:prstGeom>
        </p:spPr>
      </p:pic>
      <p:sp>
        <p:nvSpPr>
          <p:cNvPr id="12" name="Shape 8"/>
          <p:cNvSpPr/>
          <p:nvPr/>
        </p:nvSpPr>
        <p:spPr>
          <a:xfrm>
            <a:off x="6583680" y="2240280"/>
            <a:ext cx="2103120" cy="640080"/>
          </a:xfrm>
          <a:prstGeom prst="roundRect">
            <a:avLst>
              <a:gd name="adj" fmla="val 14286"/>
            </a:avLst>
          </a:prstGeom>
          <a:solidFill>
            <a:srgbClr val="FFB547"/>
          </a:solidFill>
          <a:ln w="12700">
            <a:solidFill>
              <a:srgbClr val="FFB547"/>
            </a:solidFill>
            <a:prstDash val="solid"/>
          </a:ln>
        </p:spPr>
      </p:sp>
      <p:sp>
        <p:nvSpPr>
          <p:cNvPr id="13" name="Text 9"/>
          <p:cNvSpPr txBox="1"/>
          <p:nvPr/>
        </p:nvSpPr>
        <p:spPr>
          <a:xfrm>
            <a:off x="6583680" y="2240280"/>
            <a:ext cx="2103120" cy="64008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Answers</a:t>
            </a:r>
            <a:endParaRPr lang="en-US" sz="1300" dirty="0"/>
          </a:p>
        </p:txBody>
      </p:sp>
      <p:sp>
        <p:nvSpPr>
          <p:cNvPr id="14" name="Text 10"/>
          <p:cNvSpPr txBox="1"/>
          <p:nvPr/>
        </p:nvSpPr>
        <p:spPr>
          <a:xfrm>
            <a:off x="457200" y="3200400"/>
            <a:ext cx="1828800" cy="914400"/>
          </a:xfrm>
          <a:prstGeom prst="rect">
            <a:avLst/>
          </a:prstGeom>
          <a:noFill/>
          <a:ln/>
        </p:spPr>
        <p:txBody>
          <a:bodyPr wrap="square" lIns="0" tIns="0" rIns="0" bIns="0" rtlCol="0" anchor="ctr"/>
          <a:lstStyle/>
          <a:p>
            <a:pPr indent="0" marL="0">
              <a:buNone/>
            </a:pPr>
            <a:r>
              <a:rPr lang="en-US" sz="1500" b="1" dirty="0">
                <a:solidFill>
                  <a:srgbClr val="1E1B4B"/>
                </a:solidFill>
                <a:latin typeface="Calibri" pitchFamily="34" charset="0"/>
                <a:ea typeface="Calibri" pitchFamily="34" charset="-122"/>
                <a:cs typeface="Calibri" pitchFamily="34" charset="-120"/>
              </a:rPr>
              <a:t>Machine learning</a:t>
            </a:r>
            <a:endParaRPr lang="en-US" sz="1500" dirty="0"/>
          </a:p>
        </p:txBody>
      </p:sp>
      <p:sp>
        <p:nvSpPr>
          <p:cNvPr id="15" name="Shape 11"/>
          <p:cNvSpPr/>
          <p:nvPr/>
        </p:nvSpPr>
        <p:spPr>
          <a:xfrm>
            <a:off x="2286000" y="3337560"/>
            <a:ext cx="1371600" cy="640080"/>
          </a:xfrm>
          <a:prstGeom prst="roundRect">
            <a:avLst>
              <a:gd name="adj" fmla="val 14286"/>
            </a:avLst>
          </a:prstGeom>
          <a:solidFill>
            <a:srgbClr val="EEEDFF"/>
          </a:solidFill>
          <a:ln w="12700">
            <a:solidFill>
              <a:srgbClr val="EEEDFF"/>
            </a:solidFill>
            <a:prstDash val="solid"/>
          </a:ln>
        </p:spPr>
      </p:sp>
      <p:sp>
        <p:nvSpPr>
          <p:cNvPr id="16" name="Text 12"/>
          <p:cNvSpPr txBox="1"/>
          <p:nvPr/>
        </p:nvSpPr>
        <p:spPr>
          <a:xfrm>
            <a:off x="2286000" y="3337560"/>
            <a:ext cx="1371600" cy="64008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Data</a:t>
            </a:r>
            <a:endParaRPr lang="en-US" sz="1300" dirty="0"/>
          </a:p>
          <a:p>
            <a:pPr algn="ctr" indent="0" marL="0">
              <a:buNone/>
            </a:pPr>
            <a:r>
              <a:rPr lang="en-US" sz="1300" b="1" dirty="0">
                <a:solidFill>
                  <a:srgbClr val="1E1B4B"/>
                </a:solidFill>
                <a:latin typeface="Calibri" pitchFamily="34" charset="0"/>
                <a:ea typeface="Calibri" pitchFamily="34" charset="-122"/>
                <a:cs typeface="Calibri" pitchFamily="34" charset="-120"/>
              </a:rPr>
              <a:t>+ Answers</a:t>
            </a:r>
            <a:endParaRPr lang="en-US" sz="1300" dirty="0"/>
          </a:p>
        </p:txBody>
      </p:sp>
      <p:pic>
        <p:nvPicPr>
          <p:cNvPr id="17" name="Image 2" descr="preencoded.png">    </p:cNvPr>
          <p:cNvPicPr>
            <a:picLocks noChangeAspect="1"/>
          </p:cNvPicPr>
          <p:nvPr/>
        </p:nvPicPr>
        <p:blipFill>
          <a:blip r:embed="rId3"/>
          <a:stretch>
            <a:fillRect/>
          </a:stretch>
        </p:blipFill>
        <p:spPr>
          <a:xfrm>
            <a:off x="3794760" y="3520440"/>
            <a:ext cx="274320" cy="274320"/>
          </a:xfrm>
          <a:prstGeom prst="rect">
            <a:avLst/>
          </a:prstGeom>
        </p:spPr>
      </p:pic>
      <p:sp>
        <p:nvSpPr>
          <p:cNvPr id="18" name="Shape 13"/>
          <p:cNvSpPr/>
          <p:nvPr/>
        </p:nvSpPr>
        <p:spPr>
          <a:xfrm>
            <a:off x="4206240" y="3337560"/>
            <a:ext cx="1828800" cy="640080"/>
          </a:xfrm>
          <a:prstGeom prst="roundRect">
            <a:avLst>
              <a:gd name="adj" fmla="val 14286"/>
            </a:avLst>
          </a:prstGeom>
          <a:solidFill>
            <a:srgbClr val="6D5DF6"/>
          </a:solidFill>
          <a:ln w="12700">
            <a:solidFill>
              <a:srgbClr val="6D5DF6"/>
            </a:solidFill>
            <a:prstDash val="solid"/>
          </a:ln>
        </p:spPr>
      </p:sp>
      <p:sp>
        <p:nvSpPr>
          <p:cNvPr id="19" name="Text 14"/>
          <p:cNvSpPr txBox="1"/>
          <p:nvPr/>
        </p:nvSpPr>
        <p:spPr>
          <a:xfrm>
            <a:off x="4206240" y="3337560"/>
            <a:ext cx="18288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 Algorithm</a:t>
            </a:r>
            <a:endParaRPr lang="en-US" sz="1300" dirty="0"/>
          </a:p>
        </p:txBody>
      </p:sp>
      <p:pic>
        <p:nvPicPr>
          <p:cNvPr id="20" name="Image 3" descr="preencoded.png">    </p:cNvPr>
          <p:cNvPicPr>
            <a:picLocks noChangeAspect="1"/>
          </p:cNvPicPr>
          <p:nvPr/>
        </p:nvPicPr>
        <p:blipFill>
          <a:blip r:embed="rId4"/>
          <a:stretch>
            <a:fillRect/>
          </a:stretch>
        </p:blipFill>
        <p:spPr>
          <a:xfrm>
            <a:off x="6172200" y="3520440"/>
            <a:ext cx="274320" cy="274320"/>
          </a:xfrm>
          <a:prstGeom prst="rect">
            <a:avLst/>
          </a:prstGeom>
        </p:spPr>
      </p:pic>
      <p:sp>
        <p:nvSpPr>
          <p:cNvPr id="21" name="Shape 15"/>
          <p:cNvSpPr/>
          <p:nvPr/>
        </p:nvSpPr>
        <p:spPr>
          <a:xfrm>
            <a:off x="6583680" y="3337560"/>
            <a:ext cx="2103120" cy="640080"/>
          </a:xfrm>
          <a:prstGeom prst="roundRect">
            <a:avLst>
              <a:gd name="adj" fmla="val 14286"/>
            </a:avLst>
          </a:prstGeom>
          <a:solidFill>
            <a:srgbClr val="FFB547"/>
          </a:solidFill>
          <a:ln w="12700">
            <a:solidFill>
              <a:srgbClr val="FFB547"/>
            </a:solidFill>
            <a:prstDash val="solid"/>
          </a:ln>
        </p:spPr>
      </p:sp>
      <p:sp>
        <p:nvSpPr>
          <p:cNvPr id="22" name="Text 16"/>
          <p:cNvSpPr txBox="1"/>
          <p:nvPr/>
        </p:nvSpPr>
        <p:spPr>
          <a:xfrm>
            <a:off x="6583680" y="3337560"/>
            <a:ext cx="2103120" cy="640080"/>
          </a:xfrm>
          <a:prstGeom prst="rect">
            <a:avLst/>
          </a:prstGeom>
          <a:noFill/>
          <a:ln/>
        </p:spPr>
        <p:txBody>
          <a:bodyPr wrap="square" lIns="0" tIns="0" rIns="0" bIns="0" rtlCol="0" anchor="ctr"/>
          <a:lstStyle/>
          <a:p>
            <a:pPr algn="ctr" indent="0" marL="0">
              <a:buNone/>
            </a:pPr>
            <a:r>
              <a:rPr lang="en-US" sz="1300" b="1" dirty="0">
                <a:solidFill>
                  <a:srgbClr val="1E1B4B"/>
                </a:solidFill>
                <a:latin typeface="Calibri" pitchFamily="34" charset="0"/>
                <a:ea typeface="Calibri" pitchFamily="34" charset="-122"/>
                <a:cs typeface="Calibri" pitchFamily="34" charset="-120"/>
              </a:rPr>
              <a:t>Rules (a Model)</a:t>
            </a:r>
            <a:endParaRPr lang="en-US" sz="1300" dirty="0"/>
          </a:p>
        </p:txBody>
      </p:sp>
      <p:sp>
        <p:nvSpPr>
          <p:cNvPr id="23" name="Text 1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TYPES OF MACHINE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Types of Machine Learning</a:t>
            </a:r>
            <a:endParaRPr lang="en-US" sz="3000" dirty="0"/>
          </a:p>
        </p:txBody>
      </p:sp>
      <p:sp>
        <p:nvSpPr>
          <p:cNvPr id="4" name="Shape 2"/>
          <p:cNvSpPr/>
          <p:nvPr/>
        </p:nvSpPr>
        <p:spPr>
          <a:xfrm>
            <a:off x="457200" y="1234440"/>
            <a:ext cx="1874520" cy="320040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5" name="Shape 3"/>
          <p:cNvSpPr/>
          <p:nvPr/>
        </p:nvSpPr>
        <p:spPr>
          <a:xfrm>
            <a:off x="685800" y="1554480"/>
            <a:ext cx="777240" cy="777240"/>
          </a:xfrm>
          <a:prstGeom prst="ellipse">
            <a:avLst/>
          </a:prstGeom>
          <a:solidFill>
            <a:srgbClr val="6D5DF6"/>
          </a:solidFill>
          <a:ln w="12700">
            <a:solidFill>
              <a:srgbClr val="6D5DF6"/>
            </a:solidFill>
            <a:prstDash val="solid"/>
          </a:ln>
        </p:spPr>
      </p:sp>
      <p:pic>
        <p:nvPicPr>
          <p:cNvPr id="6" name="Image 0" descr="preencoded.png">    </p:cNvPr>
          <p:cNvPicPr>
            <a:picLocks noChangeAspect="1"/>
          </p:cNvPicPr>
          <p:nvPr/>
        </p:nvPicPr>
        <p:blipFill>
          <a:blip r:embed="rId1"/>
          <a:stretch>
            <a:fillRect/>
          </a:stretch>
        </p:blipFill>
        <p:spPr>
          <a:xfrm>
            <a:off x="877824" y="1746504"/>
            <a:ext cx="393192" cy="393192"/>
          </a:xfrm>
          <a:prstGeom prst="rect">
            <a:avLst/>
          </a:prstGeom>
        </p:spPr>
      </p:pic>
      <p:sp>
        <p:nvSpPr>
          <p:cNvPr id="7" name="Text 4"/>
          <p:cNvSpPr txBox="1"/>
          <p:nvPr/>
        </p:nvSpPr>
        <p:spPr>
          <a:xfrm>
            <a:off x="685800" y="2560320"/>
            <a:ext cx="1508760" cy="411480"/>
          </a:xfrm>
          <a:prstGeom prst="rect">
            <a:avLst/>
          </a:prstGeom>
          <a:noFill/>
          <a:ln/>
        </p:spPr>
        <p:txBody>
          <a:bodyPr wrap="square" lIns="0" tIns="0" rIns="0" bIns="0" rtlCol="0" anchor="ctr"/>
          <a:lstStyle/>
          <a:p>
            <a:pPr indent="0" marL="0">
              <a:buNone/>
            </a:pPr>
            <a:r>
              <a:rPr lang="en-US" sz="1800" b="1" dirty="0">
                <a:solidFill>
                  <a:srgbClr val="1E1B4B"/>
                </a:solidFill>
                <a:latin typeface="Calibri" pitchFamily="34" charset="0"/>
                <a:ea typeface="Calibri" pitchFamily="34" charset="-122"/>
                <a:cs typeface="Calibri" pitchFamily="34" charset="-120"/>
              </a:rPr>
              <a:t>Supervised</a:t>
            </a:r>
            <a:endParaRPr lang="en-US" sz="1800" dirty="0"/>
          </a:p>
        </p:txBody>
      </p:sp>
      <p:sp>
        <p:nvSpPr>
          <p:cNvPr id="8" name="Text 5"/>
          <p:cNvSpPr txBox="1"/>
          <p:nvPr/>
        </p:nvSpPr>
        <p:spPr>
          <a:xfrm>
            <a:off x="685800" y="3017520"/>
            <a:ext cx="1463040" cy="118872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Learns from labeled data (input + correct answer).</a:t>
            </a:r>
            <a:endParaRPr lang="en-US" sz="1300" dirty="0"/>
          </a:p>
        </p:txBody>
      </p:sp>
      <p:sp>
        <p:nvSpPr>
          <p:cNvPr id="9" name="Shape 6"/>
          <p:cNvSpPr/>
          <p:nvPr/>
        </p:nvSpPr>
        <p:spPr>
          <a:xfrm>
            <a:off x="2560320" y="1234440"/>
            <a:ext cx="1874520" cy="320040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0" name="Shape 7"/>
          <p:cNvSpPr/>
          <p:nvPr/>
        </p:nvSpPr>
        <p:spPr>
          <a:xfrm>
            <a:off x="2788920" y="1554480"/>
            <a:ext cx="777240" cy="777240"/>
          </a:xfrm>
          <a:prstGeom prst="ellipse">
            <a:avLst/>
          </a:prstGeom>
          <a:solidFill>
            <a:srgbClr val="6D5DF6"/>
          </a:solidFill>
          <a:ln w="12700">
            <a:solidFill>
              <a:srgbClr val="6D5DF6"/>
            </a:solidFill>
            <a:prstDash val="solid"/>
          </a:ln>
        </p:spPr>
      </p:sp>
      <p:pic>
        <p:nvPicPr>
          <p:cNvPr id="11" name="Image 1" descr="preencoded.png">    </p:cNvPr>
          <p:cNvPicPr>
            <a:picLocks noChangeAspect="1"/>
          </p:cNvPicPr>
          <p:nvPr/>
        </p:nvPicPr>
        <p:blipFill>
          <a:blip r:embed="rId2"/>
          <a:stretch>
            <a:fillRect/>
          </a:stretch>
        </p:blipFill>
        <p:spPr>
          <a:xfrm>
            <a:off x="2980944" y="1746504"/>
            <a:ext cx="393192" cy="393192"/>
          </a:xfrm>
          <a:prstGeom prst="rect">
            <a:avLst/>
          </a:prstGeom>
        </p:spPr>
      </p:pic>
      <p:sp>
        <p:nvSpPr>
          <p:cNvPr id="12" name="Text 8"/>
          <p:cNvSpPr txBox="1"/>
          <p:nvPr/>
        </p:nvSpPr>
        <p:spPr>
          <a:xfrm>
            <a:off x="2788920" y="2560320"/>
            <a:ext cx="1508760" cy="411480"/>
          </a:xfrm>
          <a:prstGeom prst="rect">
            <a:avLst/>
          </a:prstGeom>
          <a:noFill/>
          <a:ln/>
        </p:spPr>
        <p:txBody>
          <a:bodyPr wrap="square" lIns="0" tIns="0" rIns="0" bIns="0" rtlCol="0" anchor="ctr"/>
          <a:lstStyle/>
          <a:p>
            <a:pPr indent="0" marL="0">
              <a:buNone/>
            </a:pPr>
            <a:r>
              <a:rPr lang="en-US" sz="1800" b="1" dirty="0">
                <a:solidFill>
                  <a:srgbClr val="1E1B4B"/>
                </a:solidFill>
                <a:latin typeface="Calibri" pitchFamily="34" charset="0"/>
                <a:ea typeface="Calibri" pitchFamily="34" charset="-122"/>
                <a:cs typeface="Calibri" pitchFamily="34" charset="-120"/>
              </a:rPr>
              <a:t>Unsupervised</a:t>
            </a:r>
            <a:endParaRPr lang="en-US" sz="1800" dirty="0"/>
          </a:p>
        </p:txBody>
      </p:sp>
      <p:sp>
        <p:nvSpPr>
          <p:cNvPr id="13" name="Text 9"/>
          <p:cNvSpPr txBox="1"/>
          <p:nvPr/>
        </p:nvSpPr>
        <p:spPr>
          <a:xfrm>
            <a:off x="2788920" y="3017520"/>
            <a:ext cx="1463040" cy="118872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Finds hidden patterns and groups in unlabeled data.</a:t>
            </a:r>
            <a:endParaRPr lang="en-US" sz="1300" dirty="0"/>
          </a:p>
        </p:txBody>
      </p:sp>
      <p:sp>
        <p:nvSpPr>
          <p:cNvPr id="14" name="Shape 10"/>
          <p:cNvSpPr/>
          <p:nvPr/>
        </p:nvSpPr>
        <p:spPr>
          <a:xfrm>
            <a:off x="4663440" y="1234440"/>
            <a:ext cx="1874520" cy="3200400"/>
          </a:xfrm>
          <a:prstGeom prst="roundRect">
            <a:avLst>
              <a:gd name="adj" fmla="val 5854"/>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5" name="Shape 11"/>
          <p:cNvSpPr/>
          <p:nvPr/>
        </p:nvSpPr>
        <p:spPr>
          <a:xfrm>
            <a:off x="4892040" y="1554480"/>
            <a:ext cx="777240" cy="777240"/>
          </a:xfrm>
          <a:prstGeom prst="ellipse">
            <a:avLst/>
          </a:prstGeom>
          <a:solidFill>
            <a:srgbClr val="6D5DF6"/>
          </a:solidFill>
          <a:ln w="12700">
            <a:solidFill>
              <a:srgbClr val="6D5DF6"/>
            </a:solidFill>
            <a:prstDash val="solid"/>
          </a:ln>
        </p:spPr>
      </p:sp>
      <p:pic>
        <p:nvPicPr>
          <p:cNvPr id="16" name="Image 2" descr="preencoded.png">    </p:cNvPr>
          <p:cNvPicPr>
            <a:picLocks noChangeAspect="1"/>
          </p:cNvPicPr>
          <p:nvPr/>
        </p:nvPicPr>
        <p:blipFill>
          <a:blip r:embed="rId3"/>
          <a:stretch>
            <a:fillRect/>
          </a:stretch>
        </p:blipFill>
        <p:spPr>
          <a:xfrm>
            <a:off x="5084064" y="1746504"/>
            <a:ext cx="393192" cy="393192"/>
          </a:xfrm>
          <a:prstGeom prst="rect">
            <a:avLst/>
          </a:prstGeom>
        </p:spPr>
      </p:pic>
      <p:sp>
        <p:nvSpPr>
          <p:cNvPr id="17" name="Text 12"/>
          <p:cNvSpPr txBox="1"/>
          <p:nvPr/>
        </p:nvSpPr>
        <p:spPr>
          <a:xfrm>
            <a:off x="4892040" y="2560320"/>
            <a:ext cx="1508760" cy="411480"/>
          </a:xfrm>
          <a:prstGeom prst="rect">
            <a:avLst/>
          </a:prstGeom>
          <a:noFill/>
          <a:ln/>
        </p:spPr>
        <p:txBody>
          <a:bodyPr wrap="square" lIns="0" tIns="0" rIns="0" bIns="0" rtlCol="0" anchor="ctr"/>
          <a:lstStyle/>
          <a:p>
            <a:pPr indent="0" marL="0">
              <a:buNone/>
            </a:pPr>
            <a:r>
              <a:rPr lang="en-US" sz="1800" b="1" dirty="0">
                <a:solidFill>
                  <a:srgbClr val="1E1B4B"/>
                </a:solidFill>
                <a:latin typeface="Calibri" pitchFamily="34" charset="0"/>
                <a:ea typeface="Calibri" pitchFamily="34" charset="-122"/>
                <a:cs typeface="Calibri" pitchFamily="34" charset="-120"/>
              </a:rPr>
              <a:t>Reinforcement</a:t>
            </a:r>
            <a:endParaRPr lang="en-US" sz="1800" dirty="0"/>
          </a:p>
        </p:txBody>
      </p:sp>
      <p:sp>
        <p:nvSpPr>
          <p:cNvPr id="18" name="Text 13"/>
          <p:cNvSpPr txBox="1"/>
          <p:nvPr/>
        </p:nvSpPr>
        <p:spPr>
          <a:xfrm>
            <a:off x="4892040" y="3017520"/>
            <a:ext cx="1463040" cy="118872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Learns by trial and error using rewards and penalties.</a:t>
            </a:r>
            <a:endParaRPr lang="en-US" sz="1300" dirty="0"/>
          </a:p>
        </p:txBody>
      </p:sp>
      <p:sp>
        <p:nvSpPr>
          <p:cNvPr id="19" name="Shape 14"/>
          <p:cNvSpPr/>
          <p:nvPr/>
        </p:nvSpPr>
        <p:spPr>
          <a:xfrm>
            <a:off x="6766560" y="1234440"/>
            <a:ext cx="1874520" cy="3200400"/>
          </a:xfrm>
          <a:prstGeom prst="roundRect">
            <a:avLst>
              <a:gd name="adj" fmla="val 5854"/>
            </a:avLst>
          </a:prstGeom>
          <a:solidFill>
            <a:srgbClr val="1E1B4B"/>
          </a:solidFill>
          <a:ln w="12700">
            <a:solidFill>
              <a:srgbClr val="1E1B4B"/>
            </a:solidFill>
            <a:prstDash val="solid"/>
          </a:ln>
          <a:effectLst>
            <a:outerShdw sx="100000" sy="100000" kx="0" ky="0" algn="bl" rotWithShape="0" blurRad="101600" dist="25400" dir="5400000">
              <a:srgbClr val="1E1B4B">
                <a:alpha val="12000"/>
              </a:srgbClr>
            </a:outerShdw>
          </a:effectLst>
        </p:spPr>
      </p:sp>
      <p:sp>
        <p:nvSpPr>
          <p:cNvPr id="20" name="Shape 15"/>
          <p:cNvSpPr/>
          <p:nvPr/>
        </p:nvSpPr>
        <p:spPr>
          <a:xfrm>
            <a:off x="6995160" y="1554480"/>
            <a:ext cx="777240" cy="777240"/>
          </a:xfrm>
          <a:prstGeom prst="ellipse">
            <a:avLst/>
          </a:prstGeom>
          <a:solidFill>
            <a:srgbClr val="6D5DF6"/>
          </a:solidFill>
          <a:ln w="12700">
            <a:solidFill>
              <a:srgbClr val="6D5DF6"/>
            </a:solidFill>
            <a:prstDash val="solid"/>
          </a:ln>
        </p:spPr>
      </p:sp>
      <p:pic>
        <p:nvPicPr>
          <p:cNvPr id="21" name="Image 3" descr="preencoded.png">    </p:cNvPr>
          <p:cNvPicPr>
            <a:picLocks noChangeAspect="1"/>
          </p:cNvPicPr>
          <p:nvPr/>
        </p:nvPicPr>
        <p:blipFill>
          <a:blip r:embed="rId4"/>
          <a:stretch>
            <a:fillRect/>
          </a:stretch>
        </p:blipFill>
        <p:spPr>
          <a:xfrm>
            <a:off x="7187184" y="1746504"/>
            <a:ext cx="393192" cy="393192"/>
          </a:xfrm>
          <a:prstGeom prst="rect">
            <a:avLst/>
          </a:prstGeom>
        </p:spPr>
      </p:pic>
      <p:sp>
        <p:nvSpPr>
          <p:cNvPr id="22" name="Text 16"/>
          <p:cNvSpPr txBox="1"/>
          <p:nvPr/>
        </p:nvSpPr>
        <p:spPr>
          <a:xfrm>
            <a:off x="6995160" y="2560320"/>
            <a:ext cx="15087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Deep Learning</a:t>
            </a:r>
            <a:endParaRPr lang="en-US" sz="1800" dirty="0"/>
          </a:p>
        </p:txBody>
      </p:sp>
      <p:sp>
        <p:nvSpPr>
          <p:cNvPr id="23" name="Text 17"/>
          <p:cNvSpPr txBox="1"/>
          <p:nvPr/>
        </p:nvSpPr>
        <p:spPr>
          <a:xfrm>
            <a:off x="6995160" y="3017520"/>
            <a:ext cx="1463040" cy="1188720"/>
          </a:xfrm>
          <a:prstGeom prst="rect">
            <a:avLst/>
          </a:prstGeom>
          <a:noFill/>
          <a:ln/>
        </p:spPr>
        <p:txBody>
          <a:bodyPr wrap="square" lIns="0" tIns="0" rIns="0" bIns="0" rtlCol="0" anchor="t"/>
          <a:lstStyle/>
          <a:p>
            <a:pPr indent="0" marL="0">
              <a:buNone/>
            </a:pPr>
            <a:r>
              <a:rPr lang="en-US" sz="1300" dirty="0">
                <a:solidFill>
                  <a:srgbClr val="D9D6FF"/>
                </a:solidFill>
                <a:latin typeface="Calibri" pitchFamily="34" charset="0"/>
                <a:ea typeface="Calibri" pitchFamily="34" charset="-122"/>
                <a:cs typeface="Calibri" pitchFamily="34" charset="-120"/>
              </a:rPr>
              <a:t>Uses multi-layer neural networks inspired by the brain.</a:t>
            </a:r>
            <a:endParaRPr lang="en-US" sz="13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SUPERVISED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Supervised Learning</a:t>
            </a:r>
            <a:endParaRPr lang="en-US" sz="3000" dirty="0"/>
          </a:p>
        </p:txBody>
      </p:sp>
      <p:sp>
        <p:nvSpPr>
          <p:cNvPr id="4" name="Text 2"/>
          <p:cNvSpPr txBox="1"/>
          <p:nvPr/>
        </p:nvSpPr>
        <p:spPr>
          <a:xfrm>
            <a:off x="457200" y="1005840"/>
            <a:ext cx="8229600" cy="548640"/>
          </a:xfrm>
          <a:prstGeom prst="rect">
            <a:avLst/>
          </a:prstGeom>
          <a:noFill/>
          <a:ln/>
        </p:spPr>
        <p:txBody>
          <a:bodyPr wrap="square" lIns="0" tIns="0" rIns="0" bIns="0" rtlCol="0" anchor="ctr"/>
          <a:lstStyle/>
          <a:p>
            <a:pPr indent="0" marL="0">
              <a:buNone/>
            </a:pPr>
            <a:r>
              <a:rPr lang="en-US" sz="1500" dirty="0">
                <a:solidFill>
                  <a:srgbClr val="2B2A3D"/>
                </a:solidFill>
                <a:latin typeface="Calibri" pitchFamily="34" charset="0"/>
                <a:ea typeface="Calibri" pitchFamily="34" charset="-122"/>
                <a:cs typeface="Calibri" pitchFamily="34" charset="-120"/>
              </a:rPr>
              <a:t>The computer learns to predict human-given labels — e.g. telling dogs from cats — by training on a labeled dataset.</a:t>
            </a:r>
            <a:endParaRPr lang="en-US" sz="1500" dirty="0"/>
          </a:p>
        </p:txBody>
      </p:sp>
      <p:sp>
        <p:nvSpPr>
          <p:cNvPr id="5" name="Shape 3"/>
          <p:cNvSpPr/>
          <p:nvPr/>
        </p:nvSpPr>
        <p:spPr>
          <a:xfrm>
            <a:off x="457200" y="1737360"/>
            <a:ext cx="301752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6" name="Text 4"/>
          <p:cNvSpPr txBox="1"/>
          <p:nvPr/>
        </p:nvSpPr>
        <p:spPr>
          <a:xfrm>
            <a:off x="685800" y="1874520"/>
            <a:ext cx="2651760" cy="365760"/>
          </a:xfrm>
          <a:prstGeom prst="rect">
            <a:avLst/>
          </a:prstGeom>
          <a:noFill/>
          <a:ln/>
        </p:spPr>
        <p:txBody>
          <a:bodyPr wrap="square" lIns="0" tIns="0" rIns="0" bIns="0" rtlCol="0" anchor="ctr"/>
          <a:lstStyle/>
          <a:p>
            <a:pPr indent="0" marL="0">
              <a:buNone/>
            </a:pPr>
            <a:r>
              <a:rPr lang="en-US" sz="1500" b="1" dirty="0">
                <a:solidFill>
                  <a:srgbClr val="6D5DF6"/>
                </a:solidFill>
                <a:latin typeface="Calibri" pitchFamily="34" charset="0"/>
                <a:ea typeface="Calibri" pitchFamily="34" charset="-122"/>
                <a:cs typeface="Calibri" pitchFamily="34" charset="-120"/>
              </a:rPr>
              <a:t>Popular algorithms</a:t>
            </a:r>
            <a:endParaRPr lang="en-US" sz="1500" dirty="0"/>
          </a:p>
        </p:txBody>
      </p:sp>
      <p:sp>
        <p:nvSpPr>
          <p:cNvPr id="7" name="Text 5"/>
          <p:cNvSpPr txBox="1"/>
          <p:nvPr/>
        </p:nvSpPr>
        <p:spPr>
          <a:xfrm>
            <a:off x="685800" y="2286000"/>
            <a:ext cx="2651760" cy="2057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Linear Regression</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Logistic Regression</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Decision Trees</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Random Forest</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Support Vector Machines</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K-Nearest Neighbors</a:t>
            </a:r>
            <a:endParaRPr lang="en-US" sz="1300" dirty="0"/>
          </a:p>
        </p:txBody>
      </p:sp>
      <p:sp>
        <p:nvSpPr>
          <p:cNvPr id="8" name="Shape 6"/>
          <p:cNvSpPr/>
          <p:nvPr/>
        </p:nvSpPr>
        <p:spPr>
          <a:xfrm>
            <a:off x="3749040" y="1737360"/>
            <a:ext cx="493776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9" name="Image 0" descr="/tmp/claude-0/-home-user-RahmaOshba/922a3a1f-80e6-5814-b3d2-eea9a91432ca/scratchpad/img/p12_1.png">    </p:cNvPr>
          <p:cNvPicPr>
            <a:picLocks noChangeAspect="1"/>
          </p:cNvPicPr>
          <p:nvPr/>
        </p:nvPicPr>
        <p:blipFill>
          <a:blip r:embed="rId1"/>
          <a:srcRect l="0" r="0" t="0" b="0"/>
          <a:stretch/>
        </p:blipFill>
        <p:spPr>
          <a:xfrm>
            <a:off x="3931920" y="1874520"/>
            <a:ext cx="4572000" cy="2468880"/>
          </a:xfrm>
          <a:prstGeom prst="rect">
            <a:avLst/>
          </a:prstGeom>
        </p:spPr>
      </p:pic>
      <p:sp>
        <p:nvSpPr>
          <p:cNvPr id="10" name="Text 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SUPERVISED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Applications of Supervised Learning</a:t>
            </a:r>
            <a:endParaRPr lang="en-US" sz="3000" dirty="0"/>
          </a:p>
        </p:txBody>
      </p:sp>
      <p:sp>
        <p:nvSpPr>
          <p:cNvPr id="4" name="Shape 2"/>
          <p:cNvSpPr/>
          <p:nvPr/>
        </p:nvSpPr>
        <p:spPr>
          <a:xfrm>
            <a:off x="457200" y="1463040"/>
            <a:ext cx="1499616" cy="2377440"/>
          </a:xfrm>
          <a:prstGeom prst="roundRect">
            <a:avLst>
              <a:gd name="adj" fmla="val 7317"/>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5" name="Shape 3"/>
          <p:cNvSpPr/>
          <p:nvPr/>
        </p:nvSpPr>
        <p:spPr>
          <a:xfrm>
            <a:off x="772668" y="1783080"/>
            <a:ext cx="868680" cy="868680"/>
          </a:xfrm>
          <a:prstGeom prst="ellipse">
            <a:avLst/>
          </a:prstGeom>
          <a:solidFill>
            <a:srgbClr val="EEEDFF"/>
          </a:solidFill>
          <a:ln w="12700">
            <a:solidFill>
              <a:srgbClr val="EEEDFF"/>
            </a:solidFill>
            <a:prstDash val="solid"/>
          </a:ln>
        </p:spPr>
      </p:sp>
      <p:pic>
        <p:nvPicPr>
          <p:cNvPr id="6" name="Image 0" descr="preencoded.png">    </p:cNvPr>
          <p:cNvPicPr>
            <a:picLocks noChangeAspect="1"/>
          </p:cNvPicPr>
          <p:nvPr/>
        </p:nvPicPr>
        <p:blipFill>
          <a:blip r:embed="rId1"/>
          <a:stretch>
            <a:fillRect/>
          </a:stretch>
        </p:blipFill>
        <p:spPr>
          <a:xfrm>
            <a:off x="998525" y="2008937"/>
            <a:ext cx="416966" cy="416966"/>
          </a:xfrm>
          <a:prstGeom prst="rect">
            <a:avLst/>
          </a:prstGeom>
        </p:spPr>
      </p:pic>
      <p:sp>
        <p:nvSpPr>
          <p:cNvPr id="7" name="Text 4"/>
          <p:cNvSpPr txBox="1"/>
          <p:nvPr/>
        </p:nvSpPr>
        <p:spPr>
          <a:xfrm>
            <a:off x="566928" y="2788920"/>
            <a:ext cx="1280160" cy="914400"/>
          </a:xfrm>
          <a:prstGeom prst="rect">
            <a:avLst/>
          </a:prstGeom>
          <a:noFill/>
          <a:ln/>
        </p:spPr>
        <p:txBody>
          <a:bodyPr wrap="square" lIns="0" tIns="0" rIns="0" bIns="0" rtlCol="0" anchor="t"/>
          <a:lstStyle/>
          <a:p>
            <a:pPr algn="ctr" indent="0" marL="0">
              <a:buNone/>
            </a:pPr>
            <a:r>
              <a:rPr lang="en-US" sz="1300" b="1" dirty="0">
                <a:solidFill>
                  <a:srgbClr val="1E1B4B"/>
                </a:solidFill>
                <a:latin typeface="Calibri" pitchFamily="34" charset="0"/>
                <a:ea typeface="Calibri" pitchFamily="34" charset="-122"/>
                <a:cs typeface="Calibri" pitchFamily="34" charset="-120"/>
              </a:rPr>
              <a:t>Face Detection</a:t>
            </a:r>
            <a:endParaRPr lang="en-US" sz="1300" dirty="0"/>
          </a:p>
        </p:txBody>
      </p:sp>
      <p:sp>
        <p:nvSpPr>
          <p:cNvPr id="8" name="Shape 5"/>
          <p:cNvSpPr/>
          <p:nvPr/>
        </p:nvSpPr>
        <p:spPr>
          <a:xfrm>
            <a:off x="2139696" y="1463040"/>
            <a:ext cx="1499616" cy="2377440"/>
          </a:xfrm>
          <a:prstGeom prst="roundRect">
            <a:avLst>
              <a:gd name="adj" fmla="val 7317"/>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9" name="Shape 6"/>
          <p:cNvSpPr/>
          <p:nvPr/>
        </p:nvSpPr>
        <p:spPr>
          <a:xfrm>
            <a:off x="2455164" y="1783080"/>
            <a:ext cx="868680" cy="868680"/>
          </a:xfrm>
          <a:prstGeom prst="ellipse">
            <a:avLst/>
          </a:prstGeom>
          <a:solidFill>
            <a:srgbClr val="EEEDFF"/>
          </a:solidFill>
          <a:ln w="12700">
            <a:solidFill>
              <a:srgbClr val="EEEDFF"/>
            </a:solidFill>
            <a:prstDash val="solid"/>
          </a:ln>
        </p:spPr>
      </p:sp>
      <p:pic>
        <p:nvPicPr>
          <p:cNvPr id="10" name="Image 1" descr="preencoded.png">    </p:cNvPr>
          <p:cNvPicPr>
            <a:picLocks noChangeAspect="1"/>
          </p:cNvPicPr>
          <p:nvPr/>
        </p:nvPicPr>
        <p:blipFill>
          <a:blip r:embed="rId2"/>
          <a:stretch>
            <a:fillRect/>
          </a:stretch>
        </p:blipFill>
        <p:spPr>
          <a:xfrm>
            <a:off x="2681021" y="2008937"/>
            <a:ext cx="416966" cy="416966"/>
          </a:xfrm>
          <a:prstGeom prst="rect">
            <a:avLst/>
          </a:prstGeom>
        </p:spPr>
      </p:pic>
      <p:sp>
        <p:nvSpPr>
          <p:cNvPr id="11" name="Text 7"/>
          <p:cNvSpPr txBox="1"/>
          <p:nvPr/>
        </p:nvSpPr>
        <p:spPr>
          <a:xfrm>
            <a:off x="2249424" y="2788920"/>
            <a:ext cx="1280160" cy="914400"/>
          </a:xfrm>
          <a:prstGeom prst="rect">
            <a:avLst/>
          </a:prstGeom>
          <a:noFill/>
          <a:ln/>
        </p:spPr>
        <p:txBody>
          <a:bodyPr wrap="square" lIns="0" tIns="0" rIns="0" bIns="0" rtlCol="0" anchor="t"/>
          <a:lstStyle/>
          <a:p>
            <a:pPr algn="ctr" indent="0" marL="0">
              <a:buNone/>
            </a:pPr>
            <a:r>
              <a:rPr lang="en-US" sz="1300" b="1" dirty="0">
                <a:solidFill>
                  <a:srgbClr val="1E1B4B"/>
                </a:solidFill>
                <a:latin typeface="Calibri" pitchFamily="34" charset="0"/>
                <a:ea typeface="Calibri" pitchFamily="34" charset="-122"/>
                <a:cs typeface="Calibri" pitchFamily="34" charset="-120"/>
              </a:rPr>
              <a:t>Signature Recognition</a:t>
            </a:r>
            <a:endParaRPr lang="en-US" sz="1300" dirty="0"/>
          </a:p>
        </p:txBody>
      </p:sp>
      <p:sp>
        <p:nvSpPr>
          <p:cNvPr id="12" name="Shape 8"/>
          <p:cNvSpPr/>
          <p:nvPr/>
        </p:nvSpPr>
        <p:spPr>
          <a:xfrm>
            <a:off x="3822192" y="1463040"/>
            <a:ext cx="1499616" cy="2377440"/>
          </a:xfrm>
          <a:prstGeom prst="roundRect">
            <a:avLst>
              <a:gd name="adj" fmla="val 7317"/>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3" name="Shape 9"/>
          <p:cNvSpPr/>
          <p:nvPr/>
        </p:nvSpPr>
        <p:spPr>
          <a:xfrm>
            <a:off x="4137660" y="1783080"/>
            <a:ext cx="868680" cy="868680"/>
          </a:xfrm>
          <a:prstGeom prst="ellipse">
            <a:avLst/>
          </a:prstGeom>
          <a:solidFill>
            <a:srgbClr val="EEEDFF"/>
          </a:solidFill>
          <a:ln w="12700">
            <a:solidFill>
              <a:srgbClr val="EEEDFF"/>
            </a:solidFill>
            <a:prstDash val="solid"/>
          </a:ln>
        </p:spPr>
      </p:sp>
      <p:pic>
        <p:nvPicPr>
          <p:cNvPr id="14" name="Image 2" descr="preencoded.png">    </p:cNvPr>
          <p:cNvPicPr>
            <a:picLocks noChangeAspect="1"/>
          </p:cNvPicPr>
          <p:nvPr/>
        </p:nvPicPr>
        <p:blipFill>
          <a:blip r:embed="rId3"/>
          <a:stretch>
            <a:fillRect/>
          </a:stretch>
        </p:blipFill>
        <p:spPr>
          <a:xfrm>
            <a:off x="4363517" y="2008937"/>
            <a:ext cx="416966" cy="416966"/>
          </a:xfrm>
          <a:prstGeom prst="rect">
            <a:avLst/>
          </a:prstGeom>
        </p:spPr>
      </p:pic>
      <p:sp>
        <p:nvSpPr>
          <p:cNvPr id="15" name="Text 10"/>
          <p:cNvSpPr txBox="1"/>
          <p:nvPr/>
        </p:nvSpPr>
        <p:spPr>
          <a:xfrm>
            <a:off x="3931920" y="2788920"/>
            <a:ext cx="1280160" cy="914400"/>
          </a:xfrm>
          <a:prstGeom prst="rect">
            <a:avLst/>
          </a:prstGeom>
          <a:noFill/>
          <a:ln/>
        </p:spPr>
        <p:txBody>
          <a:bodyPr wrap="square" lIns="0" tIns="0" rIns="0" bIns="0" rtlCol="0" anchor="t"/>
          <a:lstStyle/>
          <a:p>
            <a:pPr algn="ctr" indent="0" marL="0">
              <a:buNone/>
            </a:pPr>
            <a:r>
              <a:rPr lang="en-US" sz="1300" b="1" dirty="0">
                <a:solidFill>
                  <a:srgbClr val="1E1B4B"/>
                </a:solidFill>
                <a:latin typeface="Calibri" pitchFamily="34" charset="0"/>
                <a:ea typeface="Calibri" pitchFamily="34" charset="-122"/>
                <a:cs typeface="Calibri" pitchFamily="34" charset="-120"/>
              </a:rPr>
              <a:t>Spam Detection</a:t>
            </a:r>
            <a:endParaRPr lang="en-US" sz="1300" dirty="0"/>
          </a:p>
        </p:txBody>
      </p:sp>
      <p:sp>
        <p:nvSpPr>
          <p:cNvPr id="16" name="Shape 11"/>
          <p:cNvSpPr/>
          <p:nvPr/>
        </p:nvSpPr>
        <p:spPr>
          <a:xfrm>
            <a:off x="5504688" y="1463040"/>
            <a:ext cx="1499616" cy="2377440"/>
          </a:xfrm>
          <a:prstGeom prst="roundRect">
            <a:avLst>
              <a:gd name="adj" fmla="val 7317"/>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7" name="Shape 12"/>
          <p:cNvSpPr/>
          <p:nvPr/>
        </p:nvSpPr>
        <p:spPr>
          <a:xfrm>
            <a:off x="5820156" y="1783080"/>
            <a:ext cx="868680" cy="868680"/>
          </a:xfrm>
          <a:prstGeom prst="ellipse">
            <a:avLst/>
          </a:prstGeom>
          <a:solidFill>
            <a:srgbClr val="EEEDFF"/>
          </a:solidFill>
          <a:ln w="12700">
            <a:solidFill>
              <a:srgbClr val="EEEDFF"/>
            </a:solidFill>
            <a:prstDash val="solid"/>
          </a:ln>
        </p:spPr>
      </p:sp>
      <p:pic>
        <p:nvPicPr>
          <p:cNvPr id="18" name="Image 3" descr="preencoded.png">    </p:cNvPr>
          <p:cNvPicPr>
            <a:picLocks noChangeAspect="1"/>
          </p:cNvPicPr>
          <p:nvPr/>
        </p:nvPicPr>
        <p:blipFill>
          <a:blip r:embed="rId4"/>
          <a:stretch>
            <a:fillRect/>
          </a:stretch>
        </p:blipFill>
        <p:spPr>
          <a:xfrm>
            <a:off x="6046013" y="2008937"/>
            <a:ext cx="416966" cy="416966"/>
          </a:xfrm>
          <a:prstGeom prst="rect">
            <a:avLst/>
          </a:prstGeom>
        </p:spPr>
      </p:pic>
      <p:sp>
        <p:nvSpPr>
          <p:cNvPr id="19" name="Text 13"/>
          <p:cNvSpPr txBox="1"/>
          <p:nvPr/>
        </p:nvSpPr>
        <p:spPr>
          <a:xfrm>
            <a:off x="5614416" y="2788920"/>
            <a:ext cx="1280160" cy="914400"/>
          </a:xfrm>
          <a:prstGeom prst="rect">
            <a:avLst/>
          </a:prstGeom>
          <a:noFill/>
          <a:ln/>
        </p:spPr>
        <p:txBody>
          <a:bodyPr wrap="square" lIns="0" tIns="0" rIns="0" bIns="0" rtlCol="0" anchor="t"/>
          <a:lstStyle/>
          <a:p>
            <a:pPr algn="ctr" indent="0" marL="0">
              <a:buNone/>
            </a:pPr>
            <a:r>
              <a:rPr lang="en-US" sz="1300" b="1" dirty="0">
                <a:solidFill>
                  <a:srgbClr val="1E1B4B"/>
                </a:solidFill>
                <a:latin typeface="Calibri" pitchFamily="34" charset="0"/>
                <a:ea typeface="Calibri" pitchFamily="34" charset="-122"/>
                <a:cs typeface="Calibri" pitchFamily="34" charset="-120"/>
              </a:rPr>
              <a:t>Weather Forecasting</a:t>
            </a:r>
            <a:endParaRPr lang="en-US" sz="1300" dirty="0"/>
          </a:p>
        </p:txBody>
      </p:sp>
      <p:sp>
        <p:nvSpPr>
          <p:cNvPr id="20" name="Shape 14"/>
          <p:cNvSpPr/>
          <p:nvPr/>
        </p:nvSpPr>
        <p:spPr>
          <a:xfrm>
            <a:off x="7187184" y="1463040"/>
            <a:ext cx="1499616" cy="2377440"/>
          </a:xfrm>
          <a:prstGeom prst="roundRect">
            <a:avLst>
              <a:gd name="adj" fmla="val 7317"/>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1" name="Shape 15"/>
          <p:cNvSpPr/>
          <p:nvPr/>
        </p:nvSpPr>
        <p:spPr>
          <a:xfrm>
            <a:off x="7502652" y="1783080"/>
            <a:ext cx="868680" cy="868680"/>
          </a:xfrm>
          <a:prstGeom prst="ellipse">
            <a:avLst/>
          </a:prstGeom>
          <a:solidFill>
            <a:srgbClr val="EEEDFF"/>
          </a:solidFill>
          <a:ln w="12700">
            <a:solidFill>
              <a:srgbClr val="EEEDFF"/>
            </a:solidFill>
            <a:prstDash val="solid"/>
          </a:ln>
        </p:spPr>
      </p:sp>
      <p:pic>
        <p:nvPicPr>
          <p:cNvPr id="22" name="Image 4" descr="preencoded.png">    </p:cNvPr>
          <p:cNvPicPr>
            <a:picLocks noChangeAspect="1"/>
          </p:cNvPicPr>
          <p:nvPr/>
        </p:nvPicPr>
        <p:blipFill>
          <a:blip r:embed="rId5"/>
          <a:stretch>
            <a:fillRect/>
          </a:stretch>
        </p:blipFill>
        <p:spPr>
          <a:xfrm>
            <a:off x="7728509" y="2008937"/>
            <a:ext cx="416966" cy="416966"/>
          </a:xfrm>
          <a:prstGeom prst="rect">
            <a:avLst/>
          </a:prstGeom>
        </p:spPr>
      </p:pic>
      <p:sp>
        <p:nvSpPr>
          <p:cNvPr id="23" name="Text 16"/>
          <p:cNvSpPr txBox="1"/>
          <p:nvPr/>
        </p:nvSpPr>
        <p:spPr>
          <a:xfrm>
            <a:off x="7296912" y="2788920"/>
            <a:ext cx="1280160" cy="914400"/>
          </a:xfrm>
          <a:prstGeom prst="rect">
            <a:avLst/>
          </a:prstGeom>
          <a:noFill/>
          <a:ln/>
        </p:spPr>
        <p:txBody>
          <a:bodyPr wrap="square" lIns="0" tIns="0" rIns="0" bIns="0" rtlCol="0" anchor="t"/>
          <a:lstStyle/>
          <a:p>
            <a:pPr algn="ctr" indent="0" marL="0">
              <a:buNone/>
            </a:pPr>
            <a:r>
              <a:rPr lang="en-US" sz="1300" b="1" dirty="0">
                <a:solidFill>
                  <a:srgbClr val="1E1B4B"/>
                </a:solidFill>
                <a:latin typeface="Calibri" pitchFamily="34" charset="0"/>
                <a:ea typeface="Calibri" pitchFamily="34" charset="-122"/>
                <a:cs typeface="Calibri" pitchFamily="34" charset="-120"/>
              </a:rPr>
              <a:t>Predicting House Prices from market prices</a:t>
            </a:r>
            <a:endParaRPr lang="en-US" sz="1300" dirty="0"/>
          </a:p>
        </p:txBody>
      </p:sp>
      <p:sp>
        <p:nvSpPr>
          <p:cNvPr id="24" name="Text 17"/>
          <p:cNvSpPr txBox="1"/>
          <p:nvPr/>
        </p:nvSpPr>
        <p:spPr>
          <a:xfrm>
            <a:off x="457200" y="4114800"/>
            <a:ext cx="8229600" cy="365760"/>
          </a:xfrm>
          <a:prstGeom prst="rect">
            <a:avLst/>
          </a:prstGeom>
          <a:noFill/>
          <a:ln/>
        </p:spPr>
        <p:txBody>
          <a:bodyPr wrap="square" lIns="0" tIns="0" rIns="0" bIns="0" rtlCol="0" anchor="ctr"/>
          <a:lstStyle/>
          <a:p>
            <a:pPr indent="0" marL="0">
              <a:buNone/>
            </a:pPr>
            <a:r>
              <a:rPr lang="en-US" sz="1300" i="1" dirty="0">
                <a:solidFill>
                  <a:srgbClr val="6B6A80"/>
                </a:solidFill>
                <a:latin typeface="Calibri" pitchFamily="34" charset="0"/>
                <a:ea typeface="Calibri" pitchFamily="34" charset="-122"/>
                <a:cs typeface="Calibri" pitchFamily="34" charset="-120"/>
              </a:rPr>
              <a:t>Common thread: each task has historical examples with known answers to learn from.</a:t>
            </a:r>
            <a:endParaRPr lang="en-US" sz="1300" dirty="0"/>
          </a:p>
        </p:txBody>
      </p:sp>
      <p:sp>
        <p:nvSpPr>
          <p:cNvPr id="25"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UNSUPERVISED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Unsupervised Learning</a:t>
            </a:r>
            <a:endParaRPr lang="en-US" sz="3000" dirty="0"/>
          </a:p>
        </p:txBody>
      </p:sp>
      <p:sp>
        <p:nvSpPr>
          <p:cNvPr id="4" name="Shape 2"/>
          <p:cNvSpPr/>
          <p:nvPr/>
        </p:nvSpPr>
        <p:spPr>
          <a:xfrm>
            <a:off x="457200" y="1097280"/>
            <a:ext cx="3931920" cy="338328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5" name="Text 3"/>
          <p:cNvSpPr txBox="1"/>
          <p:nvPr/>
        </p:nvSpPr>
        <p:spPr>
          <a:xfrm>
            <a:off x="685800" y="1280160"/>
            <a:ext cx="3474720" cy="1097280"/>
          </a:xfrm>
          <a:prstGeom prst="rect">
            <a:avLst/>
          </a:prstGeom>
          <a:noFill/>
          <a:ln/>
        </p:spPr>
        <p:txBody>
          <a:bodyPr wrap="square" lIns="0" tIns="0" rIns="0" bIns="0" rtlCol="0" anchor="t"/>
          <a:lstStyle/>
          <a:p>
            <a:pPr indent="0" marL="0">
              <a:buNone/>
            </a:pPr>
            <a:r>
              <a:rPr lang="en-US" sz="1400" b="1" dirty="0">
                <a:solidFill>
                  <a:srgbClr val="6D5DF6"/>
                </a:solidFill>
                <a:latin typeface="Calibri" pitchFamily="34" charset="0"/>
                <a:ea typeface="Calibri" pitchFamily="34" charset="-122"/>
                <a:cs typeface="Calibri" pitchFamily="34" charset="-120"/>
              </a:rPr>
              <a:t>No labels needed.</a:t>
            </a:r>
            <a:endParaRPr lang="en-US" sz="1400" dirty="0"/>
          </a:p>
          <a:p>
            <a:pPr indent="0" marL="0">
              <a:buNone/>
            </a:pPr>
            <a:r>
              <a:rPr lang="en-US" sz="1400" dirty="0">
                <a:solidFill>
                  <a:srgbClr val="2B2A3D"/>
                </a:solidFill>
                <a:latin typeface="Calibri" pitchFamily="34" charset="0"/>
                <a:ea typeface="Calibri" pitchFamily="34" charset="-122"/>
                <a:cs typeface="Calibri" pitchFamily="34" charset="-120"/>
              </a:rPr>
              <a:t>The model explores the data on its own and discovers structure — groups, patterns and relationships.</a:t>
            </a:r>
            <a:endParaRPr lang="en-US" sz="1400" dirty="0"/>
          </a:p>
        </p:txBody>
      </p:sp>
      <p:sp>
        <p:nvSpPr>
          <p:cNvPr id="6" name="Text 4"/>
          <p:cNvSpPr txBox="1"/>
          <p:nvPr/>
        </p:nvSpPr>
        <p:spPr>
          <a:xfrm>
            <a:off x="685800" y="2514600"/>
            <a:ext cx="3474720" cy="365760"/>
          </a:xfrm>
          <a:prstGeom prst="rect">
            <a:avLst/>
          </a:prstGeom>
          <a:noFill/>
          <a:ln/>
        </p:spPr>
        <p:txBody>
          <a:bodyPr wrap="square" lIns="0" tIns="0" rIns="0" bIns="0" rtlCol="0" anchor="ctr"/>
          <a:lstStyle/>
          <a:p>
            <a:pPr indent="0" marL="0">
              <a:buNone/>
            </a:pPr>
            <a:r>
              <a:rPr lang="en-US" sz="1500" b="1" dirty="0">
                <a:solidFill>
                  <a:srgbClr val="6D5DF6"/>
                </a:solidFill>
                <a:latin typeface="Calibri" pitchFamily="34" charset="0"/>
                <a:ea typeface="Calibri" pitchFamily="34" charset="-122"/>
                <a:cs typeface="Calibri" pitchFamily="34" charset="-120"/>
              </a:rPr>
              <a:t>Popular algorithms</a:t>
            </a:r>
            <a:endParaRPr lang="en-US" sz="1500" dirty="0"/>
          </a:p>
        </p:txBody>
      </p:sp>
      <p:sp>
        <p:nvSpPr>
          <p:cNvPr id="7" name="Text 5"/>
          <p:cNvSpPr txBox="1"/>
          <p:nvPr/>
        </p:nvSpPr>
        <p:spPr>
          <a:xfrm>
            <a:off x="685800" y="2926080"/>
            <a:ext cx="3474720" cy="1280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K-Means Clustering</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PCA (Principal Component Analysis)</a:t>
            </a:r>
            <a:endParaRPr lang="en-US" sz="1300" dirty="0"/>
          </a:p>
          <a:p>
            <a:pPr marL="342900" indent="-342900">
              <a:spcAft>
                <a:spcPts val="400"/>
              </a:spcAft>
              <a:buSzPct val="100000"/>
              <a:buChar char="•"/>
            </a:pPr>
            <a:r>
              <a:rPr lang="en-US" sz="1300" dirty="0">
                <a:solidFill>
                  <a:srgbClr val="2B2A3D"/>
                </a:solidFill>
                <a:latin typeface="Calibri" pitchFamily="34" charset="0"/>
                <a:ea typeface="Calibri" pitchFamily="34" charset="-122"/>
                <a:cs typeface="Calibri" pitchFamily="34" charset="-120"/>
              </a:rPr>
              <a:t>Association Rules</a:t>
            </a:r>
            <a:endParaRPr lang="en-US" sz="1300" dirty="0"/>
          </a:p>
        </p:txBody>
      </p:sp>
      <p:sp>
        <p:nvSpPr>
          <p:cNvPr id="8" name="Shape 6"/>
          <p:cNvSpPr/>
          <p:nvPr/>
        </p:nvSpPr>
        <p:spPr>
          <a:xfrm>
            <a:off x="4663440" y="1097280"/>
            <a:ext cx="4023360" cy="338328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9" name="Image 0" descr="/tmp/claude-0/-home-user-RahmaOshba/922a3a1f-80e6-5814-b3d2-eea9a91432ca/scratchpad/img/p14_1.png">    </p:cNvPr>
          <p:cNvPicPr>
            <a:picLocks noChangeAspect="1"/>
          </p:cNvPicPr>
          <p:nvPr/>
        </p:nvPicPr>
        <p:blipFill>
          <a:blip r:embed="rId1"/>
          <a:srcRect l="0" r="0" t="0" b="0"/>
          <a:stretch/>
        </p:blipFill>
        <p:spPr>
          <a:xfrm>
            <a:off x="4846320" y="1188720"/>
            <a:ext cx="3657600" cy="3200400"/>
          </a:xfrm>
          <a:prstGeom prst="rect">
            <a:avLst/>
          </a:prstGeom>
        </p:spPr>
      </p:pic>
      <p:sp>
        <p:nvSpPr>
          <p:cNvPr id="10" name="Text 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UNSUPERVISED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Applications of Unsupervised Learning</a:t>
            </a:r>
            <a:endParaRPr lang="en-US" sz="3000" dirty="0"/>
          </a:p>
        </p:txBody>
      </p:sp>
      <p:sp>
        <p:nvSpPr>
          <p:cNvPr id="4" name="Shape 2"/>
          <p:cNvSpPr/>
          <p:nvPr/>
        </p:nvSpPr>
        <p:spPr>
          <a:xfrm>
            <a:off x="457200" y="1188720"/>
            <a:ext cx="397764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5" name="Shape 3"/>
          <p:cNvSpPr/>
          <p:nvPr/>
        </p:nvSpPr>
        <p:spPr>
          <a:xfrm>
            <a:off x="731520" y="1508760"/>
            <a:ext cx="822960" cy="822960"/>
          </a:xfrm>
          <a:prstGeom prst="ellipse">
            <a:avLst/>
          </a:prstGeom>
          <a:solidFill>
            <a:srgbClr val="EEEDFF"/>
          </a:solidFill>
          <a:ln w="12700">
            <a:solidFill>
              <a:srgbClr val="EEEDFF"/>
            </a:solidFill>
            <a:prstDash val="solid"/>
          </a:ln>
        </p:spPr>
      </p:sp>
      <p:pic>
        <p:nvPicPr>
          <p:cNvPr id="6" name="Image 0" descr="preencoded.png">    </p:cNvPr>
          <p:cNvPicPr>
            <a:picLocks noChangeAspect="1"/>
          </p:cNvPicPr>
          <p:nvPr/>
        </p:nvPicPr>
        <p:blipFill>
          <a:blip r:embed="rId1"/>
          <a:stretch>
            <a:fillRect/>
          </a:stretch>
        </p:blipFill>
        <p:spPr>
          <a:xfrm>
            <a:off x="945490" y="1722730"/>
            <a:ext cx="395021" cy="395021"/>
          </a:xfrm>
          <a:prstGeom prst="rect">
            <a:avLst/>
          </a:prstGeom>
        </p:spPr>
      </p:pic>
      <p:sp>
        <p:nvSpPr>
          <p:cNvPr id="7" name="Text 4"/>
          <p:cNvSpPr txBox="1"/>
          <p:nvPr/>
        </p:nvSpPr>
        <p:spPr>
          <a:xfrm>
            <a:off x="1783080" y="1417320"/>
            <a:ext cx="2423160" cy="41148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Social Sentiment Analysis</a:t>
            </a:r>
            <a:endParaRPr lang="en-US" sz="1600" dirty="0"/>
          </a:p>
        </p:txBody>
      </p:sp>
      <p:sp>
        <p:nvSpPr>
          <p:cNvPr id="8" name="Text 5"/>
          <p:cNvSpPr txBox="1"/>
          <p:nvPr/>
        </p:nvSpPr>
        <p:spPr>
          <a:xfrm>
            <a:off x="1783080" y="1828800"/>
            <a:ext cx="2423160" cy="6400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Group posts and reviews by the opinions they express.</a:t>
            </a:r>
            <a:endParaRPr lang="en-US" sz="1300" dirty="0"/>
          </a:p>
        </p:txBody>
      </p:sp>
      <p:sp>
        <p:nvSpPr>
          <p:cNvPr id="9" name="Shape 6"/>
          <p:cNvSpPr/>
          <p:nvPr/>
        </p:nvSpPr>
        <p:spPr>
          <a:xfrm>
            <a:off x="4709160" y="1188720"/>
            <a:ext cx="397764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0" name="Shape 7"/>
          <p:cNvSpPr/>
          <p:nvPr/>
        </p:nvSpPr>
        <p:spPr>
          <a:xfrm>
            <a:off x="4983480" y="1508760"/>
            <a:ext cx="822960" cy="822960"/>
          </a:xfrm>
          <a:prstGeom prst="ellipse">
            <a:avLst/>
          </a:prstGeom>
          <a:solidFill>
            <a:srgbClr val="EEEDFF"/>
          </a:solidFill>
          <a:ln w="12700">
            <a:solidFill>
              <a:srgbClr val="EEEDFF"/>
            </a:solidFill>
            <a:prstDash val="solid"/>
          </a:ln>
        </p:spPr>
      </p:sp>
      <p:pic>
        <p:nvPicPr>
          <p:cNvPr id="11" name="Image 1" descr="preencoded.png">    </p:cNvPr>
          <p:cNvPicPr>
            <a:picLocks noChangeAspect="1"/>
          </p:cNvPicPr>
          <p:nvPr/>
        </p:nvPicPr>
        <p:blipFill>
          <a:blip r:embed="rId2"/>
          <a:stretch>
            <a:fillRect/>
          </a:stretch>
        </p:blipFill>
        <p:spPr>
          <a:xfrm>
            <a:off x="5197450" y="1722730"/>
            <a:ext cx="395021" cy="395021"/>
          </a:xfrm>
          <a:prstGeom prst="rect">
            <a:avLst/>
          </a:prstGeom>
        </p:spPr>
      </p:pic>
      <p:sp>
        <p:nvSpPr>
          <p:cNvPr id="12" name="Text 8"/>
          <p:cNvSpPr txBox="1"/>
          <p:nvPr/>
        </p:nvSpPr>
        <p:spPr>
          <a:xfrm>
            <a:off x="6035040" y="1417320"/>
            <a:ext cx="2423160" cy="41148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Fraud Detection</a:t>
            </a:r>
            <a:endParaRPr lang="en-US" sz="1600" dirty="0"/>
          </a:p>
        </p:txBody>
      </p:sp>
      <p:sp>
        <p:nvSpPr>
          <p:cNvPr id="13" name="Text 9"/>
          <p:cNvSpPr txBox="1"/>
          <p:nvPr/>
        </p:nvSpPr>
        <p:spPr>
          <a:xfrm>
            <a:off x="6035040" y="1828800"/>
            <a:ext cx="2423160" cy="6400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Spot unusual transactions that don't fit normal patterns.</a:t>
            </a:r>
            <a:endParaRPr lang="en-US" sz="1300" dirty="0"/>
          </a:p>
        </p:txBody>
      </p:sp>
      <p:sp>
        <p:nvSpPr>
          <p:cNvPr id="14" name="Shape 10"/>
          <p:cNvSpPr/>
          <p:nvPr/>
        </p:nvSpPr>
        <p:spPr>
          <a:xfrm>
            <a:off x="457200" y="2926080"/>
            <a:ext cx="397764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5" name="Shape 11"/>
          <p:cNvSpPr/>
          <p:nvPr/>
        </p:nvSpPr>
        <p:spPr>
          <a:xfrm>
            <a:off x="731520" y="3246120"/>
            <a:ext cx="822960" cy="822960"/>
          </a:xfrm>
          <a:prstGeom prst="ellipse">
            <a:avLst/>
          </a:prstGeom>
          <a:solidFill>
            <a:srgbClr val="EEEDFF"/>
          </a:solidFill>
          <a:ln w="12700">
            <a:solidFill>
              <a:srgbClr val="EEEDFF"/>
            </a:solidFill>
            <a:prstDash val="solid"/>
          </a:ln>
        </p:spPr>
      </p:sp>
      <p:pic>
        <p:nvPicPr>
          <p:cNvPr id="16" name="Image 2" descr="preencoded.png">    </p:cNvPr>
          <p:cNvPicPr>
            <a:picLocks noChangeAspect="1"/>
          </p:cNvPicPr>
          <p:nvPr/>
        </p:nvPicPr>
        <p:blipFill>
          <a:blip r:embed="rId3"/>
          <a:stretch>
            <a:fillRect/>
          </a:stretch>
        </p:blipFill>
        <p:spPr>
          <a:xfrm>
            <a:off x="945490" y="3460090"/>
            <a:ext cx="395021" cy="395021"/>
          </a:xfrm>
          <a:prstGeom prst="rect">
            <a:avLst/>
          </a:prstGeom>
        </p:spPr>
      </p:pic>
      <p:sp>
        <p:nvSpPr>
          <p:cNvPr id="17" name="Text 12"/>
          <p:cNvSpPr txBox="1"/>
          <p:nvPr/>
        </p:nvSpPr>
        <p:spPr>
          <a:xfrm>
            <a:off x="1783080" y="3154680"/>
            <a:ext cx="2423160" cy="41148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Malware Detection</a:t>
            </a:r>
            <a:endParaRPr lang="en-US" sz="1600" dirty="0"/>
          </a:p>
        </p:txBody>
      </p:sp>
      <p:sp>
        <p:nvSpPr>
          <p:cNvPr id="18" name="Text 13"/>
          <p:cNvSpPr txBox="1"/>
          <p:nvPr/>
        </p:nvSpPr>
        <p:spPr>
          <a:xfrm>
            <a:off x="1783080" y="3566160"/>
            <a:ext cx="2423160" cy="6400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Flag software that behaves differently from the norm.</a:t>
            </a:r>
            <a:endParaRPr lang="en-US" sz="1300" dirty="0"/>
          </a:p>
        </p:txBody>
      </p:sp>
      <p:sp>
        <p:nvSpPr>
          <p:cNvPr id="19" name="Shape 14"/>
          <p:cNvSpPr/>
          <p:nvPr/>
        </p:nvSpPr>
        <p:spPr>
          <a:xfrm>
            <a:off x="4709160" y="2926080"/>
            <a:ext cx="397764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0" name="Shape 15"/>
          <p:cNvSpPr/>
          <p:nvPr/>
        </p:nvSpPr>
        <p:spPr>
          <a:xfrm>
            <a:off x="4983480" y="3246120"/>
            <a:ext cx="822960" cy="822960"/>
          </a:xfrm>
          <a:prstGeom prst="ellipse">
            <a:avLst/>
          </a:prstGeom>
          <a:solidFill>
            <a:srgbClr val="EEEDFF"/>
          </a:solidFill>
          <a:ln w="12700">
            <a:solidFill>
              <a:srgbClr val="EEEDFF"/>
            </a:solidFill>
            <a:prstDash val="solid"/>
          </a:ln>
        </p:spPr>
      </p:sp>
      <p:pic>
        <p:nvPicPr>
          <p:cNvPr id="21" name="Image 3" descr="preencoded.png">    </p:cNvPr>
          <p:cNvPicPr>
            <a:picLocks noChangeAspect="1"/>
          </p:cNvPicPr>
          <p:nvPr/>
        </p:nvPicPr>
        <p:blipFill>
          <a:blip r:embed="rId4"/>
          <a:stretch>
            <a:fillRect/>
          </a:stretch>
        </p:blipFill>
        <p:spPr>
          <a:xfrm>
            <a:off x="5197450" y="3460090"/>
            <a:ext cx="395021" cy="395021"/>
          </a:xfrm>
          <a:prstGeom prst="rect">
            <a:avLst/>
          </a:prstGeom>
        </p:spPr>
      </p:pic>
      <p:sp>
        <p:nvSpPr>
          <p:cNvPr id="22" name="Text 16"/>
          <p:cNvSpPr txBox="1"/>
          <p:nvPr/>
        </p:nvSpPr>
        <p:spPr>
          <a:xfrm>
            <a:off x="6035040" y="3154680"/>
            <a:ext cx="2423160" cy="41148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Data-Entry Error Detection</a:t>
            </a:r>
            <a:endParaRPr lang="en-US" sz="1600" dirty="0"/>
          </a:p>
        </p:txBody>
      </p:sp>
      <p:sp>
        <p:nvSpPr>
          <p:cNvPr id="23" name="Text 17"/>
          <p:cNvSpPr txBox="1"/>
          <p:nvPr/>
        </p:nvSpPr>
        <p:spPr>
          <a:xfrm>
            <a:off x="6035040" y="3566160"/>
            <a:ext cx="2423160" cy="640080"/>
          </a:xfrm>
          <a:prstGeom prst="rect">
            <a:avLst/>
          </a:prstGeom>
          <a:noFill/>
          <a:ln/>
        </p:spPr>
        <p:txBody>
          <a:bodyPr wrap="square" lIns="0" tIns="0" rIns="0" bIns="0" rtlCol="0" anchor="t"/>
          <a:lstStyle/>
          <a:p>
            <a:pPr indent="0" marL="0">
              <a:buNone/>
            </a:pPr>
            <a:r>
              <a:rPr lang="en-US" sz="1300" dirty="0">
                <a:solidFill>
                  <a:srgbClr val="2B2A3D"/>
                </a:solidFill>
                <a:latin typeface="Calibri" pitchFamily="34" charset="0"/>
                <a:ea typeface="Calibri" pitchFamily="34" charset="-122"/>
                <a:cs typeface="Calibri" pitchFamily="34" charset="-120"/>
              </a:rPr>
              <a:t>Find records that look out of place (human errors).</a:t>
            </a:r>
            <a:endParaRPr lang="en-US" sz="1300" dirty="0"/>
          </a:p>
        </p:txBody>
      </p:sp>
      <p:sp>
        <p:nvSpPr>
          <p:cNvPr id="24"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REINFORCEMENT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Reinforcement Learning</a:t>
            </a:r>
            <a:endParaRPr lang="en-US" sz="3000" dirty="0"/>
          </a:p>
        </p:txBody>
      </p:sp>
      <p:sp>
        <p:nvSpPr>
          <p:cNvPr id="4" name="Text 2"/>
          <p:cNvSpPr txBox="1"/>
          <p:nvPr/>
        </p:nvSpPr>
        <p:spPr>
          <a:xfrm>
            <a:off x="457200" y="1005840"/>
            <a:ext cx="8229600" cy="594360"/>
          </a:xfrm>
          <a:prstGeom prst="rect">
            <a:avLst/>
          </a:prstGeom>
          <a:noFill/>
          <a:ln/>
        </p:spPr>
        <p:txBody>
          <a:bodyPr wrap="square" lIns="0" tIns="0" rIns="0" bIns="0" rtlCol="0" anchor="ctr"/>
          <a:lstStyle/>
          <a:p>
            <a:pPr indent="0" marL="0">
              <a:buNone/>
            </a:pPr>
            <a:r>
              <a:rPr lang="en-US" sz="1400" dirty="0">
                <a:solidFill>
                  <a:srgbClr val="2B2A3D"/>
                </a:solidFill>
                <a:latin typeface="Calibri" pitchFamily="34" charset="0"/>
                <a:ea typeface="Calibri" pitchFamily="34" charset="-122"/>
                <a:cs typeface="Calibri" pitchFamily="34" charset="-120"/>
              </a:rPr>
              <a:t>An agent learns by trial and error: it takes actions in an environment, receives rewards or penalties, and learns from experience which actions work best.</a:t>
            </a:r>
            <a:endParaRPr lang="en-US" sz="1400" dirty="0"/>
          </a:p>
        </p:txBody>
      </p:sp>
      <p:sp>
        <p:nvSpPr>
          <p:cNvPr id="5" name="Shape 3"/>
          <p:cNvSpPr/>
          <p:nvPr/>
        </p:nvSpPr>
        <p:spPr>
          <a:xfrm>
            <a:off x="457200" y="1783080"/>
            <a:ext cx="3840480" cy="2697480"/>
          </a:xfrm>
          <a:prstGeom prst="roundRect">
            <a:avLst>
              <a:gd name="adj" fmla="val 4068"/>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6" name="Shape 4"/>
          <p:cNvSpPr/>
          <p:nvPr/>
        </p:nvSpPr>
        <p:spPr>
          <a:xfrm>
            <a:off x="1463040" y="1965960"/>
            <a:ext cx="1828800" cy="548640"/>
          </a:xfrm>
          <a:prstGeom prst="roundRect">
            <a:avLst>
              <a:gd name="adj" fmla="val 16667"/>
            </a:avLst>
          </a:prstGeom>
          <a:solidFill>
            <a:srgbClr val="6D5DF6"/>
          </a:solidFill>
          <a:ln w="12700">
            <a:solidFill>
              <a:srgbClr val="6D5DF6"/>
            </a:solidFill>
            <a:prstDash val="solid"/>
          </a:ln>
        </p:spPr>
      </p:sp>
      <p:sp>
        <p:nvSpPr>
          <p:cNvPr id="7" name="Text 5"/>
          <p:cNvSpPr txBox="1"/>
          <p:nvPr/>
        </p:nvSpPr>
        <p:spPr>
          <a:xfrm>
            <a:off x="1463040" y="1965960"/>
            <a:ext cx="18288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p:txBody>
      </p:sp>
      <p:sp>
        <p:nvSpPr>
          <p:cNvPr id="8" name="Shape 6"/>
          <p:cNvSpPr/>
          <p:nvPr/>
        </p:nvSpPr>
        <p:spPr>
          <a:xfrm>
            <a:off x="1463040" y="3749040"/>
            <a:ext cx="1828800" cy="548640"/>
          </a:xfrm>
          <a:prstGeom prst="roundRect">
            <a:avLst>
              <a:gd name="adj" fmla="val 16667"/>
            </a:avLst>
          </a:prstGeom>
          <a:solidFill>
            <a:srgbClr val="1E1B4B"/>
          </a:solidFill>
          <a:ln w="12700">
            <a:solidFill>
              <a:srgbClr val="1E1B4B"/>
            </a:solidFill>
            <a:prstDash val="solid"/>
          </a:ln>
        </p:spPr>
      </p:sp>
      <p:sp>
        <p:nvSpPr>
          <p:cNvPr id="9" name="Text 7"/>
          <p:cNvSpPr txBox="1"/>
          <p:nvPr/>
        </p:nvSpPr>
        <p:spPr>
          <a:xfrm>
            <a:off x="1463040" y="3749040"/>
            <a:ext cx="18288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Environment</a:t>
            </a:r>
            <a:endParaRPr lang="en-US" sz="1500" dirty="0"/>
          </a:p>
        </p:txBody>
      </p:sp>
      <p:sp>
        <p:nvSpPr>
          <p:cNvPr id="10" name="Shape 8"/>
          <p:cNvSpPr/>
          <p:nvPr/>
        </p:nvSpPr>
        <p:spPr>
          <a:xfrm>
            <a:off x="3291840" y="2240280"/>
            <a:ext cx="548640" cy="0"/>
          </a:xfrm>
          <a:prstGeom prst="line">
            <a:avLst/>
          </a:prstGeom>
          <a:noFill/>
          <a:ln w="25400">
            <a:solidFill>
              <a:srgbClr val="6D5DF6"/>
            </a:solidFill>
            <a:prstDash val="solid"/>
          </a:ln>
        </p:spPr>
      </p:sp>
      <p:sp>
        <p:nvSpPr>
          <p:cNvPr id="11" name="Shape 9"/>
          <p:cNvSpPr/>
          <p:nvPr/>
        </p:nvSpPr>
        <p:spPr>
          <a:xfrm>
            <a:off x="3840480" y="2240280"/>
            <a:ext cx="0" cy="1783080"/>
          </a:xfrm>
          <a:prstGeom prst="line">
            <a:avLst/>
          </a:prstGeom>
          <a:noFill/>
          <a:ln w="25400">
            <a:solidFill>
              <a:srgbClr val="6D5DF6"/>
            </a:solidFill>
            <a:prstDash val="solid"/>
          </a:ln>
        </p:spPr>
      </p:sp>
      <p:sp>
        <p:nvSpPr>
          <p:cNvPr id="12" name="Shape 10"/>
          <p:cNvSpPr/>
          <p:nvPr/>
        </p:nvSpPr>
        <p:spPr>
          <a:xfrm>
            <a:off x="3291840" y="4023360"/>
            <a:ext cx="548640" cy="0"/>
          </a:xfrm>
          <a:prstGeom prst="line">
            <a:avLst/>
          </a:prstGeom>
          <a:noFill/>
          <a:ln w="25400">
            <a:solidFill>
              <a:srgbClr val="6D5DF6"/>
            </a:solidFill>
            <a:prstDash val="solid"/>
            <a:headEnd type="triangle"/>
          </a:ln>
        </p:spPr>
      </p:sp>
      <p:sp>
        <p:nvSpPr>
          <p:cNvPr id="13" name="Text 11"/>
          <p:cNvSpPr txBox="1"/>
          <p:nvPr/>
        </p:nvSpPr>
        <p:spPr>
          <a:xfrm>
            <a:off x="3063240" y="2926080"/>
            <a:ext cx="731520" cy="274320"/>
          </a:xfrm>
          <a:prstGeom prst="rect">
            <a:avLst/>
          </a:prstGeom>
          <a:noFill/>
          <a:ln/>
        </p:spPr>
        <p:txBody>
          <a:bodyPr wrap="square" lIns="0" tIns="0" rIns="0" bIns="0" rtlCol="0" anchor="ctr"/>
          <a:lstStyle/>
          <a:p>
            <a:pPr algn="r" indent="0" marL="0">
              <a:buNone/>
            </a:pPr>
            <a:r>
              <a:rPr lang="en-US" sz="1200" b="1" dirty="0">
                <a:solidFill>
                  <a:srgbClr val="6D5DF6"/>
                </a:solidFill>
                <a:latin typeface="Calibri" pitchFamily="34" charset="0"/>
                <a:ea typeface="Calibri" pitchFamily="34" charset="-122"/>
                <a:cs typeface="Calibri" pitchFamily="34" charset="-120"/>
              </a:rPr>
              <a:t>Action</a:t>
            </a:r>
            <a:endParaRPr lang="en-US" sz="1200" dirty="0"/>
          </a:p>
        </p:txBody>
      </p:sp>
      <p:sp>
        <p:nvSpPr>
          <p:cNvPr id="14" name="Shape 12"/>
          <p:cNvSpPr/>
          <p:nvPr/>
        </p:nvSpPr>
        <p:spPr>
          <a:xfrm>
            <a:off x="868680" y="4023360"/>
            <a:ext cx="594360" cy="0"/>
          </a:xfrm>
          <a:prstGeom prst="line">
            <a:avLst/>
          </a:prstGeom>
          <a:noFill/>
          <a:ln w="25400">
            <a:solidFill>
              <a:srgbClr val="3F37A8"/>
            </a:solidFill>
            <a:prstDash val="solid"/>
          </a:ln>
        </p:spPr>
      </p:sp>
      <p:sp>
        <p:nvSpPr>
          <p:cNvPr id="15" name="Shape 13"/>
          <p:cNvSpPr/>
          <p:nvPr/>
        </p:nvSpPr>
        <p:spPr>
          <a:xfrm>
            <a:off x="868680" y="2240280"/>
            <a:ext cx="0" cy="1783080"/>
          </a:xfrm>
          <a:prstGeom prst="line">
            <a:avLst/>
          </a:prstGeom>
          <a:noFill/>
          <a:ln w="25400">
            <a:solidFill>
              <a:srgbClr val="3F37A8"/>
            </a:solidFill>
            <a:prstDash val="solid"/>
          </a:ln>
        </p:spPr>
      </p:sp>
      <p:sp>
        <p:nvSpPr>
          <p:cNvPr id="16" name="Shape 14"/>
          <p:cNvSpPr/>
          <p:nvPr/>
        </p:nvSpPr>
        <p:spPr>
          <a:xfrm>
            <a:off x="868680" y="2240280"/>
            <a:ext cx="594360" cy="0"/>
          </a:xfrm>
          <a:prstGeom prst="line">
            <a:avLst/>
          </a:prstGeom>
          <a:noFill/>
          <a:ln w="25400">
            <a:solidFill>
              <a:srgbClr val="3F37A8"/>
            </a:solidFill>
            <a:prstDash val="solid"/>
            <a:tailEnd type="triangle"/>
          </a:ln>
        </p:spPr>
      </p:sp>
      <p:sp>
        <p:nvSpPr>
          <p:cNvPr id="17" name="Text 15"/>
          <p:cNvSpPr txBox="1"/>
          <p:nvPr/>
        </p:nvSpPr>
        <p:spPr>
          <a:xfrm>
            <a:off x="960120" y="2788920"/>
            <a:ext cx="1097280" cy="548640"/>
          </a:xfrm>
          <a:prstGeom prst="rect">
            <a:avLst/>
          </a:prstGeom>
          <a:noFill/>
          <a:ln/>
        </p:spPr>
        <p:txBody>
          <a:bodyPr wrap="square" lIns="0" tIns="0" rIns="0" bIns="0" rtlCol="0" anchor="ctr"/>
          <a:lstStyle/>
          <a:p>
            <a:pPr indent="0" marL="0">
              <a:buNone/>
            </a:pPr>
            <a:r>
              <a:rPr lang="en-US" sz="1200" b="1" dirty="0">
                <a:solidFill>
                  <a:srgbClr val="3F37A8"/>
                </a:solidFill>
                <a:latin typeface="Calibri" pitchFamily="34" charset="0"/>
                <a:ea typeface="Calibri" pitchFamily="34" charset="-122"/>
                <a:cs typeface="Calibri" pitchFamily="34" charset="-120"/>
              </a:rPr>
              <a:t>State</a:t>
            </a:r>
            <a:endParaRPr lang="en-US" sz="1200" dirty="0"/>
          </a:p>
          <a:p>
            <a:pPr indent="0" marL="0">
              <a:buNone/>
            </a:pPr>
            <a:r>
              <a:rPr lang="en-US" sz="1200" b="1" dirty="0">
                <a:solidFill>
                  <a:srgbClr val="3F37A8"/>
                </a:solidFill>
                <a:latin typeface="Calibri" pitchFamily="34" charset="0"/>
                <a:ea typeface="Calibri" pitchFamily="34" charset="-122"/>
                <a:cs typeface="Calibri" pitchFamily="34" charset="-120"/>
              </a:rPr>
              <a:t>+ Reward</a:t>
            </a:r>
            <a:endParaRPr lang="en-US" sz="1200" dirty="0"/>
          </a:p>
        </p:txBody>
      </p:sp>
      <p:sp>
        <p:nvSpPr>
          <p:cNvPr id="18" name="Shape 16"/>
          <p:cNvSpPr/>
          <p:nvPr/>
        </p:nvSpPr>
        <p:spPr>
          <a:xfrm>
            <a:off x="4572000" y="1783080"/>
            <a:ext cx="4114800" cy="2697480"/>
          </a:xfrm>
          <a:prstGeom prst="roundRect">
            <a:avLst>
              <a:gd name="adj" fmla="val 4068"/>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19" name="Image 0" descr="/tmp/claude-0/-home-user-RahmaOshba/922a3a1f-80e6-5814-b3d2-eea9a91432ca/scratchpad/img/p16_1.png">    </p:cNvPr>
          <p:cNvPicPr>
            <a:picLocks noChangeAspect="1"/>
          </p:cNvPicPr>
          <p:nvPr/>
        </p:nvPicPr>
        <p:blipFill>
          <a:blip r:embed="rId1"/>
          <a:srcRect l="0" r="0" t="0" b="0"/>
          <a:stretch/>
        </p:blipFill>
        <p:spPr>
          <a:xfrm>
            <a:off x="4709160" y="1920240"/>
            <a:ext cx="3840480" cy="2084832"/>
          </a:xfrm>
          <a:prstGeom prst="rect">
            <a:avLst/>
          </a:prstGeom>
        </p:spPr>
      </p:pic>
      <p:sp>
        <p:nvSpPr>
          <p:cNvPr id="20" name="Text 17"/>
          <p:cNvSpPr txBox="1"/>
          <p:nvPr/>
        </p:nvSpPr>
        <p:spPr>
          <a:xfrm>
            <a:off x="4754880" y="4005072"/>
            <a:ext cx="3749040" cy="411480"/>
          </a:xfrm>
          <a:prstGeom prst="rect">
            <a:avLst/>
          </a:prstGeom>
          <a:noFill/>
          <a:ln/>
        </p:spPr>
        <p:txBody>
          <a:bodyPr wrap="square" lIns="0" tIns="0" rIns="0" bIns="0" rtlCol="0" anchor="ctr"/>
          <a:lstStyle/>
          <a:p>
            <a:pPr indent="0" marL="0">
              <a:buNone/>
            </a:pPr>
            <a:r>
              <a:rPr lang="en-US" sz="1100" i="1" dirty="0">
                <a:solidFill>
                  <a:srgbClr val="6B6A80"/>
                </a:solidFill>
                <a:latin typeface="Calibri" pitchFamily="34" charset="0"/>
                <a:ea typeface="Calibri" pitchFamily="34" charset="-122"/>
                <a:cs typeface="Calibri" pitchFamily="34" charset="-120"/>
              </a:rPr>
              <a:t>Example: a dog (agent) gets a cookie (reward) for walking → it learns to walk on command.</a:t>
            </a:r>
            <a:endParaRPr lang="en-US" sz="1100" dirty="0"/>
          </a:p>
        </p:txBody>
      </p:sp>
      <p:sp>
        <p:nvSpPr>
          <p:cNvPr id="21" name="Text 18"/>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DEEP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Neural Networks &amp; Deep Learning</a:t>
            </a:r>
            <a:endParaRPr lang="en-US" sz="3000" dirty="0"/>
          </a:p>
        </p:txBody>
      </p:sp>
      <p:sp>
        <p:nvSpPr>
          <p:cNvPr id="4" name="Text 2"/>
          <p:cNvSpPr txBox="1"/>
          <p:nvPr/>
        </p:nvSpPr>
        <p:spPr>
          <a:xfrm>
            <a:off x="457200" y="1005840"/>
            <a:ext cx="8229600" cy="594360"/>
          </a:xfrm>
          <a:prstGeom prst="rect">
            <a:avLst/>
          </a:prstGeom>
          <a:noFill/>
          <a:ln/>
        </p:spPr>
        <p:txBody>
          <a:bodyPr wrap="square" lIns="0" tIns="0" rIns="0" bIns="0" rtlCol="0" anchor="ctr"/>
          <a:lstStyle/>
          <a:p>
            <a:pPr indent="0" marL="0">
              <a:buNone/>
            </a:pPr>
            <a:r>
              <a:rPr lang="en-US" sz="1500" b="1" dirty="0">
                <a:solidFill>
                  <a:srgbClr val="6D5DF6"/>
                </a:solidFill>
                <a:latin typeface="Calibri" pitchFamily="34" charset="0"/>
                <a:ea typeface="Calibri" pitchFamily="34" charset="-122"/>
                <a:cs typeface="Calibri" pitchFamily="34" charset="-120"/>
              </a:rPr>
              <a:t>Deep Learning</a:t>
            </a:r>
            <a:pPr indent="0" marL="0">
              <a:buNone/>
            </a:pPr>
            <a:r>
              <a:rPr lang="en-US" sz="1500" dirty="0">
                <a:solidFill>
                  <a:srgbClr val="2B2A3D"/>
                </a:solidFill>
                <a:latin typeface="Calibri" pitchFamily="34" charset="0"/>
                <a:ea typeface="Calibri" pitchFamily="34" charset="-122"/>
                <a:cs typeface="Calibri" pitchFamily="34" charset="-120"/>
              </a:rPr>
              <a:t> is an approach to machine learning that uses a computing model inspired by the structure of the human brain.</a:t>
            </a:r>
            <a:endParaRPr lang="en-US" sz="1500" dirty="0"/>
          </a:p>
        </p:txBody>
      </p:sp>
      <p:sp>
        <p:nvSpPr>
          <p:cNvPr id="5" name="Shape 3"/>
          <p:cNvSpPr/>
          <p:nvPr/>
        </p:nvSpPr>
        <p:spPr>
          <a:xfrm>
            <a:off x="457200" y="1783080"/>
            <a:ext cx="8229600" cy="2697480"/>
          </a:xfrm>
          <a:prstGeom prst="roundRect">
            <a:avLst>
              <a:gd name="adj" fmla="val 4068"/>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pic>
        <p:nvPicPr>
          <p:cNvPr id="6" name="Image 0" descr="/tmp/claude-0/-home-user-RahmaOshba/922a3a1f-80e6-5814-b3d2-eea9a91432ca/scratchpad/img/p17_1.png">    </p:cNvPr>
          <p:cNvPicPr>
            <a:picLocks noChangeAspect="1"/>
          </p:cNvPicPr>
          <p:nvPr/>
        </p:nvPicPr>
        <p:blipFill>
          <a:blip r:embed="rId1"/>
          <a:srcRect l="0" r="0" t="0" b="0"/>
          <a:stretch/>
        </p:blipFill>
        <p:spPr>
          <a:xfrm>
            <a:off x="640080" y="1874520"/>
            <a:ext cx="4937760" cy="2514600"/>
          </a:xfrm>
          <a:prstGeom prst="rect">
            <a:avLst/>
          </a:prstGeom>
        </p:spPr>
      </p:pic>
      <p:sp>
        <p:nvSpPr>
          <p:cNvPr id="7" name="Text 4"/>
          <p:cNvSpPr txBox="1"/>
          <p:nvPr/>
        </p:nvSpPr>
        <p:spPr>
          <a:xfrm>
            <a:off x="5852160" y="2011680"/>
            <a:ext cx="2651760" cy="685800"/>
          </a:xfrm>
          <a:prstGeom prst="rect">
            <a:avLst/>
          </a:prstGeom>
          <a:noFill/>
          <a:ln/>
        </p:spPr>
        <p:txBody>
          <a:bodyPr wrap="square" lIns="0" tIns="0" rIns="0" bIns="0" rtlCol="0" anchor="t"/>
          <a:lstStyle/>
          <a:p>
            <a:pPr indent="0" marL="0">
              <a:buNone/>
            </a:pPr>
            <a:r>
              <a:rPr lang="en-US" sz="1300" b="1" dirty="0">
                <a:solidFill>
                  <a:srgbClr val="1E1B4B"/>
                </a:solidFill>
                <a:latin typeface="Calibri" pitchFamily="34" charset="0"/>
                <a:ea typeface="Calibri" pitchFamily="34" charset="-122"/>
                <a:cs typeface="Calibri" pitchFamily="34" charset="-120"/>
              </a:rPr>
              <a:t>Inputs (x)</a:t>
            </a:r>
            <a:endParaRPr lang="en-US" sz="1300" dirty="0"/>
          </a:p>
          <a:p>
            <a:pPr indent="0" marL="0">
              <a:buNone/>
            </a:pPr>
            <a:r>
              <a:rPr lang="en-US" sz="1300" dirty="0">
                <a:solidFill>
                  <a:srgbClr val="6B6A80"/>
                </a:solidFill>
                <a:latin typeface="Calibri" pitchFamily="34" charset="0"/>
                <a:ea typeface="Calibri" pitchFamily="34" charset="-122"/>
                <a:cs typeface="Calibri" pitchFamily="34" charset="-120"/>
              </a:rPr>
              <a:t>features going into the neuron</a:t>
            </a:r>
            <a:endParaRPr lang="en-US" sz="1300" dirty="0"/>
          </a:p>
        </p:txBody>
      </p:sp>
      <p:sp>
        <p:nvSpPr>
          <p:cNvPr id="8" name="Text 5"/>
          <p:cNvSpPr txBox="1"/>
          <p:nvPr/>
        </p:nvSpPr>
        <p:spPr>
          <a:xfrm>
            <a:off x="5852160" y="2788920"/>
            <a:ext cx="2651760" cy="685800"/>
          </a:xfrm>
          <a:prstGeom prst="rect">
            <a:avLst/>
          </a:prstGeom>
          <a:noFill/>
          <a:ln/>
        </p:spPr>
        <p:txBody>
          <a:bodyPr wrap="square" lIns="0" tIns="0" rIns="0" bIns="0" rtlCol="0" anchor="t"/>
          <a:lstStyle/>
          <a:p>
            <a:pPr indent="0" marL="0">
              <a:buNone/>
            </a:pPr>
            <a:r>
              <a:rPr lang="en-US" sz="1300" b="1" dirty="0">
                <a:solidFill>
                  <a:srgbClr val="1E1B4B"/>
                </a:solidFill>
                <a:latin typeface="Calibri" pitchFamily="34" charset="0"/>
                <a:ea typeface="Calibri" pitchFamily="34" charset="-122"/>
                <a:cs typeface="Calibri" pitchFamily="34" charset="-120"/>
              </a:rPr>
              <a:t>Weights (w)</a:t>
            </a:r>
            <a:endParaRPr lang="en-US" sz="1300" dirty="0"/>
          </a:p>
          <a:p>
            <a:pPr indent="0" marL="0">
              <a:buNone/>
            </a:pPr>
            <a:r>
              <a:rPr lang="en-US" sz="1300" dirty="0">
                <a:solidFill>
                  <a:srgbClr val="6B6A80"/>
                </a:solidFill>
                <a:latin typeface="Calibri" pitchFamily="34" charset="0"/>
                <a:ea typeface="Calibri" pitchFamily="34" charset="-122"/>
                <a:cs typeface="Calibri" pitchFamily="34" charset="-120"/>
              </a:rPr>
              <a:t>how important each input is</a:t>
            </a:r>
            <a:endParaRPr lang="en-US" sz="1300" dirty="0"/>
          </a:p>
        </p:txBody>
      </p:sp>
      <p:sp>
        <p:nvSpPr>
          <p:cNvPr id="9" name="Text 6"/>
          <p:cNvSpPr txBox="1"/>
          <p:nvPr/>
        </p:nvSpPr>
        <p:spPr>
          <a:xfrm>
            <a:off x="5852160" y="3566160"/>
            <a:ext cx="2651760" cy="685800"/>
          </a:xfrm>
          <a:prstGeom prst="rect">
            <a:avLst/>
          </a:prstGeom>
          <a:noFill/>
          <a:ln/>
        </p:spPr>
        <p:txBody>
          <a:bodyPr wrap="square" lIns="0" tIns="0" rIns="0" bIns="0" rtlCol="0" anchor="t"/>
          <a:lstStyle/>
          <a:p>
            <a:pPr indent="0" marL="0">
              <a:buNone/>
            </a:pPr>
            <a:r>
              <a:rPr lang="en-US" sz="1300" b="1" dirty="0">
                <a:solidFill>
                  <a:srgbClr val="1E1B4B"/>
                </a:solidFill>
                <a:latin typeface="Calibri" pitchFamily="34" charset="0"/>
                <a:ea typeface="Calibri" pitchFamily="34" charset="-122"/>
                <a:cs typeface="Calibri" pitchFamily="34" charset="-120"/>
              </a:rPr>
              <a:t>Activation (f)</a:t>
            </a:r>
            <a:endParaRPr lang="en-US" sz="1300" dirty="0"/>
          </a:p>
          <a:p>
            <a:pPr indent="0" marL="0">
              <a:buNone/>
            </a:pPr>
            <a:r>
              <a:rPr lang="en-US" sz="1300" dirty="0">
                <a:solidFill>
                  <a:srgbClr val="6B6A80"/>
                </a:solidFill>
                <a:latin typeface="Calibri" pitchFamily="34" charset="0"/>
                <a:ea typeface="Calibri" pitchFamily="34" charset="-122"/>
                <a:cs typeface="Calibri" pitchFamily="34" charset="-120"/>
              </a:rPr>
              <a:t>decides the neuron's output (y)</a:t>
            </a:r>
            <a:endParaRPr lang="en-US" sz="1300" dirty="0"/>
          </a:p>
        </p:txBody>
      </p:sp>
      <p:sp>
        <p:nvSpPr>
          <p:cNvPr id="10" name="Text 7"/>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06 · DEEP LEARNING</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Deep Learning Algorithms</a:t>
            </a:r>
            <a:endParaRPr lang="en-US" sz="3000" dirty="0"/>
          </a:p>
        </p:txBody>
      </p:sp>
      <p:sp>
        <p:nvSpPr>
          <p:cNvPr id="4" name="Shape 2"/>
          <p:cNvSpPr/>
          <p:nvPr/>
        </p:nvSpPr>
        <p:spPr>
          <a:xfrm>
            <a:off x="457200" y="1143000"/>
            <a:ext cx="1874520" cy="1463040"/>
          </a:xfrm>
          <a:prstGeom prst="roundRect">
            <a:avLst>
              <a:gd name="adj" fmla="val 7500"/>
            </a:avLst>
          </a:prstGeom>
          <a:solidFill>
            <a:srgbClr val="1E1B4B"/>
          </a:solidFill>
          <a:ln w="12700">
            <a:solidFill>
              <a:srgbClr val="1E1B4B"/>
            </a:solidFill>
            <a:prstDash val="solid"/>
          </a:ln>
          <a:effectLst>
            <a:outerShdw sx="100000" sy="100000" kx="0" ky="0" algn="bl" rotWithShape="0" blurRad="101600" dist="25400" dir="5400000">
              <a:srgbClr val="1E1B4B">
                <a:alpha val="12000"/>
              </a:srgbClr>
            </a:outerShdw>
          </a:effectLst>
        </p:spPr>
      </p:sp>
      <p:sp>
        <p:nvSpPr>
          <p:cNvPr id="5" name="Text 3"/>
          <p:cNvSpPr txBox="1"/>
          <p:nvPr/>
        </p:nvSpPr>
        <p:spPr>
          <a:xfrm>
            <a:off x="640080" y="1280160"/>
            <a:ext cx="1508760" cy="457200"/>
          </a:xfrm>
          <a:prstGeom prst="rect">
            <a:avLst/>
          </a:prstGeom>
          <a:noFill/>
          <a:ln/>
        </p:spPr>
        <p:txBody>
          <a:bodyPr wrap="square" lIns="0" tIns="0" rIns="0" bIns="0" rtlCol="0" anchor="ctr"/>
          <a:lstStyle/>
          <a:p>
            <a:pPr indent="0" marL="0">
              <a:buNone/>
            </a:pPr>
            <a:r>
              <a:rPr lang="en-US" sz="2400" b="1" dirty="0">
                <a:solidFill>
                  <a:srgbClr val="FFB547"/>
                </a:solidFill>
                <a:latin typeface="Calibri" pitchFamily="34" charset="0"/>
                <a:ea typeface="Calibri" pitchFamily="34" charset="-122"/>
                <a:cs typeface="Calibri" pitchFamily="34" charset="-120"/>
              </a:rPr>
              <a:t>CNN</a:t>
            </a:r>
            <a:endParaRPr lang="en-US" sz="2400" dirty="0"/>
          </a:p>
        </p:txBody>
      </p:sp>
      <p:sp>
        <p:nvSpPr>
          <p:cNvPr id="6" name="Text 4"/>
          <p:cNvSpPr txBox="1"/>
          <p:nvPr/>
        </p:nvSpPr>
        <p:spPr>
          <a:xfrm>
            <a:off x="640080" y="1737360"/>
            <a:ext cx="1508760"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Convolutional Neural Networks</a:t>
            </a:r>
            <a:endParaRPr lang="en-US" sz="1150" dirty="0"/>
          </a:p>
        </p:txBody>
      </p:sp>
      <p:sp>
        <p:nvSpPr>
          <p:cNvPr id="7" name="Text 5"/>
          <p:cNvSpPr txBox="1"/>
          <p:nvPr/>
        </p:nvSpPr>
        <p:spPr>
          <a:xfrm>
            <a:off x="640080" y="2240280"/>
            <a:ext cx="1508760" cy="274320"/>
          </a:xfrm>
          <a:prstGeom prst="rect">
            <a:avLst/>
          </a:prstGeom>
          <a:noFill/>
          <a:ln/>
        </p:spPr>
        <p:txBody>
          <a:bodyPr wrap="square" lIns="0" tIns="0" rIns="0" bIns="0" rtlCol="0" anchor="ctr"/>
          <a:lstStyle/>
          <a:p>
            <a:pPr indent="0" marL="0">
              <a:buNone/>
            </a:pPr>
            <a:r>
              <a:rPr lang="en-US" sz="1050" i="1" dirty="0">
                <a:solidFill>
                  <a:srgbClr val="D9D6FF"/>
                </a:solidFill>
                <a:latin typeface="Calibri" pitchFamily="34" charset="0"/>
                <a:ea typeface="Calibri" pitchFamily="34" charset="-122"/>
                <a:cs typeface="Calibri" pitchFamily="34" charset="-120"/>
              </a:rPr>
              <a:t>Images</a:t>
            </a:r>
            <a:endParaRPr lang="en-US" sz="1050" dirty="0"/>
          </a:p>
        </p:txBody>
      </p:sp>
      <p:sp>
        <p:nvSpPr>
          <p:cNvPr id="8" name="Shape 6"/>
          <p:cNvSpPr/>
          <p:nvPr/>
        </p:nvSpPr>
        <p:spPr>
          <a:xfrm>
            <a:off x="2560320" y="1143000"/>
            <a:ext cx="1874520" cy="1463040"/>
          </a:xfrm>
          <a:prstGeom prst="roundRect">
            <a:avLst>
              <a:gd name="adj" fmla="val 7500"/>
            </a:avLst>
          </a:prstGeom>
          <a:solidFill>
            <a:srgbClr val="1E1B4B"/>
          </a:solidFill>
          <a:ln w="12700">
            <a:solidFill>
              <a:srgbClr val="1E1B4B"/>
            </a:solidFill>
            <a:prstDash val="solid"/>
          </a:ln>
          <a:effectLst>
            <a:outerShdw sx="100000" sy="100000" kx="0" ky="0" algn="bl" rotWithShape="0" blurRad="101600" dist="25400" dir="5400000">
              <a:srgbClr val="1E1B4B">
                <a:alpha val="12000"/>
              </a:srgbClr>
            </a:outerShdw>
          </a:effectLst>
        </p:spPr>
      </p:sp>
      <p:sp>
        <p:nvSpPr>
          <p:cNvPr id="9" name="Text 7"/>
          <p:cNvSpPr txBox="1"/>
          <p:nvPr/>
        </p:nvSpPr>
        <p:spPr>
          <a:xfrm>
            <a:off x="2743200" y="1280160"/>
            <a:ext cx="1508760" cy="457200"/>
          </a:xfrm>
          <a:prstGeom prst="rect">
            <a:avLst/>
          </a:prstGeom>
          <a:noFill/>
          <a:ln/>
        </p:spPr>
        <p:txBody>
          <a:bodyPr wrap="square" lIns="0" tIns="0" rIns="0" bIns="0" rtlCol="0" anchor="ctr"/>
          <a:lstStyle/>
          <a:p>
            <a:pPr indent="0" marL="0">
              <a:buNone/>
            </a:pPr>
            <a:r>
              <a:rPr lang="en-US" sz="2400" b="1" dirty="0">
                <a:solidFill>
                  <a:srgbClr val="FFB547"/>
                </a:solidFill>
                <a:latin typeface="Calibri" pitchFamily="34" charset="0"/>
                <a:ea typeface="Calibri" pitchFamily="34" charset="-122"/>
                <a:cs typeface="Calibri" pitchFamily="34" charset="-120"/>
              </a:rPr>
              <a:t>RNN</a:t>
            </a:r>
            <a:endParaRPr lang="en-US" sz="2400" dirty="0"/>
          </a:p>
        </p:txBody>
      </p:sp>
      <p:sp>
        <p:nvSpPr>
          <p:cNvPr id="10" name="Text 8"/>
          <p:cNvSpPr txBox="1"/>
          <p:nvPr/>
        </p:nvSpPr>
        <p:spPr>
          <a:xfrm>
            <a:off x="2743200" y="1737360"/>
            <a:ext cx="1508760"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Recurrent Neural Networks</a:t>
            </a:r>
            <a:endParaRPr lang="en-US" sz="1150" dirty="0"/>
          </a:p>
        </p:txBody>
      </p:sp>
      <p:sp>
        <p:nvSpPr>
          <p:cNvPr id="11" name="Text 9"/>
          <p:cNvSpPr txBox="1"/>
          <p:nvPr/>
        </p:nvSpPr>
        <p:spPr>
          <a:xfrm>
            <a:off x="2743200" y="2240280"/>
            <a:ext cx="1508760" cy="274320"/>
          </a:xfrm>
          <a:prstGeom prst="rect">
            <a:avLst/>
          </a:prstGeom>
          <a:noFill/>
          <a:ln/>
        </p:spPr>
        <p:txBody>
          <a:bodyPr wrap="square" lIns="0" tIns="0" rIns="0" bIns="0" rtlCol="0" anchor="ctr"/>
          <a:lstStyle/>
          <a:p>
            <a:pPr indent="0" marL="0">
              <a:buNone/>
            </a:pPr>
            <a:r>
              <a:rPr lang="en-US" sz="1050" i="1" dirty="0">
                <a:solidFill>
                  <a:srgbClr val="D9D6FF"/>
                </a:solidFill>
                <a:latin typeface="Calibri" pitchFamily="34" charset="0"/>
                <a:ea typeface="Calibri" pitchFamily="34" charset="-122"/>
                <a:cs typeface="Calibri" pitchFamily="34" charset="-120"/>
              </a:rPr>
              <a:t>Sequences</a:t>
            </a:r>
            <a:endParaRPr lang="en-US" sz="1050" dirty="0"/>
          </a:p>
        </p:txBody>
      </p:sp>
      <p:sp>
        <p:nvSpPr>
          <p:cNvPr id="12" name="Shape 10"/>
          <p:cNvSpPr/>
          <p:nvPr/>
        </p:nvSpPr>
        <p:spPr>
          <a:xfrm>
            <a:off x="4663440" y="1143000"/>
            <a:ext cx="1874520" cy="1463040"/>
          </a:xfrm>
          <a:prstGeom prst="roundRect">
            <a:avLst>
              <a:gd name="adj" fmla="val 7500"/>
            </a:avLst>
          </a:prstGeom>
          <a:solidFill>
            <a:srgbClr val="1E1B4B"/>
          </a:solidFill>
          <a:ln w="12700">
            <a:solidFill>
              <a:srgbClr val="1E1B4B"/>
            </a:solidFill>
            <a:prstDash val="solid"/>
          </a:ln>
          <a:effectLst>
            <a:outerShdw sx="100000" sy="100000" kx="0" ky="0" algn="bl" rotWithShape="0" blurRad="101600" dist="25400" dir="5400000">
              <a:srgbClr val="1E1B4B">
                <a:alpha val="12000"/>
              </a:srgbClr>
            </a:outerShdw>
          </a:effectLst>
        </p:spPr>
      </p:sp>
      <p:sp>
        <p:nvSpPr>
          <p:cNvPr id="13" name="Text 11"/>
          <p:cNvSpPr txBox="1"/>
          <p:nvPr/>
        </p:nvSpPr>
        <p:spPr>
          <a:xfrm>
            <a:off x="4846320" y="1280160"/>
            <a:ext cx="1508760" cy="457200"/>
          </a:xfrm>
          <a:prstGeom prst="rect">
            <a:avLst/>
          </a:prstGeom>
          <a:noFill/>
          <a:ln/>
        </p:spPr>
        <p:txBody>
          <a:bodyPr wrap="square" lIns="0" tIns="0" rIns="0" bIns="0" rtlCol="0" anchor="ctr"/>
          <a:lstStyle/>
          <a:p>
            <a:pPr indent="0" marL="0">
              <a:buNone/>
            </a:pPr>
            <a:r>
              <a:rPr lang="en-US" sz="2400" b="1" dirty="0">
                <a:solidFill>
                  <a:srgbClr val="FFB547"/>
                </a:solidFill>
                <a:latin typeface="Calibri" pitchFamily="34" charset="0"/>
                <a:ea typeface="Calibri" pitchFamily="34" charset="-122"/>
                <a:cs typeface="Calibri" pitchFamily="34" charset="-120"/>
              </a:rPr>
              <a:t>LSTM</a:t>
            </a:r>
            <a:endParaRPr lang="en-US" sz="2400" dirty="0"/>
          </a:p>
        </p:txBody>
      </p:sp>
      <p:sp>
        <p:nvSpPr>
          <p:cNvPr id="14" name="Text 12"/>
          <p:cNvSpPr txBox="1"/>
          <p:nvPr/>
        </p:nvSpPr>
        <p:spPr>
          <a:xfrm>
            <a:off x="4846320" y="1737360"/>
            <a:ext cx="1508760" cy="5029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Long Short-Term Memory Networks</a:t>
            </a:r>
            <a:endParaRPr lang="en-US" sz="1150" dirty="0"/>
          </a:p>
        </p:txBody>
      </p:sp>
      <p:sp>
        <p:nvSpPr>
          <p:cNvPr id="15" name="Text 13"/>
          <p:cNvSpPr txBox="1"/>
          <p:nvPr/>
        </p:nvSpPr>
        <p:spPr>
          <a:xfrm>
            <a:off x="4846320" y="2240280"/>
            <a:ext cx="1508760" cy="274320"/>
          </a:xfrm>
          <a:prstGeom prst="rect">
            <a:avLst/>
          </a:prstGeom>
          <a:noFill/>
          <a:ln/>
        </p:spPr>
        <p:txBody>
          <a:bodyPr wrap="square" lIns="0" tIns="0" rIns="0" bIns="0" rtlCol="0" anchor="ctr"/>
          <a:lstStyle/>
          <a:p>
            <a:pPr indent="0" marL="0">
              <a:buNone/>
            </a:pPr>
            <a:r>
              <a:rPr lang="en-US" sz="1050" i="1" dirty="0">
                <a:solidFill>
                  <a:srgbClr val="D9D6FF"/>
                </a:solidFill>
                <a:latin typeface="Calibri" pitchFamily="34" charset="0"/>
                <a:ea typeface="Calibri" pitchFamily="34" charset="-122"/>
                <a:cs typeface="Calibri" pitchFamily="34" charset="-120"/>
              </a:rPr>
              <a:t>Long sequences</a:t>
            </a:r>
            <a:endParaRPr lang="en-US" sz="1050" dirty="0"/>
          </a:p>
        </p:txBody>
      </p:sp>
      <p:sp>
        <p:nvSpPr>
          <p:cNvPr id="16" name="Shape 14"/>
          <p:cNvSpPr/>
          <p:nvPr/>
        </p:nvSpPr>
        <p:spPr>
          <a:xfrm>
            <a:off x="6766560" y="1143000"/>
            <a:ext cx="18745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17" name="Text 15"/>
          <p:cNvSpPr txBox="1"/>
          <p:nvPr/>
        </p:nvSpPr>
        <p:spPr>
          <a:xfrm>
            <a:off x="6949440" y="1280160"/>
            <a:ext cx="1508760" cy="457200"/>
          </a:xfrm>
          <a:prstGeom prst="rect">
            <a:avLst/>
          </a:prstGeom>
          <a:noFill/>
          <a:ln/>
        </p:spPr>
        <p:txBody>
          <a:bodyPr wrap="square" lIns="0" tIns="0" rIns="0" bIns="0" rtlCol="0" anchor="ctr"/>
          <a:lstStyle/>
          <a:p>
            <a:pPr indent="0" marL="0">
              <a:buNone/>
            </a:pPr>
            <a:r>
              <a:rPr lang="en-US" sz="2400" b="1" dirty="0">
                <a:solidFill>
                  <a:srgbClr val="6D5DF6"/>
                </a:solidFill>
                <a:latin typeface="Calibri" pitchFamily="34" charset="0"/>
                <a:ea typeface="Calibri" pitchFamily="34" charset="-122"/>
                <a:cs typeface="Calibri" pitchFamily="34" charset="-120"/>
              </a:rPr>
              <a:t>GAN</a:t>
            </a:r>
            <a:endParaRPr lang="en-US" sz="2400" dirty="0"/>
          </a:p>
        </p:txBody>
      </p:sp>
      <p:sp>
        <p:nvSpPr>
          <p:cNvPr id="18" name="Text 16"/>
          <p:cNvSpPr txBox="1"/>
          <p:nvPr/>
        </p:nvSpPr>
        <p:spPr>
          <a:xfrm>
            <a:off x="6949440" y="1737360"/>
            <a:ext cx="1508760" cy="502920"/>
          </a:xfrm>
          <a:prstGeom prst="rect">
            <a:avLst/>
          </a:prstGeom>
          <a:noFill/>
          <a:ln/>
        </p:spPr>
        <p:txBody>
          <a:bodyPr wrap="square" lIns="0" tIns="0" rIns="0" bIns="0" rtlCol="0" anchor="t"/>
          <a:lstStyle/>
          <a:p>
            <a:pPr indent="0" marL="0">
              <a:buNone/>
            </a:pPr>
            <a:r>
              <a:rPr lang="en-US" sz="1150" b="1" dirty="0">
                <a:solidFill>
                  <a:srgbClr val="1E1B4B"/>
                </a:solidFill>
                <a:latin typeface="Calibri" pitchFamily="34" charset="0"/>
                <a:ea typeface="Calibri" pitchFamily="34" charset="-122"/>
                <a:cs typeface="Calibri" pitchFamily="34" charset="-120"/>
              </a:rPr>
              <a:t>Generative Adversarial Networks</a:t>
            </a:r>
            <a:endParaRPr lang="en-US" sz="1150" dirty="0"/>
          </a:p>
        </p:txBody>
      </p:sp>
      <p:sp>
        <p:nvSpPr>
          <p:cNvPr id="19" name="Text 17"/>
          <p:cNvSpPr txBox="1"/>
          <p:nvPr/>
        </p:nvSpPr>
        <p:spPr>
          <a:xfrm>
            <a:off x="6949440" y="2240280"/>
            <a:ext cx="1508760" cy="274320"/>
          </a:xfrm>
          <a:prstGeom prst="rect">
            <a:avLst/>
          </a:prstGeom>
          <a:noFill/>
          <a:ln/>
        </p:spPr>
        <p:txBody>
          <a:bodyPr wrap="square" lIns="0" tIns="0" rIns="0" bIns="0" rtlCol="0" anchor="ctr"/>
          <a:lstStyle/>
          <a:p>
            <a:pPr indent="0" marL="0">
              <a:buNone/>
            </a:pPr>
            <a:r>
              <a:rPr lang="en-US" sz="1050" i="1" dirty="0">
                <a:solidFill>
                  <a:srgbClr val="6B6A80"/>
                </a:solidFill>
                <a:latin typeface="Calibri" pitchFamily="34" charset="0"/>
                <a:ea typeface="Calibri" pitchFamily="34" charset="-122"/>
                <a:cs typeface="Calibri" pitchFamily="34" charset="-120"/>
              </a:rPr>
              <a:t>Generating data</a:t>
            </a:r>
            <a:endParaRPr lang="en-US" sz="1050" dirty="0"/>
          </a:p>
        </p:txBody>
      </p:sp>
      <p:sp>
        <p:nvSpPr>
          <p:cNvPr id="20" name="Shape 18"/>
          <p:cNvSpPr/>
          <p:nvPr/>
        </p:nvSpPr>
        <p:spPr>
          <a:xfrm>
            <a:off x="457200" y="2834640"/>
            <a:ext cx="18745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1" name="Text 19"/>
          <p:cNvSpPr txBox="1"/>
          <p:nvPr/>
        </p:nvSpPr>
        <p:spPr>
          <a:xfrm>
            <a:off x="640080" y="2971800"/>
            <a:ext cx="1508760" cy="457200"/>
          </a:xfrm>
          <a:prstGeom prst="rect">
            <a:avLst/>
          </a:prstGeom>
          <a:noFill/>
          <a:ln/>
        </p:spPr>
        <p:txBody>
          <a:bodyPr wrap="square" lIns="0" tIns="0" rIns="0" bIns="0" rtlCol="0" anchor="ctr"/>
          <a:lstStyle/>
          <a:p>
            <a:pPr indent="0" marL="0">
              <a:buNone/>
            </a:pPr>
            <a:r>
              <a:rPr lang="en-US" sz="2400" b="1" dirty="0">
                <a:solidFill>
                  <a:srgbClr val="6D5DF6"/>
                </a:solidFill>
                <a:latin typeface="Calibri" pitchFamily="34" charset="0"/>
                <a:ea typeface="Calibri" pitchFamily="34" charset="-122"/>
                <a:cs typeface="Calibri" pitchFamily="34" charset="-120"/>
              </a:rPr>
              <a:t>MLP</a:t>
            </a:r>
            <a:endParaRPr lang="en-US" sz="2400" dirty="0"/>
          </a:p>
        </p:txBody>
      </p:sp>
      <p:sp>
        <p:nvSpPr>
          <p:cNvPr id="22" name="Text 20"/>
          <p:cNvSpPr txBox="1"/>
          <p:nvPr/>
        </p:nvSpPr>
        <p:spPr>
          <a:xfrm>
            <a:off x="640080" y="3429000"/>
            <a:ext cx="1508760" cy="502920"/>
          </a:xfrm>
          <a:prstGeom prst="rect">
            <a:avLst/>
          </a:prstGeom>
          <a:noFill/>
          <a:ln/>
        </p:spPr>
        <p:txBody>
          <a:bodyPr wrap="square" lIns="0" tIns="0" rIns="0" bIns="0" rtlCol="0" anchor="t"/>
          <a:lstStyle/>
          <a:p>
            <a:pPr indent="0" marL="0">
              <a:buNone/>
            </a:pPr>
            <a:r>
              <a:rPr lang="en-US" sz="1150" b="1" dirty="0">
                <a:solidFill>
                  <a:srgbClr val="1E1B4B"/>
                </a:solidFill>
                <a:latin typeface="Calibri" pitchFamily="34" charset="0"/>
                <a:ea typeface="Calibri" pitchFamily="34" charset="-122"/>
                <a:cs typeface="Calibri" pitchFamily="34" charset="-120"/>
              </a:rPr>
              <a:t>Multilayer Perceptrons</a:t>
            </a:r>
            <a:endParaRPr lang="en-US" sz="1150" dirty="0"/>
          </a:p>
        </p:txBody>
      </p:sp>
      <p:sp>
        <p:nvSpPr>
          <p:cNvPr id="23" name="Text 21"/>
          <p:cNvSpPr txBox="1"/>
          <p:nvPr/>
        </p:nvSpPr>
        <p:spPr>
          <a:xfrm>
            <a:off x="640080" y="3931920"/>
            <a:ext cx="1508760" cy="274320"/>
          </a:xfrm>
          <a:prstGeom prst="rect">
            <a:avLst/>
          </a:prstGeom>
          <a:noFill/>
          <a:ln/>
        </p:spPr>
        <p:txBody>
          <a:bodyPr wrap="square" lIns="0" tIns="0" rIns="0" bIns="0" rtlCol="0" anchor="ctr"/>
          <a:lstStyle/>
          <a:p>
            <a:pPr indent="0" marL="0">
              <a:buNone/>
            </a:pPr>
            <a:r>
              <a:rPr lang="en-US" sz="1050" i="1" dirty="0">
                <a:solidFill>
                  <a:srgbClr val="6B6A80"/>
                </a:solidFill>
                <a:latin typeface="Calibri" pitchFamily="34" charset="0"/>
                <a:ea typeface="Calibri" pitchFamily="34" charset="-122"/>
                <a:cs typeface="Calibri" pitchFamily="34" charset="-120"/>
              </a:rPr>
              <a:t>General purpose</a:t>
            </a:r>
            <a:endParaRPr lang="en-US" sz="1050" dirty="0"/>
          </a:p>
        </p:txBody>
      </p:sp>
      <p:sp>
        <p:nvSpPr>
          <p:cNvPr id="24" name="Shape 22"/>
          <p:cNvSpPr/>
          <p:nvPr/>
        </p:nvSpPr>
        <p:spPr>
          <a:xfrm>
            <a:off x="2560320" y="2834640"/>
            <a:ext cx="18745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5" name="Text 23"/>
          <p:cNvSpPr txBox="1"/>
          <p:nvPr/>
        </p:nvSpPr>
        <p:spPr>
          <a:xfrm>
            <a:off x="2743200" y="2971800"/>
            <a:ext cx="1508760" cy="457200"/>
          </a:xfrm>
          <a:prstGeom prst="rect">
            <a:avLst/>
          </a:prstGeom>
          <a:noFill/>
          <a:ln/>
        </p:spPr>
        <p:txBody>
          <a:bodyPr wrap="square" lIns="0" tIns="0" rIns="0" bIns="0" rtlCol="0" anchor="ctr"/>
          <a:lstStyle/>
          <a:p>
            <a:pPr indent="0" marL="0">
              <a:buNone/>
            </a:pPr>
            <a:r>
              <a:rPr lang="en-US" sz="2400" b="1" dirty="0">
                <a:solidFill>
                  <a:srgbClr val="6D5DF6"/>
                </a:solidFill>
                <a:latin typeface="Calibri" pitchFamily="34" charset="0"/>
                <a:ea typeface="Calibri" pitchFamily="34" charset="-122"/>
                <a:cs typeface="Calibri" pitchFamily="34" charset="-120"/>
              </a:rPr>
              <a:t>RBFN</a:t>
            </a:r>
            <a:endParaRPr lang="en-US" sz="2400" dirty="0"/>
          </a:p>
        </p:txBody>
      </p:sp>
      <p:sp>
        <p:nvSpPr>
          <p:cNvPr id="26" name="Text 24"/>
          <p:cNvSpPr txBox="1"/>
          <p:nvPr/>
        </p:nvSpPr>
        <p:spPr>
          <a:xfrm>
            <a:off x="2743200" y="3429000"/>
            <a:ext cx="1508760" cy="502920"/>
          </a:xfrm>
          <a:prstGeom prst="rect">
            <a:avLst/>
          </a:prstGeom>
          <a:noFill/>
          <a:ln/>
        </p:spPr>
        <p:txBody>
          <a:bodyPr wrap="square" lIns="0" tIns="0" rIns="0" bIns="0" rtlCol="0" anchor="t"/>
          <a:lstStyle/>
          <a:p>
            <a:pPr indent="0" marL="0">
              <a:buNone/>
            </a:pPr>
            <a:r>
              <a:rPr lang="en-US" sz="1150" b="1" dirty="0">
                <a:solidFill>
                  <a:srgbClr val="1E1B4B"/>
                </a:solidFill>
                <a:latin typeface="Calibri" pitchFamily="34" charset="0"/>
                <a:ea typeface="Calibri" pitchFamily="34" charset="-122"/>
                <a:cs typeface="Calibri" pitchFamily="34" charset="-120"/>
              </a:rPr>
              <a:t>Radial Basis Function Networks</a:t>
            </a:r>
            <a:endParaRPr lang="en-US" sz="1150" dirty="0"/>
          </a:p>
        </p:txBody>
      </p:sp>
      <p:sp>
        <p:nvSpPr>
          <p:cNvPr id="27" name="Text 25"/>
          <p:cNvSpPr txBox="1"/>
          <p:nvPr/>
        </p:nvSpPr>
        <p:spPr>
          <a:xfrm>
            <a:off x="2743200" y="3931920"/>
            <a:ext cx="1508760" cy="274320"/>
          </a:xfrm>
          <a:prstGeom prst="rect">
            <a:avLst/>
          </a:prstGeom>
          <a:noFill/>
          <a:ln/>
        </p:spPr>
        <p:txBody>
          <a:bodyPr wrap="square" lIns="0" tIns="0" rIns="0" bIns="0" rtlCol="0" anchor="ctr"/>
          <a:lstStyle/>
          <a:p>
            <a:pPr indent="0" marL="0">
              <a:buNone/>
            </a:pPr>
            <a:r>
              <a:rPr lang="en-US" sz="1050" i="1" dirty="0">
                <a:solidFill>
                  <a:srgbClr val="6B6A80"/>
                </a:solidFill>
                <a:latin typeface="Calibri" pitchFamily="34" charset="0"/>
                <a:ea typeface="Calibri" pitchFamily="34" charset="-122"/>
                <a:cs typeface="Calibri" pitchFamily="34" charset="-120"/>
              </a:rPr>
              <a:t>Classification</a:t>
            </a:r>
            <a:endParaRPr lang="en-US" sz="1050" dirty="0"/>
          </a:p>
        </p:txBody>
      </p:sp>
      <p:sp>
        <p:nvSpPr>
          <p:cNvPr id="28" name="Shape 26"/>
          <p:cNvSpPr/>
          <p:nvPr/>
        </p:nvSpPr>
        <p:spPr>
          <a:xfrm>
            <a:off x="4663440" y="2834640"/>
            <a:ext cx="18745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29" name="Text 27"/>
          <p:cNvSpPr txBox="1"/>
          <p:nvPr/>
        </p:nvSpPr>
        <p:spPr>
          <a:xfrm>
            <a:off x="4846320" y="2971800"/>
            <a:ext cx="1508760" cy="457200"/>
          </a:xfrm>
          <a:prstGeom prst="rect">
            <a:avLst/>
          </a:prstGeom>
          <a:noFill/>
          <a:ln/>
        </p:spPr>
        <p:txBody>
          <a:bodyPr wrap="square" lIns="0" tIns="0" rIns="0" bIns="0" rtlCol="0" anchor="ctr"/>
          <a:lstStyle/>
          <a:p>
            <a:pPr indent="0" marL="0">
              <a:buNone/>
            </a:pPr>
            <a:r>
              <a:rPr lang="en-US" sz="2400" b="1" dirty="0">
                <a:solidFill>
                  <a:srgbClr val="6D5DF6"/>
                </a:solidFill>
                <a:latin typeface="Calibri" pitchFamily="34" charset="0"/>
                <a:ea typeface="Calibri" pitchFamily="34" charset="-122"/>
                <a:cs typeface="Calibri" pitchFamily="34" charset="-120"/>
              </a:rPr>
              <a:t>SOM</a:t>
            </a:r>
            <a:endParaRPr lang="en-US" sz="2400" dirty="0"/>
          </a:p>
        </p:txBody>
      </p:sp>
      <p:sp>
        <p:nvSpPr>
          <p:cNvPr id="30" name="Text 28"/>
          <p:cNvSpPr txBox="1"/>
          <p:nvPr/>
        </p:nvSpPr>
        <p:spPr>
          <a:xfrm>
            <a:off x="4846320" y="3429000"/>
            <a:ext cx="1508760" cy="502920"/>
          </a:xfrm>
          <a:prstGeom prst="rect">
            <a:avLst/>
          </a:prstGeom>
          <a:noFill/>
          <a:ln/>
        </p:spPr>
        <p:txBody>
          <a:bodyPr wrap="square" lIns="0" tIns="0" rIns="0" bIns="0" rtlCol="0" anchor="t"/>
          <a:lstStyle/>
          <a:p>
            <a:pPr indent="0" marL="0">
              <a:buNone/>
            </a:pPr>
            <a:r>
              <a:rPr lang="en-US" sz="1150" b="1" dirty="0">
                <a:solidFill>
                  <a:srgbClr val="1E1B4B"/>
                </a:solidFill>
                <a:latin typeface="Calibri" pitchFamily="34" charset="0"/>
                <a:ea typeface="Calibri" pitchFamily="34" charset="-122"/>
                <a:cs typeface="Calibri" pitchFamily="34" charset="-120"/>
              </a:rPr>
              <a:t>Self-Organizing Maps</a:t>
            </a:r>
            <a:endParaRPr lang="en-US" sz="1150" dirty="0"/>
          </a:p>
        </p:txBody>
      </p:sp>
      <p:sp>
        <p:nvSpPr>
          <p:cNvPr id="31" name="Text 29"/>
          <p:cNvSpPr txBox="1"/>
          <p:nvPr/>
        </p:nvSpPr>
        <p:spPr>
          <a:xfrm>
            <a:off x="4846320" y="3931920"/>
            <a:ext cx="1508760" cy="274320"/>
          </a:xfrm>
          <a:prstGeom prst="rect">
            <a:avLst/>
          </a:prstGeom>
          <a:noFill/>
          <a:ln/>
        </p:spPr>
        <p:txBody>
          <a:bodyPr wrap="square" lIns="0" tIns="0" rIns="0" bIns="0" rtlCol="0" anchor="ctr"/>
          <a:lstStyle/>
          <a:p>
            <a:pPr indent="0" marL="0">
              <a:buNone/>
            </a:pPr>
            <a:r>
              <a:rPr lang="en-US" sz="1050" i="1" dirty="0">
                <a:solidFill>
                  <a:srgbClr val="6B6A80"/>
                </a:solidFill>
                <a:latin typeface="Calibri" pitchFamily="34" charset="0"/>
                <a:ea typeface="Calibri" pitchFamily="34" charset="-122"/>
                <a:cs typeface="Calibri" pitchFamily="34" charset="-120"/>
              </a:rPr>
              <a:t>Clustering</a:t>
            </a:r>
            <a:endParaRPr lang="en-US" sz="1050" dirty="0"/>
          </a:p>
        </p:txBody>
      </p:sp>
      <p:sp>
        <p:nvSpPr>
          <p:cNvPr id="32" name="Shape 30"/>
          <p:cNvSpPr/>
          <p:nvPr/>
        </p:nvSpPr>
        <p:spPr>
          <a:xfrm>
            <a:off x="6766560" y="2834640"/>
            <a:ext cx="1874520" cy="1463040"/>
          </a:xfrm>
          <a:prstGeom prst="roundRect">
            <a:avLst>
              <a:gd name="adj" fmla="val 7500"/>
            </a:avLst>
          </a:prstGeom>
          <a:solidFill>
            <a:srgbClr val="FFFFFF"/>
          </a:solidFill>
          <a:ln w="12700">
            <a:solidFill>
              <a:srgbClr val="FFFFFF"/>
            </a:solidFill>
            <a:prstDash val="solid"/>
          </a:ln>
          <a:effectLst>
            <a:outerShdw sx="100000" sy="100000" kx="0" ky="0" algn="bl" rotWithShape="0" blurRad="101600" dist="25400" dir="5400000">
              <a:srgbClr val="1E1B4B">
                <a:alpha val="12000"/>
              </a:srgbClr>
            </a:outerShdw>
          </a:effectLst>
        </p:spPr>
      </p:sp>
      <p:sp>
        <p:nvSpPr>
          <p:cNvPr id="33" name="Text 31"/>
          <p:cNvSpPr txBox="1"/>
          <p:nvPr/>
        </p:nvSpPr>
        <p:spPr>
          <a:xfrm>
            <a:off x="6949440" y="2971800"/>
            <a:ext cx="1508760" cy="457200"/>
          </a:xfrm>
          <a:prstGeom prst="rect">
            <a:avLst/>
          </a:prstGeom>
          <a:noFill/>
          <a:ln/>
        </p:spPr>
        <p:txBody>
          <a:bodyPr wrap="square" lIns="0" tIns="0" rIns="0" bIns="0" rtlCol="0" anchor="ctr"/>
          <a:lstStyle/>
          <a:p>
            <a:pPr indent="0" marL="0">
              <a:buNone/>
            </a:pPr>
            <a:r>
              <a:rPr lang="en-US" sz="2400" b="1" dirty="0">
                <a:solidFill>
                  <a:srgbClr val="6D5DF6"/>
                </a:solidFill>
                <a:latin typeface="Calibri" pitchFamily="34" charset="0"/>
                <a:ea typeface="Calibri" pitchFamily="34" charset="-122"/>
                <a:cs typeface="Calibri" pitchFamily="34" charset="-120"/>
              </a:rPr>
              <a:t>DBN</a:t>
            </a:r>
            <a:endParaRPr lang="en-US" sz="2400" dirty="0"/>
          </a:p>
        </p:txBody>
      </p:sp>
      <p:sp>
        <p:nvSpPr>
          <p:cNvPr id="34" name="Text 32"/>
          <p:cNvSpPr txBox="1"/>
          <p:nvPr/>
        </p:nvSpPr>
        <p:spPr>
          <a:xfrm>
            <a:off x="6949440" y="3429000"/>
            <a:ext cx="1508760" cy="502920"/>
          </a:xfrm>
          <a:prstGeom prst="rect">
            <a:avLst/>
          </a:prstGeom>
          <a:noFill/>
          <a:ln/>
        </p:spPr>
        <p:txBody>
          <a:bodyPr wrap="square" lIns="0" tIns="0" rIns="0" bIns="0" rtlCol="0" anchor="t"/>
          <a:lstStyle/>
          <a:p>
            <a:pPr indent="0" marL="0">
              <a:buNone/>
            </a:pPr>
            <a:r>
              <a:rPr lang="en-US" sz="1150" b="1" dirty="0">
                <a:solidFill>
                  <a:srgbClr val="1E1B4B"/>
                </a:solidFill>
                <a:latin typeface="Calibri" pitchFamily="34" charset="0"/>
                <a:ea typeface="Calibri" pitchFamily="34" charset="-122"/>
                <a:cs typeface="Calibri" pitchFamily="34" charset="-120"/>
              </a:rPr>
              <a:t>Deep Belief Networks</a:t>
            </a:r>
            <a:endParaRPr lang="en-US" sz="1150" dirty="0"/>
          </a:p>
        </p:txBody>
      </p:sp>
      <p:sp>
        <p:nvSpPr>
          <p:cNvPr id="35" name="Text 33"/>
          <p:cNvSpPr txBox="1"/>
          <p:nvPr/>
        </p:nvSpPr>
        <p:spPr>
          <a:xfrm>
            <a:off x="6949440" y="3931920"/>
            <a:ext cx="1508760" cy="274320"/>
          </a:xfrm>
          <a:prstGeom prst="rect">
            <a:avLst/>
          </a:prstGeom>
          <a:noFill/>
          <a:ln/>
        </p:spPr>
        <p:txBody>
          <a:bodyPr wrap="square" lIns="0" tIns="0" rIns="0" bIns="0" rtlCol="0" anchor="ctr"/>
          <a:lstStyle/>
          <a:p>
            <a:pPr indent="0" marL="0">
              <a:buNone/>
            </a:pPr>
            <a:r>
              <a:rPr lang="en-US" sz="1050" i="1" dirty="0">
                <a:solidFill>
                  <a:srgbClr val="6B6A80"/>
                </a:solidFill>
                <a:latin typeface="Calibri" pitchFamily="34" charset="0"/>
                <a:ea typeface="Calibri" pitchFamily="34" charset="-122"/>
                <a:cs typeface="Calibri" pitchFamily="34" charset="-120"/>
              </a:rPr>
              <a:t>Feature learning</a:t>
            </a:r>
            <a:endParaRPr lang="en-US" sz="1050" dirty="0"/>
          </a:p>
        </p:txBody>
      </p:sp>
      <p:sp>
        <p:nvSpPr>
          <p:cNvPr id="36" name="Text 34"/>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F"/>
        </a:solidFill>
      </p:bgPr>
    </p:bg>
    <p:spTree>
      <p:nvGrpSpPr>
        <p:cNvPr id="1" name=""/>
        <p:cNvGrpSpPr/>
        <p:nvPr/>
      </p:nvGrpSpPr>
      <p:grpSpPr>
        <a:xfrm>
          <a:off x="0" y="0"/>
          <a:ext cx="0" cy="0"/>
          <a:chOff x="0" y="0"/>
          <a:chExt cx="0" cy="0"/>
        </a:xfrm>
      </p:grpSpPr>
      <p:sp>
        <p:nvSpPr>
          <p:cNvPr id="2" name="Text 0"/>
          <p:cNvSpPr txBox="1"/>
          <p:nvPr/>
        </p:nvSpPr>
        <p:spPr>
          <a:xfrm>
            <a:off x="457200" y="109728"/>
            <a:ext cx="5486400" cy="228600"/>
          </a:xfrm>
          <a:prstGeom prst="rect">
            <a:avLst/>
          </a:prstGeom>
          <a:noFill/>
          <a:ln/>
        </p:spPr>
        <p:txBody>
          <a:bodyPr wrap="square" lIns="0" tIns="0" rIns="0" bIns="0" rtlCol="0" anchor="ctr"/>
          <a:lstStyle/>
          <a:p>
            <a:pPr indent="0" marL="0">
              <a:buNone/>
            </a:pPr>
            <a:r>
              <a:rPr lang="en-US" sz="1000" b="1" spc="300" kern="0" dirty="0">
                <a:solidFill>
                  <a:srgbClr val="6D5DF6"/>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1B4B"/>
                </a:solidFill>
                <a:latin typeface="Calibri" pitchFamily="34" charset="0"/>
                <a:ea typeface="Calibri" pitchFamily="34" charset="-122"/>
                <a:cs typeface="Calibri" pitchFamily="34" charset="-120"/>
              </a:rPr>
              <a:t>Comparing the Types of ML</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286000"/>
                <a:gridCol w="2240280"/>
                <a:gridCol w="2240280"/>
              </a:tblGrid>
              <a:tr h="566928">
                <a:tc>
                  <a:txBody>
                    <a:bodyPr/>
                    <a:lstStyle/>
                    <a:p>
                      <a:pPr indent="0" marL="0">
                        <a:buNone/>
                      </a:pPr>
                      <a:endParaRPr lang="en-US" sz="130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1E1B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Supervised</a:t>
                      </a:r>
                      <a:endParaRPr lang="en-US" sz="130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1E1B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Unsupervised</a:t>
                      </a:r>
                      <a:endParaRPr lang="en-US" sz="130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1E1B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Reinforcement</a:t>
                      </a:r>
                      <a:endParaRPr lang="en-US" sz="130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1E1B4B"/>
                    </a:solidFill>
                  </a:tcPr>
                </a:tc>
              </a:tr>
              <a:tr h="566928">
                <a:tc>
                  <a:txBody>
                    <a:bodyPr/>
                    <a:lstStyle/>
                    <a:p>
                      <a:pPr indent="0" marL="0">
                        <a:buNone/>
                      </a:pPr>
                      <a:r>
                        <a:rPr lang="en-US" sz="1250" b="1" dirty="0">
                          <a:solidFill>
                            <a:srgbClr val="6D5DF6"/>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EEED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Labeled</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Unlabeled</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Rewards from an environment</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6D5DF6"/>
                          </a:solidFill>
                          <a:latin typeface="Calibri" pitchFamily="34" charset="0"/>
                          <a:ea typeface="Calibri" pitchFamily="34" charset="-122"/>
                          <a:cs typeface="Calibri" pitchFamily="34" charset="-120"/>
                        </a:rPr>
                        <a:t>Goal</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EEED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Predict a known answer</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Discover hidden structure</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Learn the best actions</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6D5DF6"/>
                          </a:solidFill>
                          <a:latin typeface="Calibri" pitchFamily="34" charset="0"/>
                          <a:ea typeface="Calibri" pitchFamily="34" charset="-122"/>
                          <a:cs typeface="Calibri" pitchFamily="34" charset="-120"/>
                        </a:rPr>
                        <a:t>Algorithms</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EEED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Linear / Logistic Regression, SVM, KNN</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K-Means, PCA, Association Rules</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Trial &amp; error with rewards</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6D5DF6"/>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EEED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Spam detection</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Fraud detection</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c>
                  <a:txBody>
                    <a:bodyPr/>
                    <a:lstStyle/>
                    <a:p>
                      <a:pPr indent="0" marL="0">
                        <a:buNone/>
                      </a:pPr>
                      <a:r>
                        <a:rPr lang="en-US" sz="1250" dirty="0">
                          <a:solidFill>
                            <a:srgbClr val="2B2A3D"/>
                          </a:solidFill>
                          <a:latin typeface="Calibri" pitchFamily="34" charset="0"/>
                          <a:ea typeface="Calibri" pitchFamily="34" charset="-122"/>
                          <a:cs typeface="Calibri" pitchFamily="34" charset="-120"/>
                        </a:rPr>
                        <a:t>Training a dog / game AI</a:t>
                      </a:r>
                      <a:endParaRPr lang="en-US" sz="1250" dirty="0">
                        <a:latin typeface="Calibri" charset="0"/>
                        <a:ea typeface="Calibri" charset="0"/>
                        <a:cs typeface="Calibri" charset="0"/>
                      </a:endParaRPr>
                    </a:p>
                  </a:txBody>
                  <a:tcPr marL="73152" marR="73152" marT="73152" marB="73152" anchor="ctr">
                    <a:lnL w="12700" cap="flat" cmpd="sng" algn="ctr">
                      <a:solidFill>
                        <a:srgbClr val="E2E1F0"/>
                      </a:solidFill>
                      <a:prstDash val="solid"/>
                      <a:round/>
                      <a:headEnd type="none" w="med" len="med"/>
                      <a:tailEnd type="none" w="med" len="med"/>
                    </a:lnL>
                    <a:lnR w="12700" cap="flat" cmpd="sng" algn="ctr">
                      <a:solidFill>
                        <a:srgbClr val="E2E1F0"/>
                      </a:solidFill>
                      <a:prstDash val="solid"/>
                      <a:round/>
                      <a:headEnd type="none" w="med" len="med"/>
                      <a:tailEnd type="none" w="med" len="med"/>
                    </a:lnR>
                    <a:lnT w="12700" cap="flat" cmpd="sng" algn="ctr">
                      <a:solidFill>
                        <a:srgbClr val="E2E1F0"/>
                      </a:solidFill>
                      <a:prstDash val="solid"/>
                      <a:round/>
                      <a:headEnd type="none" w="med" len="med"/>
                      <a:tailEnd type="none" w="med" len="med"/>
                    </a:lnT>
                    <a:lnB w="12700" cap="flat" cmpd="sng" algn="ctr">
                      <a:solidFill>
                        <a:srgbClr val="E2E1F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321040" y="4754880"/>
            <a:ext cx="365760" cy="228600"/>
          </a:xfrm>
          <a:prstGeom prst="rect">
            <a:avLst/>
          </a:prstGeom>
          <a:noFill/>
          <a:ln/>
        </p:spPr>
        <p:txBody>
          <a:bodyPr wrap="square" lIns="0" tIns="0" rIns="0" bIns="0" rtlCol="0" anchor="ctr"/>
          <a:lstStyle/>
          <a:p>
            <a:pPr algn="r" indent="0" marL="0">
              <a:buNone/>
            </a:pPr>
            <a:r>
              <a:rPr lang="en-US" sz="900" dirty="0">
                <a:solidFill>
                  <a:srgbClr val="6B6A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6217920" y="1188720"/>
            <a:ext cx="2377440" cy="2377440"/>
          </a:xfrm>
          <a:prstGeom prst="ellipse">
            <a:avLst/>
          </a:prstGeom>
          <a:solidFill>
            <a:srgbClr val="6D5DF6"/>
          </a:solidFill>
          <a:ln w="12700">
            <a:solidFill>
              <a:srgbClr val="6D5DF6"/>
            </a:solidFill>
            <a:prstDash val="solid"/>
          </a:ln>
        </p:spPr>
      </p:sp>
      <p:pic>
        <p:nvPicPr>
          <p:cNvPr id="3" name="Image 0" descr="preencoded.png">    </p:cNvPr>
          <p:cNvPicPr>
            <a:picLocks noChangeAspect="1"/>
          </p:cNvPicPr>
          <p:nvPr/>
        </p:nvPicPr>
        <p:blipFill>
          <a:blip r:embed="rId1"/>
          <a:stretch>
            <a:fillRect/>
          </a:stretch>
        </p:blipFill>
        <p:spPr>
          <a:xfrm>
            <a:off x="6812280" y="1783080"/>
            <a:ext cx="1188720" cy="1188720"/>
          </a:xfrm>
          <a:prstGeom prst="rect">
            <a:avLst/>
          </a:prstGeom>
        </p:spPr>
      </p:pic>
      <p:sp>
        <p:nvSpPr>
          <p:cNvPr id="4" name="Text 1"/>
          <p:cNvSpPr txBox="1"/>
          <p:nvPr/>
        </p:nvSpPr>
        <p:spPr>
          <a:xfrm>
            <a:off x="548640" y="1554480"/>
            <a:ext cx="530352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Text 2"/>
          <p:cNvSpPr txBox="1"/>
          <p:nvPr/>
        </p:nvSpPr>
        <p:spPr>
          <a:xfrm>
            <a:off x="548640" y="2468880"/>
            <a:ext cx="5303520" cy="548640"/>
          </a:xfrm>
          <a:prstGeom prst="rect">
            <a:avLst/>
          </a:prstGeom>
          <a:noFill/>
          <a:ln/>
        </p:spPr>
        <p:txBody>
          <a:bodyPr wrap="square" lIns="0" tIns="0" rIns="0" bIns="0" rtlCol="0" anchor="ctr"/>
          <a:lstStyle/>
          <a:p>
            <a:pPr indent="0" marL="0">
              <a:buNone/>
            </a:pPr>
            <a:r>
              <a:rPr lang="en-US" sz="2400" dirty="0">
                <a:solidFill>
                  <a:srgbClr val="FFB547"/>
                </a:solidFill>
                <a:latin typeface="Calibri" pitchFamily="34" charset="0"/>
                <a:ea typeface="Calibri" pitchFamily="34" charset="-122"/>
                <a:cs typeface="Calibri" pitchFamily="34" charset="-120"/>
              </a:rPr>
              <a:t>Questions?</a:t>
            </a:r>
            <a:endParaRPr lang="en-US" sz="2400" dirty="0"/>
          </a:p>
        </p:txBody>
      </p:sp>
      <p:sp>
        <p:nvSpPr>
          <p:cNvPr id="6" name="Text 3"/>
          <p:cNvSpPr txBox="1"/>
          <p:nvPr/>
        </p:nvSpPr>
        <p:spPr>
          <a:xfrm>
            <a:off x="548640" y="4114800"/>
            <a:ext cx="4572000" cy="365760"/>
          </a:xfrm>
          <a:prstGeom prst="rect">
            <a:avLst/>
          </a:prstGeom>
          <a:noFill/>
          <a:ln/>
        </p:spPr>
        <p:txBody>
          <a:bodyPr wrap="square" lIns="0" tIns="0" rIns="0" bIns="0" rtlCol="0" anchor="ctr"/>
          <a:lstStyle/>
          <a:p>
            <a:pPr indent="0" marL="0">
              <a:buNone/>
            </a:pPr>
            <a:r>
              <a:rPr lang="en-US" sz="1600" b="1" dirty="0">
                <a:solidFill>
                  <a:srgbClr val="D9D6FF"/>
                </a:solidFill>
                <a:latin typeface="Calibri" pitchFamily="34" charset="0"/>
                <a:ea typeface="Calibri" pitchFamily="34" charset="-122"/>
                <a:cs typeface="Calibri" pitchFamily="34" charset="-120"/>
              </a:rPr>
              <a:t>Eng. Rahma Khaled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subject>PptxGenJS Presentation</dc:subject>
  <dc:creator>Eng. Rahma Khaled</dc:creator>
  <cp:lastModifiedBy>Eng. Rahma Khaled</cp:lastModifiedBy>
  <cp:revision>1</cp:revision>
  <dcterms:created xsi:type="dcterms:W3CDTF">2026-09-26T13:06:38Z</dcterms:created>
  <dcterms:modified xsi:type="dcterms:W3CDTF">2026-09-26T13:06:38Z</dcterms:modified>
</cp:coreProperties>
</file>