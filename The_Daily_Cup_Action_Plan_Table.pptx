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ction Plan" id="{8aaa02d0-0089-74e6-ab9f-f08824ff8faa}">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action plan for The Daily Cup, in the same format as the template.
Objective: in one month, reach 40,000 people, gain 500 followers, get 100 messages and 10 more customers a day.
Each row is one task, in order by week. For every task we show who is responsible, what we need, how we check progress, and what we change if it doesn't work.
Each person owns the tasks for the slides they present: Rahma (slides 1 to 3), Aya (slides 4 to 6), Mahmoud (slides 7 to 10) and Abader (slides 11 to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914400"/>
            <a:ext cx="4389120" cy="320040"/>
          </a:xfrm>
          <a:prstGeom prst="rect">
            <a:avLst/>
          </a:prstGeom>
          <a:noFill/>
          <a:ln/>
        </p:spPr>
        <p:txBody>
          <a:bodyPr wrap="square" rtlCol="0"/>
          <a:lstStyle>
            <a:lvl1pPr indent="0" marL="0">
              <a:buNone/>
              <a:defRPr lang="en-US" sz="1200" b="1" spc="300" kern="0"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548640" y="1325880"/>
            <a:ext cx="4389120" cy="146304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4" name="Text 0"/>
          <p:cNvSpPr/>
          <p:nvPr>
            <p:ph idx="102" type="body" hasCustomPrompt="1"/>
          </p:nvPr>
        </p:nvSpPr>
        <p:spPr>
          <a:xfrm>
            <a:off x="548640" y="2880360"/>
            <a:ext cx="4206240" cy="1005840"/>
          </a:xfrm>
          <a:prstGeom prst="rect">
            <a:avLst/>
          </a:prstGeom>
          <a:noFill/>
          <a:ln/>
        </p:spPr>
        <p:txBody>
          <a:bodyPr wrap="square" rtlCol="0"/>
          <a:lstStyle>
            <a:lvl1pPr algn="l" indent="0" marL="0">
              <a:buNone/>
              <a:defRPr lang="en-US" sz="1500" dirty="0">
                <a:solidFill>
                  <a:schemeClr val="accent2"/>
                </a:solidFill>
              </a:defRPr>
            </a:lvl1pPr>
          </a:lstStyle>
          <a:p>
            <a:pPr algn="l"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rtlCol="0"/>
          <a:lstStyle>
            <a:lvl1pPr indent="0" marL="0">
              <a:buNone/>
              <a:defRPr lang="en-US" sz="1100" b="1" spc="20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457200" y="530352"/>
            <a:ext cx="8229600" cy="64008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4" name="Text 0"/>
          <p:cNvSpPr/>
          <p:nvPr/>
        </p:nvSpPr>
        <p:spPr>
          <a:xfrm>
            <a:off x="457200" y="4800600"/>
            <a:ext cx="5486400" cy="228600"/>
          </a:xfrm>
          <a:prstGeom prst="rect">
            <a:avLst/>
          </a:prstGeom>
          <a:noFill/>
          <a:ln/>
        </p:spPr>
        <p:txBody>
          <a:bodyPr wrap="square" lIns="0" tIns="0" rIns="0" bIns="0" rtlCol="0" anchor="ctr"/>
          <a:lstStyle/>
          <a:p>
            <a:pPr indent="0" marL="0">
              <a:buNone/>
            </a:pPr>
            <a:r>
              <a:rPr lang="en-US" sz="1000" dirty="0">
                <a:solidFill>
                  <a:schemeClr val="accent5"/>
                </a:solidFill>
              </a:rPr>
              <a:t>Pulse Marketing  |  Action Plan for The Daily Cup</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ction Plan Templat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20040" y="137160"/>
            <a:ext cx="6583680" cy="502920"/>
          </a:xfrm>
          <a:prstGeom prst="rect">
            <a:avLst/>
          </a:prstGeom>
          <a:noFill/>
          <a:ln/>
        </p:spPr>
        <p:txBody>
          <a:bodyPr wrap="square" rtlCol="0"/>
          <a:lstStyle>
            <a:lvl1pPr algn="l" indent="0" marL="0">
              <a:buNone/>
              <a:defRPr lang="en-US" sz="2800" b="1" dirty="0">
                <a:solidFill>
                  <a:schemeClr val="accent1"/>
                </a:solidFill>
                <a:latin typeface="Cambria" pitchFamily="34" charset="0"/>
                <a:ea typeface="Cambria" pitchFamily="34" charset="-122"/>
                <a:cs typeface="Cambria" pitchFamily="34" charset="-120"/>
              </a:defRPr>
            </a:lvl1pPr>
          </a:lstStyle>
          <a:p>
            <a:pPr algn="l" indent="0" marL="0">
              <a:buNone/>
            </a:pPr>
            <a:endParaRPr lang="en-US" sz="2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320040" y="137160"/>
            <a:ext cx="6583680" cy="502920"/>
          </a:xfrm>
          <a:prstGeom prst="rect">
            <a:avLst/>
          </a:prstGeom>
          <a:noFill/>
          <a:ln/>
        </p:spPr>
        <p:txBody>
          <a:bodyPr wrap="square" lIns="0" tIns="0" rIns="0" bIns="0" rtlCol="0" anchor="ctr"/>
          <a:lstStyle/>
          <a:p>
            <a:pPr algn="l" indent="0" marL="0">
              <a:buNone/>
            </a:pPr>
            <a:r>
              <a:rPr lang="en-US" sz="2800" b="1" dirty="0">
                <a:solidFill>
                  <a:schemeClr val="accent1"/>
                </a:solidFill>
                <a:latin typeface="Cambria" pitchFamily="34" charset="0"/>
                <a:ea typeface="Cambria" pitchFamily="34" charset="-122"/>
                <a:cs typeface="Cambria" pitchFamily="34" charset="-120"/>
              </a:rPr>
              <a:t>Action Plan: The Daily Cup Café</a:t>
            </a:r>
            <a:endParaRPr lang="en-US" sz="2800" dirty="0"/>
          </a:p>
        </p:txBody>
      </p:sp>
      <p:sp>
        <p:nvSpPr>
          <p:cNvPr id="3" name="Agency name"/>
          <p:cNvSpPr txBox="1"/>
          <p:nvPr/>
        </p:nvSpPr>
        <p:spPr>
          <a:xfrm>
            <a:off x="6949440" y="137160"/>
            <a:ext cx="1874520" cy="502920"/>
          </a:xfrm>
          <a:prstGeom prst="rect">
            <a:avLst/>
          </a:prstGeom>
          <a:noFill/>
          <a:ln/>
        </p:spPr>
        <p:txBody>
          <a:bodyPr wrap="square" lIns="0" tIns="0" rIns="0" bIns="0" rtlCol="0" anchor="ctr"/>
          <a:lstStyle/>
          <a:p>
            <a:pPr algn="r" indent="0" marL="0">
              <a:buNone/>
            </a:pPr>
            <a:r>
              <a:rPr lang="en-US" sz="1100" b="1" dirty="0">
                <a:solidFill>
                  <a:schemeClr val="accent2"/>
                </a:solidFill>
              </a:rPr>
              <a:t>Pulse Marketing</a:t>
            </a:r>
            <a:endParaRPr lang="en-US" sz="1100" dirty="0"/>
          </a:p>
        </p:txBody>
      </p:sp>
      <p:sp>
        <p:nvSpPr>
          <p:cNvPr id="4" name="Objective"/>
          <p:cNvSpPr txBox="1"/>
          <p:nvPr/>
        </p:nvSpPr>
        <p:spPr>
          <a:xfrm>
            <a:off x="320040" y="658368"/>
            <a:ext cx="8503920" cy="292608"/>
          </a:xfrm>
          <a:prstGeom prst="rect">
            <a:avLst/>
          </a:prstGeom>
          <a:noFill/>
          <a:ln/>
        </p:spPr>
        <p:txBody>
          <a:bodyPr wrap="square" lIns="0" tIns="0" rIns="0" bIns="0" rtlCol="0" anchor="ctr"/>
          <a:lstStyle/>
          <a:p>
            <a:pPr indent="0" marL="0">
              <a:buNone/>
            </a:pPr>
            <a:r>
              <a:rPr lang="en-US" sz="1100" b="1" dirty="0">
                <a:solidFill>
                  <a:schemeClr val="accent2"/>
                </a:solidFill>
              </a:rPr>
              <a:t>Objective: </a:t>
            </a:r>
            <a:pPr indent="0" marL="0">
              <a:buNone/>
            </a:pPr>
            <a:r>
              <a:rPr lang="en-US" sz="1100" b="1" dirty="0">
                <a:solidFill>
                  <a:schemeClr val="bg1"/>
                </a:solidFill>
              </a:rPr>
              <a:t>In one month, reach 40K+ people, gain 500 followers, get 100+ messages and 10 more customers a day</a:t>
            </a:r>
            <a:endParaRPr lang="en-US" sz="1100" dirty="0"/>
          </a:p>
        </p:txBody>
      </p:sp>
      <p:graphicFrame>
        <p:nvGraphicFramePr>
          <p:cNvPr id="2" name="Action plan table"/>
          <p:cNvGraphicFramePr>
            <a:graphicFrameLocks noGrp="1"/>
          </p:cNvGraphicFramePr>
          <p:nvPr>
            <p:extLst>
              <p:ext uri="{D42A27DB-BD31-4B8C-83A1-F6EECF244321}">
                <p14:modId xmlns:p14="http://schemas.microsoft.com/office/powerpoint/2010/main" val="1579011935"/>
              </p:ext>
            </p:extLst>
          </p:nvPr>
        </p:nvGraphicFramePr>
        <p:xfrm>
          <a:off x="320040" y="1005840"/>
          <a:ext cx="8503920" cy="914400"/>
        </p:xfrm>
        <a:graphic>
          <a:graphicData uri="http://schemas.openxmlformats.org/drawingml/2006/table">
            <a:tbl>
              <a:tblPr/>
              <a:tblGrid>
                <a:gridCol w="502920"/>
                <a:gridCol w="2697480"/>
                <a:gridCol w="1143000"/>
                <a:gridCol w="1371600"/>
                <a:gridCol w="1417320"/>
                <a:gridCol w="1371600"/>
              </a:tblGrid>
              <a:tr h="384048">
                <a:tc>
                  <a:txBody>
                    <a:bodyPr/>
                    <a:lstStyle/>
                    <a:p>
                      <a:pPr algn="ctr" indent="0" marL="0">
                        <a:buNone/>
                      </a:pPr>
                      <a:r>
                        <a:rPr lang="en-US" sz="1100" b="1" dirty="0">
                          <a:solidFill>
                            <a:schemeClr val="accent2"/>
                          </a:solidFill>
                        </a:rPr>
                        <a:t>Week</a:t>
                      </a:r>
                      <a:endParaRPr lang="en-US" sz="1100" dirty="0"/>
                    </a:p>
                  </a:txBody>
                  <a:tcPr marL="64008" marR="64008" marT="27432" marB="27432"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100" b="1" dirty="0">
                          <a:solidFill>
                            <a:schemeClr val="accent2"/>
                          </a:solidFill>
                        </a:rPr>
                        <a:t>Task &amp; Description</a:t>
                      </a:r>
                      <a:endParaRPr lang="en-US" sz="1100" dirty="0"/>
                    </a:p>
                  </a:txBody>
                  <a:tcPr marL="64008" marR="64008" marT="27432" marB="27432"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100" b="1" dirty="0">
                          <a:solidFill>
                            <a:schemeClr val="accent2"/>
                          </a:solidFill>
                        </a:rPr>
                        <a:t>Responsible</a:t>
                      </a:r>
                      <a:endParaRPr lang="en-US" sz="1100" dirty="0"/>
                    </a:p>
                  </a:txBody>
                  <a:tcPr marL="64008" marR="64008" marT="27432" marB="27432"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100" b="1" dirty="0">
                          <a:solidFill>
                            <a:schemeClr val="accent2"/>
                          </a:solidFill>
                        </a:rPr>
                        <a:t>Resources Needed</a:t>
                      </a:r>
                      <a:endParaRPr lang="en-US" sz="1100" dirty="0"/>
                    </a:p>
                  </a:txBody>
                  <a:tcPr marL="64008" marR="64008" marT="27432" marB="27432"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100" b="1" dirty="0">
                          <a:solidFill>
                            <a:schemeClr val="accent2"/>
                          </a:solidFill>
                        </a:rPr>
                        <a:t>Monitor &amp; Assess Progress</a:t>
                      </a:r>
                      <a:endParaRPr lang="en-US" sz="1100" dirty="0"/>
                    </a:p>
                  </a:txBody>
                  <a:tcPr marL="64008" marR="64008" marT="27432" marB="27432"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100" b="1" dirty="0">
                          <a:solidFill>
                            <a:schemeClr val="accent2"/>
                          </a:solidFill>
                        </a:rPr>
                        <a:t>Review &amp; Adjust</a:t>
                      </a:r>
                      <a:endParaRPr lang="en-US" sz="1100" dirty="0"/>
                    </a:p>
                  </a:txBody>
                  <a:tcPr marL="64008" marR="64008" marT="27432" marB="27432" anchor="ctr">
                    <a:lnL w="0" cap="flat" cmpd="sng" algn="ctr">
                      <a:noFill/>
                    </a:lnL>
                    <a:lnR w="0" cap="flat" cmpd="sng" algn="ctr">
                      <a:noFill/>
                    </a:lnR>
                    <a:lnT w="0" cap="flat" cmpd="sng" algn="ctr">
                      <a:noFill/>
                    </a:lnT>
                    <a:lnB w="0" cap="flat" cmpd="sng" algn="ctr">
                      <a:noFill/>
                    </a:lnB>
                    <a:solidFill>
                      <a:schemeClr val="tx2"/>
                    </a:solidFill>
                  </a:tcPr>
                </a:tc>
              </a:tr>
              <a:tr h="347472">
                <a:tc>
                  <a:txBody>
                    <a:bodyPr/>
                    <a:lstStyle/>
                    <a:p>
                      <a:pPr algn="ctr" indent="0" marL="0">
                        <a:buNone/>
                      </a:pPr>
                      <a:r>
                        <a:rPr lang="en-US" sz="900" b="1" dirty="0">
                          <a:solidFill>
                            <a:schemeClr val="tx2"/>
                          </a:solidFill>
                        </a:rPr>
                        <a:t>1</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b="1" dirty="0">
                          <a:solidFill>
                            <a:schemeClr val="accent1"/>
                          </a:solidFill>
                        </a:rPr>
                        <a:t>Kick-off Meeting: </a:t>
                      </a:r>
                      <a:pPr indent="0" marL="0">
                        <a:buNone/>
                      </a:pPr>
                      <a:r>
                        <a:rPr lang="en-US" sz="900" dirty="0">
                          <a:solidFill>
                            <a:schemeClr val="tx1"/>
                          </a:solidFill>
                        </a:rPr>
                        <a:t>Meet the owner, agree on the 4 goals and get page access.</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algn="ctr" indent="0" marL="0">
                        <a:buNone/>
                      </a:pPr>
                      <a:r>
                        <a:rPr lang="en-US" sz="900" b="1" dirty="0">
                          <a:solidFill>
                            <a:schemeClr val="tx2"/>
                          </a:solidFill>
                        </a:rPr>
                        <a:t>Rahma Khaled</a:t>
                      </a:r>
                      <a:endParaRPr lang="en-US" sz="900" dirty="0"/>
                    </a:p>
                    <a:p>
                      <a:pPr algn="ctr" indent="0" marL="0">
                        <a:buNone/>
                      </a:pPr>
                      <a:r>
                        <a:rPr lang="en-US" sz="900" dirty="0">
                          <a:solidFill>
                            <a:schemeClr val="accent5"/>
                          </a:solidFill>
                        </a:rPr>
                        <a:t>Slides 1–3</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rPr>
                        <a:t>Meeting with the owner</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rPr>
                        <a:t>Goals approved by the owner</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rPr>
                        <a:t>Adjust goals if the owner asks</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r>
              <a:tr h="347472">
                <a:tc>
                  <a:txBody>
                    <a:bodyPr/>
                    <a:lstStyle/>
                    <a:p>
                      <a:pPr algn="ctr" indent="0" marL="0">
                        <a:buNone/>
                      </a:pPr>
                      <a:r>
                        <a:rPr lang="en-US" sz="900" b="1" dirty="0">
                          <a:solidFill>
                            <a:schemeClr val="tx2"/>
                          </a:solidFill>
                        </a:rPr>
                        <a:t>1</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b="1" dirty="0">
                          <a:solidFill>
                            <a:schemeClr val="accent1"/>
                          </a:solidFill>
                        </a:rPr>
                        <a:t>Market Research: </a:t>
                      </a:r>
                      <a:pPr indent="0" marL="0">
                        <a:buNone/>
                      </a:pPr>
                      <a:r>
                        <a:rPr lang="en-US" sz="900" dirty="0">
                          <a:solidFill>
                            <a:schemeClr val="tx1"/>
                          </a:solidFill>
                        </a:rPr>
                        <a:t>Study competitors and learn who the café's customers are.</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algn="ctr" indent="0" marL="0">
                        <a:buNone/>
                      </a:pPr>
                      <a:r>
                        <a:rPr lang="en-US" sz="900" b="1" dirty="0">
                          <a:solidFill>
                            <a:schemeClr val="tx2"/>
                          </a:solidFill>
                        </a:rPr>
                        <a:t>Rahma Khaled</a:t>
                      </a:r>
                      <a:endParaRPr lang="en-US" sz="900" dirty="0"/>
                    </a:p>
                    <a:p>
                      <a:pPr algn="ctr" indent="0" marL="0">
                        <a:buNone/>
                      </a:pPr>
                      <a:r>
                        <a:rPr lang="en-US" sz="900" dirty="0">
                          <a:solidFill>
                            <a:schemeClr val="accent5"/>
                          </a:solidFill>
                        </a:rPr>
                        <a:t>Slides 1–3</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rPr>
                        <a:t>Google, competitors' pages, sales data</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rPr>
                        <a:t>Research report ready by day 7</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rPr>
                        <a:t>Add a short survey in the café</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r>
              <a:tr h="347472">
                <a:tc>
                  <a:txBody>
                    <a:bodyPr/>
                    <a:lstStyle/>
                    <a:p>
                      <a:pPr algn="ctr" indent="0" marL="0">
                        <a:buNone/>
                      </a:pPr>
                      <a:r>
                        <a:rPr lang="en-US" sz="900" b="1" dirty="0">
                          <a:solidFill>
                            <a:schemeClr val="tx2"/>
                          </a:solidFill>
                        </a:rPr>
                        <a:t>1</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b="1" dirty="0">
                          <a:solidFill>
                            <a:schemeClr val="accent1"/>
                          </a:solidFill>
                        </a:rPr>
                        <a:t>Page Audit: </a:t>
                      </a:r>
                      <a:pPr indent="0" marL="0">
                        <a:buNone/>
                      </a:pPr>
                      <a:r>
                        <a:rPr lang="en-US" sz="900" dirty="0">
                          <a:solidFill>
                            <a:schemeClr val="tx1"/>
                          </a:solidFill>
                        </a:rPr>
                        <a:t>Check the café's Facebook and Instagram pages and list what to fix.</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algn="ctr" indent="0" marL="0">
                        <a:buNone/>
                      </a:pPr>
                      <a:r>
                        <a:rPr lang="en-US" sz="900" b="1" dirty="0">
                          <a:solidFill>
                            <a:schemeClr val="tx2"/>
                          </a:solidFill>
                        </a:rPr>
                        <a:t>Abader Zarif</a:t>
                      </a:r>
                      <a:endParaRPr lang="en-US" sz="900" dirty="0"/>
                    </a:p>
                    <a:p>
                      <a:pPr algn="ctr" indent="0" marL="0">
                        <a:buNone/>
                      </a:pPr>
                      <a:r>
                        <a:rPr lang="en-US" sz="900" dirty="0">
                          <a:solidFill>
                            <a:schemeClr val="accent5"/>
                          </a:solidFill>
                        </a:rPr>
                        <a:t>Slides 11–13</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rPr>
                        <a:t>Page access, Meta Business Suite</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rPr>
                        <a:t>Audit report ready by end of week 1</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rPr>
                        <a:t>Fix the biggest problems first</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r>
              <a:tr h="347472">
                <a:tc>
                  <a:txBody>
                    <a:bodyPr/>
                    <a:lstStyle/>
                    <a:p>
                      <a:pPr algn="ctr" indent="0" marL="0">
                        <a:buNone/>
                      </a:pPr>
                      <a:r>
                        <a:rPr lang="en-US" sz="900" b="1" dirty="0">
                          <a:solidFill>
                            <a:schemeClr val="tx2"/>
                          </a:solidFill>
                        </a:rPr>
                        <a:t>1–2</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b="1" dirty="0">
                          <a:solidFill>
                            <a:schemeClr val="accent1"/>
                          </a:solidFill>
                        </a:rPr>
                        <a:t>Content Plan: </a:t>
                      </a:r>
                      <a:pPr indent="0" marL="0">
                        <a:buNone/>
                      </a:pPr>
                      <a:r>
                        <a:rPr lang="en-US" sz="900" dirty="0">
                          <a:solidFill>
                            <a:schemeClr val="tx1"/>
                          </a:solidFill>
                        </a:rPr>
                        <a:t>Create a 30-day plan for posts, reels and stories.</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algn="ctr" indent="0" marL="0">
                        <a:buNone/>
                      </a:pPr>
                      <a:r>
                        <a:rPr lang="en-US" sz="900" b="1" dirty="0">
                          <a:solidFill>
                            <a:schemeClr val="tx2"/>
                          </a:solidFill>
                        </a:rPr>
                        <a:t>Aya Reda</a:t>
                      </a:r>
                      <a:endParaRPr lang="en-US" sz="900" dirty="0"/>
                    </a:p>
                    <a:p>
                      <a:pPr algn="ctr" indent="0" marL="0">
                        <a:buNone/>
                      </a:pPr>
                      <a:r>
                        <a:rPr lang="en-US" sz="900" dirty="0">
                          <a:solidFill>
                            <a:schemeClr val="accent5"/>
                          </a:solidFill>
                        </a:rPr>
                        <a:t>Slides 4–6</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rPr>
                        <a:t>Google Sheets, café menu</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rPr>
                        <a:t>Plan reviewed with the owner</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rPr>
                        <a:t>Change topics based on feedback</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r>
              <a:tr h="347472">
                <a:tc>
                  <a:txBody>
                    <a:bodyPr/>
                    <a:lstStyle/>
                    <a:p>
                      <a:pPr algn="ctr" indent="0" marL="0">
                        <a:buNone/>
                      </a:pPr>
                      <a:r>
                        <a:rPr lang="en-US" sz="900" b="1" dirty="0">
                          <a:solidFill>
                            <a:schemeClr val="tx2"/>
                          </a:solidFill>
                        </a:rPr>
                        <a:t>2</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b="1" dirty="0">
                          <a:solidFill>
                            <a:schemeClr val="accent1"/>
                          </a:solidFill>
                        </a:rPr>
                        <a:t>Photo Shoot: </a:t>
                      </a:r>
                      <a:pPr indent="0" marL="0">
                        <a:buNone/>
                      </a:pPr>
                      <a:r>
                        <a:rPr lang="en-US" sz="900" dirty="0">
                          <a:solidFill>
                            <a:schemeClr val="tx1"/>
                          </a:solidFill>
                        </a:rPr>
                        <a:t>Take photos and videos of the menu, drinks and café.</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algn="ctr" indent="0" marL="0">
                        <a:buNone/>
                      </a:pPr>
                      <a:r>
                        <a:rPr lang="en-US" sz="900" b="1" dirty="0">
                          <a:solidFill>
                            <a:schemeClr val="tx2"/>
                          </a:solidFill>
                        </a:rPr>
                        <a:t>Abader Zarif</a:t>
                      </a:r>
                      <a:endParaRPr lang="en-US" sz="900" dirty="0"/>
                    </a:p>
                    <a:p>
                      <a:pPr algn="ctr" indent="0" marL="0">
                        <a:buNone/>
                      </a:pPr>
                      <a:r>
                        <a:rPr lang="en-US" sz="900" dirty="0">
                          <a:solidFill>
                            <a:schemeClr val="accent5"/>
                          </a:solidFill>
                        </a:rPr>
                        <a:t>Slides 11–13</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rPr>
                        <a:t>Camera or phone, café visit</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rPr>
                        <a:t>Check photo quality the same day</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rPr>
                        <a:t>Reshoot weak photos</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r>
              <a:tr h="347472">
                <a:tc>
                  <a:txBody>
                    <a:bodyPr/>
                    <a:lstStyle/>
                    <a:p>
                      <a:pPr algn="ctr" indent="0" marL="0">
                        <a:buNone/>
                      </a:pPr>
                      <a:r>
                        <a:rPr lang="en-US" sz="900" b="1" dirty="0">
                          <a:solidFill>
                            <a:schemeClr val="tx2"/>
                          </a:solidFill>
                        </a:rPr>
                        <a:t>2–4</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b="1" dirty="0">
                          <a:solidFill>
                            <a:schemeClr val="accent1"/>
                          </a:solidFill>
                        </a:rPr>
                        <a:t>Posts and Reels: </a:t>
                      </a:r>
                      <a:pPr indent="0" marL="0">
                        <a:buNone/>
                      </a:pPr>
                      <a:r>
                        <a:rPr lang="en-US" sz="900" dirty="0">
                          <a:solidFill>
                            <a:schemeClr val="tx1"/>
                          </a:solidFill>
                        </a:rPr>
                        <a:t>Design 12 posts and 8 reels every month.</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algn="ctr" indent="0" marL="0">
                        <a:buNone/>
                      </a:pPr>
                      <a:r>
                        <a:rPr lang="en-US" sz="900" b="1" dirty="0">
                          <a:solidFill>
                            <a:schemeClr val="tx2"/>
                          </a:solidFill>
                        </a:rPr>
                        <a:t>Aya Reda</a:t>
                      </a:r>
                      <a:endParaRPr lang="en-US" sz="900" dirty="0"/>
                    </a:p>
                    <a:p>
                      <a:pPr algn="ctr" indent="0" marL="0">
                        <a:buNone/>
                      </a:pPr>
                      <a:r>
                        <a:rPr lang="en-US" sz="900" dirty="0">
                          <a:solidFill>
                            <a:schemeClr val="accent5"/>
                          </a:solidFill>
                        </a:rPr>
                        <a:t>Slides 4–6</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rPr>
                        <a:t>Canva, CapCut, 3,000 EGP</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rPr>
                        <a:t>Weekly check of likes and shares</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rPr>
                        <a:t>Copy the style of the best posts</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r>
              <a:tr h="347472">
                <a:tc>
                  <a:txBody>
                    <a:bodyPr/>
                    <a:lstStyle/>
                    <a:p>
                      <a:pPr algn="ctr" indent="0" marL="0">
                        <a:buNone/>
                      </a:pPr>
                      <a:r>
                        <a:rPr lang="en-US" sz="900" b="1" dirty="0">
                          <a:solidFill>
                            <a:schemeClr val="tx2"/>
                          </a:solidFill>
                        </a:rPr>
                        <a:t>2–4</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b="1" dirty="0">
                          <a:solidFill>
                            <a:schemeClr val="accent1"/>
                          </a:solidFill>
                        </a:rPr>
                        <a:t>Paid Ads: </a:t>
                      </a:r>
                      <a:pPr indent="0" marL="0">
                        <a:buNone/>
                      </a:pPr>
                      <a:r>
                        <a:rPr lang="en-US" sz="900" dirty="0">
                          <a:solidFill>
                            <a:schemeClr val="tx1"/>
                          </a:solidFill>
                        </a:rPr>
                        <a:t>Run Facebook and Instagram ads for people near the café.</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algn="ctr" indent="0" marL="0">
                        <a:buNone/>
                      </a:pPr>
                      <a:r>
                        <a:rPr lang="en-US" sz="900" b="1" dirty="0">
                          <a:solidFill>
                            <a:schemeClr val="tx2"/>
                          </a:solidFill>
                        </a:rPr>
                        <a:t>Mahmoud Ibrahim</a:t>
                      </a:r>
                      <a:endParaRPr lang="en-US" sz="900" dirty="0"/>
                    </a:p>
                    <a:p>
                      <a:pPr algn="ctr" indent="0" marL="0">
                        <a:buNone/>
                      </a:pPr>
                      <a:r>
                        <a:rPr lang="en-US" sz="900" dirty="0">
                          <a:solidFill>
                            <a:schemeClr val="accent5"/>
                          </a:solidFill>
                        </a:rPr>
                        <a:t>Slides 7–10</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rPr>
                        <a:t>Meta Ads Manager, 4,000 EGP</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rPr>
                        <a:t>Daily check of reach and cost</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rPr>
                        <a:t>Move money to the best ad</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r>
              <a:tr h="347472">
                <a:tc>
                  <a:txBody>
                    <a:bodyPr/>
                    <a:lstStyle/>
                    <a:p>
                      <a:pPr algn="ctr" indent="0" marL="0">
                        <a:buNone/>
                      </a:pPr>
                      <a:r>
                        <a:rPr lang="en-US" sz="900" b="1" dirty="0">
                          <a:solidFill>
                            <a:schemeClr val="tx2"/>
                          </a:solidFill>
                        </a:rPr>
                        <a:t>3–4</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b="1" dirty="0">
                          <a:solidFill>
                            <a:schemeClr val="accent1"/>
                          </a:solidFill>
                        </a:rPr>
                        <a:t>Posting and Offers: </a:t>
                      </a:r>
                      <a:pPr indent="0" marL="0">
                        <a:buNone/>
                      </a:pPr>
                      <a:r>
                        <a:rPr lang="en-US" sz="900" dirty="0">
                          <a:solidFill>
                            <a:schemeClr val="tx1"/>
                          </a:solidFill>
                        </a:rPr>
                        <a:t>Publish content, reply to messages and launch 2 offers.</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algn="ctr" indent="0" marL="0">
                        <a:buNone/>
                      </a:pPr>
                      <a:r>
                        <a:rPr lang="en-US" sz="900" b="1" dirty="0">
                          <a:solidFill>
                            <a:schemeClr val="tx2"/>
                          </a:solidFill>
                        </a:rPr>
                        <a:t>Aya Reda</a:t>
                      </a:r>
                      <a:endParaRPr lang="en-US" sz="900" dirty="0"/>
                    </a:p>
                    <a:p>
                      <a:pPr algn="ctr" indent="0" marL="0">
                        <a:buNone/>
                      </a:pPr>
                      <a:r>
                        <a:rPr lang="en-US" sz="900" dirty="0">
                          <a:solidFill>
                            <a:schemeClr val="accent5"/>
                          </a:solidFill>
                        </a:rPr>
                        <a:t>Slides 4–6</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rPr>
                        <a:t>Meta Business Suite, 5,000 EGP</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rPr>
                        <a:t>Weekly count of messages and offer sales</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rPr>
                        <a:t>More reels, stronger offers</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r>
              <a:tr h="347472">
                <a:tc>
                  <a:txBody>
                    <a:bodyPr/>
                    <a:lstStyle/>
                    <a:p>
                      <a:pPr algn="ctr" indent="0" marL="0">
                        <a:buNone/>
                      </a:pPr>
                      <a:r>
                        <a:rPr lang="en-US" sz="900" b="1" dirty="0">
                          <a:solidFill>
                            <a:schemeClr val="tx2"/>
                          </a:solidFill>
                        </a:rPr>
                        <a:t>1–4</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b="1" dirty="0">
                          <a:solidFill>
                            <a:schemeClr val="accent1"/>
                          </a:solidFill>
                        </a:rPr>
                        <a:t>Weekly Report: </a:t>
                      </a:r>
                      <a:pPr indent="0" marL="0">
                        <a:buNone/>
                      </a:pPr>
                      <a:r>
                        <a:rPr lang="en-US" sz="900" dirty="0">
                          <a:solidFill>
                            <a:schemeClr val="tx1"/>
                          </a:solidFill>
                        </a:rPr>
                        <a:t>Track the 4 goals and send the owner a report every Sunday.</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algn="ctr" indent="0" marL="0">
                        <a:buNone/>
                      </a:pPr>
                      <a:r>
                        <a:rPr lang="en-US" sz="900" b="1" dirty="0">
                          <a:solidFill>
                            <a:schemeClr val="tx2"/>
                          </a:solidFill>
                        </a:rPr>
                        <a:t>Mahmoud Ibrahim</a:t>
                      </a:r>
                      <a:endParaRPr lang="en-US" sz="900" dirty="0"/>
                    </a:p>
                    <a:p>
                      <a:pPr algn="ctr" indent="0" marL="0">
                        <a:buNone/>
                      </a:pPr>
                      <a:r>
                        <a:rPr lang="en-US" sz="900" dirty="0">
                          <a:solidFill>
                            <a:schemeClr val="accent5"/>
                          </a:solidFill>
                        </a:rPr>
                        <a:t>Slides 7–10</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rPr>
                        <a:t>Google Sheets, sales data, 1,000 EGP</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rPr>
                        <a:t>Report every Sunday, with ROI</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rPr>
                        <a:t>Fix weak numbers the next week</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r>
              <a:tr h="347472">
                <a:tc>
                  <a:txBody>
                    <a:bodyPr/>
                    <a:lstStyle/>
                    <a:p>
                      <a:pPr algn="ctr" indent="0" marL="0">
                        <a:buNone/>
                      </a:pPr>
                      <a:r>
                        <a:rPr lang="en-US" sz="900" b="1" dirty="0">
                          <a:solidFill>
                            <a:schemeClr val="tx2"/>
                          </a:solidFill>
                        </a:rPr>
                        <a:t>4</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b="1" dirty="0">
                          <a:solidFill>
                            <a:schemeClr val="accent1"/>
                          </a:solidFill>
                        </a:rPr>
                        <a:t>Month-One Review: </a:t>
                      </a:r>
                      <a:pPr indent="0" marL="0">
                        <a:buNone/>
                      </a:pPr>
                      <a:r>
                        <a:rPr lang="en-US" sz="900" dirty="0">
                          <a:solidFill>
                            <a:schemeClr val="tx1"/>
                          </a:solidFill>
                        </a:rPr>
                        <a:t>Review results with the owner and plan month two.</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algn="ctr" indent="0" marL="0">
                        <a:buNone/>
                      </a:pPr>
                      <a:r>
                        <a:rPr lang="en-US" sz="900" b="1" dirty="0">
                          <a:solidFill>
                            <a:schemeClr val="tx2"/>
                          </a:solidFill>
                        </a:rPr>
                        <a:t>Abader Zarif</a:t>
                      </a:r>
                      <a:endParaRPr lang="en-US" sz="900" dirty="0"/>
                    </a:p>
                    <a:p>
                      <a:pPr algn="ctr" indent="0" marL="0">
                        <a:buNone/>
                      </a:pPr>
                      <a:r>
                        <a:rPr lang="en-US" sz="900" dirty="0">
                          <a:solidFill>
                            <a:schemeClr val="accent5"/>
                          </a:solidFill>
                        </a:rPr>
                        <a:t>Slides 11–13</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rPr>
                        <a:t>All reports, meeting with the owner</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rPr>
                        <a:t>Compare results with the 4 goals</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rPr>
                        <a:t>Recommendations for month two</a:t>
                      </a:r>
                      <a:endParaRPr lang="en-US" sz="900" dirty="0"/>
                    </a:p>
                  </a:txBody>
                  <a:tcPr marL="64008" marR="64008" marT="27432" marB="27432" anchor="ctr">
                    <a:lnL w="9525" cap="flat" cmpd="sng" algn="ctr">
                      <a:solidFill>
                        <a:srgbClr val="2E1F17"/>
                      </a:solidFill>
                      <a:prstDash val="solid"/>
                      <a:round/>
                      <a:headEnd type="none" w="med" len="med"/>
                      <a:tailEnd type="none" w="med" len="med"/>
                    </a:lnL>
                    <a:lnR w="9525" cap="flat" cmpd="sng" algn="ctr">
                      <a:solidFill>
                        <a:srgbClr val="2E1F17"/>
                      </a:solidFill>
                      <a:prstDash val="solid"/>
                      <a:round/>
                      <a:headEnd type="none" w="med" len="med"/>
                      <a:tailEnd type="none" w="med" len="med"/>
                    </a:lnR>
                    <a:lnT w="9525" cap="flat" cmpd="sng" algn="ctr">
                      <a:solidFill>
                        <a:srgbClr val="2E1F17"/>
                      </a:solidFill>
                      <a:prstDash val="solid"/>
                      <a:round/>
                      <a:headEnd type="none" w="med" len="med"/>
                      <a:tailEnd type="none" w="med" len="med"/>
                    </a:lnT>
                    <a:lnB w="9525" cap="flat" cmpd="sng" algn="ctr">
                      <a:solidFill>
                        <a:srgbClr val="2E1F17"/>
                      </a:solidFill>
                      <a:prstDash val="solid"/>
                      <a:round/>
                      <a:headEnd type="none" w="med" len="med"/>
                      <a:tailEnd type="none" w="med" len="med"/>
                    </a:lnB>
                    <a:solidFill>
                      <a:schemeClr val="bg1"/>
                    </a:solidFill>
                  </a:tcPr>
                </a:tc>
              </a:tr>
            </a:tbl>
          </a:graphicData>
        </a:graphic>
      </p:graphicFrame>
    </p:spTree>
  </p:cSld>
  <p:clrMapOvr>
    <a:masterClrMapping/>
  </p:clrMapOvr>
</p:sld>
</file>

<file path=ppt/theme/theme1.xml><?xml version="1.0" encoding="utf-8"?>
<a:theme xmlns:a="http://schemas.openxmlformats.org/drawingml/2006/main" name="Espresso">
  <a:themeElements>
    <a:clrScheme name="Espresso">
      <a:dk1>
        <a:srgbClr val="231B16"/>
      </a:dk1>
      <a:lt1>
        <a:srgbClr val="FFFFFF"/>
      </a:lt1>
      <a:dk2>
        <a:srgbClr val="2E1F17"/>
      </a:dk2>
      <a:lt2>
        <a:srgbClr val="F4ECE5"/>
      </a:lt2>
      <a:accent1>
        <a:srgbClr val="C27A3A"/>
      </a:accent1>
      <a:accent2>
        <a:srgbClr val="E8C9A6"/>
      </a:accent2>
      <a:accent3>
        <a:srgbClr val="6F4E37"/>
      </a:accent3>
      <a:accent4>
        <a:srgbClr val="5B7F5E"/>
      </a:accent4>
      <a:accent5>
        <a:srgbClr val="8C7F76"/>
      </a:accent5>
      <a:accent6>
        <a:srgbClr val="A6513A"/>
      </a:accent6>
      <a:hlink>
        <a:srgbClr val="C27A3A"/>
      </a:hlink>
      <a:folHlink>
        <a:srgbClr val="6F4E37"/>
      </a:folHlink>
    </a:clrScheme>
    <a:fontScheme name="Espress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Action Plan Table - The Daily Cup</dc:title>
  <dc:subject>PptxGenJS Presentation</dc:subject>
  <dc:creator>Pulse Marketing</dc:creator>
  <cp:lastModifiedBy>Pulse Marketing</cp:lastModifiedBy>
  <cp:revision>1</cp:revision>
  <dcterms:created xsi:type="dcterms:W3CDTF">2026-10-20T12:46:38Z</dcterms:created>
  <dcterms:modified xsi:type="dcterms:W3CDTF">2026-10-20T12:46:38Z</dcterms:modified>
</cp:coreProperties>
</file>