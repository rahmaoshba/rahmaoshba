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f756c1b5-78b9-e7a2-08eb-057b8e0d63cf}">
          <p14:sldIdLst>
            <p14:sldId id="256"/>
          </p14:sldIdLst>
        </p14:section>
        <p14:section name="By presenter" id="{2505d744-338b-238f-0b21-5e87f9d83de7}">
          <p14:sldIdLst>
            <p14:sldId id="257"/>
            <p14:sldId id="258"/>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Rahma Khaled
"This is our action plan for The Daily Cup.
Our objective: in one month, reach 40,000 people, get 500 new followers, 100 messages, and 10 more customers a day.
The table shows each task, when we do it, who does it, what we need, how we check it, and what we do if it doesn't work.
Each of us will present our own tasks. I'll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Rahma Khaled
"My tasks are in week 1.
First, the kick-off meeting: we meet the owner, agree on the 4 goals and get access to the pages.
Then, market research: we study the competitors and learn who the customers are. The report is ready by day 7.
If we need more information, we do a short survey in the café.
Now Aya will talk about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Aya Reda
"Thank you, Rahma. I have three tasks.
In weeks 1 and 2, I make a 30-day content plan.
From week 2, I design 12 posts and 8 reels every month.
In weeks 3 and 4, I publish the content, reply to messages and launch 2 offers.
Every week I check the likes, messages and offer sales. If something is weak, we post more reels and make the offers stronger.
Now Mahmoud."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"Thank you, Aya. I have two tasks.
Every Sunday, I send the owner a report on our 4 goals, with the return on investment.
From week 2, I run Facebook and Instagram ads for people near the café, with 4,000 EGP.
I check the reach and cost every day, and I move the money to the best ad.
Now Abader."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Abader Zarif
"Thank you, Mahmoud. I have three tasks.
In week 1, I check the café's pages and list what to fix.
In week 2, I do the photo shoot of the menu, the drinks and the café.
In week 4, we review the results with the owner and plan month two.
That's our action plan: clear tasks, clear owners and clear results.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rtlCol="0"/>
          <a:lstStyle>
            <a:lvl1pPr indent="0" marL="0">
              <a:buNone/>
              <a:defRPr lang="en-US" sz="1200" b="1" spc="3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rtlCol="0"/>
          <a:lstStyle>
            <a:lvl1pPr algn="l" indent="0" marL="0">
              <a:buNone/>
              <a:defRPr lang="en-US" sz="1500" dirty="0">
                <a:solidFill>
                  <a:schemeClr val="accent2"/>
                </a:solidFill>
              </a:defRPr>
            </a:lvl1pPr>
          </a:lstStyle>
          <a:p>
            <a:pPr algn="l"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457200" y="4800600"/>
            <a:ext cx="5486400" cy="228600"/>
          </a:xfrm>
          <a:prstGeom prst="rect">
            <a:avLst/>
          </a:prstGeom>
          <a:noFill/>
          <a:ln/>
        </p:spPr>
        <p:txBody>
          <a:bodyPr wrap="square" lIns="0" tIns="0" rIns="0" bIns="0" rtlCol="0" anchor="ctr"/>
          <a:lstStyle/>
          <a:p>
            <a:pPr indent="0" marL="0">
              <a:buNone/>
            </a:pPr>
            <a:r>
              <a:rPr lang="en-US" sz="1000" dirty="0">
                <a:solidFill>
                  <a:schemeClr val="accent5"/>
                </a:solidFill>
              </a:rPr>
              <a:t>Pulse Marketing  |  Action Plan for The Daily Cup</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tion Plan Templat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20040" y="137160"/>
            <a:ext cx="6035040" cy="502920"/>
          </a:xfrm>
          <a:prstGeom prst="rect">
            <a:avLst/>
          </a:prstGeom>
          <a:noFill/>
          <a:ln/>
        </p:spPr>
        <p:txBody>
          <a:bodyPr wrap="square" rtlCol="0"/>
          <a:lstStyle>
            <a:lvl1pPr algn="l" indent="0" marL="0">
              <a:buNone/>
              <a:defRPr lang="en-US" sz="2800" b="1" dirty="0">
                <a:solidFill>
                  <a:schemeClr val="accent1"/>
                </a:solidFill>
                <a:latin typeface="Cambria" pitchFamily="34" charset="0"/>
                <a:ea typeface="Cambria" pitchFamily="34" charset="-122"/>
                <a:cs typeface="Cambria" pitchFamily="34" charset="-120"/>
              </a:defRPr>
            </a:lvl1pPr>
          </a:lstStyle>
          <a:p>
            <a:pPr algn="l"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320040" y="137160"/>
            <a:ext cx="6035040"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Cambria" pitchFamily="34" charset="0"/>
                <a:ea typeface="Cambria" pitchFamily="34" charset="-122"/>
                <a:cs typeface="Cambria" pitchFamily="34" charset="-120"/>
              </a:rPr>
              <a:t>Action Plan: The Daily Cup Café</a:t>
            </a:r>
            <a:endParaRPr lang="en-US" sz="2800" dirty="0"/>
          </a:p>
        </p:txBody>
      </p:sp>
      <p:sp>
        <p:nvSpPr>
          <p:cNvPr id="3" name="Agency name"/>
          <p:cNvSpPr txBox="1"/>
          <p:nvPr/>
        </p:nvSpPr>
        <p:spPr>
          <a:xfrm>
            <a:off x="6400800" y="137160"/>
            <a:ext cx="2423160" cy="502920"/>
          </a:xfrm>
          <a:prstGeom prst="rect">
            <a:avLst/>
          </a:prstGeom>
          <a:noFill/>
          <a:ln/>
        </p:spPr>
        <p:txBody>
          <a:bodyPr wrap="square" lIns="0" tIns="0" rIns="0" bIns="0" rtlCol="0" anchor="ctr"/>
          <a:lstStyle/>
          <a:p>
            <a:pPr algn="r" indent="0" marL="0">
              <a:buNone/>
            </a:pPr>
            <a:r>
              <a:rPr lang="en-US" sz="1100" b="1" dirty="0">
                <a:solidFill>
                  <a:schemeClr val="accent2"/>
                </a:solidFill>
              </a:rPr>
              <a:t>Pulse Marketing</a:t>
            </a:r>
            <a:endParaRPr lang="en-US" sz="1100" dirty="0"/>
          </a:p>
        </p:txBody>
      </p:sp>
      <p:sp>
        <p:nvSpPr>
          <p:cNvPr id="4" name="Objective"/>
          <p:cNvSpPr txBox="1"/>
          <p:nvPr/>
        </p:nvSpPr>
        <p:spPr>
          <a:xfrm>
            <a:off x="320040" y="658368"/>
            <a:ext cx="8503920" cy="292608"/>
          </a:xfrm>
          <a:prstGeom prst="rect">
            <a:avLst/>
          </a:prstGeom>
          <a:noFill/>
          <a:ln/>
        </p:spPr>
        <p:txBody>
          <a:bodyPr wrap="square" lIns="0" tIns="0" rIns="0" bIns="0" rtlCol="0" anchor="ctr"/>
          <a:lstStyle/>
          <a:p>
            <a:pPr indent="0" marL="0">
              <a:buNone/>
            </a:pPr>
            <a:r>
              <a:rPr lang="en-US" sz="1100" b="1" dirty="0">
                <a:solidFill>
                  <a:schemeClr val="accent2"/>
                </a:solidFill>
              </a:rPr>
              <a:t>Objective: </a:t>
            </a:r>
            <a:pPr indent="0" marL="0">
              <a:buNone/>
            </a:pPr>
            <a:r>
              <a:rPr lang="en-US" sz="1100" b="1" dirty="0">
                <a:solidFill>
                  <a:schemeClr val="bg1"/>
                </a:solidFill>
              </a:rPr>
              <a:t>In one month, reach 40K+ people, gain 500 followers, get 100+ messages and 10 more customers a day</a:t>
            </a:r>
            <a:endParaRPr lang="en-US" sz="1100" dirty="0"/>
          </a:p>
        </p:txBody>
      </p:sp>
      <p:graphicFrame>
        <p:nvGraphicFramePr>
          <p:cNvPr id="2" name="Action plan table"/>
          <p:cNvGraphicFramePr>
            <a:graphicFrameLocks noGrp="1"/>
          </p:cNvGraphicFramePr>
          <p:nvPr>
            <p:extLst>
              <p:ext uri="{D42A27DB-BD31-4B8C-83A1-F6EECF244321}">
                <p14:modId xmlns:p14="http://schemas.microsoft.com/office/powerpoint/2010/main" val="1579011935"/>
              </p:ext>
            </p:extLst>
          </p:nvPr>
        </p:nvGraphicFramePr>
        <p:xfrm>
          <a:off x="320040" y="1005840"/>
          <a:ext cx="8503920" cy="914400"/>
        </p:xfrm>
        <a:graphic>
          <a:graphicData uri="http://schemas.openxmlformats.org/drawingml/2006/table">
            <a:tbl>
              <a:tblPr/>
              <a:tblGrid>
                <a:gridCol w="1234440"/>
                <a:gridCol w="502920"/>
                <a:gridCol w="2651760"/>
                <a:gridCol w="1371600"/>
                <a:gridCol w="1371600"/>
                <a:gridCol w="1371600"/>
              </a:tblGrid>
              <a:tr h="384048">
                <a:tc>
                  <a:txBody>
                    <a:bodyPr/>
                    <a:lstStyle/>
                    <a:p>
                      <a:pPr algn="ctr" indent="0" marL="0">
                        <a:buNone/>
                      </a:pPr>
                      <a:r>
                        <a:rPr lang="en-US" sz="1100" b="1" dirty="0">
                          <a:solidFill>
                            <a:schemeClr val="accent2"/>
                          </a:solidFill>
                        </a:rPr>
                        <a:t>Responsible</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Week</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Task &amp; Description</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Resources Needed</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Monitor &amp; Assess Progress</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Review &amp; Adjust</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r>
              <a:tr h="347472">
                <a:tc rowSpan="2">
                  <a:txBody>
                    <a:bodyPr/>
                    <a:lstStyle/>
                    <a:p>
                      <a:pPr algn="ctr" indent="0" marL="0">
                        <a:buNone/>
                      </a:pPr>
                      <a:r>
                        <a:rPr lang="en-US" sz="1100" b="1" dirty="0">
                          <a:solidFill>
                            <a:schemeClr val="bg1"/>
                          </a:solidFill>
                        </a:rPr>
                        <a:t>Rahma Khaled</a:t>
                      </a:r>
                      <a:endParaRPr lang="en-US" sz="900" dirty="0"/>
                    </a:p>
                    <a:p>
                      <a:pPr algn="ctr" indent="0" marL="0">
                        <a:buNone/>
                      </a:pPr>
                      <a:r>
                        <a:rPr lang="en-US" sz="900" dirty="0">
                          <a:solidFill>
                            <a:schemeClr val="bg1"/>
                          </a:solidFill>
                        </a:rPr>
                        <a:t>Goals and research</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accent6"/>
                    </a:solidFill>
                  </a:tcPr>
                </a:tc>
                <a:tc>
                  <a:txBody>
                    <a:bodyPr/>
                    <a:lstStyle/>
                    <a:p>
                      <a:pPr algn="ctr" indent="0" marL="0">
                        <a:buNone/>
                      </a:pPr>
                      <a:r>
                        <a:rPr lang="en-US" sz="900" b="1" dirty="0">
                          <a:solidFill>
                            <a:schemeClr val="tx2"/>
                          </a:solidFill>
                        </a:rPr>
                        <a:t>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Kick-off Meeting: </a:t>
                      </a:r>
                      <a:pPr indent="0" marL="0">
                        <a:buNone/>
                      </a:pPr>
                      <a:r>
                        <a:rPr lang="en-US" sz="900" dirty="0">
                          <a:solidFill>
                            <a:schemeClr val="tx1"/>
                          </a:solidFill>
                        </a:rPr>
                        <a:t>Meet the owner, agree on the 4 goals and get page access.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Meeting with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Goals approved by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Adjust goals if the owner asks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r h="347472">
                <a:tc vMerge="1">
                  <a:tcPr/>
                </a:tc>
                <a:tc>
                  <a:txBody>
                    <a:bodyPr/>
                    <a:lstStyle/>
                    <a:p>
                      <a:pPr algn="ctr" indent="0" marL="0">
                        <a:buNone/>
                      </a:pPr>
                      <a:r>
                        <a:rPr lang="en-US" sz="900" b="1" dirty="0">
                          <a:solidFill>
                            <a:schemeClr val="tx2"/>
                          </a:solidFill>
                        </a:rPr>
                        <a:t>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Market Research: </a:t>
                      </a:r>
                      <a:pPr indent="0" marL="0">
                        <a:buNone/>
                      </a:pPr>
                      <a:r>
                        <a:rPr lang="en-US" sz="900" dirty="0">
                          <a:solidFill>
                            <a:schemeClr val="tx1"/>
                          </a:solidFill>
                        </a:rPr>
                        <a:t>Study competitors and learn who the café's customers are.</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Google, competitors' pages, sales data</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Research report ready by day 7</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Add a short survey in the café</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r h="347472">
                <a:tc rowSpan="3">
                  <a:txBody>
                    <a:bodyPr/>
                    <a:lstStyle/>
                    <a:p>
                      <a:pPr algn="ctr" indent="0" marL="0">
                        <a:buNone/>
                      </a:pPr>
                      <a:r>
                        <a:rPr lang="en-US" sz="1100" b="1" dirty="0">
                          <a:solidFill>
                            <a:schemeClr val="bg1"/>
                          </a:solidFill>
                        </a:rPr>
                        <a:t>Aya Reda</a:t>
                      </a:r>
                      <a:endParaRPr lang="en-US" sz="900" dirty="0"/>
                    </a:p>
                    <a:p>
                      <a:pPr algn="ctr" indent="0" marL="0">
                        <a:buNone/>
                      </a:pPr>
                      <a:r>
                        <a:rPr lang="en-US" sz="900" dirty="0">
                          <a:solidFill>
                            <a:schemeClr val="bg1"/>
                          </a:solidFill>
                        </a:rPr>
                        <a:t>Content and social media</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accent1"/>
                    </a:solidFill>
                  </a:tcPr>
                </a:tc>
                <a:tc>
                  <a:txBody>
                    <a:bodyPr/>
                    <a:lstStyle/>
                    <a:p>
                      <a:pPr algn="ctr" indent="0" marL="0">
                        <a:buNone/>
                      </a:pPr>
                      <a:r>
                        <a:rPr lang="en-US" sz="900" b="1" dirty="0">
                          <a:solidFill>
                            <a:schemeClr val="tx2"/>
                          </a:solidFill>
                        </a:rPr>
                        <a:t>1–2</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Content Plan: </a:t>
                      </a:r>
                      <a:pPr indent="0" marL="0">
                        <a:buNone/>
                      </a:pPr>
                      <a:r>
                        <a:rPr lang="en-US" sz="900" dirty="0">
                          <a:solidFill>
                            <a:schemeClr val="tx1"/>
                          </a:solidFill>
                        </a:rPr>
                        <a:t>Create a 30-day plan for posts, reels and stories.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Google Sheets, café menu</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Plan reviewed with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Change topics based on feedback</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r h="347472">
                <a:tc vMerge="1">
                  <a:tcPr/>
                </a:tc>
                <a:tc>
                  <a:txBody>
                    <a:bodyPr/>
                    <a:lstStyle/>
                    <a:p>
                      <a:pPr algn="ctr" indent="0" marL="0">
                        <a:buNone/>
                      </a:pPr>
                      <a:r>
                        <a:rPr lang="en-US" sz="900" b="1" dirty="0">
                          <a:solidFill>
                            <a:schemeClr val="tx2"/>
                          </a:solidFill>
                        </a:rPr>
                        <a:t>2–4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Posts and Reels: </a:t>
                      </a:r>
                      <a:pPr indent="0" marL="0">
                        <a:buNone/>
                      </a:pPr>
                      <a:r>
                        <a:rPr lang="en-US" sz="900" dirty="0">
                          <a:solidFill>
                            <a:schemeClr val="tx1"/>
                          </a:solidFill>
                        </a:rPr>
                        <a:t>Design 12 posts and 8 reels every month.</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Canva, CapCut, 3,000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Weekly check of likes and shares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Copy the style of the best posts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r h="347472">
                <a:tc vMerge="1">
                  <a:tcPr/>
                </a:tc>
                <a:tc>
                  <a:txBody>
                    <a:bodyPr/>
                    <a:lstStyle/>
                    <a:p>
                      <a:pPr algn="ctr" indent="0" marL="0">
                        <a:buNone/>
                      </a:pPr>
                      <a:r>
                        <a:rPr lang="en-US" sz="900" b="1" dirty="0">
                          <a:solidFill>
                            <a:schemeClr val="tx2"/>
                          </a:solidFill>
                        </a:rPr>
                        <a:t>3–4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Posting and Offers: </a:t>
                      </a:r>
                      <a:pPr indent="0" marL="0">
                        <a:buNone/>
                      </a:pPr>
                      <a:r>
                        <a:rPr lang="en-US" sz="900" dirty="0">
                          <a:solidFill>
                            <a:schemeClr val="tx1"/>
                          </a:solidFill>
                        </a:rPr>
                        <a:t>Publish content, reply to messages and launch 2 offers.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Meta Business Suite, 5,000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Weekly count of messages and offer sales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More reels, stronger offers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r h="347472">
                <a:tc rowSpan="2">
                  <a:txBody>
                    <a:bodyPr/>
                    <a:lstStyle/>
                    <a:p>
                      <a:pPr algn="ctr" indent="0" marL="0">
                        <a:buNone/>
                      </a:pPr>
                      <a:r>
                        <a:rPr lang="en-US" sz="1100" b="1" dirty="0">
                          <a:solidFill>
                            <a:schemeClr val="bg1"/>
                          </a:solidFill>
                        </a:rPr>
                        <a:t>Mahmoud Ibrahim</a:t>
                      </a:r>
                      <a:endParaRPr lang="en-US" sz="900" dirty="0"/>
                    </a:p>
                    <a:p>
                      <a:pPr algn="ctr" indent="0" marL="0">
                        <a:buNone/>
                      </a:pPr>
                      <a:r>
                        <a:rPr lang="en-US" sz="900" dirty="0">
                          <a:solidFill>
                            <a:schemeClr val="bg1"/>
                          </a:solidFill>
                        </a:rPr>
                        <a:t>Ads and reports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accent4"/>
                    </a:solidFill>
                  </a:tcPr>
                </a:tc>
                <a:tc>
                  <a:txBody>
                    <a:bodyPr/>
                    <a:lstStyle/>
                    <a:p>
                      <a:pPr algn="ctr" indent="0" marL="0">
                        <a:buNone/>
                      </a:pPr>
                      <a:r>
                        <a:rPr lang="en-US" sz="900" b="1" dirty="0">
                          <a:solidFill>
                            <a:schemeClr val="tx2"/>
                          </a:solidFill>
                        </a:rPr>
                        <a:t>1–4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Weekly Report: </a:t>
                      </a:r>
                      <a:pPr indent="0" marL="0">
                        <a:buNone/>
                      </a:pPr>
                      <a:r>
                        <a:rPr lang="en-US" sz="900" dirty="0">
                          <a:solidFill>
                            <a:schemeClr val="tx1"/>
                          </a:solidFill>
                        </a:rPr>
                        <a:t>Track the 4 goals and send the owner a report every Sunday.</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Google Sheets, sales data, 1,000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Report every Sunday, with ROI</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Fix weak numbers the next week</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r h="347472">
                <a:tc vMerge="1">
                  <a:tcPr/>
                </a:tc>
                <a:tc>
                  <a:txBody>
                    <a:bodyPr/>
                    <a:lstStyle/>
                    <a:p>
                      <a:pPr algn="ctr" indent="0" marL="0">
                        <a:buNone/>
                      </a:pPr>
                      <a:r>
                        <a:rPr lang="en-US" sz="900" b="1" dirty="0">
                          <a:solidFill>
                            <a:schemeClr val="tx2"/>
                          </a:solidFill>
                        </a:rPr>
                        <a:t>2–4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Paid Ads: </a:t>
                      </a:r>
                      <a:pPr indent="0" marL="0">
                        <a:buNone/>
                      </a:pPr>
                      <a:r>
                        <a:rPr lang="en-US" sz="900" dirty="0">
                          <a:solidFill>
                            <a:schemeClr val="tx1"/>
                          </a:solidFill>
                        </a:rPr>
                        <a:t>Run Facebook and Instagram ads for people near the café.</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Meta Ads Manager, 4,000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Daily check of reach and cost</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Move money to the best ad</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r h="347472">
                <a:tc rowSpan="3">
                  <a:txBody>
                    <a:bodyPr/>
                    <a:lstStyle/>
                    <a:p>
                      <a:pPr algn="ctr" indent="0" marL="0">
                        <a:buNone/>
                      </a:pPr>
                      <a:r>
                        <a:rPr lang="en-US" sz="1100" b="1" dirty="0">
                          <a:solidFill>
                            <a:schemeClr val="bg1"/>
                          </a:solidFill>
                        </a:rPr>
                        <a:t>Abader Zarif</a:t>
                      </a:r>
                      <a:endParaRPr lang="en-US" sz="900" dirty="0"/>
                    </a:p>
                    <a:p>
                      <a:pPr algn="ctr" indent="0" marL="0">
                        <a:buNone/>
                      </a:pPr>
                      <a:r>
                        <a:rPr lang="en-US" sz="900" dirty="0">
                          <a:solidFill>
                            <a:schemeClr val="bg1"/>
                          </a:solidFill>
                        </a:rPr>
                        <a:t>Audit, photos and review</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accent3"/>
                    </a:solidFill>
                  </a:tcPr>
                </a:tc>
                <a:tc>
                  <a:txBody>
                    <a:bodyPr/>
                    <a:lstStyle/>
                    <a:p>
                      <a:pPr algn="ctr" indent="0" marL="0">
                        <a:buNone/>
                      </a:pPr>
                      <a:r>
                        <a:rPr lang="en-US" sz="900" b="1" dirty="0">
                          <a:solidFill>
                            <a:schemeClr val="tx2"/>
                          </a:solidFill>
                        </a:rPr>
                        <a:t>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Page Audit: </a:t>
                      </a:r>
                      <a:pPr indent="0" marL="0">
                        <a:buNone/>
                      </a:pPr>
                      <a:r>
                        <a:rPr lang="en-US" sz="900" dirty="0">
                          <a:solidFill>
                            <a:schemeClr val="tx1"/>
                          </a:solidFill>
                        </a:rPr>
                        <a:t>Check the café's Facebook and Instagram pages and list what to fix.</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Page access, Meta Business Suite</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Audit report ready by end of week 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Fix the biggest problems first</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r h="347472">
                <a:tc vMerge="1">
                  <a:tcPr/>
                </a:tc>
                <a:tc>
                  <a:txBody>
                    <a:bodyPr/>
                    <a:lstStyle/>
                    <a:p>
                      <a:pPr algn="ctr" indent="0" marL="0">
                        <a:buNone/>
                      </a:pPr>
                      <a:r>
                        <a:rPr lang="en-US" sz="900" b="1" dirty="0">
                          <a:solidFill>
                            <a:schemeClr val="tx2"/>
                          </a:solidFill>
                        </a:rPr>
                        <a:t>2</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Photo Shoot: </a:t>
                      </a:r>
                      <a:pPr indent="0" marL="0">
                        <a:buNone/>
                      </a:pPr>
                      <a:r>
                        <a:rPr lang="en-US" sz="900" dirty="0">
                          <a:solidFill>
                            <a:schemeClr val="tx1"/>
                          </a:solidFill>
                        </a:rPr>
                        <a:t>Take photos and videos of the menu, drinks and café.</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Camera or phone, café visit</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Check photo quality the same day</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Reshoot weak photos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r h="347472">
                <a:tc vMerge="1">
                  <a:tcPr/>
                </a:tc>
                <a:tc>
                  <a:txBody>
                    <a:bodyPr/>
                    <a:lstStyle/>
                    <a:p>
                      <a:pPr algn="ctr" indent="0" marL="0">
                        <a:buNone/>
                      </a:pPr>
                      <a:r>
                        <a:rPr lang="en-US" sz="900" b="1" dirty="0">
                          <a:solidFill>
                            <a:schemeClr val="tx2"/>
                          </a:solidFill>
                        </a:rPr>
                        <a:t>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Month-One Review: </a:t>
                      </a:r>
                      <a:pPr indent="0" marL="0">
                        <a:buNone/>
                      </a:pPr>
                      <a:r>
                        <a:rPr lang="en-US" sz="900" dirty="0">
                          <a:solidFill>
                            <a:schemeClr val="tx1"/>
                          </a:solidFill>
                        </a:rPr>
                        <a:t>Review results with the owner and plan month two.</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All reports, meeting with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Compare results with the 4 goals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Recommendations for month two</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320040" y="137160"/>
            <a:ext cx="6035040"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Cambria" pitchFamily="34" charset="0"/>
                <a:ea typeface="Cambria" pitchFamily="34" charset="-122"/>
                <a:cs typeface="Cambria" pitchFamily="34" charset="-120"/>
              </a:rPr>
              <a:t>Action Plan: The Daily Cup Café</a:t>
            </a:r>
            <a:endParaRPr lang="en-US" sz="2800" dirty="0"/>
          </a:p>
        </p:txBody>
      </p:sp>
      <p:sp>
        <p:nvSpPr>
          <p:cNvPr id="3" name="Presenter badge"/>
          <p:cNvSpPr/>
          <p:nvPr/>
        </p:nvSpPr>
        <p:spPr>
          <a:xfrm>
            <a:off x="6355080" y="201168"/>
            <a:ext cx="2468880" cy="384048"/>
          </a:xfrm>
          <a:prstGeom prst="roundRect">
            <a:avLst>
              <a:gd name="adj" fmla="val 50000"/>
            </a:avLst>
          </a:prstGeom>
          <a:solidFill>
            <a:schemeClr val="accent6"/>
          </a:solidFill>
          <a:ln w="12700">
            <a:solidFill>
              <a:srgbClr val="FFFFFF"/>
            </a:solidFill>
            <a:prstDash val="solid"/>
          </a:ln>
        </p:spPr>
      </p:sp>
      <p:sp>
        <p:nvSpPr>
          <p:cNvPr id="4" name="Presenter badge text"/>
          <p:cNvSpPr txBox="1"/>
          <p:nvPr/>
        </p:nvSpPr>
        <p:spPr>
          <a:xfrm>
            <a:off x="6355080" y="201168"/>
            <a:ext cx="2468880" cy="384048"/>
          </a:xfrm>
          <a:prstGeom prst="rect">
            <a:avLst/>
          </a:prstGeom>
          <a:noFill/>
          <a:ln/>
        </p:spPr>
        <p:txBody>
          <a:bodyPr wrap="square" lIns="0" tIns="0" rIns="0" bIns="0" rtlCol="0" anchor="ctr"/>
          <a:lstStyle/>
          <a:p>
            <a:pPr algn="ctr" indent="0" marL="0">
              <a:buNone/>
            </a:pPr>
            <a:r>
              <a:rPr lang="en-US" sz="1100" dirty="0">
                <a:solidFill>
                  <a:schemeClr val="bg1"/>
                </a:solidFill>
              </a:rPr>
              <a:t>Presenting: </a:t>
            </a:r>
            <a:pPr algn="ctr" indent="0" marL="0">
              <a:buNone/>
            </a:pPr>
            <a:r>
              <a:rPr lang="en-US" sz="1100" b="1" dirty="0">
                <a:solidFill>
                  <a:schemeClr val="bg1"/>
                </a:solidFill>
              </a:rPr>
              <a:t>Rahma Khaled</a:t>
            </a:r>
            <a:endParaRPr lang="en-US" sz="1100" dirty="0"/>
          </a:p>
        </p:txBody>
      </p:sp>
      <p:sp>
        <p:nvSpPr>
          <p:cNvPr id="5" name="Objective"/>
          <p:cNvSpPr txBox="1"/>
          <p:nvPr/>
        </p:nvSpPr>
        <p:spPr>
          <a:xfrm>
            <a:off x="320040" y="658368"/>
            <a:ext cx="8503920" cy="292608"/>
          </a:xfrm>
          <a:prstGeom prst="rect">
            <a:avLst/>
          </a:prstGeom>
          <a:noFill/>
          <a:ln/>
        </p:spPr>
        <p:txBody>
          <a:bodyPr wrap="square" lIns="0" tIns="0" rIns="0" bIns="0" rtlCol="0" anchor="ctr"/>
          <a:lstStyle/>
          <a:p>
            <a:pPr indent="0" marL="0">
              <a:buNone/>
            </a:pPr>
            <a:r>
              <a:rPr lang="en-US" sz="1100" b="1" dirty="0">
                <a:solidFill>
                  <a:schemeClr val="accent2"/>
                </a:solidFill>
              </a:rPr>
              <a:t>Objective: </a:t>
            </a:r>
            <a:pPr indent="0" marL="0">
              <a:buNone/>
            </a:pPr>
            <a:r>
              <a:rPr lang="en-US" sz="1100" b="1" dirty="0">
                <a:solidFill>
                  <a:schemeClr val="bg1"/>
                </a:solidFill>
              </a:rPr>
              <a:t>In one month, reach 40K+ people, gain 500 followers, get 100+ messages and 10 more customers a day</a:t>
            </a:r>
            <a:endParaRPr lang="en-US" sz="1100" dirty="0"/>
          </a:p>
        </p:txBody>
      </p:sp>
      <p:graphicFrame>
        <p:nvGraphicFramePr>
          <p:cNvPr id="3" name="Action plan table"/>
          <p:cNvGraphicFramePr>
            <a:graphicFrameLocks noGrp="1"/>
          </p:cNvGraphicFramePr>
          <p:nvPr>
            <p:extLst>
              <p:ext uri="{D42A27DB-BD31-4B8C-83A1-F6EECF244321}">
                <p14:modId xmlns:p14="http://schemas.microsoft.com/office/powerpoint/2010/main" val="1579011935"/>
              </p:ext>
            </p:extLst>
          </p:nvPr>
        </p:nvGraphicFramePr>
        <p:xfrm>
          <a:off x="320040" y="1005840"/>
          <a:ext cx="8503920" cy="914400"/>
        </p:xfrm>
        <a:graphic>
          <a:graphicData uri="http://schemas.openxmlformats.org/drawingml/2006/table">
            <a:tbl>
              <a:tblPr/>
              <a:tblGrid>
                <a:gridCol w="1234440"/>
                <a:gridCol w="502920"/>
                <a:gridCol w="2651760"/>
                <a:gridCol w="1371600"/>
                <a:gridCol w="1371600"/>
                <a:gridCol w="1371600"/>
              </a:tblGrid>
              <a:tr h="384048">
                <a:tc>
                  <a:txBody>
                    <a:bodyPr/>
                    <a:lstStyle/>
                    <a:p>
                      <a:pPr algn="ctr" indent="0" marL="0">
                        <a:buNone/>
                      </a:pPr>
                      <a:r>
                        <a:rPr lang="en-US" sz="1100" b="1" dirty="0">
                          <a:solidFill>
                            <a:schemeClr val="accent2"/>
                          </a:solidFill>
                        </a:rPr>
                        <a:t>Responsible</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Week</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Task &amp; Description</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Resources Needed</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Monitor &amp; Assess Progress</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Review &amp; Adjust</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r>
              <a:tr h="347472">
                <a:tc rowSpan="2">
                  <a:txBody>
                    <a:bodyPr/>
                    <a:lstStyle/>
                    <a:p>
                      <a:pPr algn="ctr" indent="0" marL="0">
                        <a:buNone/>
                      </a:pPr>
                      <a:r>
                        <a:rPr lang="en-US" sz="1100" b="1" dirty="0">
                          <a:solidFill>
                            <a:schemeClr val="bg1"/>
                          </a:solidFill>
                        </a:rPr>
                        <a:t>Rahma Khaled</a:t>
                      </a:r>
                      <a:endParaRPr lang="en-US" sz="900" dirty="0"/>
                    </a:p>
                    <a:p>
                      <a:pPr algn="ctr" indent="0" marL="0">
                        <a:buNone/>
                      </a:pPr>
                      <a:r>
                        <a:rPr lang="en-US" sz="900" dirty="0">
                          <a:solidFill>
                            <a:schemeClr val="bg1"/>
                          </a:solidFill>
                        </a:rPr>
                        <a:t>Goals and research</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accent6"/>
                    </a:solidFill>
                  </a:tcPr>
                </a:tc>
                <a:tc>
                  <a:txBody>
                    <a:bodyPr/>
                    <a:lstStyle/>
                    <a:p>
                      <a:pPr algn="ctr" indent="0" marL="0">
                        <a:buNone/>
                      </a:pPr>
                      <a:r>
                        <a:rPr lang="en-US" sz="900" b="1" dirty="0">
                          <a:solidFill>
                            <a:schemeClr val="tx2"/>
                          </a:solidFill>
                        </a:rPr>
                        <a:t>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Kick-off Meeting: </a:t>
                      </a:r>
                      <a:pPr indent="0" marL="0">
                        <a:buNone/>
                      </a:pPr>
                      <a:r>
                        <a:rPr lang="en-US" sz="900" dirty="0">
                          <a:solidFill>
                            <a:schemeClr val="tx1"/>
                          </a:solidFill>
                        </a:rPr>
                        <a:t>Meet the owner, agree on the 4 goals and get page access.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Meeting with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Goals approved by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Adjust goals if the owner asks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r h="347472">
                <a:tc vMerge="1">
                  <a:tcPr/>
                </a:tc>
                <a:tc>
                  <a:txBody>
                    <a:bodyPr/>
                    <a:lstStyle/>
                    <a:p>
                      <a:pPr algn="ctr" indent="0" marL="0">
                        <a:buNone/>
                      </a:pPr>
                      <a:r>
                        <a:rPr lang="en-US" sz="900" b="1" dirty="0">
                          <a:solidFill>
                            <a:schemeClr val="tx2"/>
                          </a:solidFill>
                        </a:rPr>
                        <a:t>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Market Research: </a:t>
                      </a:r>
                      <a:pPr indent="0" marL="0">
                        <a:buNone/>
                      </a:pPr>
                      <a:r>
                        <a:rPr lang="en-US" sz="900" dirty="0">
                          <a:solidFill>
                            <a:schemeClr val="tx1"/>
                          </a:solidFill>
                        </a:rPr>
                        <a:t>Study competitors and learn who the café's customers are.</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Google, competitors' pages, sales data</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Research report ready by day 7</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Add a short survey in the café</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r h="347472">
                <a:tc rowSpan="3">
                  <a:txBody>
                    <a:bodyPr/>
                    <a:lstStyle/>
                    <a:p>
                      <a:pPr algn="ctr" indent="0" marL="0">
                        <a:buNone/>
                      </a:pPr>
                      <a:r>
                        <a:rPr lang="en-US" sz="1100" b="1" dirty="0">
                          <a:solidFill>
                            <a:srgbClr val="A0928A"/>
                          </a:solidFill>
                        </a:rPr>
                        <a:t>Aya Reda</a:t>
                      </a:r>
                      <a:endParaRPr lang="en-US" sz="900" dirty="0"/>
                    </a:p>
                    <a:p>
                      <a:pPr algn="ctr" indent="0" marL="0">
                        <a:buNone/>
                      </a:pPr>
                      <a:r>
                        <a:rPr lang="en-US" sz="900" dirty="0">
                          <a:solidFill>
                            <a:srgbClr val="A0928A"/>
                          </a:solidFill>
                        </a:rPr>
                        <a:t>Content and social media</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algn="ctr" indent="0" marL="0">
                        <a:buNone/>
                      </a:pPr>
                      <a:r>
                        <a:rPr lang="en-US" sz="900" b="1" dirty="0">
                          <a:solidFill>
                            <a:srgbClr val="A0928A"/>
                          </a:solidFill>
                        </a:rPr>
                        <a:t>1–2</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Content Plan: </a:t>
                      </a:r>
                      <a:pPr indent="0" marL="0">
                        <a:buNone/>
                      </a:pPr>
                      <a:r>
                        <a:rPr lang="en-US" sz="900" dirty="0">
                          <a:solidFill>
                            <a:srgbClr val="A0928A"/>
                          </a:solidFill>
                        </a:rPr>
                        <a:t>Create a 30-day plan for posts, reels and stories.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Google Sheets, café menu</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Plan reviewed with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Change topics based on feedback</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vMerge="1">
                  <a:tcPr/>
                </a:tc>
                <a:tc>
                  <a:txBody>
                    <a:bodyPr/>
                    <a:lstStyle/>
                    <a:p>
                      <a:pPr algn="ctr" indent="0" marL="0">
                        <a:buNone/>
                      </a:pPr>
                      <a:r>
                        <a:rPr lang="en-US" sz="900" b="1" dirty="0">
                          <a:solidFill>
                            <a:srgbClr val="A0928A"/>
                          </a:solidFill>
                        </a:rPr>
                        <a:t>2–4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Posts and Reels: </a:t>
                      </a:r>
                      <a:pPr indent="0" marL="0">
                        <a:buNone/>
                      </a:pPr>
                      <a:r>
                        <a:rPr lang="en-US" sz="900" dirty="0">
                          <a:solidFill>
                            <a:srgbClr val="A0928A"/>
                          </a:solidFill>
                        </a:rPr>
                        <a:t>Design 12 posts and 8 reels every month.</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Canva, CapCut, 3,000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Weekly check of likes and shares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Copy the style of the best posts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vMerge="1">
                  <a:tcPr/>
                </a:tc>
                <a:tc>
                  <a:txBody>
                    <a:bodyPr/>
                    <a:lstStyle/>
                    <a:p>
                      <a:pPr algn="ctr" indent="0" marL="0">
                        <a:buNone/>
                      </a:pPr>
                      <a:r>
                        <a:rPr lang="en-US" sz="900" b="1" dirty="0">
                          <a:solidFill>
                            <a:srgbClr val="A0928A"/>
                          </a:solidFill>
                        </a:rPr>
                        <a:t>3–4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Posting and Offers: </a:t>
                      </a:r>
                      <a:pPr indent="0" marL="0">
                        <a:buNone/>
                      </a:pPr>
                      <a:r>
                        <a:rPr lang="en-US" sz="900" dirty="0">
                          <a:solidFill>
                            <a:srgbClr val="A0928A"/>
                          </a:solidFill>
                        </a:rPr>
                        <a:t>Publish content, reply to messages and launch 2 offers.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Meta Business Suite, 5,000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Weekly count of messages and offer sales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More reels, stronger offers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rowSpan="2">
                  <a:txBody>
                    <a:bodyPr/>
                    <a:lstStyle/>
                    <a:p>
                      <a:pPr algn="ctr" indent="0" marL="0">
                        <a:buNone/>
                      </a:pPr>
                      <a:r>
                        <a:rPr lang="en-US" sz="1100" b="1" dirty="0">
                          <a:solidFill>
                            <a:srgbClr val="A0928A"/>
                          </a:solidFill>
                        </a:rPr>
                        <a:t>Mahmoud Ibrahim</a:t>
                      </a:r>
                      <a:endParaRPr lang="en-US" sz="900" dirty="0"/>
                    </a:p>
                    <a:p>
                      <a:pPr algn="ctr" indent="0" marL="0">
                        <a:buNone/>
                      </a:pPr>
                      <a:r>
                        <a:rPr lang="en-US" sz="900" dirty="0">
                          <a:solidFill>
                            <a:srgbClr val="A0928A"/>
                          </a:solidFill>
                        </a:rPr>
                        <a:t>Ads and reports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algn="ctr" indent="0" marL="0">
                        <a:buNone/>
                      </a:pPr>
                      <a:r>
                        <a:rPr lang="en-US" sz="900" b="1" dirty="0">
                          <a:solidFill>
                            <a:srgbClr val="A0928A"/>
                          </a:solidFill>
                        </a:rPr>
                        <a:t>1–4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Weekly Report: </a:t>
                      </a:r>
                      <a:pPr indent="0" marL="0">
                        <a:buNone/>
                      </a:pPr>
                      <a:r>
                        <a:rPr lang="en-US" sz="900" dirty="0">
                          <a:solidFill>
                            <a:srgbClr val="A0928A"/>
                          </a:solidFill>
                        </a:rPr>
                        <a:t>Track the 4 goals and send the owner a report every Sunday.</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Google Sheets, sales data, 1,000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Report every Sunday, with ROI</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Fix weak numbers the next week</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vMerge="1">
                  <a:tcPr/>
                </a:tc>
                <a:tc>
                  <a:txBody>
                    <a:bodyPr/>
                    <a:lstStyle/>
                    <a:p>
                      <a:pPr algn="ctr" indent="0" marL="0">
                        <a:buNone/>
                      </a:pPr>
                      <a:r>
                        <a:rPr lang="en-US" sz="900" b="1" dirty="0">
                          <a:solidFill>
                            <a:srgbClr val="A0928A"/>
                          </a:solidFill>
                        </a:rPr>
                        <a:t>2–4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Paid Ads: </a:t>
                      </a:r>
                      <a:pPr indent="0" marL="0">
                        <a:buNone/>
                      </a:pPr>
                      <a:r>
                        <a:rPr lang="en-US" sz="900" dirty="0">
                          <a:solidFill>
                            <a:srgbClr val="A0928A"/>
                          </a:solidFill>
                        </a:rPr>
                        <a:t>Run Facebook and Instagram ads for people near the café.</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Meta Ads Manager, 4,000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Daily check of reach and cost</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Move money to the best ad</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rowSpan="3">
                  <a:txBody>
                    <a:bodyPr/>
                    <a:lstStyle/>
                    <a:p>
                      <a:pPr algn="ctr" indent="0" marL="0">
                        <a:buNone/>
                      </a:pPr>
                      <a:r>
                        <a:rPr lang="en-US" sz="1100" b="1" dirty="0">
                          <a:solidFill>
                            <a:srgbClr val="A0928A"/>
                          </a:solidFill>
                        </a:rPr>
                        <a:t>Abader Zarif</a:t>
                      </a:r>
                      <a:endParaRPr lang="en-US" sz="900" dirty="0"/>
                    </a:p>
                    <a:p>
                      <a:pPr algn="ctr" indent="0" marL="0">
                        <a:buNone/>
                      </a:pPr>
                      <a:r>
                        <a:rPr lang="en-US" sz="900" dirty="0">
                          <a:solidFill>
                            <a:srgbClr val="A0928A"/>
                          </a:solidFill>
                        </a:rPr>
                        <a:t>Audit, photos and review</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algn="ctr" indent="0" marL="0">
                        <a:buNone/>
                      </a:pPr>
                      <a:r>
                        <a:rPr lang="en-US" sz="900" b="1" dirty="0">
                          <a:solidFill>
                            <a:srgbClr val="A0928A"/>
                          </a:solidFill>
                        </a:rPr>
                        <a:t>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Page Audit: </a:t>
                      </a:r>
                      <a:pPr indent="0" marL="0">
                        <a:buNone/>
                      </a:pPr>
                      <a:r>
                        <a:rPr lang="en-US" sz="900" dirty="0">
                          <a:solidFill>
                            <a:srgbClr val="A0928A"/>
                          </a:solidFill>
                        </a:rPr>
                        <a:t>Check the café's Facebook and Instagram pages and list what to fix.</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Page access, Meta Business Suite</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Audit report ready by end of week 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Fix the biggest problems first</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vMerge="1">
                  <a:tcPr/>
                </a:tc>
                <a:tc>
                  <a:txBody>
                    <a:bodyPr/>
                    <a:lstStyle/>
                    <a:p>
                      <a:pPr algn="ctr" indent="0" marL="0">
                        <a:buNone/>
                      </a:pPr>
                      <a:r>
                        <a:rPr lang="en-US" sz="900" b="1" dirty="0">
                          <a:solidFill>
                            <a:srgbClr val="A0928A"/>
                          </a:solidFill>
                        </a:rPr>
                        <a:t>2</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Photo Shoot: </a:t>
                      </a:r>
                      <a:pPr indent="0" marL="0">
                        <a:buNone/>
                      </a:pPr>
                      <a:r>
                        <a:rPr lang="en-US" sz="900" dirty="0">
                          <a:solidFill>
                            <a:srgbClr val="A0928A"/>
                          </a:solidFill>
                        </a:rPr>
                        <a:t>Take photos and videos of the menu, drinks and café.</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Camera or phone, café visit</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Check photo quality the same day</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Reshoot weak photos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vMerge="1">
                  <a:tcPr/>
                </a:tc>
                <a:tc>
                  <a:txBody>
                    <a:bodyPr/>
                    <a:lstStyle/>
                    <a:p>
                      <a:pPr algn="ctr" indent="0" marL="0">
                        <a:buNone/>
                      </a:pPr>
                      <a:r>
                        <a:rPr lang="en-US" sz="900" b="1" dirty="0">
                          <a:solidFill>
                            <a:srgbClr val="A0928A"/>
                          </a:solidFill>
                        </a:rPr>
                        <a:t>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Month-One Review: </a:t>
                      </a:r>
                      <a:pPr indent="0" marL="0">
                        <a:buNone/>
                      </a:pPr>
                      <a:r>
                        <a:rPr lang="en-US" sz="900" dirty="0">
                          <a:solidFill>
                            <a:srgbClr val="A0928A"/>
                          </a:solidFill>
                        </a:rPr>
                        <a:t>Review results with the owner and plan month two.</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All reports, meeting with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Compare results with the 4 goals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Recommendations for month two</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320040" y="137160"/>
            <a:ext cx="6035040"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Cambria" pitchFamily="34" charset="0"/>
                <a:ea typeface="Cambria" pitchFamily="34" charset="-122"/>
                <a:cs typeface="Cambria" pitchFamily="34" charset="-120"/>
              </a:rPr>
              <a:t>Action Plan: The Daily Cup Café</a:t>
            </a:r>
            <a:endParaRPr lang="en-US" sz="2800" dirty="0"/>
          </a:p>
        </p:txBody>
      </p:sp>
      <p:sp>
        <p:nvSpPr>
          <p:cNvPr id="3" name="Presenter badge"/>
          <p:cNvSpPr/>
          <p:nvPr/>
        </p:nvSpPr>
        <p:spPr>
          <a:xfrm>
            <a:off x="6355080" y="201168"/>
            <a:ext cx="2468880" cy="384048"/>
          </a:xfrm>
          <a:prstGeom prst="roundRect">
            <a:avLst>
              <a:gd name="adj" fmla="val 50000"/>
            </a:avLst>
          </a:prstGeom>
          <a:solidFill>
            <a:schemeClr val="accent1"/>
          </a:solidFill>
          <a:ln w="12700">
            <a:solidFill>
              <a:srgbClr val="FFFFFF"/>
            </a:solidFill>
            <a:prstDash val="solid"/>
          </a:ln>
        </p:spPr>
      </p:sp>
      <p:sp>
        <p:nvSpPr>
          <p:cNvPr id="4" name="Presenter badge text"/>
          <p:cNvSpPr txBox="1"/>
          <p:nvPr/>
        </p:nvSpPr>
        <p:spPr>
          <a:xfrm>
            <a:off x="6355080" y="201168"/>
            <a:ext cx="2468880" cy="384048"/>
          </a:xfrm>
          <a:prstGeom prst="rect">
            <a:avLst/>
          </a:prstGeom>
          <a:noFill/>
          <a:ln/>
        </p:spPr>
        <p:txBody>
          <a:bodyPr wrap="square" lIns="0" tIns="0" rIns="0" bIns="0" rtlCol="0" anchor="ctr"/>
          <a:lstStyle/>
          <a:p>
            <a:pPr algn="ctr" indent="0" marL="0">
              <a:buNone/>
            </a:pPr>
            <a:r>
              <a:rPr lang="en-US" sz="1100" dirty="0">
                <a:solidFill>
                  <a:schemeClr val="bg1"/>
                </a:solidFill>
              </a:rPr>
              <a:t>Presenting: </a:t>
            </a:r>
            <a:pPr algn="ctr" indent="0" marL="0">
              <a:buNone/>
            </a:pPr>
            <a:r>
              <a:rPr lang="en-US" sz="1100" b="1" dirty="0">
                <a:solidFill>
                  <a:schemeClr val="bg1"/>
                </a:solidFill>
              </a:rPr>
              <a:t>Aya Reda</a:t>
            </a:r>
            <a:endParaRPr lang="en-US" sz="1100" dirty="0"/>
          </a:p>
        </p:txBody>
      </p:sp>
      <p:sp>
        <p:nvSpPr>
          <p:cNvPr id="5" name="Objective"/>
          <p:cNvSpPr txBox="1"/>
          <p:nvPr/>
        </p:nvSpPr>
        <p:spPr>
          <a:xfrm>
            <a:off x="320040" y="658368"/>
            <a:ext cx="8503920" cy="292608"/>
          </a:xfrm>
          <a:prstGeom prst="rect">
            <a:avLst/>
          </a:prstGeom>
          <a:noFill/>
          <a:ln/>
        </p:spPr>
        <p:txBody>
          <a:bodyPr wrap="square" lIns="0" tIns="0" rIns="0" bIns="0" rtlCol="0" anchor="ctr"/>
          <a:lstStyle/>
          <a:p>
            <a:pPr indent="0" marL="0">
              <a:buNone/>
            </a:pPr>
            <a:r>
              <a:rPr lang="en-US" sz="1100" b="1" dirty="0">
                <a:solidFill>
                  <a:schemeClr val="accent2"/>
                </a:solidFill>
              </a:rPr>
              <a:t>Objective: </a:t>
            </a:r>
            <a:pPr indent="0" marL="0">
              <a:buNone/>
            </a:pPr>
            <a:r>
              <a:rPr lang="en-US" sz="1100" b="1" dirty="0">
                <a:solidFill>
                  <a:schemeClr val="bg1"/>
                </a:solidFill>
              </a:rPr>
              <a:t>In one month, reach 40K+ people, gain 500 followers, get 100+ messages and 10 more customers a day</a:t>
            </a:r>
            <a:endParaRPr lang="en-US" sz="1100" dirty="0"/>
          </a:p>
        </p:txBody>
      </p:sp>
      <p:graphicFrame>
        <p:nvGraphicFramePr>
          <p:cNvPr id="4" name="Action plan table"/>
          <p:cNvGraphicFramePr>
            <a:graphicFrameLocks noGrp="1"/>
          </p:cNvGraphicFramePr>
          <p:nvPr>
            <p:extLst>
              <p:ext uri="{D42A27DB-BD31-4B8C-83A1-F6EECF244321}">
                <p14:modId xmlns:p14="http://schemas.microsoft.com/office/powerpoint/2010/main" val="1579011935"/>
              </p:ext>
            </p:extLst>
          </p:nvPr>
        </p:nvGraphicFramePr>
        <p:xfrm>
          <a:off x="320040" y="1005840"/>
          <a:ext cx="8503920" cy="914400"/>
        </p:xfrm>
        <a:graphic>
          <a:graphicData uri="http://schemas.openxmlformats.org/drawingml/2006/table">
            <a:tbl>
              <a:tblPr/>
              <a:tblGrid>
                <a:gridCol w="1234440"/>
                <a:gridCol w="502920"/>
                <a:gridCol w="2651760"/>
                <a:gridCol w="1371600"/>
                <a:gridCol w="1371600"/>
                <a:gridCol w="1371600"/>
              </a:tblGrid>
              <a:tr h="384048">
                <a:tc>
                  <a:txBody>
                    <a:bodyPr/>
                    <a:lstStyle/>
                    <a:p>
                      <a:pPr algn="ctr" indent="0" marL="0">
                        <a:buNone/>
                      </a:pPr>
                      <a:r>
                        <a:rPr lang="en-US" sz="1100" b="1" dirty="0">
                          <a:solidFill>
                            <a:schemeClr val="accent2"/>
                          </a:solidFill>
                        </a:rPr>
                        <a:t>Responsible</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Week</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Task &amp; Description</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Resources Needed</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Monitor &amp; Assess Progress</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Review &amp; Adjust</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r>
              <a:tr h="347472">
                <a:tc rowSpan="2">
                  <a:txBody>
                    <a:bodyPr/>
                    <a:lstStyle/>
                    <a:p>
                      <a:pPr algn="ctr" indent="0" marL="0">
                        <a:buNone/>
                      </a:pPr>
                      <a:r>
                        <a:rPr lang="en-US" sz="1100" b="1" dirty="0">
                          <a:solidFill>
                            <a:srgbClr val="A0928A"/>
                          </a:solidFill>
                        </a:rPr>
                        <a:t>Rahma Khaled</a:t>
                      </a:r>
                      <a:endParaRPr lang="en-US" sz="900" dirty="0"/>
                    </a:p>
                    <a:p>
                      <a:pPr algn="ctr" indent="0" marL="0">
                        <a:buNone/>
                      </a:pPr>
                      <a:r>
                        <a:rPr lang="en-US" sz="900" dirty="0">
                          <a:solidFill>
                            <a:srgbClr val="A0928A"/>
                          </a:solidFill>
                        </a:rPr>
                        <a:t>Goals and research</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algn="ctr" indent="0" marL="0">
                        <a:buNone/>
                      </a:pPr>
                      <a:r>
                        <a:rPr lang="en-US" sz="900" b="1" dirty="0">
                          <a:solidFill>
                            <a:srgbClr val="A0928A"/>
                          </a:solidFill>
                        </a:rPr>
                        <a:t>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Kick-off Meeting: </a:t>
                      </a:r>
                      <a:pPr indent="0" marL="0">
                        <a:buNone/>
                      </a:pPr>
                      <a:r>
                        <a:rPr lang="en-US" sz="900" dirty="0">
                          <a:solidFill>
                            <a:srgbClr val="A0928A"/>
                          </a:solidFill>
                        </a:rPr>
                        <a:t>Meet the owner, agree on the 4 goals and get page access.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Meeting with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Goals approved by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Adjust goals if the owner asks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vMerge="1">
                  <a:tcPr/>
                </a:tc>
                <a:tc>
                  <a:txBody>
                    <a:bodyPr/>
                    <a:lstStyle/>
                    <a:p>
                      <a:pPr algn="ctr" indent="0" marL="0">
                        <a:buNone/>
                      </a:pPr>
                      <a:r>
                        <a:rPr lang="en-US" sz="900" b="1" dirty="0">
                          <a:solidFill>
                            <a:srgbClr val="A0928A"/>
                          </a:solidFill>
                        </a:rPr>
                        <a:t>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Market Research: </a:t>
                      </a:r>
                      <a:pPr indent="0" marL="0">
                        <a:buNone/>
                      </a:pPr>
                      <a:r>
                        <a:rPr lang="en-US" sz="900" dirty="0">
                          <a:solidFill>
                            <a:srgbClr val="A0928A"/>
                          </a:solidFill>
                        </a:rPr>
                        <a:t>Study competitors and learn who the café's customers are.</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Google, competitors' pages, sales data</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Research report ready by day 7</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Add a short survey in the café</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rowSpan="3">
                  <a:txBody>
                    <a:bodyPr/>
                    <a:lstStyle/>
                    <a:p>
                      <a:pPr algn="ctr" indent="0" marL="0">
                        <a:buNone/>
                      </a:pPr>
                      <a:r>
                        <a:rPr lang="en-US" sz="1100" b="1" dirty="0">
                          <a:solidFill>
                            <a:schemeClr val="bg1"/>
                          </a:solidFill>
                        </a:rPr>
                        <a:t>Aya Reda</a:t>
                      </a:r>
                      <a:endParaRPr lang="en-US" sz="900" dirty="0"/>
                    </a:p>
                    <a:p>
                      <a:pPr algn="ctr" indent="0" marL="0">
                        <a:buNone/>
                      </a:pPr>
                      <a:r>
                        <a:rPr lang="en-US" sz="900" dirty="0">
                          <a:solidFill>
                            <a:schemeClr val="bg1"/>
                          </a:solidFill>
                        </a:rPr>
                        <a:t>Content and social media</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accent1"/>
                    </a:solidFill>
                  </a:tcPr>
                </a:tc>
                <a:tc>
                  <a:txBody>
                    <a:bodyPr/>
                    <a:lstStyle/>
                    <a:p>
                      <a:pPr algn="ctr" indent="0" marL="0">
                        <a:buNone/>
                      </a:pPr>
                      <a:r>
                        <a:rPr lang="en-US" sz="900" b="1" dirty="0">
                          <a:solidFill>
                            <a:schemeClr val="tx2"/>
                          </a:solidFill>
                        </a:rPr>
                        <a:t>1–2</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Content Plan: </a:t>
                      </a:r>
                      <a:pPr indent="0" marL="0">
                        <a:buNone/>
                      </a:pPr>
                      <a:r>
                        <a:rPr lang="en-US" sz="900" dirty="0">
                          <a:solidFill>
                            <a:schemeClr val="tx1"/>
                          </a:solidFill>
                        </a:rPr>
                        <a:t>Create a 30-day plan for posts, reels and stories.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Google Sheets, café menu</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Plan reviewed with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Change topics based on feedback</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r h="347472">
                <a:tc vMerge="1">
                  <a:tcPr/>
                </a:tc>
                <a:tc>
                  <a:txBody>
                    <a:bodyPr/>
                    <a:lstStyle/>
                    <a:p>
                      <a:pPr algn="ctr" indent="0" marL="0">
                        <a:buNone/>
                      </a:pPr>
                      <a:r>
                        <a:rPr lang="en-US" sz="900" b="1" dirty="0">
                          <a:solidFill>
                            <a:schemeClr val="tx2"/>
                          </a:solidFill>
                        </a:rPr>
                        <a:t>2–4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Posts and Reels: </a:t>
                      </a:r>
                      <a:pPr indent="0" marL="0">
                        <a:buNone/>
                      </a:pPr>
                      <a:r>
                        <a:rPr lang="en-US" sz="900" dirty="0">
                          <a:solidFill>
                            <a:schemeClr val="tx1"/>
                          </a:solidFill>
                        </a:rPr>
                        <a:t>Design 12 posts and 8 reels every month.</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Canva, CapCut, 3,000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Weekly check of likes and shares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Copy the style of the best posts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r h="347472">
                <a:tc vMerge="1">
                  <a:tcPr/>
                </a:tc>
                <a:tc>
                  <a:txBody>
                    <a:bodyPr/>
                    <a:lstStyle/>
                    <a:p>
                      <a:pPr algn="ctr" indent="0" marL="0">
                        <a:buNone/>
                      </a:pPr>
                      <a:r>
                        <a:rPr lang="en-US" sz="900" b="1" dirty="0">
                          <a:solidFill>
                            <a:schemeClr val="tx2"/>
                          </a:solidFill>
                        </a:rPr>
                        <a:t>3–4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Posting and Offers: </a:t>
                      </a:r>
                      <a:pPr indent="0" marL="0">
                        <a:buNone/>
                      </a:pPr>
                      <a:r>
                        <a:rPr lang="en-US" sz="900" dirty="0">
                          <a:solidFill>
                            <a:schemeClr val="tx1"/>
                          </a:solidFill>
                        </a:rPr>
                        <a:t>Publish content, reply to messages and launch 2 offers.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Meta Business Suite, 5,000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Weekly count of messages and offer sales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More reels, stronger offers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r h="347472">
                <a:tc rowSpan="2">
                  <a:txBody>
                    <a:bodyPr/>
                    <a:lstStyle/>
                    <a:p>
                      <a:pPr algn="ctr" indent="0" marL="0">
                        <a:buNone/>
                      </a:pPr>
                      <a:r>
                        <a:rPr lang="en-US" sz="1100" b="1" dirty="0">
                          <a:solidFill>
                            <a:srgbClr val="A0928A"/>
                          </a:solidFill>
                        </a:rPr>
                        <a:t>Mahmoud Ibrahim</a:t>
                      </a:r>
                      <a:endParaRPr lang="en-US" sz="900" dirty="0"/>
                    </a:p>
                    <a:p>
                      <a:pPr algn="ctr" indent="0" marL="0">
                        <a:buNone/>
                      </a:pPr>
                      <a:r>
                        <a:rPr lang="en-US" sz="900" dirty="0">
                          <a:solidFill>
                            <a:srgbClr val="A0928A"/>
                          </a:solidFill>
                        </a:rPr>
                        <a:t>Ads and reports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algn="ctr" indent="0" marL="0">
                        <a:buNone/>
                      </a:pPr>
                      <a:r>
                        <a:rPr lang="en-US" sz="900" b="1" dirty="0">
                          <a:solidFill>
                            <a:srgbClr val="A0928A"/>
                          </a:solidFill>
                        </a:rPr>
                        <a:t>1–4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Weekly Report: </a:t>
                      </a:r>
                      <a:pPr indent="0" marL="0">
                        <a:buNone/>
                      </a:pPr>
                      <a:r>
                        <a:rPr lang="en-US" sz="900" dirty="0">
                          <a:solidFill>
                            <a:srgbClr val="A0928A"/>
                          </a:solidFill>
                        </a:rPr>
                        <a:t>Track the 4 goals and send the owner a report every Sunday.</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Google Sheets, sales data, 1,000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Report every Sunday, with ROI</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Fix weak numbers the next week</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vMerge="1">
                  <a:tcPr/>
                </a:tc>
                <a:tc>
                  <a:txBody>
                    <a:bodyPr/>
                    <a:lstStyle/>
                    <a:p>
                      <a:pPr algn="ctr" indent="0" marL="0">
                        <a:buNone/>
                      </a:pPr>
                      <a:r>
                        <a:rPr lang="en-US" sz="900" b="1" dirty="0">
                          <a:solidFill>
                            <a:srgbClr val="A0928A"/>
                          </a:solidFill>
                        </a:rPr>
                        <a:t>2–4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Paid Ads: </a:t>
                      </a:r>
                      <a:pPr indent="0" marL="0">
                        <a:buNone/>
                      </a:pPr>
                      <a:r>
                        <a:rPr lang="en-US" sz="900" dirty="0">
                          <a:solidFill>
                            <a:srgbClr val="A0928A"/>
                          </a:solidFill>
                        </a:rPr>
                        <a:t>Run Facebook and Instagram ads for people near the café.</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Meta Ads Manager, 4,000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Daily check of reach and cost</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Move money to the best ad</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rowSpan="3">
                  <a:txBody>
                    <a:bodyPr/>
                    <a:lstStyle/>
                    <a:p>
                      <a:pPr algn="ctr" indent="0" marL="0">
                        <a:buNone/>
                      </a:pPr>
                      <a:r>
                        <a:rPr lang="en-US" sz="1100" b="1" dirty="0">
                          <a:solidFill>
                            <a:srgbClr val="A0928A"/>
                          </a:solidFill>
                        </a:rPr>
                        <a:t>Abader Zarif</a:t>
                      </a:r>
                      <a:endParaRPr lang="en-US" sz="900" dirty="0"/>
                    </a:p>
                    <a:p>
                      <a:pPr algn="ctr" indent="0" marL="0">
                        <a:buNone/>
                      </a:pPr>
                      <a:r>
                        <a:rPr lang="en-US" sz="900" dirty="0">
                          <a:solidFill>
                            <a:srgbClr val="A0928A"/>
                          </a:solidFill>
                        </a:rPr>
                        <a:t>Audit, photos and review</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algn="ctr" indent="0" marL="0">
                        <a:buNone/>
                      </a:pPr>
                      <a:r>
                        <a:rPr lang="en-US" sz="900" b="1" dirty="0">
                          <a:solidFill>
                            <a:srgbClr val="A0928A"/>
                          </a:solidFill>
                        </a:rPr>
                        <a:t>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Page Audit: </a:t>
                      </a:r>
                      <a:pPr indent="0" marL="0">
                        <a:buNone/>
                      </a:pPr>
                      <a:r>
                        <a:rPr lang="en-US" sz="900" dirty="0">
                          <a:solidFill>
                            <a:srgbClr val="A0928A"/>
                          </a:solidFill>
                        </a:rPr>
                        <a:t>Check the café's Facebook and Instagram pages and list what to fix.</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Page access, Meta Business Suite</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Audit report ready by end of week 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Fix the biggest problems first</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vMerge="1">
                  <a:tcPr/>
                </a:tc>
                <a:tc>
                  <a:txBody>
                    <a:bodyPr/>
                    <a:lstStyle/>
                    <a:p>
                      <a:pPr algn="ctr" indent="0" marL="0">
                        <a:buNone/>
                      </a:pPr>
                      <a:r>
                        <a:rPr lang="en-US" sz="900" b="1" dirty="0">
                          <a:solidFill>
                            <a:srgbClr val="A0928A"/>
                          </a:solidFill>
                        </a:rPr>
                        <a:t>2</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Photo Shoot: </a:t>
                      </a:r>
                      <a:pPr indent="0" marL="0">
                        <a:buNone/>
                      </a:pPr>
                      <a:r>
                        <a:rPr lang="en-US" sz="900" dirty="0">
                          <a:solidFill>
                            <a:srgbClr val="A0928A"/>
                          </a:solidFill>
                        </a:rPr>
                        <a:t>Take photos and videos of the menu, drinks and café.</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Camera or phone, café visit</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Check photo quality the same day</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Reshoot weak photos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vMerge="1">
                  <a:tcPr/>
                </a:tc>
                <a:tc>
                  <a:txBody>
                    <a:bodyPr/>
                    <a:lstStyle/>
                    <a:p>
                      <a:pPr algn="ctr" indent="0" marL="0">
                        <a:buNone/>
                      </a:pPr>
                      <a:r>
                        <a:rPr lang="en-US" sz="900" b="1" dirty="0">
                          <a:solidFill>
                            <a:srgbClr val="A0928A"/>
                          </a:solidFill>
                        </a:rPr>
                        <a:t>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Month-One Review: </a:t>
                      </a:r>
                      <a:pPr indent="0" marL="0">
                        <a:buNone/>
                      </a:pPr>
                      <a:r>
                        <a:rPr lang="en-US" sz="900" dirty="0">
                          <a:solidFill>
                            <a:srgbClr val="A0928A"/>
                          </a:solidFill>
                        </a:rPr>
                        <a:t>Review results with the owner and plan month two.</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All reports, meeting with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Compare results with the 4 goals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Recommendations for month two</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320040" y="137160"/>
            <a:ext cx="6035040"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Cambria" pitchFamily="34" charset="0"/>
                <a:ea typeface="Cambria" pitchFamily="34" charset="-122"/>
                <a:cs typeface="Cambria" pitchFamily="34" charset="-120"/>
              </a:rPr>
              <a:t>Action Plan: The Daily Cup Café</a:t>
            </a:r>
            <a:endParaRPr lang="en-US" sz="2800" dirty="0"/>
          </a:p>
        </p:txBody>
      </p:sp>
      <p:sp>
        <p:nvSpPr>
          <p:cNvPr id="3" name="Presenter badge"/>
          <p:cNvSpPr/>
          <p:nvPr/>
        </p:nvSpPr>
        <p:spPr>
          <a:xfrm>
            <a:off x="6355080" y="201168"/>
            <a:ext cx="2468880" cy="384048"/>
          </a:xfrm>
          <a:prstGeom prst="roundRect">
            <a:avLst>
              <a:gd name="adj" fmla="val 50000"/>
            </a:avLst>
          </a:prstGeom>
          <a:solidFill>
            <a:schemeClr val="accent4"/>
          </a:solidFill>
          <a:ln w="12700">
            <a:solidFill>
              <a:srgbClr val="FFFFFF"/>
            </a:solidFill>
            <a:prstDash val="solid"/>
          </a:ln>
        </p:spPr>
      </p:sp>
      <p:sp>
        <p:nvSpPr>
          <p:cNvPr id="4" name="Presenter badge text"/>
          <p:cNvSpPr txBox="1"/>
          <p:nvPr/>
        </p:nvSpPr>
        <p:spPr>
          <a:xfrm>
            <a:off x="6355080" y="201168"/>
            <a:ext cx="2468880" cy="384048"/>
          </a:xfrm>
          <a:prstGeom prst="rect">
            <a:avLst/>
          </a:prstGeom>
          <a:noFill/>
          <a:ln/>
        </p:spPr>
        <p:txBody>
          <a:bodyPr wrap="square" lIns="0" tIns="0" rIns="0" bIns="0" rtlCol="0" anchor="ctr"/>
          <a:lstStyle/>
          <a:p>
            <a:pPr algn="ctr" indent="0" marL="0">
              <a:buNone/>
            </a:pPr>
            <a:r>
              <a:rPr lang="en-US" sz="1100" dirty="0">
                <a:solidFill>
                  <a:schemeClr val="bg1"/>
                </a:solidFill>
              </a:rPr>
              <a:t>Presenting: </a:t>
            </a:r>
            <a:pPr algn="ctr" indent="0" marL="0">
              <a:buNone/>
            </a:pPr>
            <a:r>
              <a:rPr lang="en-US" sz="1100" b="1" dirty="0">
                <a:solidFill>
                  <a:schemeClr val="bg1"/>
                </a:solidFill>
              </a:rPr>
              <a:t>Mahmoud Ibrahim</a:t>
            </a:r>
            <a:endParaRPr lang="en-US" sz="1100" dirty="0"/>
          </a:p>
        </p:txBody>
      </p:sp>
      <p:sp>
        <p:nvSpPr>
          <p:cNvPr id="5" name="Objective"/>
          <p:cNvSpPr txBox="1"/>
          <p:nvPr/>
        </p:nvSpPr>
        <p:spPr>
          <a:xfrm>
            <a:off x="320040" y="658368"/>
            <a:ext cx="8503920" cy="292608"/>
          </a:xfrm>
          <a:prstGeom prst="rect">
            <a:avLst/>
          </a:prstGeom>
          <a:noFill/>
          <a:ln/>
        </p:spPr>
        <p:txBody>
          <a:bodyPr wrap="square" lIns="0" tIns="0" rIns="0" bIns="0" rtlCol="0" anchor="ctr"/>
          <a:lstStyle/>
          <a:p>
            <a:pPr indent="0" marL="0">
              <a:buNone/>
            </a:pPr>
            <a:r>
              <a:rPr lang="en-US" sz="1100" b="1" dirty="0">
                <a:solidFill>
                  <a:schemeClr val="accent2"/>
                </a:solidFill>
              </a:rPr>
              <a:t>Objective: </a:t>
            </a:r>
            <a:pPr indent="0" marL="0">
              <a:buNone/>
            </a:pPr>
            <a:r>
              <a:rPr lang="en-US" sz="1100" b="1" dirty="0">
                <a:solidFill>
                  <a:schemeClr val="bg1"/>
                </a:solidFill>
              </a:rPr>
              <a:t>In one month, reach 40K+ people, gain 500 followers, get 100+ messages and 10 more customers a day</a:t>
            </a:r>
            <a:endParaRPr lang="en-US" sz="1100" dirty="0"/>
          </a:p>
        </p:txBody>
      </p:sp>
      <p:graphicFrame>
        <p:nvGraphicFramePr>
          <p:cNvPr id="5" name="Action plan table"/>
          <p:cNvGraphicFramePr>
            <a:graphicFrameLocks noGrp="1"/>
          </p:cNvGraphicFramePr>
          <p:nvPr>
            <p:extLst>
              <p:ext uri="{D42A27DB-BD31-4B8C-83A1-F6EECF244321}">
                <p14:modId xmlns:p14="http://schemas.microsoft.com/office/powerpoint/2010/main" val="1579011935"/>
              </p:ext>
            </p:extLst>
          </p:nvPr>
        </p:nvGraphicFramePr>
        <p:xfrm>
          <a:off x="320040" y="1005840"/>
          <a:ext cx="8503920" cy="914400"/>
        </p:xfrm>
        <a:graphic>
          <a:graphicData uri="http://schemas.openxmlformats.org/drawingml/2006/table">
            <a:tbl>
              <a:tblPr/>
              <a:tblGrid>
                <a:gridCol w="1234440"/>
                <a:gridCol w="502920"/>
                <a:gridCol w="2651760"/>
                <a:gridCol w="1371600"/>
                <a:gridCol w="1371600"/>
                <a:gridCol w="1371600"/>
              </a:tblGrid>
              <a:tr h="384048">
                <a:tc>
                  <a:txBody>
                    <a:bodyPr/>
                    <a:lstStyle/>
                    <a:p>
                      <a:pPr algn="ctr" indent="0" marL="0">
                        <a:buNone/>
                      </a:pPr>
                      <a:r>
                        <a:rPr lang="en-US" sz="1100" b="1" dirty="0">
                          <a:solidFill>
                            <a:schemeClr val="accent2"/>
                          </a:solidFill>
                        </a:rPr>
                        <a:t>Responsible</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Week</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Task &amp; Description</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Resources Needed</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Monitor &amp; Assess Progress</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Review &amp; Adjust</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r>
              <a:tr h="347472">
                <a:tc rowSpan="2">
                  <a:txBody>
                    <a:bodyPr/>
                    <a:lstStyle/>
                    <a:p>
                      <a:pPr algn="ctr" indent="0" marL="0">
                        <a:buNone/>
                      </a:pPr>
                      <a:r>
                        <a:rPr lang="en-US" sz="1100" b="1" dirty="0">
                          <a:solidFill>
                            <a:srgbClr val="A0928A"/>
                          </a:solidFill>
                        </a:rPr>
                        <a:t>Rahma Khaled</a:t>
                      </a:r>
                      <a:endParaRPr lang="en-US" sz="900" dirty="0"/>
                    </a:p>
                    <a:p>
                      <a:pPr algn="ctr" indent="0" marL="0">
                        <a:buNone/>
                      </a:pPr>
                      <a:r>
                        <a:rPr lang="en-US" sz="900" dirty="0">
                          <a:solidFill>
                            <a:srgbClr val="A0928A"/>
                          </a:solidFill>
                        </a:rPr>
                        <a:t>Goals and research</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algn="ctr" indent="0" marL="0">
                        <a:buNone/>
                      </a:pPr>
                      <a:r>
                        <a:rPr lang="en-US" sz="900" b="1" dirty="0">
                          <a:solidFill>
                            <a:srgbClr val="A0928A"/>
                          </a:solidFill>
                        </a:rPr>
                        <a:t>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Kick-off Meeting: </a:t>
                      </a:r>
                      <a:pPr indent="0" marL="0">
                        <a:buNone/>
                      </a:pPr>
                      <a:r>
                        <a:rPr lang="en-US" sz="900" dirty="0">
                          <a:solidFill>
                            <a:srgbClr val="A0928A"/>
                          </a:solidFill>
                        </a:rPr>
                        <a:t>Meet the owner, agree on the 4 goals and get page access.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Meeting with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Goals approved by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Adjust goals if the owner asks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vMerge="1">
                  <a:tcPr/>
                </a:tc>
                <a:tc>
                  <a:txBody>
                    <a:bodyPr/>
                    <a:lstStyle/>
                    <a:p>
                      <a:pPr algn="ctr" indent="0" marL="0">
                        <a:buNone/>
                      </a:pPr>
                      <a:r>
                        <a:rPr lang="en-US" sz="900" b="1" dirty="0">
                          <a:solidFill>
                            <a:srgbClr val="A0928A"/>
                          </a:solidFill>
                        </a:rPr>
                        <a:t>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Market Research: </a:t>
                      </a:r>
                      <a:pPr indent="0" marL="0">
                        <a:buNone/>
                      </a:pPr>
                      <a:r>
                        <a:rPr lang="en-US" sz="900" dirty="0">
                          <a:solidFill>
                            <a:srgbClr val="A0928A"/>
                          </a:solidFill>
                        </a:rPr>
                        <a:t>Study competitors and learn who the café's customers are.</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Google, competitors' pages, sales data</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Research report ready by day 7</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Add a short survey in the café</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rowSpan="3">
                  <a:txBody>
                    <a:bodyPr/>
                    <a:lstStyle/>
                    <a:p>
                      <a:pPr algn="ctr" indent="0" marL="0">
                        <a:buNone/>
                      </a:pPr>
                      <a:r>
                        <a:rPr lang="en-US" sz="1100" b="1" dirty="0">
                          <a:solidFill>
                            <a:srgbClr val="A0928A"/>
                          </a:solidFill>
                        </a:rPr>
                        <a:t>Aya Reda</a:t>
                      </a:r>
                      <a:endParaRPr lang="en-US" sz="900" dirty="0"/>
                    </a:p>
                    <a:p>
                      <a:pPr algn="ctr" indent="0" marL="0">
                        <a:buNone/>
                      </a:pPr>
                      <a:r>
                        <a:rPr lang="en-US" sz="900" dirty="0">
                          <a:solidFill>
                            <a:srgbClr val="A0928A"/>
                          </a:solidFill>
                        </a:rPr>
                        <a:t>Content and social media</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algn="ctr" indent="0" marL="0">
                        <a:buNone/>
                      </a:pPr>
                      <a:r>
                        <a:rPr lang="en-US" sz="900" b="1" dirty="0">
                          <a:solidFill>
                            <a:srgbClr val="A0928A"/>
                          </a:solidFill>
                        </a:rPr>
                        <a:t>1–2</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Content Plan: </a:t>
                      </a:r>
                      <a:pPr indent="0" marL="0">
                        <a:buNone/>
                      </a:pPr>
                      <a:r>
                        <a:rPr lang="en-US" sz="900" dirty="0">
                          <a:solidFill>
                            <a:srgbClr val="A0928A"/>
                          </a:solidFill>
                        </a:rPr>
                        <a:t>Create a 30-day plan for posts, reels and stories.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Google Sheets, café menu</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Plan reviewed with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Change topics based on feedback</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vMerge="1">
                  <a:tcPr/>
                </a:tc>
                <a:tc>
                  <a:txBody>
                    <a:bodyPr/>
                    <a:lstStyle/>
                    <a:p>
                      <a:pPr algn="ctr" indent="0" marL="0">
                        <a:buNone/>
                      </a:pPr>
                      <a:r>
                        <a:rPr lang="en-US" sz="900" b="1" dirty="0">
                          <a:solidFill>
                            <a:srgbClr val="A0928A"/>
                          </a:solidFill>
                        </a:rPr>
                        <a:t>2–4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Posts and Reels: </a:t>
                      </a:r>
                      <a:pPr indent="0" marL="0">
                        <a:buNone/>
                      </a:pPr>
                      <a:r>
                        <a:rPr lang="en-US" sz="900" dirty="0">
                          <a:solidFill>
                            <a:srgbClr val="A0928A"/>
                          </a:solidFill>
                        </a:rPr>
                        <a:t>Design 12 posts and 8 reels every month.</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Canva, CapCut, 3,000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Weekly check of likes and shares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Copy the style of the best posts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vMerge="1">
                  <a:tcPr/>
                </a:tc>
                <a:tc>
                  <a:txBody>
                    <a:bodyPr/>
                    <a:lstStyle/>
                    <a:p>
                      <a:pPr algn="ctr" indent="0" marL="0">
                        <a:buNone/>
                      </a:pPr>
                      <a:r>
                        <a:rPr lang="en-US" sz="900" b="1" dirty="0">
                          <a:solidFill>
                            <a:srgbClr val="A0928A"/>
                          </a:solidFill>
                        </a:rPr>
                        <a:t>3–4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Posting and Offers: </a:t>
                      </a:r>
                      <a:pPr indent="0" marL="0">
                        <a:buNone/>
                      </a:pPr>
                      <a:r>
                        <a:rPr lang="en-US" sz="900" dirty="0">
                          <a:solidFill>
                            <a:srgbClr val="A0928A"/>
                          </a:solidFill>
                        </a:rPr>
                        <a:t>Publish content, reply to messages and launch 2 offers.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Meta Business Suite, 5,000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Weekly count of messages and offer sales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More reels, stronger offers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rowSpan="2">
                  <a:txBody>
                    <a:bodyPr/>
                    <a:lstStyle/>
                    <a:p>
                      <a:pPr algn="ctr" indent="0" marL="0">
                        <a:buNone/>
                      </a:pPr>
                      <a:r>
                        <a:rPr lang="en-US" sz="1100" b="1" dirty="0">
                          <a:solidFill>
                            <a:schemeClr val="bg1"/>
                          </a:solidFill>
                        </a:rPr>
                        <a:t>Mahmoud Ibrahim</a:t>
                      </a:r>
                      <a:endParaRPr lang="en-US" sz="900" dirty="0"/>
                    </a:p>
                    <a:p>
                      <a:pPr algn="ctr" indent="0" marL="0">
                        <a:buNone/>
                      </a:pPr>
                      <a:r>
                        <a:rPr lang="en-US" sz="900" dirty="0">
                          <a:solidFill>
                            <a:schemeClr val="bg1"/>
                          </a:solidFill>
                        </a:rPr>
                        <a:t>Ads and reports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accent4"/>
                    </a:solidFill>
                  </a:tcPr>
                </a:tc>
                <a:tc>
                  <a:txBody>
                    <a:bodyPr/>
                    <a:lstStyle/>
                    <a:p>
                      <a:pPr algn="ctr" indent="0" marL="0">
                        <a:buNone/>
                      </a:pPr>
                      <a:r>
                        <a:rPr lang="en-US" sz="900" b="1" dirty="0">
                          <a:solidFill>
                            <a:schemeClr val="tx2"/>
                          </a:solidFill>
                        </a:rPr>
                        <a:t>1–4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Weekly Report: </a:t>
                      </a:r>
                      <a:pPr indent="0" marL="0">
                        <a:buNone/>
                      </a:pPr>
                      <a:r>
                        <a:rPr lang="en-US" sz="900" dirty="0">
                          <a:solidFill>
                            <a:schemeClr val="tx1"/>
                          </a:solidFill>
                        </a:rPr>
                        <a:t>Track the 4 goals and send the owner a report every Sunday.</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Google Sheets, sales data, 1,000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Report every Sunday, with ROI</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Fix weak numbers the next week</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r h="347472">
                <a:tc vMerge="1">
                  <a:tcPr/>
                </a:tc>
                <a:tc>
                  <a:txBody>
                    <a:bodyPr/>
                    <a:lstStyle/>
                    <a:p>
                      <a:pPr algn="ctr" indent="0" marL="0">
                        <a:buNone/>
                      </a:pPr>
                      <a:r>
                        <a:rPr lang="en-US" sz="900" b="1" dirty="0">
                          <a:solidFill>
                            <a:schemeClr val="tx2"/>
                          </a:solidFill>
                        </a:rPr>
                        <a:t>2–4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Paid Ads: </a:t>
                      </a:r>
                      <a:pPr indent="0" marL="0">
                        <a:buNone/>
                      </a:pPr>
                      <a:r>
                        <a:rPr lang="en-US" sz="900" dirty="0">
                          <a:solidFill>
                            <a:schemeClr val="tx1"/>
                          </a:solidFill>
                        </a:rPr>
                        <a:t>Run Facebook and Instagram ads for people near the café.</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Meta Ads Manager, 4,000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Daily check of reach and cost</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Move money to the best ad</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r h="347472">
                <a:tc rowSpan="3">
                  <a:txBody>
                    <a:bodyPr/>
                    <a:lstStyle/>
                    <a:p>
                      <a:pPr algn="ctr" indent="0" marL="0">
                        <a:buNone/>
                      </a:pPr>
                      <a:r>
                        <a:rPr lang="en-US" sz="1100" b="1" dirty="0">
                          <a:solidFill>
                            <a:srgbClr val="A0928A"/>
                          </a:solidFill>
                        </a:rPr>
                        <a:t>Abader Zarif</a:t>
                      </a:r>
                      <a:endParaRPr lang="en-US" sz="900" dirty="0"/>
                    </a:p>
                    <a:p>
                      <a:pPr algn="ctr" indent="0" marL="0">
                        <a:buNone/>
                      </a:pPr>
                      <a:r>
                        <a:rPr lang="en-US" sz="900" dirty="0">
                          <a:solidFill>
                            <a:srgbClr val="A0928A"/>
                          </a:solidFill>
                        </a:rPr>
                        <a:t>Audit, photos and review</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algn="ctr" indent="0" marL="0">
                        <a:buNone/>
                      </a:pPr>
                      <a:r>
                        <a:rPr lang="en-US" sz="900" b="1" dirty="0">
                          <a:solidFill>
                            <a:srgbClr val="A0928A"/>
                          </a:solidFill>
                        </a:rPr>
                        <a:t>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Page Audit: </a:t>
                      </a:r>
                      <a:pPr indent="0" marL="0">
                        <a:buNone/>
                      </a:pPr>
                      <a:r>
                        <a:rPr lang="en-US" sz="900" dirty="0">
                          <a:solidFill>
                            <a:srgbClr val="A0928A"/>
                          </a:solidFill>
                        </a:rPr>
                        <a:t>Check the café's Facebook and Instagram pages and list what to fix.</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Page access, Meta Business Suite</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Audit report ready by end of week 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Fix the biggest problems first</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vMerge="1">
                  <a:tcPr/>
                </a:tc>
                <a:tc>
                  <a:txBody>
                    <a:bodyPr/>
                    <a:lstStyle/>
                    <a:p>
                      <a:pPr algn="ctr" indent="0" marL="0">
                        <a:buNone/>
                      </a:pPr>
                      <a:r>
                        <a:rPr lang="en-US" sz="900" b="1" dirty="0">
                          <a:solidFill>
                            <a:srgbClr val="A0928A"/>
                          </a:solidFill>
                        </a:rPr>
                        <a:t>2</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Photo Shoot: </a:t>
                      </a:r>
                      <a:pPr indent="0" marL="0">
                        <a:buNone/>
                      </a:pPr>
                      <a:r>
                        <a:rPr lang="en-US" sz="900" dirty="0">
                          <a:solidFill>
                            <a:srgbClr val="A0928A"/>
                          </a:solidFill>
                        </a:rPr>
                        <a:t>Take photos and videos of the menu, drinks and café.</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Camera or phone, café visit</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Check photo quality the same day</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Reshoot weak photos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vMerge="1">
                  <a:tcPr/>
                </a:tc>
                <a:tc>
                  <a:txBody>
                    <a:bodyPr/>
                    <a:lstStyle/>
                    <a:p>
                      <a:pPr algn="ctr" indent="0" marL="0">
                        <a:buNone/>
                      </a:pPr>
                      <a:r>
                        <a:rPr lang="en-US" sz="900" b="1" dirty="0">
                          <a:solidFill>
                            <a:srgbClr val="A0928A"/>
                          </a:solidFill>
                        </a:rPr>
                        <a:t>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Month-One Review: </a:t>
                      </a:r>
                      <a:pPr indent="0" marL="0">
                        <a:buNone/>
                      </a:pPr>
                      <a:r>
                        <a:rPr lang="en-US" sz="900" dirty="0">
                          <a:solidFill>
                            <a:srgbClr val="A0928A"/>
                          </a:solidFill>
                        </a:rPr>
                        <a:t>Review results with the owner and plan month two.</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All reports, meeting with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Compare results with the 4 goals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Recommendations for month two</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320040" y="137160"/>
            <a:ext cx="6035040"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Cambria" pitchFamily="34" charset="0"/>
                <a:ea typeface="Cambria" pitchFamily="34" charset="-122"/>
                <a:cs typeface="Cambria" pitchFamily="34" charset="-120"/>
              </a:rPr>
              <a:t>Action Plan: The Daily Cup Café</a:t>
            </a:r>
            <a:endParaRPr lang="en-US" sz="2800" dirty="0"/>
          </a:p>
        </p:txBody>
      </p:sp>
      <p:sp>
        <p:nvSpPr>
          <p:cNvPr id="3" name="Presenter badge"/>
          <p:cNvSpPr/>
          <p:nvPr/>
        </p:nvSpPr>
        <p:spPr>
          <a:xfrm>
            <a:off x="6355080" y="201168"/>
            <a:ext cx="2468880" cy="384048"/>
          </a:xfrm>
          <a:prstGeom prst="roundRect">
            <a:avLst>
              <a:gd name="adj" fmla="val 50000"/>
            </a:avLst>
          </a:prstGeom>
          <a:solidFill>
            <a:schemeClr val="accent3"/>
          </a:solidFill>
          <a:ln w="12700">
            <a:solidFill>
              <a:srgbClr val="FFFFFF"/>
            </a:solidFill>
            <a:prstDash val="solid"/>
          </a:ln>
        </p:spPr>
      </p:sp>
      <p:sp>
        <p:nvSpPr>
          <p:cNvPr id="4" name="Presenter badge text"/>
          <p:cNvSpPr txBox="1"/>
          <p:nvPr/>
        </p:nvSpPr>
        <p:spPr>
          <a:xfrm>
            <a:off x="6355080" y="201168"/>
            <a:ext cx="2468880" cy="384048"/>
          </a:xfrm>
          <a:prstGeom prst="rect">
            <a:avLst/>
          </a:prstGeom>
          <a:noFill/>
          <a:ln/>
        </p:spPr>
        <p:txBody>
          <a:bodyPr wrap="square" lIns="0" tIns="0" rIns="0" bIns="0" rtlCol="0" anchor="ctr"/>
          <a:lstStyle/>
          <a:p>
            <a:pPr algn="ctr" indent="0" marL="0">
              <a:buNone/>
            </a:pPr>
            <a:r>
              <a:rPr lang="en-US" sz="1100" dirty="0">
                <a:solidFill>
                  <a:schemeClr val="bg1"/>
                </a:solidFill>
              </a:rPr>
              <a:t>Presenting: </a:t>
            </a:r>
            <a:pPr algn="ctr" indent="0" marL="0">
              <a:buNone/>
            </a:pPr>
            <a:r>
              <a:rPr lang="en-US" sz="1100" b="1" dirty="0">
                <a:solidFill>
                  <a:schemeClr val="bg1"/>
                </a:solidFill>
              </a:rPr>
              <a:t>Abader Zarif</a:t>
            </a:r>
            <a:endParaRPr lang="en-US" sz="1100" dirty="0"/>
          </a:p>
        </p:txBody>
      </p:sp>
      <p:sp>
        <p:nvSpPr>
          <p:cNvPr id="5" name="Objective"/>
          <p:cNvSpPr txBox="1"/>
          <p:nvPr/>
        </p:nvSpPr>
        <p:spPr>
          <a:xfrm>
            <a:off x="320040" y="658368"/>
            <a:ext cx="8503920" cy="292608"/>
          </a:xfrm>
          <a:prstGeom prst="rect">
            <a:avLst/>
          </a:prstGeom>
          <a:noFill/>
          <a:ln/>
        </p:spPr>
        <p:txBody>
          <a:bodyPr wrap="square" lIns="0" tIns="0" rIns="0" bIns="0" rtlCol="0" anchor="ctr"/>
          <a:lstStyle/>
          <a:p>
            <a:pPr indent="0" marL="0">
              <a:buNone/>
            </a:pPr>
            <a:r>
              <a:rPr lang="en-US" sz="1100" b="1" dirty="0">
                <a:solidFill>
                  <a:schemeClr val="accent2"/>
                </a:solidFill>
              </a:rPr>
              <a:t>Objective: </a:t>
            </a:r>
            <a:pPr indent="0" marL="0">
              <a:buNone/>
            </a:pPr>
            <a:r>
              <a:rPr lang="en-US" sz="1100" b="1" dirty="0">
                <a:solidFill>
                  <a:schemeClr val="bg1"/>
                </a:solidFill>
              </a:rPr>
              <a:t>In one month, reach 40K+ people, gain 500 followers, get 100+ messages and 10 more customers a day</a:t>
            </a:r>
            <a:endParaRPr lang="en-US" sz="1100" dirty="0"/>
          </a:p>
        </p:txBody>
      </p:sp>
      <p:graphicFrame>
        <p:nvGraphicFramePr>
          <p:cNvPr id="6" name="Action plan table"/>
          <p:cNvGraphicFramePr>
            <a:graphicFrameLocks noGrp="1"/>
          </p:cNvGraphicFramePr>
          <p:nvPr>
            <p:extLst>
              <p:ext uri="{D42A27DB-BD31-4B8C-83A1-F6EECF244321}">
                <p14:modId xmlns:p14="http://schemas.microsoft.com/office/powerpoint/2010/main" val="1579011935"/>
              </p:ext>
            </p:extLst>
          </p:nvPr>
        </p:nvGraphicFramePr>
        <p:xfrm>
          <a:off x="320040" y="1005840"/>
          <a:ext cx="8503920" cy="914400"/>
        </p:xfrm>
        <a:graphic>
          <a:graphicData uri="http://schemas.openxmlformats.org/drawingml/2006/table">
            <a:tbl>
              <a:tblPr/>
              <a:tblGrid>
                <a:gridCol w="1234440"/>
                <a:gridCol w="502920"/>
                <a:gridCol w="2651760"/>
                <a:gridCol w="1371600"/>
                <a:gridCol w="1371600"/>
                <a:gridCol w="1371600"/>
              </a:tblGrid>
              <a:tr h="384048">
                <a:tc>
                  <a:txBody>
                    <a:bodyPr/>
                    <a:lstStyle/>
                    <a:p>
                      <a:pPr algn="ctr" indent="0" marL="0">
                        <a:buNone/>
                      </a:pPr>
                      <a:r>
                        <a:rPr lang="en-US" sz="1100" b="1" dirty="0">
                          <a:solidFill>
                            <a:schemeClr val="accent2"/>
                          </a:solidFill>
                        </a:rPr>
                        <a:t>Responsible</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Week</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Task &amp; Description</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Resources Needed</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Monitor &amp; Assess Progress</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100" b="1" dirty="0">
                          <a:solidFill>
                            <a:schemeClr val="accent2"/>
                          </a:solidFill>
                        </a:rPr>
                        <a:t>Review &amp; Adjust</a:t>
                      </a:r>
                      <a:endParaRPr lang="en-US" sz="1100" dirty="0"/>
                    </a:p>
                  </a:txBody>
                  <a:tcPr marL="64008" marR="64008" marT="27432" marB="27432" anchor="ctr">
                    <a:lnL w="0" cap="flat" cmpd="sng" algn="ctr">
                      <a:noFill/>
                    </a:lnL>
                    <a:lnR w="0" cap="flat" cmpd="sng" algn="ctr">
                      <a:noFill/>
                    </a:lnR>
                    <a:lnT w="0" cap="flat" cmpd="sng" algn="ctr">
                      <a:noFill/>
                    </a:lnT>
                    <a:lnB w="0" cap="flat" cmpd="sng" algn="ctr">
                      <a:noFill/>
                    </a:lnB>
                    <a:solidFill>
                      <a:schemeClr val="tx2"/>
                    </a:solidFill>
                  </a:tcPr>
                </a:tc>
              </a:tr>
              <a:tr h="347472">
                <a:tc rowSpan="2">
                  <a:txBody>
                    <a:bodyPr/>
                    <a:lstStyle/>
                    <a:p>
                      <a:pPr algn="ctr" indent="0" marL="0">
                        <a:buNone/>
                      </a:pPr>
                      <a:r>
                        <a:rPr lang="en-US" sz="1100" b="1" dirty="0">
                          <a:solidFill>
                            <a:srgbClr val="A0928A"/>
                          </a:solidFill>
                        </a:rPr>
                        <a:t>Rahma Khaled</a:t>
                      </a:r>
                      <a:endParaRPr lang="en-US" sz="900" dirty="0"/>
                    </a:p>
                    <a:p>
                      <a:pPr algn="ctr" indent="0" marL="0">
                        <a:buNone/>
                      </a:pPr>
                      <a:r>
                        <a:rPr lang="en-US" sz="900" dirty="0">
                          <a:solidFill>
                            <a:srgbClr val="A0928A"/>
                          </a:solidFill>
                        </a:rPr>
                        <a:t>Goals and research</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algn="ctr" indent="0" marL="0">
                        <a:buNone/>
                      </a:pPr>
                      <a:r>
                        <a:rPr lang="en-US" sz="900" b="1" dirty="0">
                          <a:solidFill>
                            <a:srgbClr val="A0928A"/>
                          </a:solidFill>
                        </a:rPr>
                        <a:t>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Kick-off Meeting: </a:t>
                      </a:r>
                      <a:pPr indent="0" marL="0">
                        <a:buNone/>
                      </a:pPr>
                      <a:r>
                        <a:rPr lang="en-US" sz="900" dirty="0">
                          <a:solidFill>
                            <a:srgbClr val="A0928A"/>
                          </a:solidFill>
                        </a:rPr>
                        <a:t>Meet the owner, agree on the 4 goals and get page access.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Meeting with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Goals approved by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Adjust goals if the owner asks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vMerge="1">
                  <a:tcPr/>
                </a:tc>
                <a:tc>
                  <a:txBody>
                    <a:bodyPr/>
                    <a:lstStyle/>
                    <a:p>
                      <a:pPr algn="ctr" indent="0" marL="0">
                        <a:buNone/>
                      </a:pPr>
                      <a:r>
                        <a:rPr lang="en-US" sz="900" b="1" dirty="0">
                          <a:solidFill>
                            <a:srgbClr val="A0928A"/>
                          </a:solidFill>
                        </a:rPr>
                        <a:t>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Market Research: </a:t>
                      </a:r>
                      <a:pPr indent="0" marL="0">
                        <a:buNone/>
                      </a:pPr>
                      <a:r>
                        <a:rPr lang="en-US" sz="900" dirty="0">
                          <a:solidFill>
                            <a:srgbClr val="A0928A"/>
                          </a:solidFill>
                        </a:rPr>
                        <a:t>Study competitors and learn who the café's customers are.</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Google, competitors' pages, sales data</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Research report ready by day 7</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Add a short survey in the café</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rowSpan="3">
                  <a:txBody>
                    <a:bodyPr/>
                    <a:lstStyle/>
                    <a:p>
                      <a:pPr algn="ctr" indent="0" marL="0">
                        <a:buNone/>
                      </a:pPr>
                      <a:r>
                        <a:rPr lang="en-US" sz="1100" b="1" dirty="0">
                          <a:solidFill>
                            <a:srgbClr val="A0928A"/>
                          </a:solidFill>
                        </a:rPr>
                        <a:t>Aya Reda</a:t>
                      </a:r>
                      <a:endParaRPr lang="en-US" sz="900" dirty="0"/>
                    </a:p>
                    <a:p>
                      <a:pPr algn="ctr" indent="0" marL="0">
                        <a:buNone/>
                      </a:pPr>
                      <a:r>
                        <a:rPr lang="en-US" sz="900" dirty="0">
                          <a:solidFill>
                            <a:srgbClr val="A0928A"/>
                          </a:solidFill>
                        </a:rPr>
                        <a:t>Content and social media</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algn="ctr" indent="0" marL="0">
                        <a:buNone/>
                      </a:pPr>
                      <a:r>
                        <a:rPr lang="en-US" sz="900" b="1" dirty="0">
                          <a:solidFill>
                            <a:srgbClr val="A0928A"/>
                          </a:solidFill>
                        </a:rPr>
                        <a:t>1–2</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Content Plan: </a:t>
                      </a:r>
                      <a:pPr indent="0" marL="0">
                        <a:buNone/>
                      </a:pPr>
                      <a:r>
                        <a:rPr lang="en-US" sz="900" dirty="0">
                          <a:solidFill>
                            <a:srgbClr val="A0928A"/>
                          </a:solidFill>
                        </a:rPr>
                        <a:t>Create a 30-day plan for posts, reels and stories.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Google Sheets, café menu</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Plan reviewed with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Change topics based on feedback</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vMerge="1">
                  <a:tcPr/>
                </a:tc>
                <a:tc>
                  <a:txBody>
                    <a:bodyPr/>
                    <a:lstStyle/>
                    <a:p>
                      <a:pPr algn="ctr" indent="0" marL="0">
                        <a:buNone/>
                      </a:pPr>
                      <a:r>
                        <a:rPr lang="en-US" sz="900" b="1" dirty="0">
                          <a:solidFill>
                            <a:srgbClr val="A0928A"/>
                          </a:solidFill>
                        </a:rPr>
                        <a:t>2–4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Posts and Reels: </a:t>
                      </a:r>
                      <a:pPr indent="0" marL="0">
                        <a:buNone/>
                      </a:pPr>
                      <a:r>
                        <a:rPr lang="en-US" sz="900" dirty="0">
                          <a:solidFill>
                            <a:srgbClr val="A0928A"/>
                          </a:solidFill>
                        </a:rPr>
                        <a:t>Design 12 posts and 8 reels every month.</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Canva, CapCut, 3,000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Weekly check of likes and shares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Copy the style of the best posts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vMerge="1">
                  <a:tcPr/>
                </a:tc>
                <a:tc>
                  <a:txBody>
                    <a:bodyPr/>
                    <a:lstStyle/>
                    <a:p>
                      <a:pPr algn="ctr" indent="0" marL="0">
                        <a:buNone/>
                      </a:pPr>
                      <a:r>
                        <a:rPr lang="en-US" sz="900" b="1" dirty="0">
                          <a:solidFill>
                            <a:srgbClr val="A0928A"/>
                          </a:solidFill>
                        </a:rPr>
                        <a:t>3–4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Posting and Offers: </a:t>
                      </a:r>
                      <a:pPr indent="0" marL="0">
                        <a:buNone/>
                      </a:pPr>
                      <a:r>
                        <a:rPr lang="en-US" sz="900" dirty="0">
                          <a:solidFill>
                            <a:srgbClr val="A0928A"/>
                          </a:solidFill>
                        </a:rPr>
                        <a:t>Publish content, reply to messages and launch 2 offers.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Meta Business Suite, 5,000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Weekly count of messages and offer sales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More reels, stronger offers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rowSpan="2">
                  <a:txBody>
                    <a:bodyPr/>
                    <a:lstStyle/>
                    <a:p>
                      <a:pPr algn="ctr" indent="0" marL="0">
                        <a:buNone/>
                      </a:pPr>
                      <a:r>
                        <a:rPr lang="en-US" sz="1100" b="1" dirty="0">
                          <a:solidFill>
                            <a:srgbClr val="A0928A"/>
                          </a:solidFill>
                        </a:rPr>
                        <a:t>Mahmoud Ibrahim</a:t>
                      </a:r>
                      <a:endParaRPr lang="en-US" sz="900" dirty="0"/>
                    </a:p>
                    <a:p>
                      <a:pPr algn="ctr" indent="0" marL="0">
                        <a:buNone/>
                      </a:pPr>
                      <a:r>
                        <a:rPr lang="en-US" sz="900" dirty="0">
                          <a:solidFill>
                            <a:srgbClr val="A0928A"/>
                          </a:solidFill>
                        </a:rPr>
                        <a:t>Ads and reports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algn="ctr" indent="0" marL="0">
                        <a:buNone/>
                      </a:pPr>
                      <a:r>
                        <a:rPr lang="en-US" sz="900" b="1" dirty="0">
                          <a:solidFill>
                            <a:srgbClr val="A0928A"/>
                          </a:solidFill>
                        </a:rPr>
                        <a:t>1–4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Weekly Report: </a:t>
                      </a:r>
                      <a:pPr indent="0" marL="0">
                        <a:buNone/>
                      </a:pPr>
                      <a:r>
                        <a:rPr lang="en-US" sz="900" dirty="0">
                          <a:solidFill>
                            <a:srgbClr val="A0928A"/>
                          </a:solidFill>
                        </a:rPr>
                        <a:t>Track the 4 goals and send the owner a report every Sunday.</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Google Sheets, sales data, 1,000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Report every Sunday, with ROI</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Fix weak numbers the next week</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vMerge="1">
                  <a:tcPr/>
                </a:tc>
                <a:tc>
                  <a:txBody>
                    <a:bodyPr/>
                    <a:lstStyle/>
                    <a:p>
                      <a:pPr algn="ctr" indent="0" marL="0">
                        <a:buNone/>
                      </a:pPr>
                      <a:r>
                        <a:rPr lang="en-US" sz="900" b="1" dirty="0">
                          <a:solidFill>
                            <a:srgbClr val="A0928A"/>
                          </a:solidFill>
                        </a:rPr>
                        <a:t>2–4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b="1" dirty="0">
                          <a:solidFill>
                            <a:srgbClr val="A0928A"/>
                          </a:solidFill>
                        </a:rPr>
                        <a:t>Paid Ads: </a:t>
                      </a:r>
                      <a:pPr indent="0" marL="0">
                        <a:buNone/>
                      </a:pPr>
                      <a:r>
                        <a:rPr lang="en-US" sz="900" dirty="0">
                          <a:solidFill>
                            <a:srgbClr val="A0928A"/>
                          </a:solidFill>
                        </a:rPr>
                        <a:t>Run Facebook and Instagram ads for people near the café.</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Meta Ads Manager, 4,000 EGP</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Daily check of reach and cost</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c>
                  <a:txBody>
                    <a:bodyPr/>
                    <a:lstStyle/>
                    <a:p>
                      <a:pPr indent="0" marL="0">
                        <a:buNone/>
                      </a:pPr>
                      <a:r>
                        <a:rPr lang="en-US" sz="900" dirty="0">
                          <a:solidFill>
                            <a:srgbClr val="A0928A"/>
                          </a:solidFill>
                        </a:rPr>
                        <a:t>Move money to the best ad</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rgbClr val="4A3A31"/>
                    </a:solidFill>
                  </a:tcPr>
                </a:tc>
              </a:tr>
              <a:tr h="347472">
                <a:tc rowSpan="3">
                  <a:txBody>
                    <a:bodyPr/>
                    <a:lstStyle/>
                    <a:p>
                      <a:pPr algn="ctr" indent="0" marL="0">
                        <a:buNone/>
                      </a:pPr>
                      <a:r>
                        <a:rPr lang="en-US" sz="1100" b="1" dirty="0">
                          <a:solidFill>
                            <a:schemeClr val="bg1"/>
                          </a:solidFill>
                        </a:rPr>
                        <a:t>Abader Zarif</a:t>
                      </a:r>
                      <a:endParaRPr lang="en-US" sz="900" dirty="0"/>
                    </a:p>
                    <a:p>
                      <a:pPr algn="ctr" indent="0" marL="0">
                        <a:buNone/>
                      </a:pPr>
                      <a:r>
                        <a:rPr lang="en-US" sz="900" dirty="0">
                          <a:solidFill>
                            <a:schemeClr val="bg1"/>
                          </a:solidFill>
                        </a:rPr>
                        <a:t>Audit, photos and review</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accent3"/>
                    </a:solidFill>
                  </a:tcPr>
                </a:tc>
                <a:tc>
                  <a:txBody>
                    <a:bodyPr/>
                    <a:lstStyle/>
                    <a:p>
                      <a:pPr algn="ctr" indent="0" marL="0">
                        <a:buNone/>
                      </a:pPr>
                      <a:r>
                        <a:rPr lang="en-US" sz="900" b="1" dirty="0">
                          <a:solidFill>
                            <a:schemeClr val="tx2"/>
                          </a:solidFill>
                        </a:rPr>
                        <a:t>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Page Audit: </a:t>
                      </a:r>
                      <a:pPr indent="0" marL="0">
                        <a:buNone/>
                      </a:pPr>
                      <a:r>
                        <a:rPr lang="en-US" sz="900" dirty="0">
                          <a:solidFill>
                            <a:schemeClr val="tx1"/>
                          </a:solidFill>
                        </a:rPr>
                        <a:t>Check the café's Facebook and Instagram pages and list what to fix.</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Page access, Meta Business Suite</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Audit report ready by end of week 1</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Fix the biggest problems first</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31750"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r h="347472">
                <a:tc vMerge="1">
                  <a:tcPr/>
                </a:tc>
                <a:tc>
                  <a:txBody>
                    <a:bodyPr/>
                    <a:lstStyle/>
                    <a:p>
                      <a:pPr algn="ctr" indent="0" marL="0">
                        <a:buNone/>
                      </a:pPr>
                      <a:r>
                        <a:rPr lang="en-US" sz="900" b="1" dirty="0">
                          <a:solidFill>
                            <a:schemeClr val="tx2"/>
                          </a:solidFill>
                        </a:rPr>
                        <a:t>2</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Photo Shoot: </a:t>
                      </a:r>
                      <a:pPr indent="0" marL="0">
                        <a:buNone/>
                      </a:pPr>
                      <a:r>
                        <a:rPr lang="en-US" sz="900" dirty="0">
                          <a:solidFill>
                            <a:schemeClr val="tx1"/>
                          </a:solidFill>
                        </a:rPr>
                        <a:t>Take photos and videos of the menu, drinks and café.</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Camera or phone, café visit</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Check photo quality the same day</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Reshoot weak photos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r h="347472">
                <a:tc vMerge="1">
                  <a:tcPr/>
                </a:tc>
                <a:tc>
                  <a:txBody>
                    <a:bodyPr/>
                    <a:lstStyle/>
                    <a:p>
                      <a:pPr algn="ctr" indent="0" marL="0">
                        <a:buNone/>
                      </a:pPr>
                      <a:r>
                        <a:rPr lang="en-US" sz="900" b="1" dirty="0">
                          <a:solidFill>
                            <a:schemeClr val="tx2"/>
                          </a:solidFill>
                        </a:rPr>
                        <a:t>4</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b="1" dirty="0">
                          <a:solidFill>
                            <a:schemeClr val="accent1"/>
                          </a:solidFill>
                        </a:rPr>
                        <a:t>Month-One Review: </a:t>
                      </a:r>
                      <a:pPr indent="0" marL="0">
                        <a:buNone/>
                      </a:pPr>
                      <a:r>
                        <a:rPr lang="en-US" sz="900" dirty="0">
                          <a:solidFill>
                            <a:schemeClr val="tx1"/>
                          </a:solidFill>
                        </a:rPr>
                        <a:t>Review results with the owner and plan month two.</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All reports, meeting with the owner</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Compare results with the 4 goals</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Recommendations for month two</a:t>
                      </a:r>
                      <a:endParaRPr lang="en-US" sz="900" dirty="0"/>
                    </a:p>
                  </a:txBody>
                  <a:tcPr marL="64008" marR="64008" marT="27432" marB="27432" anchor="ctr">
                    <a:lnL w="9525" cap="flat" cmpd="sng" algn="ctr">
                      <a:solidFill>
                        <a:srgbClr val="2E1F17"/>
                      </a:solidFill>
                      <a:prstDash val="solid"/>
                      <a:round/>
                      <a:headEnd type="none" w="med" len="med"/>
                      <a:tailEnd type="none" w="med" len="med"/>
                    </a:lnL>
                    <a:lnR w="9525" cap="flat" cmpd="sng" algn="ctr">
                      <a:solidFill>
                        <a:srgbClr val="2E1F17"/>
                      </a:solidFill>
                      <a:prstDash val="solid"/>
                      <a:round/>
                      <a:headEnd type="none" w="med" len="med"/>
                      <a:tailEnd type="none" w="med" len="med"/>
                    </a:lnR>
                    <a:lnT w="9525" cap="flat" cmpd="sng" algn="ctr">
                      <a:solidFill>
                        <a:srgbClr val="2E1F17"/>
                      </a:solidFill>
                      <a:prstDash val="solid"/>
                      <a:round/>
                      <a:headEnd type="none" w="med" len="med"/>
                      <a:tailEnd type="none" w="med" len="med"/>
                    </a:lnT>
                    <a:lnB w="9525" cap="flat" cmpd="sng" algn="ctr">
                      <a:solidFill>
                        <a:srgbClr val="2E1F17"/>
                      </a:solidFill>
                      <a:prstDash val="solid"/>
                      <a:round/>
                      <a:headEnd type="none" w="med" len="med"/>
                      <a:tailEnd type="none" w="med" len="med"/>
                    </a:lnB>
                    <a:solidFill>
                      <a:schemeClr val="bg1"/>
                    </a:solidFill>
                  </a:tcPr>
                </a:tc>
              </a:tr>
            </a:tbl>
          </a:graphicData>
        </a:graphic>
      </p:graphicFrame>
    </p:spTree>
  </p:cSld>
  <p:clrMapOvr>
    <a:masterClrMapping/>
  </p:clrMapOvr>
</p:sld>
</file>

<file path=ppt/theme/theme1.xml><?xml version="1.0" encoding="utf-8"?>
<a:theme xmlns:a="http://schemas.openxmlformats.org/drawingml/2006/main" name="Espresso">
  <a:themeElements>
    <a:clrScheme name="Espresso">
      <a:dk1>
        <a:srgbClr val="231B16"/>
      </a:dk1>
      <a:lt1>
        <a:srgbClr val="FFFFFF"/>
      </a:lt1>
      <a:dk2>
        <a:srgbClr val="2E1F17"/>
      </a:dk2>
      <a:lt2>
        <a:srgbClr val="F4ECE5"/>
      </a:lt2>
      <a:accent1>
        <a:srgbClr val="C27A3A"/>
      </a:accent1>
      <a:accent2>
        <a:srgbClr val="E8C9A6"/>
      </a:accent2>
      <a:accent3>
        <a:srgbClr val="6F4E37"/>
      </a:accent3>
      <a:accent4>
        <a:srgbClr val="5B7F5E"/>
      </a:accent4>
      <a:accent5>
        <a:srgbClr val="8C7F76"/>
      </a:accent5>
      <a:accent6>
        <a:srgbClr val="A6513A"/>
      </a:accent6>
      <a:hlink>
        <a:srgbClr val="C27A3A"/>
      </a:hlink>
      <a:folHlink>
        <a:srgbClr val="6F4E37"/>
      </a:folHlink>
    </a:clrScheme>
    <a:fontScheme name="Espress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Action Plan Table - The Daily Cup</dc:title>
  <dc:subject>PptxGenJS Presentation</dc:subject>
  <dc:creator>Pulse Marketing</dc:creator>
  <cp:lastModifiedBy>Pulse Marketing</cp:lastModifiedBy>
  <cp:revision>1</cp:revision>
  <dcterms:created xsi:type="dcterms:W3CDTF">2026-10-20T12:51:29Z</dcterms:created>
  <dcterms:modified xsi:type="dcterms:W3CDTF">2026-10-20T12:51:29Z</dcterms:modified>
</cp:coreProperties>
</file>