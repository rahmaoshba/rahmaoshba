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4.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dea" id="{a1f5f886-8c8e-c78f-3b4a-339cf9d8c736}">
          <p14:sldIdLst>
            <p14:sldId id="256"/>
            <p14:sldId id="257"/>
            <p14:sldId id="258"/>
            <p14:sldId id="259"/>
          </p14:sldIdLst>
        </p14:section>
        <p14:section name="System design" id="{e19981e4-4918-ae82-71f1-38b6cdd701f5}">
          <p14:sldIdLst>
            <p14:sldId id="260"/>
            <p14:sldId id="261"/>
            <p14:sldId id="262"/>
            <p14:sldId id="263"/>
          </p14:sldIdLst>
        </p14:section>
        <p14:section name="Equations" id="{2e96d0fa-ce77-a1a6-4a64-180c3b059bc5}">
          <p14:sldIdLst>
            <p14:sldId id="264"/>
            <p14:sldId id="265"/>
            <p14:sldId id="266"/>
            <p14:sldId id="267"/>
            <p14:sldId id="268"/>
          </p14:sldIdLst>
        </p14:section>
        <p14:section name="Models and data" id="{21daccd3-27dd-9504-03b8-4b4330855097}">
          <p14:sldIdLst>
            <p14:sldId id="269"/>
            <p14:sldId id="270"/>
            <p14:sldId id="271"/>
          </p14:sldIdLst>
        </p14:section>
        <p14:section name="Performance metrics" id="{d114ddab-0aa9-6add-f6d0-c28ccb6d3403}">
          <p14:sldIdLst>
            <p14:sldId id="272"/>
            <p14:sldId id="273"/>
            <p14:sldId id="274"/>
          </p14:sldIdLst>
        </p14:section>
        <p14:section name="Related work 2020–2026" id="{00055160-cb6c-f310-800c-3b605502e2ff}">
          <p14:sldIdLst>
            <p14:sldId id="275"/>
            <p14:sldId id="276"/>
            <p14:sldId id="277"/>
            <p14:sldId id="278"/>
            <p14:sldId id="279"/>
            <p14:sldId id="280"/>
            <p14:sldId id="281"/>
          </p14:sldIdLst>
        </p14:section>
        <p14:section name="Plan" id="{537ce5ba-7eee-ac0b-2b85-53d954210699}">
          <p14:sldIdLst>
            <p14:sldId id="282"/>
            <p14:sldId id="283"/>
            <p14:sldId id="284"/>
          </p14:sldIdLst>
        </p14:section>
        <p14:section name="References" id="{d49b7584-44dd-a841-27eb-0e42aff2c1eb}">
          <p14:sldIdLst>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c:v>
                </c:pt>
              </c:strCache>
            </c:strRef>
          </c:tx>
          <c:spPr>
            <a:solidFill>
              <a:srgbClr val="2F7D5B"/>
            </a:solidFill>
            <a:ln w="25400" cap="flat">
              <a:solidFill>
                <a:srgbClr val="2F7D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7D5B"/>
              </a:solidFill>
              <a:ln w="9525" cap="flat">
                <a:solidFill>
                  <a:srgbClr val="2F7D5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1.72</c:v>
                </c:pt>
                <c:pt idx="1">
                  <c:v>1.43</c:v>
                </c:pt>
                <c:pt idx="2">
                  <c:v>1.193</c:v>
                </c:pt>
                <c:pt idx="3">
                  <c:v>0.998</c:v>
                </c:pt>
                <c:pt idx="4">
                  <c:v>0.839</c:v>
                </c:pt>
                <c:pt idx="5">
                  <c:v>0.709</c:v>
                </c:pt>
                <c:pt idx="6">
                  <c:v>0.602</c:v>
                </c:pt>
                <c:pt idx="7">
                  <c:v>0.515</c:v>
                </c:pt>
                <c:pt idx="8">
                  <c:v>0.443</c:v>
                </c:pt>
                <c:pt idx="9">
                  <c:v>0.384</c:v>
                </c:pt>
                <c:pt idx="10">
                  <c:v>0.337</c:v>
                </c:pt>
                <c:pt idx="11">
                  <c:v>0.297</c:v>
                </c:pt>
                <c:pt idx="12">
                  <c:v>0.265</c:v>
                </c:pt>
                <c:pt idx="13">
                  <c:v>0.239</c:v>
                </c:pt>
                <c:pt idx="14">
                  <c:v>0.217</c:v>
                </c:pt>
                <c:pt idx="15">
                  <c:v>0.2</c:v>
                </c:pt>
                <c:pt idx="16">
                  <c:v>0.185</c:v>
                </c:pt>
                <c:pt idx="17">
                  <c:v>0.173</c:v>
                </c:pt>
                <c:pt idx="18">
                  <c:v>0.164</c:v>
                </c:pt>
                <c:pt idx="19">
                  <c:v>0.156</c:v>
                </c:pt>
              </c:numCache>
            </c:numRef>
          </c:val>
          <c:smooth val="0"/>
        </c:ser>
        <c:ser>
          <c:idx val="1"/>
          <c:order val="1"/>
          <c:tx>
            <c:strRef>
              <c:f>Sheet1!$C$1</c:f>
              <c:strCache>
                <c:ptCount val="1"/>
                <c:pt idx="0">
                  <c:v>Validation</c:v>
                </c:pt>
              </c:strCache>
            </c:strRef>
          </c:tx>
          <c:spPr>
            <a:solidFill>
              <a:srgbClr val="C2611A"/>
            </a:solidFill>
            <a:ln w="25400" cap="flat">
              <a:solidFill>
                <a:srgbClr val="C261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2611A"/>
              </a:solidFill>
              <a:ln w="9525" cap="flat">
                <a:solidFill>
                  <a:srgbClr val="C2611A"/>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1.81</c:v>
                </c:pt>
                <c:pt idx="1">
                  <c:v>1.524</c:v>
                </c:pt>
                <c:pt idx="2">
                  <c:v>1.294</c:v>
                </c:pt>
                <c:pt idx="3">
                  <c:v>1.109</c:v>
                </c:pt>
                <c:pt idx="4">
                  <c:v>0.961</c:v>
                </c:pt>
                <c:pt idx="5">
                  <c:v>0.843</c:v>
                </c:pt>
                <c:pt idx="6">
                  <c:v>0.747</c:v>
                </c:pt>
                <c:pt idx="7">
                  <c:v>0.671</c:v>
                </c:pt>
                <c:pt idx="8">
                  <c:v>0.609</c:v>
                </c:pt>
                <c:pt idx="9">
                  <c:v>0.56</c:v>
                </c:pt>
                <c:pt idx="10">
                  <c:v>0.533</c:v>
                </c:pt>
                <c:pt idx="11">
                  <c:v>0.513</c:v>
                </c:pt>
                <c:pt idx="12">
                  <c:v>0.499</c:v>
                </c:pt>
                <c:pt idx="13">
                  <c:v>0.491</c:v>
                </c:pt>
                <c:pt idx="14">
                  <c:v>0.487</c:v>
                </c:pt>
                <c:pt idx="15">
                  <c:v>0.485</c:v>
                </c:pt>
                <c:pt idx="16">
                  <c:v>0.487</c:v>
                </c:pt>
                <c:pt idx="17">
                  <c:v>0.49</c:v>
                </c:pt>
                <c:pt idx="18">
                  <c:v>0.496</c:v>
                </c:pt>
                <c:pt idx="19">
                  <c:v>0.502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E68"/>
                </a:solidFill>
                <a:latin typeface="+mn-lt"/>
              </a:defRPr>
            </a:pPr>
            <a:endParaRPr lang="en-US"/>
          </a:p>
        </c:txPr>
        <c:crossAx val="2094734552"/>
        <c:crosses val="autoZero"/>
        <c:auto val="1"/>
        <c:lblAlgn val="ctr"/>
        <c:noMultiLvlLbl val="1"/>
        <c:tickLblSkip val="5"/>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E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F6E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Monitor</c:v>
                </c:pt>
              </c:strCache>
            </c:strRef>
          </c:tx>
          <c:spPr>
            <a:solidFill>
              <a:srgbClr val="2F7D5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Sheet1!$B$2:$B$9</c:f>
              <c:numCache>
                <c:formatCode>General</c:formatCode>
                <c:ptCount val="8"/>
                <c:pt idx="0">
                  <c:v>1738</c:v>
                </c:pt>
                <c:pt idx="1">
                  <c:v>1651</c:v>
                </c:pt>
                <c:pt idx="2">
                  <c:v>1901</c:v>
                </c:pt>
                <c:pt idx="3">
                  <c:v>1751</c:v>
                </c:pt>
                <c:pt idx="4">
                  <c:v>1810</c:v>
                </c:pt>
                <c:pt idx="5">
                  <c:v>2090</c:v>
                </c:pt>
                <c:pt idx="6">
                  <c:v>1911</c:v>
                </c:pt>
                <c:pt idx="7">
                  <c:v>1833</c:v>
                </c:pt>
              </c:numCache>
            </c:numRef>
          </c:val>
        </c:ser>
        <c:ser>
          <c:idx val="1"/>
          <c:order val="1"/>
          <c:tx>
            <c:strRef>
              <c:f>Sheet1!$C$1</c:f>
              <c:strCache>
                <c:ptCount val="1"/>
                <c:pt idx="0">
                  <c:v>Reference</c:v>
                </c:pt>
              </c:strCache>
            </c:strRef>
          </c:tx>
          <c:spPr>
            <a:solidFill>
              <a:srgbClr val="8DA59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W1</c:v>
                  </c:pt>
                  <c:pt idx="1">
                    <c:v>W2</c:v>
                  </c:pt>
                  <c:pt idx="2">
                    <c:v>W3</c:v>
                  </c:pt>
                  <c:pt idx="3">
                    <c:v>W4</c:v>
                  </c:pt>
                  <c:pt idx="4">
                    <c:v>W5</c:v>
                  </c:pt>
                  <c:pt idx="5">
                    <c:v>W6</c:v>
                  </c:pt>
                  <c:pt idx="6">
                    <c:v>W7</c:v>
                  </c:pt>
                  <c:pt idx="7">
                    <c:v>W8</c:v>
                  </c:pt>
                </c:lvl>
              </c:multiLvlStrCache>
            </c:multiLvlStrRef>
          </c:cat>
          <c:val>
            <c:numRef>
              <c:f>Sheet1!$C$2:$C$9</c:f>
              <c:numCache>
                <c:formatCode>General</c:formatCode>
                <c:ptCount val="8"/>
                <c:pt idx="0">
                  <c:v>1640</c:v>
                </c:pt>
                <c:pt idx="1">
                  <c:v>1720</c:v>
                </c:pt>
                <c:pt idx="2">
                  <c:v>1810</c:v>
                </c:pt>
                <c:pt idx="3">
                  <c:v>1700</c:v>
                </c:pt>
                <c:pt idx="4">
                  <c:v>1905</c:v>
                </c:pt>
                <c:pt idx="5">
                  <c:v>2010</c:v>
                </c:pt>
                <c:pt idx="6">
                  <c:v>1950</c:v>
                </c:pt>
                <c:pt idx="7">
                  <c:v>1780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E6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E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F6E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Measured</c:v>
                </c:pt>
              </c:strCache>
            </c:strRef>
          </c:tx>
          <c:spPr>
            <a:solidFill>
              <a:srgbClr val="2F7D5B"/>
            </a:solidFill>
            <a:ln w="25400" cap="flat">
              <a:solidFill>
                <a:srgbClr val="2F7D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7D5B"/>
              </a:solidFill>
              <a:ln w="9525" cap="flat">
                <a:solidFill>
                  <a:srgbClr val="2F7D5B"/>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5</c:v>
                </c:pt>
                <c:pt idx="1">
                  <c:v>5</c:v>
                </c:pt>
                <c:pt idx="2">
                  <c:v>5</c:v>
                </c:pt>
                <c:pt idx="3">
                  <c:v>5</c:v>
                </c:pt>
                <c:pt idx="4">
                  <c:v>5</c:v>
                </c:pt>
                <c:pt idx="5">
                  <c:v>5</c:v>
                </c:pt>
                <c:pt idx="6">
                  <c:v>6</c:v>
                </c:pt>
                <c:pt idx="7">
                  <c:v>9</c:v>
                </c:pt>
                <c:pt idx="8">
                  <c:v>16</c:v>
                </c:pt>
                <c:pt idx="9">
                  <c:v>22</c:v>
                </c:pt>
                <c:pt idx="10">
                  <c:v>25</c:v>
                </c:pt>
                <c:pt idx="11">
                  <c:v>27</c:v>
                </c:pt>
                <c:pt idx="12">
                  <c:v>28</c:v>
                </c:pt>
                <c:pt idx="13">
                  <c:v>27</c:v>
                </c:pt>
                <c:pt idx="14">
                  <c:v>26</c:v>
                </c:pt>
                <c:pt idx="15">
                  <c:v>24</c:v>
                </c:pt>
                <c:pt idx="16">
                  <c:v>19</c:v>
                </c:pt>
                <c:pt idx="17">
                  <c:v>14</c:v>
                </c:pt>
                <c:pt idx="18">
                  <c:v>10</c:v>
                </c:pt>
                <c:pt idx="19">
                  <c:v>8</c:v>
                </c:pt>
                <c:pt idx="20">
                  <c:v>7</c:v>
                </c:pt>
                <c:pt idx="21">
                  <c:v>6</c:v>
                </c:pt>
                <c:pt idx="22">
                  <c:v>5</c:v>
                </c:pt>
                <c:pt idx="23">
                  <c:v>5</c:v>
                </c:pt>
              </c:numCache>
            </c:numRef>
          </c:val>
          <c:smooth val="0"/>
        </c:ser>
        <c:ser>
          <c:idx val="1"/>
          <c:order val="1"/>
          <c:tx>
            <c:strRef>
              <c:f>Sheet1!$C$1</c:f>
              <c:strCache>
                <c:ptCount val="1"/>
                <c:pt idx="0">
                  <c:v>Forecast</c:v>
                </c:pt>
              </c:strCache>
            </c:strRef>
          </c:tx>
          <c:spPr>
            <a:solidFill>
              <a:srgbClr val="C2611A"/>
            </a:solidFill>
            <a:ln w="25400" cap="flat">
              <a:solidFill>
                <a:srgbClr val="C261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2611A"/>
              </a:solidFill>
              <a:ln w="9525" cap="flat">
                <a:solidFill>
                  <a:srgbClr val="C2611A"/>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Sheet1!$C$2:$C$25</c:f>
              <c:numCache>
                <c:formatCode>General</c:formatCode>
                <c:ptCount val="24"/>
                <c:pt idx="0">
                  <c:v>5</c:v>
                </c:pt>
                <c:pt idx="1">
                  <c:v>5.39</c:v>
                </c:pt>
                <c:pt idx="2">
                  <c:v>5.21</c:v>
                </c:pt>
                <c:pt idx="3">
                  <c:v>4.72</c:v>
                </c:pt>
                <c:pt idx="4">
                  <c:v>4.65</c:v>
                </c:pt>
                <c:pt idx="5">
                  <c:v>5.09</c:v>
                </c:pt>
                <c:pt idx="6">
                  <c:v>6.48</c:v>
                </c:pt>
                <c:pt idx="7">
                  <c:v>9.23</c:v>
                </c:pt>
                <c:pt idx="8">
                  <c:v>14.94</c:v>
                </c:pt>
                <c:pt idx="9">
                  <c:v>20.66</c:v>
                </c:pt>
                <c:pt idx="10">
                  <c:v>25.84</c:v>
                </c:pt>
                <c:pt idx="11">
                  <c:v>29.13</c:v>
                </c:pt>
                <c:pt idx="12">
                  <c:v>28.24</c:v>
                </c:pt>
                <c:pt idx="13">
                  <c:v>24.99</c:v>
                </c:pt>
                <c:pt idx="14">
                  <c:v>24.74</c:v>
                </c:pt>
                <c:pt idx="15">
                  <c:v>25.16</c:v>
                </c:pt>
                <c:pt idx="16">
                  <c:v>20.41</c:v>
                </c:pt>
                <c:pt idx="17">
                  <c:v>13.88</c:v>
                </c:pt>
                <c:pt idx="18">
                  <c:v>9.21</c:v>
                </c:pt>
                <c:pt idx="19">
                  <c:v>7.73</c:v>
                </c:pt>
                <c:pt idx="20">
                  <c:v>7.43</c:v>
                </c:pt>
                <c:pt idx="21">
                  <c:v>6.4</c:v>
                </c:pt>
                <c:pt idx="22">
                  <c:v>4.87</c:v>
                </c:pt>
                <c:pt idx="23">
                  <c:v>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E68"/>
                </a:solidFill>
                <a:latin typeface="+mn-lt"/>
              </a:defRPr>
            </a:pPr>
            <a:endParaRPr lang="en-US"/>
          </a:p>
        </c:txPr>
        <c:crossAx val="2094734552"/>
        <c:crosses val="autoZero"/>
        <c:auto val="1"/>
        <c:lblAlgn val="ctr"/>
        <c:noMultiLvlLbl val="1"/>
        <c:tickLblSkip val="6"/>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E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F6E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2F7D5B"/>
              </a:solidFill>
              <a:effectLst/>
            </c:spPr>
          </c:dPt>
          <c:dPt>
            <c:idx val="1"/>
            <c:bubble3D val="0"/>
            <c:spPr>
              <a:solidFill>
                <a:srgbClr val="8FD3A8"/>
              </a:solidFill>
              <a:effectLst/>
            </c:spPr>
          </c:dPt>
          <c:dPt>
            <c:idx val="2"/>
            <c:bubble3D val="0"/>
            <c:spPr>
              <a:solidFill>
                <a:srgbClr val="E8B04B"/>
              </a:solidFill>
              <a:effectLst/>
            </c:spPr>
          </c:dPt>
          <c:dPt>
            <c:idx val="3"/>
            <c:bubble3D val="0"/>
            <c:spPr>
              <a:solidFill>
                <a:srgbClr val="C2611A"/>
              </a:solidFill>
              <a:effectLst/>
            </c:spPr>
          </c:dPt>
          <c:dPt>
            <c:idx val="4"/>
            <c:bubble3D val="0"/>
            <c:spPr>
              <a:solidFill>
                <a:srgbClr val="8DA597"/>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Monitors 5,500</c:v>
                </c:pt>
                <c:pt idx="1">
                  <c:v>Printing 1,000</c:v>
                </c:pt>
                <c:pt idx="2">
                  <c:v>Contingency 740</c:v>
                </c:pt>
                <c:pt idx="3">
                  <c:v>Display 600</c:v>
                </c:pt>
                <c:pt idx="4">
                  <c:v>Scale 300</c:v>
                </c:pt>
              </c:strCache>
            </c:strRef>
          </c:cat>
          <c:val>
            <c:numRef>
              <c:f>Sheet1!$B$2:$B$6</c:f>
              <c:numCache>
                <c:ptCount val="5"/>
                <c:pt idx="0">
                  <c:v>5500</c:v>
                </c:pt>
                <c:pt idx="1">
                  <c:v>1000</c:v>
                </c:pt>
                <c:pt idx="2">
                  <c:v>740</c:v>
                </c:pt>
                <c:pt idx="3">
                  <c:v>600</c:v>
                </c:pt>
                <c:pt idx="4">
                  <c:v>300</c:v>
                </c:pt>
              </c:numCache>
            </c:numRef>
          </c:val>
        </c:ser>
        <c:firstSliceAng val="0"/>
        <c:holeSize val="55"/>
      </c:doughnutChart>
      <c:spPr>
        <a:noFill/>
        <a:ln>
          <a:noFill/>
        </a:ln>
        <a:effectLst/>
      </c:spPr>
    </c:plotArea>
    <c:legend>
      <c:legendPos val="r"/>
      <c:overlay val="0"/>
      <c:txPr>
        <a:bodyPr/>
        <a:lstStyle/>
        <a:p>
          <a:pPr>
            <a:defRPr sz="1100">
              <a:solidFill>
                <a:srgbClr val="3B4A4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an Android app that calculates each person’s carbon footprint every day with almost no typing, plus IoT monitors that measure the electricity of a government facility. The pilot is the Computer Science department floor: its members use the app, and the floor itself gets a daily footprint and a waste report for the department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in Cairo’s public administrative buildings about 40% of electricity goes to cooling and 60% to lighting and equipment [24]; Egyptian university buildings usually lack monthly per-building data [23]; universities that do measure their footprint do it once a year [1, 22]; and a review of ten personal calculators found inconsistent, opaque results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6.8 kg daily budget is the 2030 target divided by 365 days. The app colors a person’s day green up to 4.8 kg (70%), yellow up to 6.8 kg and red above it. Country figures are territorial emissions; the target is a lifestyle (consumption) figure, so the comparison is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site: the Computer Science department floor, a government facility. Example: “Today you produced 6.4 kg out of 6.8; your biggest item was food.” and “The floor used 330 kWh (149 kg CO2e); 40 kWh were used after hours in Lab 3.” Out of scope: other floors, purchases, flights (manual entry only), iOS, and switching devices on or off: we measure and alert, we do not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run on the phone, so photos and locations never leave it: the server receives only final numbers such as distance, mode, dish, portion and hours on the floor. Monitor A measures the three main phases of the floor; monitor B measures three chosen circuits (lab ACs, lab PCs, lighting). The server can run on a faculty server or a free cloud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means every user answer becomes new training data: a confirmed trip mode, a corrected dish or a confirmed waste alert improves the next model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pipeline sends small records, not raw media. The phone sends one record per trip and per meal and the hours spent on the floor each day; the floor monitors report every 10 seconds. The timetable comes from the department once per term, and the optional home part comes from the monthly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Fixing these record formats in week 2 lets every team work in parallel with mock data. Emission factors live in one settings file on the server, so a factor can be updated without changing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grid factor from Low-Carbon Power (447 g per kWh in 2024); food from Poore and Nemecek (2018); transport and LPG values are approximate, based on UK DESNZ factors and standard LPG combustion. Microbus and metro values are our estimates and will be documented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day for a student: 20 km by microbus (2.0); beans, two eggs, rice and 150 g of chicken (2.6); 6 hours on a floor that used 330 kWh with 1,480 person-hours: 0.45 × 330 × 6 ÷ 1,480 = 0.6; a share of a home that uses 250 kWh a month with 4 members plus one gas cylinder a month (0.9 + 0.3 = 1.2). Total 6.4 kg: under the 6.8 kg budget but above the 4.8 kg green line, so the day shows yellow. Swapping the chicken for 150 g of beef raises the day to about 9.9 kg, which is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beef range comes from the two Poore and Nemecek factors: 33 kg CO2e per kg for beef from dairy herds and 99.5 for beef herds. Recipes come from three sources per dish plus weighing a real plate on a kitchen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floor gets its own color against its own baseline, so improvement is visible even though a floor is much larger than a person: green means at least 10% below the baseline day. The waste term counts only energy above the night base load outside timetable hours, for example lab ACs left running after 6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Clamps close around the cables without cutting them: 100 A clamps (SCT-013-100 with a burden resistor) on the main phases and 30 A clamps on circuits. The ADS1115 samples the clamps (up to 860 samples per second in total). The faculty electrician installs the monitors with the board switched off, under an official approval; the devices run on 5 V adapters, so no mains voltage enters their circuits. The reference reading is the floor sub-meter if there is one, otherwise a handheld power meter from the electrical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Baselines: the Activity Recognition API alone for transport, the most common dish for meals, the same hour last week for the floor forecast, and a fixed threshold for waste. Metro trips are found by a rule: GPS is lost underground and the trip starts and ends inside a geofence around a station. The Random Forest is exported to Kotlin code with m2cgen, so it runs without an ML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datasets do not contain microbuses, Egyptian dishes or Egyptian public buildings, so they are used for pretraining and benchmarking only. Building Data Genome 2 is the dataset of the ASHRAE competition [37] and includes many university buildings. The final evaluation is always on the data we collect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collected: recipes for 20 dishes (three sources each plus a weighed plate) and the metro stations from OpenStreetMap. Staged waste events are done with the floor technician, for example leaving one lab AC on for an hour after the last lecture, so the true start and end are known. Collecting this Egyptian data is what makes the project stand out at the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 FP, FN: true positives, false positives, false negatives. For transport they are computed per mode and averaged (macro F1); for waste a detection counts as correct if it overlaps a labeled event. For the meal model we report Top-1 and Top-3, because the app shows the three best guesses. MAPE is used for the daily floor forecast; MAE and RMSE for distance and monitor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targets are measured on people and days that were not used for training. We report the real numbers even if they fall short of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plots that will appear in the results chapter. They are sketches of the expected shape, not results. Each curve is produced from the held-out test data at the first-version review (week 10) and in the final evaluation (week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campus study uses these three scopes from the GHG Protocol [1, 10, 14, 18, 22]; some also follow ISO 14064-1 and ISO/TR 14069 [14, 16]. Our project measures Scope 2 directly and the largest part of Scope 3 (commuting and food) per person, which the literature identifies as the biggest and most uncertain part of a campus inventory [13, 14, 19, 22]. The UI GreenMetric ranking also uses the total carbon footprint divided by the campus population as an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papers define how a university footprint is measured: the GHG Protocol scopes, the list of sources, and the choice between measuring activities and estimating from spending. Also relevant: a bibliometric analysis of 283 papers on the topic [2], a standardized tool applied to all Spanish universities [5], and a 2025 integrated assessment model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patterns matter for us. First, Scope 3, mainly commuting, is usually the largest part (80–97%), so the app measures every volunteer’s commute automatically. Second, where commuting is not counted or heating is by gas, building energy dominates; in Egypt that energy is mostly cooling [24]. The Sichuan study also shows that commuting and business travel are the most uncertain items [19]. The COVID-19 studies show how fast the mix changes when people stay home [12,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Schools use the same GHG Protocol with simpler data [20, 21]. The Port Said study is the closest to ours: an Egyptian government university measured per faculty, where commuting dominates [22]. Egyptian buildings lack fine-grained data [23, 24], and continuous IoT measurement on a campus pays off [25]. Institutional reports also exist: the American University in Cairo has published footprint reports since 2012, Qatar University since 2016, and Alexandria University submits its footprint to UI GreenMetric.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papers support the personal part of the app: automatic commute tracking and meal recognition. Also used: the three-year SHL challenge review [32] and a systematic review of food recognition for dietary assessment [35]. The 2.5 t target [26] and the EDGAR country data [27] give the daily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2024 ESP32 monitor is the closest hardware to ours, so we calibrate weekly. The ASHRAE competition and the institutional-buildings study are why we forecast with LightGBM and the timetable. The anomaly-detection review guides the waste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measures educational institutions with the GHG Protocol, but once a year, for the whole campus, with commuting from surveys [1, 10, 14, 18, 22]. Our contribution applies the same scopes continuously, to one floor of a government building and to each of its people, with Egyptian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11 and 12 are kept light for mid-year exams, assuming the project starts in early November 2026. The floor monitors keep recording during the exams and the break, which gives useful low-occupancy days for the baseline and the waste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Monitors: 3 ESP32 boards, 7 CT clamps (six plus a spare) and 3 ADS1115 converters, with DIN-rail enclosures, burden resistors and 5 V adapters. Display: an LED ring in a small enclosure at the floor entrance. Contingency is 10%. The reference power meter is borrowed from the electrical lab. Extra roles: a team lead, a volunteer coordinator and a report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approval and access to the floor’s electrical board are the items that can delay the project, so we ask for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1 to 9 are reviews, methods and tools for measuring the footprint of universities.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10 to 19 are universities that measured their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20 and 21 are schools; 22 to 24 are Egyptian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25 is continuous IoT monitoring on a campus; 26 and 27 give the targets and country data; 28 to 33 are personal footprint apps and transport mode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recognition: 34 and 35. Energy monitoring, forecasting and waste: 36 to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what we need to start: approval of the pilot on the CS floor, the official letter for installation, access to the timetable and bills, and the consent form for 20 volunteers.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solidFill>
          <a:srgbClr val="14302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17352" cy="292608"/>
          </a:xfrm>
          <a:prstGeom prst="rect">
            <a:avLst/>
          </a:prstGeom>
          <a:noFill/>
          <a:ln/>
        </p:spPr>
        <p:txBody>
          <a:bodyPr wrap="square" rtlCol="0"/>
          <a:lstStyle>
            <a:lvl1pPr indent="0" marL="0">
              <a:buNone/>
              <a:defRPr lang="en-US" sz="1200" b="1"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685800" y="914400"/>
            <a:ext cx="10817352" cy="16002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C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302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822960"/>
            <a:ext cx="6949440" cy="329184"/>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822960" y="1325880"/>
            <a:ext cx="7315200" cy="12344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822960" y="2697480"/>
            <a:ext cx="6583680" cy="1005840"/>
          </a:xfrm>
          <a:prstGeom prst="rect">
            <a:avLst/>
          </a:prstGeom>
          <a:noFill/>
          <a:ln/>
        </p:spPr>
        <p:txBody>
          <a:bodyPr wrap="square" rtlCol="0"/>
          <a:lstStyle>
            <a:lvl1pPr indent="0" marL="0">
              <a:buNone/>
              <a:defRPr lang="en-US" sz="2000" dirty="0">
                <a:solidFill>
                  <a:srgbClr val="C9D8CF"/>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822960"/>
            <a:ext cx="6949440" cy="329184"/>
          </a:xfrm>
          <a:prstGeom prst="rect">
            <a:avLst/>
          </a:prstGeom>
          <a:noFill/>
          <a:ln/>
        </p:spPr>
        <p:txBody>
          <a:bodyPr wrap="square" lIns="0" tIns="0" rIns="0" bIns="0" rtlCol="0" anchor="t"/>
          <a:lstStyle/>
          <a:p>
            <a:pPr indent="0" marL="0">
              <a:buNone/>
            </a:pPr>
            <a:r>
              <a:rPr lang="en-US" sz="1400" b="1" spc="300" kern="0" dirty="0">
                <a:solidFill>
                  <a:schemeClr val="accent2"/>
                </a:solidFill>
              </a:rPr>
              <a:t>GRADUATION PROJECT PROPOSAL</a:t>
            </a:r>
            <a:endParaRPr lang="en-US" sz="1400" dirty="0"/>
          </a:p>
        </p:txBody>
      </p:sp>
      <p:sp>
        <p:nvSpPr>
          <p:cNvPr id="3" name="Text 0"/>
          <p:cNvSpPr/>
          <p:nvPr>
            <p:ph idx="101" type="title" hasCustomPrompt="1"/>
          </p:nvPr>
        </p:nvSpPr>
        <p:spPr>
          <a:xfrm>
            <a:off x="822960" y="1325880"/>
            <a:ext cx="7315200" cy="1234440"/>
          </a:xfrm>
          <a:prstGeom prst="rect">
            <a:avLst/>
          </a:prstGeom>
          <a:noFill/>
          <a:ln/>
        </p:spPr>
        <p:txBody>
          <a:bodyPr wrap="square" lIns="0" tIns="0" rIns="0" bIns="0" rtlCol="0" anchor="t"/>
          <a:lstStyle/>
          <a:p>
            <a:pPr algn="l" indent="0" marL="0">
              <a:buNone/>
            </a:pPr>
            <a:r>
              <a:rPr lang="en-US" sz="5400" b="1" dirty="0">
                <a:solidFill>
                  <a:schemeClr val="bg1"/>
                </a:solidFill>
              </a:rPr>
              <a:t>Basmati · </a:t>
            </a:r>
            <a:pPr algn="l" indent="0" marL="0">
              <a:buNone/>
            </a:pPr>
            <a:r>
              <a:rPr lang="ar-EG" altLang="en-US" sz="5400" b="1" dirty="0">
                <a:solidFill>
                  <a:schemeClr val="bg1"/>
                </a:solidFill>
                <a:latin typeface="Arial" pitchFamily="34" charset="0"/>
                <a:ea typeface="Arial" pitchFamily="34" charset="-122"/>
                <a:cs typeface="Arial" pitchFamily="34" charset="-120"/>
              </a:rPr>
              <a:t>بصمتي</a:t>
            </a:r>
            <a:endParaRPr lang="en-US" sz="5400" dirty="0"/>
          </a:p>
        </p:txBody>
      </p:sp>
      <p:sp>
        <p:nvSpPr>
          <p:cNvPr id="4" name="Text 0"/>
          <p:cNvSpPr/>
          <p:nvPr>
            <p:ph idx="102" type="body" hasCustomPrompt="1"/>
          </p:nvPr>
        </p:nvSpPr>
        <p:spPr>
          <a:xfrm>
            <a:off x="822960" y="2697480"/>
            <a:ext cx="6583680" cy="1005840"/>
          </a:xfrm>
          <a:prstGeom prst="rect">
            <a:avLst/>
          </a:prstGeom>
          <a:noFill/>
          <a:ln/>
        </p:spPr>
        <p:txBody>
          <a:bodyPr wrap="square" lIns="0" tIns="0" rIns="0" bIns="0" rtlCol="0" anchor="t"/>
          <a:lstStyle/>
          <a:p>
            <a:pPr indent="0" marL="0">
              <a:buNone/>
            </a:pPr>
            <a:r>
              <a:rPr lang="en-US" sz="2000" dirty="0">
                <a:solidFill>
                  <a:srgbClr val="C9D8CF"/>
                </a:solidFill>
              </a:rPr>
              <a:t>Daily carbon footprint for people and a government facility: a phone app and an IoT energy monitor, piloted on the Computer Science department floor</a:t>
            </a:r>
            <a:endParaRPr lang="en-US" sz="2000" dirty="0"/>
          </a:p>
        </p:txBody>
      </p:sp>
      <p:sp>
        <p:nvSpPr>
          <p:cNvPr id="5" name="Shape 3"/>
          <p:cNvSpPr/>
          <p:nvPr/>
        </p:nvSpPr>
        <p:spPr>
          <a:xfrm>
            <a:off x="9454896" y="1225296"/>
            <a:ext cx="384048" cy="384048"/>
          </a:xfrm>
          <a:prstGeom prst="ellipse">
            <a:avLst/>
          </a:prstGeom>
          <a:solidFill>
            <a:schemeClr val="accent2"/>
          </a:solidFill>
          <a:ln/>
        </p:spPr>
      </p:sp>
      <p:sp>
        <p:nvSpPr>
          <p:cNvPr id="6" name="Shape 4"/>
          <p:cNvSpPr/>
          <p:nvPr/>
        </p:nvSpPr>
        <p:spPr>
          <a:xfrm>
            <a:off x="10163556" y="1415181"/>
            <a:ext cx="384048" cy="384048"/>
          </a:xfrm>
          <a:prstGeom prst="ellipse">
            <a:avLst/>
          </a:prstGeom>
          <a:solidFill>
            <a:schemeClr val="accent2"/>
          </a:solidFill>
          <a:ln/>
        </p:spPr>
      </p:sp>
      <p:sp>
        <p:nvSpPr>
          <p:cNvPr id="7" name="Shape 5"/>
          <p:cNvSpPr/>
          <p:nvPr/>
        </p:nvSpPr>
        <p:spPr>
          <a:xfrm>
            <a:off x="10682331" y="1933956"/>
            <a:ext cx="384048" cy="384048"/>
          </a:xfrm>
          <a:prstGeom prst="ellipse">
            <a:avLst/>
          </a:prstGeom>
          <a:solidFill>
            <a:schemeClr val="accent2"/>
          </a:solidFill>
          <a:ln/>
        </p:spPr>
      </p:sp>
      <p:sp>
        <p:nvSpPr>
          <p:cNvPr id="8" name="Shape 6"/>
          <p:cNvSpPr/>
          <p:nvPr/>
        </p:nvSpPr>
        <p:spPr>
          <a:xfrm>
            <a:off x="10872216" y="2642616"/>
            <a:ext cx="384048" cy="384048"/>
          </a:xfrm>
          <a:prstGeom prst="ellipse">
            <a:avLst/>
          </a:prstGeom>
          <a:solidFill>
            <a:schemeClr val="accent2"/>
          </a:solidFill>
          <a:ln/>
        </p:spPr>
      </p:sp>
      <p:sp>
        <p:nvSpPr>
          <p:cNvPr id="9" name="Shape 7"/>
          <p:cNvSpPr/>
          <p:nvPr/>
        </p:nvSpPr>
        <p:spPr>
          <a:xfrm>
            <a:off x="10682331" y="3351276"/>
            <a:ext cx="384048" cy="384048"/>
          </a:xfrm>
          <a:prstGeom prst="ellipse">
            <a:avLst/>
          </a:prstGeom>
          <a:solidFill>
            <a:schemeClr val="accent2"/>
          </a:solidFill>
          <a:ln/>
        </p:spPr>
      </p:sp>
      <p:sp>
        <p:nvSpPr>
          <p:cNvPr id="10" name="Shape 8"/>
          <p:cNvSpPr/>
          <p:nvPr/>
        </p:nvSpPr>
        <p:spPr>
          <a:xfrm>
            <a:off x="10163556" y="3870051"/>
            <a:ext cx="384048" cy="384048"/>
          </a:xfrm>
          <a:prstGeom prst="ellipse">
            <a:avLst/>
          </a:prstGeom>
          <a:solidFill>
            <a:schemeClr val="accent2"/>
          </a:solidFill>
          <a:ln/>
        </p:spPr>
      </p:sp>
      <p:sp>
        <p:nvSpPr>
          <p:cNvPr id="11" name="Shape 9"/>
          <p:cNvSpPr/>
          <p:nvPr/>
        </p:nvSpPr>
        <p:spPr>
          <a:xfrm>
            <a:off x="9454896" y="4059936"/>
            <a:ext cx="384048" cy="384048"/>
          </a:xfrm>
          <a:prstGeom prst="ellipse">
            <a:avLst/>
          </a:prstGeom>
          <a:solidFill>
            <a:schemeClr val="accent2"/>
          </a:solidFill>
          <a:ln/>
        </p:spPr>
      </p:sp>
      <p:sp>
        <p:nvSpPr>
          <p:cNvPr id="12" name="Shape 10"/>
          <p:cNvSpPr/>
          <p:nvPr/>
        </p:nvSpPr>
        <p:spPr>
          <a:xfrm>
            <a:off x="8746236" y="3870051"/>
            <a:ext cx="384048" cy="384048"/>
          </a:xfrm>
          <a:prstGeom prst="ellipse">
            <a:avLst/>
          </a:prstGeom>
          <a:solidFill>
            <a:schemeClr val="accent2"/>
          </a:solidFill>
          <a:ln/>
        </p:spPr>
      </p:sp>
      <p:sp>
        <p:nvSpPr>
          <p:cNvPr id="13" name="Shape 11"/>
          <p:cNvSpPr/>
          <p:nvPr/>
        </p:nvSpPr>
        <p:spPr>
          <a:xfrm>
            <a:off x="8227461" y="3351276"/>
            <a:ext cx="384048" cy="384048"/>
          </a:xfrm>
          <a:prstGeom prst="ellipse">
            <a:avLst/>
          </a:prstGeom>
          <a:solidFill>
            <a:schemeClr val="accent4"/>
          </a:solidFill>
          <a:ln/>
        </p:spPr>
      </p:sp>
      <p:sp>
        <p:nvSpPr>
          <p:cNvPr id="14" name="Shape 12"/>
          <p:cNvSpPr/>
          <p:nvPr/>
        </p:nvSpPr>
        <p:spPr>
          <a:xfrm>
            <a:off x="8037576" y="2642616"/>
            <a:ext cx="384048" cy="384048"/>
          </a:xfrm>
          <a:prstGeom prst="ellipse">
            <a:avLst/>
          </a:prstGeom>
          <a:solidFill>
            <a:schemeClr val="accent4"/>
          </a:solidFill>
          <a:ln/>
        </p:spPr>
      </p:sp>
      <p:sp>
        <p:nvSpPr>
          <p:cNvPr id="15" name="Shape 13"/>
          <p:cNvSpPr/>
          <p:nvPr/>
        </p:nvSpPr>
        <p:spPr>
          <a:xfrm>
            <a:off x="8227461" y="1933956"/>
            <a:ext cx="384048" cy="384048"/>
          </a:xfrm>
          <a:prstGeom prst="ellipse">
            <a:avLst/>
          </a:prstGeom>
          <a:solidFill>
            <a:schemeClr val="accent3"/>
          </a:solidFill>
          <a:ln/>
        </p:spPr>
      </p:sp>
      <p:sp>
        <p:nvSpPr>
          <p:cNvPr id="16" name="Shape 14"/>
          <p:cNvSpPr/>
          <p:nvPr/>
        </p:nvSpPr>
        <p:spPr>
          <a:xfrm>
            <a:off x="8746236" y="1415181"/>
            <a:ext cx="384048" cy="384048"/>
          </a:xfrm>
          <a:prstGeom prst="ellipse">
            <a:avLst/>
          </a:prstGeom>
          <a:solidFill>
            <a:schemeClr val="accent3"/>
          </a:solidFill>
          <a:ln/>
        </p:spPr>
      </p:sp>
      <p:sp>
        <p:nvSpPr>
          <p:cNvPr id="17" name="Text 15"/>
          <p:cNvSpPr txBox="1"/>
          <p:nvPr/>
        </p:nvSpPr>
        <p:spPr>
          <a:xfrm>
            <a:off x="8549640" y="2514600"/>
            <a:ext cx="2194560" cy="457200"/>
          </a:xfrm>
          <a:prstGeom prst="rect">
            <a:avLst/>
          </a:prstGeom>
          <a:noFill/>
          <a:ln/>
        </p:spPr>
        <p:txBody>
          <a:bodyPr wrap="square" lIns="0" tIns="0" rIns="0" bIns="0" rtlCol="0" anchor="t"/>
          <a:lstStyle/>
          <a:p>
            <a:pPr algn="ctr" indent="0" marL="0">
              <a:buNone/>
            </a:pPr>
            <a:r>
              <a:rPr lang="en-US" sz="3000" b="1" dirty="0">
                <a:solidFill>
                  <a:schemeClr val="bg1"/>
                </a:solidFill>
                <a:latin typeface="Cambria" pitchFamily="34" charset="0"/>
                <a:ea typeface="Cambria" pitchFamily="34" charset="-122"/>
                <a:cs typeface="Cambria" pitchFamily="34" charset="-120"/>
              </a:rPr>
              <a:t>6.8 kg</a:t>
            </a:r>
            <a:endParaRPr lang="en-US" sz="3000" dirty="0"/>
          </a:p>
        </p:txBody>
      </p:sp>
      <p:sp>
        <p:nvSpPr>
          <p:cNvPr id="18" name="Text 16"/>
          <p:cNvSpPr txBox="1"/>
          <p:nvPr/>
        </p:nvSpPr>
        <p:spPr>
          <a:xfrm>
            <a:off x="8549640" y="2971800"/>
            <a:ext cx="2194560" cy="320040"/>
          </a:xfrm>
          <a:prstGeom prst="rect">
            <a:avLst/>
          </a:prstGeom>
          <a:noFill/>
          <a:ln/>
        </p:spPr>
        <p:txBody>
          <a:bodyPr wrap="square" lIns="0" tIns="0" rIns="0" bIns="0" rtlCol="0" anchor="t"/>
          <a:lstStyle/>
          <a:p>
            <a:pPr algn="ctr" indent="0" marL="0">
              <a:buNone/>
            </a:pPr>
            <a:r>
              <a:rPr lang="en-US" sz="1400" dirty="0">
                <a:solidFill>
                  <a:srgbClr val="C9D8CF"/>
                </a:solidFill>
              </a:rPr>
              <a:t>daily budget</a:t>
            </a:r>
            <a:endParaRPr lang="en-US" sz="1400" dirty="0"/>
          </a:p>
        </p:txBody>
      </p:sp>
      <p:sp>
        <p:nvSpPr>
          <p:cNvPr id="19" name="Text 17"/>
          <p:cNvSpPr txBox="1"/>
          <p:nvPr/>
        </p:nvSpPr>
        <p:spPr>
          <a:xfrm>
            <a:off x="822960" y="5349240"/>
            <a:ext cx="2651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TEAM</a:t>
            </a:r>
            <a:endParaRPr lang="en-US" sz="1200" dirty="0"/>
          </a:p>
        </p:txBody>
      </p:sp>
      <p:sp>
        <p:nvSpPr>
          <p:cNvPr id="20" name="Text 18"/>
          <p:cNvSpPr txBox="1"/>
          <p:nvPr/>
        </p:nvSpPr>
        <p:spPr>
          <a:xfrm>
            <a:off x="822960" y="5669280"/>
            <a:ext cx="2651760" cy="411480"/>
          </a:xfrm>
          <a:prstGeom prst="rect">
            <a:avLst/>
          </a:prstGeom>
          <a:noFill/>
          <a:ln/>
        </p:spPr>
        <p:txBody>
          <a:bodyPr wrap="square" lIns="0" tIns="0" rIns="0" bIns="0" rtlCol="0" anchor="t"/>
          <a:lstStyle/>
          <a:p>
            <a:pPr indent="0" marL="0">
              <a:buNone/>
            </a:pPr>
            <a:r>
              <a:rPr lang="en-US" sz="1800" dirty="0">
                <a:solidFill>
                  <a:srgbClr val="E9EEE6"/>
                </a:solidFill>
              </a:rPr>
              <a:t>[9 team members]</a:t>
            </a:r>
            <a:endParaRPr lang="en-US" sz="1800" dirty="0"/>
          </a:p>
        </p:txBody>
      </p:sp>
      <p:sp>
        <p:nvSpPr>
          <p:cNvPr id="21" name="Text 19"/>
          <p:cNvSpPr txBox="1"/>
          <p:nvPr/>
        </p:nvSpPr>
        <p:spPr>
          <a:xfrm>
            <a:off x="3611880" y="5349240"/>
            <a:ext cx="2651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SUPERVISOR</a:t>
            </a:r>
            <a:endParaRPr lang="en-US" sz="1200" dirty="0"/>
          </a:p>
        </p:txBody>
      </p:sp>
      <p:sp>
        <p:nvSpPr>
          <p:cNvPr id="22" name="Text 20"/>
          <p:cNvSpPr txBox="1"/>
          <p:nvPr/>
        </p:nvSpPr>
        <p:spPr>
          <a:xfrm>
            <a:off x="3611880" y="5669280"/>
            <a:ext cx="2651760" cy="411480"/>
          </a:xfrm>
          <a:prstGeom prst="rect">
            <a:avLst/>
          </a:prstGeom>
          <a:noFill/>
          <a:ln/>
        </p:spPr>
        <p:txBody>
          <a:bodyPr wrap="square" lIns="0" tIns="0" rIns="0" bIns="0" rtlCol="0" anchor="t"/>
          <a:lstStyle/>
          <a:p>
            <a:pPr indent="0" marL="0">
              <a:buNone/>
            </a:pPr>
            <a:r>
              <a:rPr lang="en-US" sz="1800" dirty="0">
                <a:solidFill>
                  <a:srgbClr val="E9EEE6"/>
                </a:solidFill>
              </a:rPr>
              <a:t>[Supervisor name]</a:t>
            </a:r>
            <a:endParaRPr lang="en-US" sz="1800" dirty="0"/>
          </a:p>
        </p:txBody>
      </p:sp>
      <p:sp>
        <p:nvSpPr>
          <p:cNvPr id="23" name="Text 21"/>
          <p:cNvSpPr txBox="1"/>
          <p:nvPr/>
        </p:nvSpPr>
        <p:spPr>
          <a:xfrm>
            <a:off x="6400800" y="5349240"/>
            <a:ext cx="2651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PILOT SITE</a:t>
            </a:r>
            <a:endParaRPr lang="en-US" sz="1200" dirty="0"/>
          </a:p>
        </p:txBody>
      </p:sp>
      <p:sp>
        <p:nvSpPr>
          <p:cNvPr id="24" name="Text 22"/>
          <p:cNvSpPr txBox="1"/>
          <p:nvPr/>
        </p:nvSpPr>
        <p:spPr>
          <a:xfrm>
            <a:off x="6400800" y="5669280"/>
            <a:ext cx="2651760" cy="411480"/>
          </a:xfrm>
          <a:prstGeom prst="rect">
            <a:avLst/>
          </a:prstGeom>
          <a:noFill/>
          <a:ln/>
        </p:spPr>
        <p:txBody>
          <a:bodyPr wrap="square" lIns="0" tIns="0" rIns="0" bIns="0" rtlCol="0" anchor="t"/>
          <a:lstStyle/>
          <a:p>
            <a:pPr indent="0" marL="0">
              <a:buNone/>
            </a:pPr>
            <a:r>
              <a:rPr lang="en-US" sz="1800" dirty="0">
                <a:solidFill>
                  <a:srgbClr val="E9EEE6"/>
                </a:solidFill>
              </a:rPr>
              <a:t>CS department floor</a:t>
            </a:r>
            <a:endParaRPr lang="en-US" sz="1800" dirty="0"/>
          </a:p>
        </p:txBody>
      </p:sp>
      <p:sp>
        <p:nvSpPr>
          <p:cNvPr id="25" name="Text 23"/>
          <p:cNvSpPr txBox="1"/>
          <p:nvPr/>
        </p:nvSpPr>
        <p:spPr>
          <a:xfrm>
            <a:off x="9189720" y="5349240"/>
            <a:ext cx="26517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DATE</a:t>
            </a:r>
            <a:endParaRPr lang="en-US" sz="1200" dirty="0"/>
          </a:p>
        </p:txBody>
      </p:sp>
      <p:sp>
        <p:nvSpPr>
          <p:cNvPr id="26" name="Text 24"/>
          <p:cNvSpPr txBox="1"/>
          <p:nvPr/>
        </p:nvSpPr>
        <p:spPr>
          <a:xfrm>
            <a:off x="9189720" y="5669280"/>
            <a:ext cx="2651760" cy="411480"/>
          </a:xfrm>
          <a:prstGeom prst="rect">
            <a:avLst/>
          </a:prstGeom>
          <a:noFill/>
          <a:ln/>
        </p:spPr>
        <p:txBody>
          <a:bodyPr wrap="square" lIns="0" tIns="0" rIns="0" bIns="0" rtlCol="0" anchor="t"/>
          <a:lstStyle/>
          <a:p>
            <a:pPr indent="0" marL="0">
              <a:buNone/>
            </a:pPr>
            <a:r>
              <a:rPr lang="en-US" sz="1800" dirty="0">
                <a:solidFill>
                  <a:srgbClr val="E9EEE6"/>
                </a:solidFill>
              </a:rPr>
              <a:t>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Nobody sees the footprint of a person or of a public building</a:t>
            </a:r>
            <a:endParaRPr lang="en-US" sz="3000" dirty="0"/>
          </a:p>
        </p:txBody>
      </p:sp>
      <p:sp>
        <p:nvSpPr>
          <p:cNvPr id="4" name="Shape 2"/>
          <p:cNvSpPr/>
          <p:nvPr/>
        </p:nvSpPr>
        <p:spPr>
          <a:xfrm>
            <a:off x="685800" y="1874520"/>
            <a:ext cx="3422904" cy="2788920"/>
          </a:xfrm>
          <a:prstGeom prst="roundRect">
            <a:avLst>
              <a:gd name="adj" fmla="val 3934"/>
            </a:avLst>
          </a:prstGeom>
          <a:solidFill>
            <a:schemeClr val="bg1"/>
          </a:solidFill>
          <a:ln w="12700">
            <a:solidFill>
              <a:srgbClr val="D9E0DA"/>
            </a:solidFill>
            <a:prstDash val="solid"/>
          </a:ln>
        </p:spPr>
      </p:sp>
      <p:sp>
        <p:nvSpPr>
          <p:cNvPr id="5" name="Shape 3"/>
          <p:cNvSpPr/>
          <p:nvPr/>
        </p:nvSpPr>
        <p:spPr>
          <a:xfrm>
            <a:off x="960120" y="2148840"/>
            <a:ext cx="585216" cy="585216"/>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112276" y="2300996"/>
            <a:ext cx="280904" cy="280904"/>
          </a:xfrm>
          <a:prstGeom prst="rect">
            <a:avLst/>
          </a:prstGeom>
        </p:spPr>
      </p:pic>
      <p:sp>
        <p:nvSpPr>
          <p:cNvPr id="7" name="Text 4"/>
          <p:cNvSpPr txBox="1"/>
          <p:nvPr/>
        </p:nvSpPr>
        <p:spPr>
          <a:xfrm>
            <a:off x="960120" y="2880360"/>
            <a:ext cx="2874264" cy="384048"/>
          </a:xfrm>
          <a:prstGeom prst="rect">
            <a:avLst/>
          </a:prstGeom>
          <a:noFill/>
          <a:ln/>
        </p:spPr>
        <p:txBody>
          <a:bodyPr wrap="square" lIns="0" tIns="0" rIns="0" bIns="0" rtlCol="0" anchor="t"/>
          <a:lstStyle/>
          <a:p>
            <a:pPr indent="0" marL="0">
              <a:buNone/>
            </a:pPr>
            <a:r>
              <a:rPr lang="en-US" sz="1900" b="1" dirty="0">
                <a:solidFill>
                  <a:schemeClr val="tx1"/>
                </a:solidFill>
              </a:rPr>
              <a:t>No idea of size or source</a:t>
            </a:r>
            <a:endParaRPr lang="en-US" sz="1900" dirty="0"/>
          </a:p>
        </p:txBody>
      </p:sp>
      <p:sp>
        <p:nvSpPr>
          <p:cNvPr id="8" name="Text 5"/>
          <p:cNvSpPr txBox="1"/>
          <p:nvPr/>
        </p:nvSpPr>
        <p:spPr>
          <a:xfrm>
            <a:off x="960120" y="3319272"/>
            <a:ext cx="2874264" cy="1280160"/>
          </a:xfrm>
          <a:prstGeom prst="rect">
            <a:avLst/>
          </a:prstGeom>
          <a:noFill/>
          <a:ln/>
        </p:spPr>
        <p:txBody>
          <a:bodyPr wrap="square" lIns="0" tIns="0" rIns="0" bIns="0" rtlCol="0" anchor="t"/>
          <a:lstStyle/>
          <a:p>
            <a:pPr indent="0" marL="0">
              <a:buNone/>
            </a:pPr>
            <a:r>
              <a:rPr lang="en-US" sz="1500" dirty="0">
                <a:solidFill>
                  <a:schemeClr val="tx2"/>
                </a:solidFill>
              </a:rPr>
              <a:t>Neither people nor facility managers know how much CO₂e they produce, or which habit or room produces most of it.</a:t>
            </a:r>
            <a:endParaRPr lang="en-US" sz="1500" dirty="0"/>
          </a:p>
        </p:txBody>
      </p:sp>
      <p:sp>
        <p:nvSpPr>
          <p:cNvPr id="9" name="Shape 6"/>
          <p:cNvSpPr/>
          <p:nvPr/>
        </p:nvSpPr>
        <p:spPr>
          <a:xfrm>
            <a:off x="4383024" y="1874520"/>
            <a:ext cx="3422904" cy="2788920"/>
          </a:xfrm>
          <a:prstGeom prst="roundRect">
            <a:avLst>
              <a:gd name="adj" fmla="val 3934"/>
            </a:avLst>
          </a:prstGeom>
          <a:solidFill>
            <a:schemeClr val="bg1"/>
          </a:solidFill>
          <a:ln w="12700">
            <a:solidFill>
              <a:srgbClr val="D9E0DA"/>
            </a:solidFill>
            <a:prstDash val="solid"/>
          </a:ln>
        </p:spPr>
      </p:sp>
      <p:sp>
        <p:nvSpPr>
          <p:cNvPr id="10" name="Shape 7"/>
          <p:cNvSpPr/>
          <p:nvPr/>
        </p:nvSpPr>
        <p:spPr>
          <a:xfrm>
            <a:off x="4657344" y="2148840"/>
            <a:ext cx="585216" cy="585216"/>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809500" y="2300996"/>
            <a:ext cx="280904" cy="280904"/>
          </a:xfrm>
          <a:prstGeom prst="rect">
            <a:avLst/>
          </a:prstGeom>
        </p:spPr>
      </p:pic>
      <p:sp>
        <p:nvSpPr>
          <p:cNvPr id="12" name="Text 8"/>
          <p:cNvSpPr txBox="1"/>
          <p:nvPr/>
        </p:nvSpPr>
        <p:spPr>
          <a:xfrm>
            <a:off x="4657344" y="2880360"/>
            <a:ext cx="2874264" cy="384048"/>
          </a:xfrm>
          <a:prstGeom prst="rect">
            <a:avLst/>
          </a:prstGeom>
          <a:noFill/>
          <a:ln/>
        </p:spPr>
        <p:txBody>
          <a:bodyPr wrap="square" lIns="0" tIns="0" rIns="0" bIns="0" rtlCol="0" anchor="t"/>
          <a:lstStyle/>
          <a:p>
            <a:pPr indent="0" marL="0">
              <a:buNone/>
            </a:pPr>
            <a:r>
              <a:rPr lang="en-US" sz="1900" b="1" dirty="0">
                <a:solidFill>
                  <a:schemeClr val="tx1"/>
                </a:solidFill>
              </a:rPr>
              <a:t>One bill, too late</a:t>
            </a:r>
            <a:endParaRPr lang="en-US" sz="1900" dirty="0"/>
          </a:p>
        </p:txBody>
      </p:sp>
      <p:sp>
        <p:nvSpPr>
          <p:cNvPr id="13" name="Text 9"/>
          <p:cNvSpPr txBox="1"/>
          <p:nvPr/>
        </p:nvSpPr>
        <p:spPr>
          <a:xfrm>
            <a:off x="4657344" y="3319272"/>
            <a:ext cx="2874264" cy="1280160"/>
          </a:xfrm>
          <a:prstGeom prst="rect">
            <a:avLst/>
          </a:prstGeom>
          <a:noFill/>
          <a:ln/>
        </p:spPr>
        <p:txBody>
          <a:bodyPr wrap="square" lIns="0" tIns="0" rIns="0" bIns="0" rtlCol="0" anchor="t"/>
          <a:lstStyle/>
          <a:p>
            <a:pPr indent="0" marL="0">
              <a:buNone/>
            </a:pPr>
            <a:r>
              <a:rPr lang="en-US" sz="1500" dirty="0">
                <a:solidFill>
                  <a:schemeClr val="tx2"/>
                </a:solidFill>
              </a:rPr>
              <a:t>A government building gets one monthly bill for the whole building: no floor, no hour, no person, and it arrives after the energy is used.</a:t>
            </a:r>
            <a:endParaRPr lang="en-US" sz="1500" dirty="0"/>
          </a:p>
        </p:txBody>
      </p:sp>
      <p:sp>
        <p:nvSpPr>
          <p:cNvPr id="14" name="Shape 10"/>
          <p:cNvSpPr/>
          <p:nvPr/>
        </p:nvSpPr>
        <p:spPr>
          <a:xfrm>
            <a:off x="8080248" y="1874520"/>
            <a:ext cx="3422904" cy="2788920"/>
          </a:xfrm>
          <a:prstGeom prst="roundRect">
            <a:avLst>
              <a:gd name="adj" fmla="val 3934"/>
            </a:avLst>
          </a:prstGeom>
          <a:solidFill>
            <a:schemeClr val="bg1"/>
          </a:solidFill>
          <a:ln w="12700">
            <a:solidFill>
              <a:srgbClr val="D9E0DA"/>
            </a:solidFill>
            <a:prstDash val="solid"/>
          </a:ln>
        </p:spPr>
      </p:sp>
      <p:sp>
        <p:nvSpPr>
          <p:cNvPr id="15" name="Shape 11"/>
          <p:cNvSpPr/>
          <p:nvPr/>
        </p:nvSpPr>
        <p:spPr>
          <a:xfrm>
            <a:off x="8354568" y="2148840"/>
            <a:ext cx="585216" cy="585216"/>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506724" y="2300996"/>
            <a:ext cx="280904" cy="280904"/>
          </a:xfrm>
          <a:prstGeom prst="rect">
            <a:avLst/>
          </a:prstGeom>
        </p:spPr>
      </p:pic>
      <p:sp>
        <p:nvSpPr>
          <p:cNvPr id="17" name="Text 12"/>
          <p:cNvSpPr txBox="1"/>
          <p:nvPr/>
        </p:nvSpPr>
        <p:spPr>
          <a:xfrm>
            <a:off x="8354568" y="2880360"/>
            <a:ext cx="2874264" cy="384048"/>
          </a:xfrm>
          <a:prstGeom prst="rect">
            <a:avLst/>
          </a:prstGeom>
          <a:noFill/>
          <a:ln/>
        </p:spPr>
        <p:txBody>
          <a:bodyPr wrap="square" lIns="0" tIns="0" rIns="0" bIns="0" rtlCol="0" anchor="t"/>
          <a:lstStyle/>
          <a:p>
            <a:pPr indent="0" marL="0">
              <a:buNone/>
            </a:pPr>
            <a:r>
              <a:rPr lang="en-US" sz="1900" b="1" dirty="0">
                <a:solidFill>
                  <a:schemeClr val="tx1"/>
                </a:solidFill>
              </a:rPr>
              <a:t>Not built for Egypt</a:t>
            </a:r>
            <a:endParaRPr lang="en-US" sz="1900" dirty="0"/>
          </a:p>
        </p:txBody>
      </p:sp>
      <p:sp>
        <p:nvSpPr>
          <p:cNvPr id="18" name="Text 13"/>
          <p:cNvSpPr txBox="1"/>
          <p:nvPr/>
        </p:nvSpPr>
        <p:spPr>
          <a:xfrm>
            <a:off x="8354568" y="3319272"/>
            <a:ext cx="2874264" cy="1280160"/>
          </a:xfrm>
          <a:prstGeom prst="rect">
            <a:avLst/>
          </a:prstGeom>
          <a:noFill/>
          <a:ln/>
        </p:spPr>
        <p:txBody>
          <a:bodyPr wrap="square" lIns="0" tIns="0" rIns="0" bIns="0" rtlCol="0" anchor="t"/>
          <a:lstStyle/>
          <a:p>
            <a:pPr indent="0" marL="0">
              <a:buNone/>
            </a:pPr>
            <a:r>
              <a:rPr lang="en-US" sz="1500" dirty="0">
                <a:solidFill>
                  <a:schemeClr val="tx2"/>
                </a:solidFill>
              </a:rPr>
              <a:t>Personal calculators are yearly questionnaires with foreign factors: no microbus, no koshary, no Egyptian grid.</a:t>
            </a:r>
            <a:endParaRPr lang="en-US" sz="1500" dirty="0"/>
          </a:p>
        </p:txBody>
      </p:sp>
      <p:sp>
        <p:nvSpPr>
          <p:cNvPr id="19" name="Shape 14"/>
          <p:cNvSpPr/>
          <p:nvPr/>
        </p:nvSpPr>
        <p:spPr>
          <a:xfrm>
            <a:off x="685800" y="4937760"/>
            <a:ext cx="10817352" cy="868680"/>
          </a:xfrm>
          <a:prstGeom prst="roundRect">
            <a:avLst>
              <a:gd name="adj" fmla="val 12632"/>
            </a:avLst>
          </a:prstGeom>
          <a:solidFill>
            <a:schemeClr val="bg2"/>
          </a:solidFill>
          <a:ln/>
        </p:spPr>
      </p:sp>
      <p:sp>
        <p:nvSpPr>
          <p:cNvPr id="20" name="Text 15"/>
          <p:cNvSpPr txBox="1"/>
          <p:nvPr/>
        </p:nvSpPr>
        <p:spPr>
          <a:xfrm>
            <a:off x="1005840" y="4937760"/>
            <a:ext cx="10177272" cy="868680"/>
          </a:xfrm>
          <a:prstGeom prst="rect">
            <a:avLst/>
          </a:prstGeom>
          <a:noFill/>
          <a:ln/>
        </p:spPr>
        <p:txBody>
          <a:bodyPr wrap="square" lIns="0" tIns="0" rIns="0" bIns="0" rtlCol="0" anchor="ctr"/>
          <a:lstStyle/>
          <a:p>
            <a:pPr indent="0" marL="0">
              <a:buNone/>
            </a:pPr>
            <a:r>
              <a:rPr lang="en-US" sz="1700" b="1" dirty="0">
                <a:solidFill>
                  <a:schemeClr val="accent1"/>
                </a:solidFill>
              </a:rPr>
              <a:t>Goal: </a:t>
            </a:r>
            <a:pPr indent="0" marL="0">
              <a:buNone/>
            </a:pPr>
            <a:r>
              <a:rPr lang="en-US" sz="1700" dirty="0">
                <a:solidFill>
                  <a:schemeClr val="tx1"/>
                </a:solidFill>
              </a:rPr>
              <a:t>measure the CS floor and each member’s day automatically, with Egyptian factors and real data, and show where the waste is.</a:t>
            </a:r>
            <a:endParaRPr lang="en-US" sz="17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CARBON FOOTPRINT</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Egypt is below the world average, but above the 2030 target</a:t>
            </a:r>
            <a:endParaRPr lang="en-US" sz="3000" dirty="0"/>
          </a:p>
        </p:txBody>
      </p:sp>
      <p:sp>
        <p:nvSpPr>
          <p:cNvPr id="4" name="Text 2"/>
          <p:cNvSpPr txBox="1"/>
          <p:nvPr/>
        </p:nvSpPr>
        <p:spPr>
          <a:xfrm>
            <a:off x="685800" y="1874520"/>
            <a:ext cx="6035040" cy="1828800"/>
          </a:xfrm>
          <a:prstGeom prst="rect">
            <a:avLst/>
          </a:prstGeom>
          <a:noFill/>
          <a:ln/>
        </p:spPr>
        <p:txBody>
          <a:bodyPr wrap="square" lIns="0" tIns="0" rIns="0" bIns="0" rtlCol="0" anchor="t"/>
          <a:lstStyle/>
          <a:p>
            <a:pPr indent="0" marL="0">
              <a:buNone/>
            </a:pPr>
            <a:r>
              <a:rPr lang="en-US" sz="1700" dirty="0">
                <a:solidFill>
                  <a:schemeClr val="tx2"/>
                </a:solidFill>
              </a:rPr>
              <a:t>A </a:t>
            </a:r>
            <a:pPr indent="0" marL="0">
              <a:buNone/>
            </a:pPr>
            <a:r>
              <a:rPr lang="en-US" sz="1700" b="1" dirty="0">
                <a:solidFill>
                  <a:schemeClr val="tx1"/>
                </a:solidFill>
              </a:rPr>
              <a:t>carbon footprint</a:t>
            </a:r>
            <a:pPr indent="0" marL="0">
              <a:buNone/>
            </a:pPr>
            <a:r>
              <a:rPr lang="en-US" sz="1700" dirty="0">
                <a:solidFill>
                  <a:schemeClr val="tx2"/>
                </a:solidFill>
              </a:rPr>
              <a:t> is the total greenhouse gas caused by a person, product or building over a period, measured in kg of CO₂-equivalent (CO₂e).</a:t>
            </a:r>
            <a:endParaRPr lang="en-US" sz="1700" dirty="0"/>
          </a:p>
          <a:p>
            <a:pPr indent="0" marL="0">
              <a:buNone/>
            </a:pPr>
            <a:r>
              <a:rPr lang="en-US" sz="800" dirty="0">
                <a:solidFill>
                  <a:schemeClr val="tx2"/>
                </a:solidFill>
              </a:rPr>
              <a:t> </a:t>
            </a:r>
            <a:endParaRPr lang="en-US" sz="1700" dirty="0"/>
          </a:p>
          <a:p>
            <a:pPr indent="0" marL="0">
              <a:buNone/>
            </a:pPr>
            <a:r>
              <a:rPr lang="en-US" sz="1700" dirty="0">
                <a:solidFill>
                  <a:schemeClr val="tx2"/>
                </a:solidFill>
              </a:rPr>
              <a:t>Every activity converts to CO₂e through an </a:t>
            </a:r>
            <a:pPr indent="0" marL="0">
              <a:buNone/>
            </a:pPr>
            <a:r>
              <a:rPr lang="en-US" sz="1700" b="1" dirty="0">
                <a:solidFill>
                  <a:schemeClr val="tx1"/>
                </a:solidFill>
              </a:rPr>
              <a:t>emission factor</a:t>
            </a:r>
            <a:pPr indent="0" marL="0">
              <a:buNone/>
            </a:pPr>
            <a:r>
              <a:rPr lang="en-US" sz="1700" dirty="0">
                <a:solidFill>
                  <a:schemeClr val="tx2"/>
                </a:solidFill>
              </a:rPr>
              <a:t>: kWh of electricity, km travelled, kg of food.</a:t>
            </a:r>
            <a:endParaRPr lang="en-US" sz="1700" dirty="0"/>
          </a:p>
        </p:txBody>
      </p:sp>
      <p:sp>
        <p:nvSpPr>
          <p:cNvPr id="5" name="Shape 3"/>
          <p:cNvSpPr/>
          <p:nvPr/>
        </p:nvSpPr>
        <p:spPr>
          <a:xfrm>
            <a:off x="685800" y="3886200"/>
            <a:ext cx="6035040" cy="1325880"/>
          </a:xfrm>
          <a:prstGeom prst="roundRect">
            <a:avLst>
              <a:gd name="adj" fmla="val 8276"/>
            </a:avLst>
          </a:prstGeom>
          <a:solidFill>
            <a:schemeClr val="tx1"/>
          </a:solidFill>
          <a:ln/>
        </p:spPr>
      </p:sp>
      <p:sp>
        <p:nvSpPr>
          <p:cNvPr id="6" name="Text 4"/>
          <p:cNvSpPr txBox="1"/>
          <p:nvPr/>
        </p:nvSpPr>
        <p:spPr>
          <a:xfrm>
            <a:off x="1051560" y="4087368"/>
            <a:ext cx="53035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DAILY BUDGET PER PERSON</a:t>
            </a:r>
            <a:endParaRPr lang="en-US" sz="1200" dirty="0"/>
          </a:p>
        </p:txBody>
      </p:sp>
      <p:sp>
        <p:nvSpPr>
          <p:cNvPr id="7" name="Text 5"/>
          <p:cNvSpPr txBox="1"/>
          <p:nvPr/>
        </p:nvSpPr>
        <p:spPr>
          <a:xfrm>
            <a:off x="1051560" y="4434840"/>
            <a:ext cx="5303520" cy="54864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2,500 kg ÷ 365 ≈ 6.8 kg CO₂e</a:t>
            </a:r>
            <a:endParaRPr lang="en-US" sz="2800" dirty="0"/>
          </a:p>
        </p:txBody>
      </p:sp>
      <p:sp>
        <p:nvSpPr>
          <p:cNvPr id="8" name="Text 6"/>
          <p:cNvSpPr txBox="1"/>
          <p:nvPr/>
        </p:nvSpPr>
        <p:spPr>
          <a:xfrm>
            <a:off x="7315200" y="1874520"/>
            <a:ext cx="1600200" cy="77724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3.4 t</a:t>
            </a:r>
            <a:endParaRPr lang="en-US" sz="4400" dirty="0"/>
          </a:p>
        </p:txBody>
      </p:sp>
      <p:sp>
        <p:nvSpPr>
          <p:cNvPr id="9" name="Text 7"/>
          <p:cNvSpPr txBox="1"/>
          <p:nvPr/>
        </p:nvSpPr>
        <p:spPr>
          <a:xfrm>
            <a:off x="9006840" y="1874520"/>
            <a:ext cx="2496312" cy="777240"/>
          </a:xfrm>
          <a:prstGeom prst="rect">
            <a:avLst/>
          </a:prstGeom>
          <a:noFill/>
          <a:ln/>
        </p:spPr>
        <p:txBody>
          <a:bodyPr wrap="square" lIns="0" tIns="0" rIns="0" bIns="0" rtlCol="0" anchor="ctr"/>
          <a:lstStyle/>
          <a:p>
            <a:pPr indent="0" marL="0">
              <a:buNone/>
            </a:pPr>
            <a:r>
              <a:rPr lang="en-US" sz="1500" dirty="0">
                <a:solidFill>
                  <a:schemeClr val="tx2"/>
                </a:solidFill>
              </a:rPr>
              <a:t>per person per year in Egypt (2023)</a:t>
            </a:r>
            <a:endParaRPr lang="en-US" sz="1500" dirty="0"/>
          </a:p>
        </p:txBody>
      </p:sp>
      <p:sp>
        <p:nvSpPr>
          <p:cNvPr id="10" name="Shape 8"/>
          <p:cNvSpPr/>
          <p:nvPr/>
        </p:nvSpPr>
        <p:spPr>
          <a:xfrm>
            <a:off x="7315200" y="2834640"/>
            <a:ext cx="4187952" cy="0"/>
          </a:xfrm>
          <a:prstGeom prst="line">
            <a:avLst/>
          </a:prstGeom>
          <a:noFill/>
          <a:ln w="12700">
            <a:solidFill>
              <a:srgbClr val="D9E0DA"/>
            </a:solidFill>
            <a:prstDash val="solid"/>
          </a:ln>
        </p:spPr>
      </p:sp>
      <p:sp>
        <p:nvSpPr>
          <p:cNvPr id="11" name="Text 9"/>
          <p:cNvSpPr txBox="1"/>
          <p:nvPr/>
        </p:nvSpPr>
        <p:spPr>
          <a:xfrm>
            <a:off x="7315200" y="3017520"/>
            <a:ext cx="1600200" cy="77724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6.6 t</a:t>
            </a:r>
            <a:endParaRPr lang="en-US" sz="4400" dirty="0"/>
          </a:p>
        </p:txBody>
      </p:sp>
      <p:sp>
        <p:nvSpPr>
          <p:cNvPr id="12" name="Text 10"/>
          <p:cNvSpPr txBox="1"/>
          <p:nvPr/>
        </p:nvSpPr>
        <p:spPr>
          <a:xfrm>
            <a:off x="9006840" y="3017520"/>
            <a:ext cx="2496312" cy="777240"/>
          </a:xfrm>
          <a:prstGeom prst="rect">
            <a:avLst/>
          </a:prstGeom>
          <a:noFill/>
          <a:ln/>
        </p:spPr>
        <p:txBody>
          <a:bodyPr wrap="square" lIns="0" tIns="0" rIns="0" bIns="0" rtlCol="0" anchor="ctr"/>
          <a:lstStyle/>
          <a:p>
            <a:pPr indent="0" marL="0">
              <a:buNone/>
            </a:pPr>
            <a:r>
              <a:rPr lang="en-US" sz="1500" dirty="0">
                <a:solidFill>
                  <a:schemeClr val="tx2"/>
                </a:solidFill>
              </a:rPr>
              <a:t>world average per person (2023)</a:t>
            </a:r>
            <a:endParaRPr lang="en-US" sz="1500" dirty="0"/>
          </a:p>
        </p:txBody>
      </p:sp>
      <p:sp>
        <p:nvSpPr>
          <p:cNvPr id="13" name="Shape 11"/>
          <p:cNvSpPr/>
          <p:nvPr/>
        </p:nvSpPr>
        <p:spPr>
          <a:xfrm>
            <a:off x="7315200" y="3977640"/>
            <a:ext cx="4187952" cy="0"/>
          </a:xfrm>
          <a:prstGeom prst="line">
            <a:avLst/>
          </a:prstGeom>
          <a:noFill/>
          <a:ln w="12700">
            <a:solidFill>
              <a:srgbClr val="D9E0DA"/>
            </a:solidFill>
            <a:prstDash val="solid"/>
          </a:ln>
        </p:spPr>
      </p:sp>
      <p:sp>
        <p:nvSpPr>
          <p:cNvPr id="14" name="Text 12"/>
          <p:cNvSpPr txBox="1"/>
          <p:nvPr/>
        </p:nvSpPr>
        <p:spPr>
          <a:xfrm>
            <a:off x="7315200" y="4160520"/>
            <a:ext cx="160020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2.5 t</a:t>
            </a:r>
            <a:endParaRPr lang="en-US" sz="4400" dirty="0"/>
          </a:p>
        </p:txBody>
      </p:sp>
      <p:sp>
        <p:nvSpPr>
          <p:cNvPr id="15" name="Text 13"/>
          <p:cNvSpPr txBox="1"/>
          <p:nvPr/>
        </p:nvSpPr>
        <p:spPr>
          <a:xfrm>
            <a:off x="9006840" y="4160520"/>
            <a:ext cx="2496312" cy="777240"/>
          </a:xfrm>
          <a:prstGeom prst="rect">
            <a:avLst/>
          </a:prstGeom>
          <a:noFill/>
          <a:ln/>
        </p:spPr>
        <p:txBody>
          <a:bodyPr wrap="square" lIns="0" tIns="0" rIns="0" bIns="0" rtlCol="0" anchor="ctr"/>
          <a:lstStyle/>
          <a:p>
            <a:pPr indent="0" marL="0">
              <a:buNone/>
            </a:pPr>
            <a:r>
              <a:rPr lang="en-US" sz="1500" dirty="0">
                <a:solidFill>
                  <a:schemeClr val="tx2"/>
                </a:solidFill>
              </a:rPr>
              <a:t>1.5 °C lifestyle target per person by 2030</a:t>
            </a:r>
            <a:endParaRPr lang="en-US" sz="1500" dirty="0"/>
          </a:p>
        </p:txBody>
      </p:sp>
      <p:sp>
        <p:nvSpPr>
          <p:cNvPr id="16" name="Text 14"/>
          <p:cNvSpPr txBox="1"/>
          <p:nvPr/>
        </p:nvSpPr>
        <p:spPr>
          <a:xfrm>
            <a:off x="685800" y="6236208"/>
            <a:ext cx="9875520" cy="274320"/>
          </a:xfrm>
          <a:prstGeom prst="rect">
            <a:avLst/>
          </a:prstGeom>
          <a:noFill/>
          <a:ln/>
        </p:spPr>
        <p:txBody>
          <a:bodyPr wrap="square" lIns="0" tIns="0" rIns="0" bIns="0" rtlCol="0" anchor="t"/>
          <a:lstStyle/>
          <a:p>
            <a:pPr indent="0" marL="0">
              <a:buNone/>
            </a:pPr>
            <a:r>
              <a:rPr lang="en-US" sz="1100" dirty="0">
                <a:solidFill>
                  <a:schemeClr val="accent5"/>
                </a:solidFill>
              </a:rPr>
              <a:t>Sources: EDGAR 2024 report [27]; Hot or Cool Institute, 1.5-Degree Lifestyles [26]</a:t>
            </a:r>
            <a:endParaRPr lang="en-US" sz="11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OUR SOLUTION</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One app and one floor monitor, two daily numbers</a:t>
            </a:r>
            <a:endParaRPr lang="en-US" sz="3000" dirty="0"/>
          </a:p>
        </p:txBody>
      </p:sp>
      <p:sp>
        <p:nvSpPr>
          <p:cNvPr id="4" name="Shape 2"/>
          <p:cNvSpPr/>
          <p:nvPr/>
        </p:nvSpPr>
        <p:spPr>
          <a:xfrm>
            <a:off x="685800" y="1874520"/>
            <a:ext cx="2532888" cy="2697480"/>
          </a:xfrm>
          <a:prstGeom prst="roundRect">
            <a:avLst>
              <a:gd name="adj" fmla="val 4332"/>
            </a:avLst>
          </a:prstGeom>
          <a:solidFill>
            <a:schemeClr val="bg1"/>
          </a:solidFill>
          <a:ln w="12700">
            <a:solidFill>
              <a:srgbClr val="D9E0DA"/>
            </a:solidFill>
            <a:prstDash val="solid"/>
          </a:ln>
        </p:spPr>
      </p:sp>
      <p:sp>
        <p:nvSpPr>
          <p:cNvPr id="5" name="Shape 3"/>
          <p:cNvSpPr/>
          <p:nvPr/>
        </p:nvSpPr>
        <p:spPr>
          <a:xfrm>
            <a:off x="941832" y="2130552"/>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84478" y="2273198"/>
            <a:ext cx="263347" cy="263347"/>
          </a:xfrm>
          <a:prstGeom prst="rect">
            <a:avLst/>
          </a:prstGeom>
        </p:spPr>
      </p:pic>
      <p:sp>
        <p:nvSpPr>
          <p:cNvPr id="7" name="Text 4"/>
          <p:cNvSpPr txBox="1"/>
          <p:nvPr/>
        </p:nvSpPr>
        <p:spPr>
          <a:xfrm>
            <a:off x="941832" y="2816352"/>
            <a:ext cx="2075688" cy="365760"/>
          </a:xfrm>
          <a:prstGeom prst="rect">
            <a:avLst/>
          </a:prstGeom>
          <a:noFill/>
          <a:ln/>
        </p:spPr>
        <p:txBody>
          <a:bodyPr wrap="square" lIns="0" tIns="0" rIns="0" bIns="0" rtlCol="0" anchor="t"/>
          <a:lstStyle/>
          <a:p>
            <a:pPr indent="0" marL="0">
              <a:buNone/>
            </a:pPr>
            <a:r>
              <a:rPr lang="en-US" sz="1800" b="1" dirty="0">
                <a:solidFill>
                  <a:schemeClr val="tx1"/>
                </a:solidFill>
              </a:rPr>
              <a:t>Transport</a:t>
            </a:r>
            <a:endParaRPr lang="en-US" sz="1800" dirty="0"/>
          </a:p>
        </p:txBody>
      </p:sp>
      <p:sp>
        <p:nvSpPr>
          <p:cNvPr id="8" name="Text 5"/>
          <p:cNvSpPr txBox="1"/>
          <p:nvPr/>
        </p:nvSpPr>
        <p:spPr>
          <a:xfrm>
            <a:off x="941832" y="3227832"/>
            <a:ext cx="2075688" cy="1280160"/>
          </a:xfrm>
          <a:prstGeom prst="rect">
            <a:avLst/>
          </a:prstGeom>
          <a:noFill/>
          <a:ln/>
        </p:spPr>
        <p:txBody>
          <a:bodyPr wrap="square" lIns="0" tIns="0" rIns="0" bIns="0" rtlCol="0" anchor="t"/>
          <a:lstStyle/>
          <a:p>
            <a:pPr indent="0" marL="0">
              <a:buNone/>
            </a:pPr>
            <a:r>
              <a:rPr lang="en-US" sz="1500" dirty="0">
                <a:solidFill>
                  <a:schemeClr val="tx2"/>
                </a:solidFill>
              </a:rPr>
              <a:t>Commute detected from GPS and motion sensors; one tap to confirm when unsure</a:t>
            </a:r>
            <a:endParaRPr lang="en-US" sz="1500" dirty="0"/>
          </a:p>
        </p:txBody>
      </p:sp>
      <p:sp>
        <p:nvSpPr>
          <p:cNvPr id="9" name="Shape 6"/>
          <p:cNvSpPr/>
          <p:nvPr/>
        </p:nvSpPr>
        <p:spPr>
          <a:xfrm>
            <a:off x="3447288" y="1874520"/>
            <a:ext cx="2532888" cy="2697480"/>
          </a:xfrm>
          <a:prstGeom prst="roundRect">
            <a:avLst>
              <a:gd name="adj" fmla="val 4332"/>
            </a:avLst>
          </a:prstGeom>
          <a:solidFill>
            <a:schemeClr val="bg1"/>
          </a:solidFill>
          <a:ln w="12700">
            <a:solidFill>
              <a:srgbClr val="D9E0DA"/>
            </a:solidFill>
            <a:prstDash val="solid"/>
          </a:ln>
        </p:spPr>
      </p:sp>
      <p:sp>
        <p:nvSpPr>
          <p:cNvPr id="10" name="Shape 7"/>
          <p:cNvSpPr/>
          <p:nvPr/>
        </p:nvSpPr>
        <p:spPr>
          <a:xfrm>
            <a:off x="3703320" y="2130552"/>
            <a:ext cx="548640" cy="54864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845966" y="2273198"/>
            <a:ext cx="263347" cy="263347"/>
          </a:xfrm>
          <a:prstGeom prst="rect">
            <a:avLst/>
          </a:prstGeom>
        </p:spPr>
      </p:pic>
      <p:sp>
        <p:nvSpPr>
          <p:cNvPr id="12" name="Text 8"/>
          <p:cNvSpPr txBox="1"/>
          <p:nvPr/>
        </p:nvSpPr>
        <p:spPr>
          <a:xfrm>
            <a:off x="3703320" y="2816352"/>
            <a:ext cx="2075688" cy="365760"/>
          </a:xfrm>
          <a:prstGeom prst="rect">
            <a:avLst/>
          </a:prstGeom>
          <a:noFill/>
          <a:ln/>
        </p:spPr>
        <p:txBody>
          <a:bodyPr wrap="square" lIns="0" tIns="0" rIns="0" bIns="0" rtlCol="0" anchor="t"/>
          <a:lstStyle/>
          <a:p>
            <a:pPr indent="0" marL="0">
              <a:buNone/>
            </a:pPr>
            <a:r>
              <a:rPr lang="en-US" sz="1800" b="1" dirty="0">
                <a:solidFill>
                  <a:schemeClr val="tx1"/>
                </a:solidFill>
              </a:rPr>
              <a:t>Food</a:t>
            </a:r>
            <a:endParaRPr lang="en-US" sz="1800" dirty="0"/>
          </a:p>
        </p:txBody>
      </p:sp>
      <p:sp>
        <p:nvSpPr>
          <p:cNvPr id="13" name="Text 9"/>
          <p:cNvSpPr txBox="1"/>
          <p:nvPr/>
        </p:nvSpPr>
        <p:spPr>
          <a:xfrm>
            <a:off x="3703320" y="3227832"/>
            <a:ext cx="2075688" cy="1280160"/>
          </a:xfrm>
          <a:prstGeom prst="rect">
            <a:avLst/>
          </a:prstGeom>
          <a:noFill/>
          <a:ln/>
        </p:spPr>
        <p:txBody>
          <a:bodyPr wrap="square" lIns="0" tIns="0" rIns="0" bIns="0" rtlCol="0" anchor="t"/>
          <a:lstStyle/>
          <a:p>
            <a:pPr indent="0" marL="0">
              <a:buNone/>
            </a:pPr>
            <a:r>
              <a:rPr lang="en-US" sz="1500" dirty="0">
                <a:solidFill>
                  <a:schemeClr val="tx2"/>
                </a:solidFill>
              </a:rPr>
              <a:t>Photo of the plate, at the cafeteria or at home; the model names the dish</a:t>
            </a:r>
            <a:endParaRPr lang="en-US" sz="1500" dirty="0"/>
          </a:p>
        </p:txBody>
      </p:sp>
      <p:sp>
        <p:nvSpPr>
          <p:cNvPr id="14" name="Shape 10"/>
          <p:cNvSpPr/>
          <p:nvPr/>
        </p:nvSpPr>
        <p:spPr>
          <a:xfrm>
            <a:off x="6208776" y="1874520"/>
            <a:ext cx="2532888" cy="2697480"/>
          </a:xfrm>
          <a:prstGeom prst="roundRect">
            <a:avLst>
              <a:gd name="adj" fmla="val 4332"/>
            </a:avLst>
          </a:prstGeom>
          <a:solidFill>
            <a:schemeClr val="bg1"/>
          </a:solidFill>
          <a:ln w="12700">
            <a:solidFill>
              <a:srgbClr val="D9E0DA"/>
            </a:solidFill>
            <a:prstDash val="solid"/>
          </a:ln>
        </p:spPr>
      </p:sp>
      <p:sp>
        <p:nvSpPr>
          <p:cNvPr id="15" name="Shape 11"/>
          <p:cNvSpPr/>
          <p:nvPr/>
        </p:nvSpPr>
        <p:spPr>
          <a:xfrm>
            <a:off x="6464808" y="2130552"/>
            <a:ext cx="548640" cy="54864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6607454" y="2273198"/>
            <a:ext cx="263347" cy="263347"/>
          </a:xfrm>
          <a:prstGeom prst="rect">
            <a:avLst/>
          </a:prstGeom>
        </p:spPr>
      </p:pic>
      <p:sp>
        <p:nvSpPr>
          <p:cNvPr id="17" name="Text 12"/>
          <p:cNvSpPr txBox="1"/>
          <p:nvPr/>
        </p:nvSpPr>
        <p:spPr>
          <a:xfrm>
            <a:off x="6464808" y="2816352"/>
            <a:ext cx="2075688" cy="365760"/>
          </a:xfrm>
          <a:prstGeom prst="rect">
            <a:avLst/>
          </a:prstGeom>
          <a:noFill/>
          <a:ln/>
        </p:spPr>
        <p:txBody>
          <a:bodyPr wrap="square" lIns="0" tIns="0" rIns="0" bIns="0" rtlCol="0" anchor="t"/>
          <a:lstStyle/>
          <a:p>
            <a:pPr indent="0" marL="0">
              <a:buNone/>
            </a:pPr>
            <a:r>
              <a:rPr lang="en-US" sz="1800" b="1" dirty="0">
                <a:solidFill>
                  <a:schemeClr val="tx1"/>
                </a:solidFill>
              </a:rPr>
              <a:t>Floor electricity</a:t>
            </a:r>
            <a:endParaRPr lang="en-US" sz="1800" dirty="0"/>
          </a:p>
        </p:txBody>
      </p:sp>
      <p:sp>
        <p:nvSpPr>
          <p:cNvPr id="18" name="Text 13"/>
          <p:cNvSpPr txBox="1"/>
          <p:nvPr/>
        </p:nvSpPr>
        <p:spPr>
          <a:xfrm>
            <a:off x="6464808" y="3227832"/>
            <a:ext cx="2075688" cy="1280160"/>
          </a:xfrm>
          <a:prstGeom prst="rect">
            <a:avLst/>
          </a:prstGeom>
          <a:noFill/>
          <a:ln/>
        </p:spPr>
        <p:txBody>
          <a:bodyPr wrap="square" lIns="0" tIns="0" rIns="0" bIns="0" rtlCol="0" anchor="t"/>
          <a:lstStyle/>
          <a:p>
            <a:pPr indent="0" marL="0">
              <a:buNone/>
            </a:pPr>
            <a:r>
              <a:rPr lang="en-US" sz="1500" dirty="0">
                <a:solidFill>
                  <a:schemeClr val="tx2"/>
                </a:solidFill>
              </a:rPr>
              <a:t>ESP32 monitors on the floor’s electrical board; each person gets a share for their hours there</a:t>
            </a:r>
            <a:endParaRPr lang="en-US" sz="1500" dirty="0"/>
          </a:p>
        </p:txBody>
      </p:sp>
      <p:sp>
        <p:nvSpPr>
          <p:cNvPr id="19" name="Shape 14"/>
          <p:cNvSpPr/>
          <p:nvPr/>
        </p:nvSpPr>
        <p:spPr>
          <a:xfrm>
            <a:off x="8970264" y="1874520"/>
            <a:ext cx="2532888" cy="2697480"/>
          </a:xfrm>
          <a:prstGeom prst="roundRect">
            <a:avLst>
              <a:gd name="adj" fmla="val 4332"/>
            </a:avLst>
          </a:prstGeom>
          <a:solidFill>
            <a:schemeClr val="bg1"/>
          </a:solidFill>
          <a:ln w="12700">
            <a:solidFill>
              <a:srgbClr val="D9E0DA"/>
            </a:solidFill>
            <a:prstDash val="solid"/>
          </a:ln>
        </p:spPr>
      </p:sp>
      <p:sp>
        <p:nvSpPr>
          <p:cNvPr id="20" name="Shape 15"/>
          <p:cNvSpPr/>
          <p:nvPr/>
        </p:nvSpPr>
        <p:spPr>
          <a:xfrm>
            <a:off x="9226296" y="2130552"/>
            <a:ext cx="548640" cy="54864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9368942" y="2273198"/>
            <a:ext cx="263347" cy="263347"/>
          </a:xfrm>
          <a:prstGeom prst="rect">
            <a:avLst/>
          </a:prstGeom>
        </p:spPr>
      </p:pic>
      <p:sp>
        <p:nvSpPr>
          <p:cNvPr id="22" name="Text 16"/>
          <p:cNvSpPr txBox="1"/>
          <p:nvPr/>
        </p:nvSpPr>
        <p:spPr>
          <a:xfrm>
            <a:off x="9226296" y="2816352"/>
            <a:ext cx="2075688" cy="365760"/>
          </a:xfrm>
          <a:prstGeom prst="rect">
            <a:avLst/>
          </a:prstGeom>
          <a:noFill/>
          <a:ln/>
        </p:spPr>
        <p:txBody>
          <a:bodyPr wrap="square" lIns="0" tIns="0" rIns="0" bIns="0" rtlCol="0" anchor="t"/>
          <a:lstStyle/>
          <a:p>
            <a:pPr indent="0" marL="0">
              <a:buNone/>
            </a:pPr>
            <a:r>
              <a:rPr lang="en-US" sz="1800" b="1" dirty="0">
                <a:solidFill>
                  <a:schemeClr val="tx1"/>
                </a:solidFill>
              </a:rPr>
              <a:t>Facility dashboard</a:t>
            </a:r>
            <a:endParaRPr lang="en-US" sz="1800" dirty="0"/>
          </a:p>
        </p:txBody>
      </p:sp>
      <p:sp>
        <p:nvSpPr>
          <p:cNvPr id="23" name="Text 17"/>
          <p:cNvSpPr txBox="1"/>
          <p:nvPr/>
        </p:nvSpPr>
        <p:spPr>
          <a:xfrm>
            <a:off x="9226296" y="3227832"/>
            <a:ext cx="2075688" cy="1280160"/>
          </a:xfrm>
          <a:prstGeom prst="rect">
            <a:avLst/>
          </a:prstGeom>
          <a:noFill/>
          <a:ln/>
        </p:spPr>
        <p:txBody>
          <a:bodyPr wrap="square" lIns="0" tIns="0" rIns="0" bIns="0" rtlCol="0" anchor="t"/>
          <a:lstStyle/>
          <a:p>
            <a:pPr indent="0" marL="0">
              <a:buNone/>
            </a:pPr>
            <a:r>
              <a:rPr lang="en-US" sz="1500" dirty="0">
                <a:solidFill>
                  <a:schemeClr val="tx2"/>
                </a:solidFill>
              </a:rPr>
              <a:t>Daily kWh, CO₂e, after-hours waste and a forecast for the department head</a:t>
            </a:r>
            <a:endParaRPr lang="en-US" sz="1500" dirty="0"/>
          </a:p>
        </p:txBody>
      </p:sp>
      <p:sp>
        <p:nvSpPr>
          <p:cNvPr id="24" name="Shape 18"/>
          <p:cNvSpPr/>
          <p:nvPr/>
        </p:nvSpPr>
        <p:spPr>
          <a:xfrm>
            <a:off x="685800" y="4846320"/>
            <a:ext cx="10817352" cy="1005840"/>
          </a:xfrm>
          <a:prstGeom prst="roundRect">
            <a:avLst>
              <a:gd name="adj" fmla="val 10909"/>
            </a:avLst>
          </a:prstGeom>
          <a:solidFill>
            <a:schemeClr val="tx1"/>
          </a:solidFill>
          <a:ln/>
        </p:spPr>
      </p:sp>
      <p:sp>
        <p:nvSpPr>
          <p:cNvPr id="25" name="Text 19"/>
          <p:cNvSpPr txBox="1"/>
          <p:nvPr/>
        </p:nvSpPr>
        <p:spPr>
          <a:xfrm>
            <a:off x="1005840" y="4846320"/>
            <a:ext cx="10177272" cy="1005840"/>
          </a:xfrm>
          <a:prstGeom prst="rect">
            <a:avLst/>
          </a:prstGeom>
          <a:noFill/>
          <a:ln/>
        </p:spPr>
        <p:txBody>
          <a:bodyPr wrap="square" lIns="0" tIns="0" rIns="0" bIns="0" rtlCol="0" anchor="ctr"/>
          <a:lstStyle/>
          <a:p>
            <a:pPr indent="0" marL="0">
              <a:buNone/>
            </a:pPr>
            <a:r>
              <a:rPr lang="en-US" sz="1700" b="1" dirty="0">
                <a:solidFill>
                  <a:schemeClr val="accent2"/>
                </a:solidFill>
              </a:rPr>
              <a:t>Every night: </a:t>
            </a:r>
            <a:pPr indent="0" marL="0">
              <a:buNone/>
            </a:pPr>
            <a:r>
              <a:rPr lang="en-US" sz="1700" dirty="0">
                <a:solidFill>
                  <a:schemeClr val="bg1"/>
                </a:solidFill>
              </a:rPr>
              <a:t>each person’s day against a 6.8 kg budget in the app, and the floor’s day against its own baseline on a display at the floor entrance, in green, yellow or red.</a:t>
            </a:r>
            <a:endParaRPr lang="en-US" sz="17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SYSTEM ARCHITECTURE</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The phone and the floor monitors feed one server</a:t>
            </a:r>
            <a:endParaRPr lang="en-US" sz="3000" dirty="0"/>
          </a:p>
        </p:txBody>
      </p:sp>
      <p:sp>
        <p:nvSpPr>
          <p:cNvPr id="4" name="Shape 2"/>
          <p:cNvSpPr/>
          <p:nvPr/>
        </p:nvSpPr>
        <p:spPr>
          <a:xfrm>
            <a:off x="685800" y="1874520"/>
            <a:ext cx="3154680" cy="4343400"/>
          </a:xfrm>
          <a:prstGeom prst="roundRect">
            <a:avLst>
              <a:gd name="adj" fmla="val 4348"/>
            </a:avLst>
          </a:prstGeom>
          <a:solidFill>
            <a:schemeClr val="bg2"/>
          </a:solidFill>
          <a:ln/>
        </p:spPr>
      </p:sp>
      <p:sp>
        <p:nvSpPr>
          <p:cNvPr id="5" name="Text 3"/>
          <p:cNvSpPr txBox="1"/>
          <p:nvPr/>
        </p:nvSpPr>
        <p:spPr>
          <a:xfrm>
            <a:off x="868680" y="2020824"/>
            <a:ext cx="27889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INPUTS</a:t>
            </a:r>
            <a:endParaRPr lang="en-US" sz="1200" dirty="0"/>
          </a:p>
        </p:txBody>
      </p:sp>
      <p:sp>
        <p:nvSpPr>
          <p:cNvPr id="6" name="Shape 4"/>
          <p:cNvSpPr/>
          <p:nvPr/>
        </p:nvSpPr>
        <p:spPr>
          <a:xfrm>
            <a:off x="850392" y="2386584"/>
            <a:ext cx="2825496" cy="658368"/>
          </a:xfrm>
          <a:prstGeom prst="roundRect">
            <a:avLst>
              <a:gd name="adj" fmla="val 11111"/>
            </a:avLst>
          </a:prstGeom>
          <a:solidFill>
            <a:schemeClr val="bg1"/>
          </a:solidFill>
          <a:ln w="12700">
            <a:solidFill>
              <a:srgbClr val="D9E0DA"/>
            </a:solidFill>
            <a:prstDash val="solid"/>
          </a:ln>
        </p:spPr>
      </p:sp>
      <p:sp>
        <p:nvSpPr>
          <p:cNvPr id="7" name="Text 5"/>
          <p:cNvSpPr txBox="1"/>
          <p:nvPr/>
        </p:nvSpPr>
        <p:spPr>
          <a:xfrm>
            <a:off x="1005840" y="2459736"/>
            <a:ext cx="2514600" cy="274320"/>
          </a:xfrm>
          <a:prstGeom prst="rect">
            <a:avLst/>
          </a:prstGeom>
          <a:noFill/>
          <a:ln/>
        </p:spPr>
        <p:txBody>
          <a:bodyPr wrap="square" lIns="0" tIns="0" rIns="0" bIns="0" rtlCol="0" anchor="t"/>
          <a:lstStyle/>
          <a:p>
            <a:pPr indent="0" marL="0">
              <a:buNone/>
            </a:pPr>
            <a:r>
              <a:rPr lang="en-US" sz="1400" b="1" dirty="0">
                <a:solidFill>
                  <a:schemeClr val="tx1"/>
                </a:solidFill>
              </a:rPr>
              <a:t>Trip tracking</a:t>
            </a:r>
            <a:endParaRPr lang="en-US" sz="1400" dirty="0"/>
          </a:p>
        </p:txBody>
      </p:sp>
      <p:sp>
        <p:nvSpPr>
          <p:cNvPr id="8" name="Text 6"/>
          <p:cNvSpPr txBox="1"/>
          <p:nvPr/>
        </p:nvSpPr>
        <p:spPr>
          <a:xfrm>
            <a:off x="1005840" y="2734056"/>
            <a:ext cx="2514600" cy="246888"/>
          </a:xfrm>
          <a:prstGeom prst="rect">
            <a:avLst/>
          </a:prstGeom>
          <a:noFill/>
          <a:ln/>
        </p:spPr>
        <p:txBody>
          <a:bodyPr wrap="square" lIns="0" tIns="0" rIns="0" bIns="0" rtlCol="0" anchor="t"/>
          <a:lstStyle/>
          <a:p>
            <a:pPr indent="0" marL="0">
              <a:buNone/>
            </a:pPr>
            <a:r>
              <a:rPr lang="en-US" sz="1200" dirty="0">
                <a:solidFill>
                  <a:schemeClr val="accent5"/>
                </a:solidFill>
              </a:rPr>
              <a:t>GPS + transport model on phone</a:t>
            </a:r>
            <a:endParaRPr lang="en-US" sz="1200" dirty="0"/>
          </a:p>
        </p:txBody>
      </p:sp>
      <p:sp>
        <p:nvSpPr>
          <p:cNvPr id="9" name="Shape 7"/>
          <p:cNvSpPr/>
          <p:nvPr/>
        </p:nvSpPr>
        <p:spPr>
          <a:xfrm>
            <a:off x="850392" y="3136392"/>
            <a:ext cx="2825496" cy="658368"/>
          </a:xfrm>
          <a:prstGeom prst="roundRect">
            <a:avLst>
              <a:gd name="adj" fmla="val 11111"/>
            </a:avLst>
          </a:prstGeom>
          <a:solidFill>
            <a:schemeClr val="bg1"/>
          </a:solidFill>
          <a:ln w="12700">
            <a:solidFill>
              <a:srgbClr val="D9E0DA"/>
            </a:solidFill>
            <a:prstDash val="solid"/>
          </a:ln>
        </p:spPr>
      </p:sp>
      <p:sp>
        <p:nvSpPr>
          <p:cNvPr id="10" name="Text 8"/>
          <p:cNvSpPr txBox="1"/>
          <p:nvPr/>
        </p:nvSpPr>
        <p:spPr>
          <a:xfrm>
            <a:off x="1005840" y="3209544"/>
            <a:ext cx="2514600" cy="274320"/>
          </a:xfrm>
          <a:prstGeom prst="rect">
            <a:avLst/>
          </a:prstGeom>
          <a:noFill/>
          <a:ln/>
        </p:spPr>
        <p:txBody>
          <a:bodyPr wrap="square" lIns="0" tIns="0" rIns="0" bIns="0" rtlCol="0" anchor="t"/>
          <a:lstStyle/>
          <a:p>
            <a:pPr indent="0" marL="0">
              <a:buNone/>
            </a:pPr>
            <a:r>
              <a:rPr lang="en-US" sz="1400" b="1" dirty="0">
                <a:solidFill>
                  <a:schemeClr val="tx1"/>
                </a:solidFill>
              </a:rPr>
              <a:t>Food camera</a:t>
            </a:r>
            <a:endParaRPr lang="en-US" sz="1400" dirty="0"/>
          </a:p>
        </p:txBody>
      </p:sp>
      <p:sp>
        <p:nvSpPr>
          <p:cNvPr id="11" name="Text 9"/>
          <p:cNvSpPr txBox="1"/>
          <p:nvPr/>
        </p:nvSpPr>
        <p:spPr>
          <a:xfrm>
            <a:off x="1005840" y="3483864"/>
            <a:ext cx="2514600" cy="246888"/>
          </a:xfrm>
          <a:prstGeom prst="rect">
            <a:avLst/>
          </a:prstGeom>
          <a:noFill/>
          <a:ln/>
        </p:spPr>
        <p:txBody>
          <a:bodyPr wrap="square" lIns="0" tIns="0" rIns="0" bIns="0" rtlCol="0" anchor="t"/>
          <a:lstStyle/>
          <a:p>
            <a:pPr indent="0" marL="0">
              <a:buNone/>
            </a:pPr>
            <a:r>
              <a:rPr lang="en-US" sz="1200" dirty="0">
                <a:solidFill>
                  <a:schemeClr val="accent5"/>
                </a:solidFill>
              </a:rPr>
              <a:t>meal model on phone (LiteRT)</a:t>
            </a:r>
            <a:endParaRPr lang="en-US" sz="1200" dirty="0"/>
          </a:p>
        </p:txBody>
      </p:sp>
      <p:sp>
        <p:nvSpPr>
          <p:cNvPr id="12" name="Shape 10"/>
          <p:cNvSpPr/>
          <p:nvPr/>
        </p:nvSpPr>
        <p:spPr>
          <a:xfrm>
            <a:off x="850392" y="3886200"/>
            <a:ext cx="2825496" cy="658368"/>
          </a:xfrm>
          <a:prstGeom prst="roundRect">
            <a:avLst>
              <a:gd name="adj" fmla="val 11111"/>
            </a:avLst>
          </a:prstGeom>
          <a:solidFill>
            <a:schemeClr val="bg1"/>
          </a:solidFill>
          <a:ln w="12700">
            <a:solidFill>
              <a:srgbClr val="D9E0DA"/>
            </a:solidFill>
            <a:prstDash val="solid"/>
          </a:ln>
        </p:spPr>
      </p:sp>
      <p:sp>
        <p:nvSpPr>
          <p:cNvPr id="13" name="Text 11"/>
          <p:cNvSpPr txBox="1"/>
          <p:nvPr/>
        </p:nvSpPr>
        <p:spPr>
          <a:xfrm>
            <a:off x="1005840" y="3959352"/>
            <a:ext cx="2514600" cy="274320"/>
          </a:xfrm>
          <a:prstGeom prst="rect">
            <a:avLst/>
          </a:prstGeom>
          <a:noFill/>
          <a:ln/>
        </p:spPr>
        <p:txBody>
          <a:bodyPr wrap="square" lIns="0" tIns="0" rIns="0" bIns="0" rtlCol="0" anchor="t"/>
          <a:lstStyle/>
          <a:p>
            <a:pPr indent="0" marL="0">
              <a:buNone/>
            </a:pPr>
            <a:r>
              <a:rPr lang="en-US" sz="1400" b="1" dirty="0">
                <a:solidFill>
                  <a:schemeClr val="tx1"/>
                </a:solidFill>
              </a:rPr>
              <a:t>Floor check-in</a:t>
            </a:r>
            <a:endParaRPr lang="en-US" sz="1400" dirty="0"/>
          </a:p>
        </p:txBody>
      </p:sp>
      <p:sp>
        <p:nvSpPr>
          <p:cNvPr id="14" name="Text 12"/>
          <p:cNvSpPr txBox="1"/>
          <p:nvPr/>
        </p:nvSpPr>
        <p:spPr>
          <a:xfrm>
            <a:off x="1005840" y="4233672"/>
            <a:ext cx="2514600" cy="246888"/>
          </a:xfrm>
          <a:prstGeom prst="rect">
            <a:avLst/>
          </a:prstGeom>
          <a:noFill/>
          <a:ln/>
        </p:spPr>
        <p:txBody>
          <a:bodyPr wrap="square" lIns="0" tIns="0" rIns="0" bIns="0" rtlCol="0" anchor="t"/>
          <a:lstStyle/>
          <a:p>
            <a:pPr indent="0" marL="0">
              <a:buNone/>
            </a:pPr>
            <a:r>
              <a:rPr lang="en-US" sz="1200" dirty="0">
                <a:solidFill>
                  <a:schemeClr val="accent5"/>
                </a:solidFill>
              </a:rPr>
              <a:t>geofence: hours on the floor</a:t>
            </a:r>
            <a:endParaRPr lang="en-US" sz="1200" dirty="0"/>
          </a:p>
        </p:txBody>
      </p:sp>
      <p:sp>
        <p:nvSpPr>
          <p:cNvPr id="15" name="Shape 13"/>
          <p:cNvSpPr/>
          <p:nvPr/>
        </p:nvSpPr>
        <p:spPr>
          <a:xfrm>
            <a:off x="850392" y="4636008"/>
            <a:ext cx="2825496" cy="658368"/>
          </a:xfrm>
          <a:prstGeom prst="roundRect">
            <a:avLst>
              <a:gd name="adj" fmla="val 11111"/>
            </a:avLst>
          </a:prstGeom>
          <a:solidFill>
            <a:schemeClr val="bg1"/>
          </a:solidFill>
          <a:ln w="12700">
            <a:solidFill>
              <a:srgbClr val="D9E0DA"/>
            </a:solidFill>
            <a:prstDash val="solid"/>
          </a:ln>
        </p:spPr>
      </p:sp>
      <p:sp>
        <p:nvSpPr>
          <p:cNvPr id="16" name="Text 14"/>
          <p:cNvSpPr txBox="1"/>
          <p:nvPr/>
        </p:nvSpPr>
        <p:spPr>
          <a:xfrm>
            <a:off x="1005840" y="4709160"/>
            <a:ext cx="2514600" cy="274320"/>
          </a:xfrm>
          <a:prstGeom prst="rect">
            <a:avLst/>
          </a:prstGeom>
          <a:noFill/>
          <a:ln/>
        </p:spPr>
        <p:txBody>
          <a:bodyPr wrap="square" lIns="0" tIns="0" rIns="0" bIns="0" rtlCol="0" anchor="t"/>
          <a:lstStyle/>
          <a:p>
            <a:pPr indent="0" marL="0">
              <a:buNone/>
            </a:pPr>
            <a:r>
              <a:rPr lang="en-US" sz="1400" b="1" dirty="0">
                <a:solidFill>
                  <a:schemeClr val="tx1"/>
                </a:solidFill>
              </a:rPr>
              <a:t>Floor monitors</a:t>
            </a:r>
            <a:endParaRPr lang="en-US" sz="1400" dirty="0"/>
          </a:p>
        </p:txBody>
      </p:sp>
      <p:sp>
        <p:nvSpPr>
          <p:cNvPr id="17" name="Text 15"/>
          <p:cNvSpPr txBox="1"/>
          <p:nvPr/>
        </p:nvSpPr>
        <p:spPr>
          <a:xfrm>
            <a:off x="1005840" y="4983480"/>
            <a:ext cx="2514600" cy="246888"/>
          </a:xfrm>
          <a:prstGeom prst="rect">
            <a:avLst/>
          </a:prstGeom>
          <a:noFill/>
          <a:ln/>
        </p:spPr>
        <p:txBody>
          <a:bodyPr wrap="square" lIns="0" tIns="0" rIns="0" bIns="0" rtlCol="0" anchor="t"/>
          <a:lstStyle/>
          <a:p>
            <a:pPr indent="0" marL="0">
              <a:buNone/>
            </a:pPr>
            <a:r>
              <a:rPr lang="en-US" sz="1200" dirty="0">
                <a:solidFill>
                  <a:schemeClr val="accent5"/>
                </a:solidFill>
              </a:rPr>
              <a:t>2 × ESP32 + CT clamps on the board</a:t>
            </a:r>
            <a:endParaRPr lang="en-US" sz="1200" dirty="0"/>
          </a:p>
        </p:txBody>
      </p:sp>
      <p:sp>
        <p:nvSpPr>
          <p:cNvPr id="18" name="Shape 16"/>
          <p:cNvSpPr/>
          <p:nvPr/>
        </p:nvSpPr>
        <p:spPr>
          <a:xfrm>
            <a:off x="3968496" y="3881628"/>
            <a:ext cx="411480" cy="329184"/>
          </a:xfrm>
          <a:prstGeom prst="rightArrow">
            <a:avLst/>
          </a:prstGeom>
          <a:solidFill>
            <a:srgbClr val="8DA597"/>
          </a:solidFill>
          <a:ln/>
        </p:spPr>
      </p:sp>
      <p:sp>
        <p:nvSpPr>
          <p:cNvPr id="19" name="Shape 17"/>
          <p:cNvSpPr/>
          <p:nvPr/>
        </p:nvSpPr>
        <p:spPr>
          <a:xfrm>
            <a:off x="4507992" y="1874520"/>
            <a:ext cx="3154680" cy="4343400"/>
          </a:xfrm>
          <a:prstGeom prst="roundRect">
            <a:avLst>
              <a:gd name="adj" fmla="val 4348"/>
            </a:avLst>
          </a:prstGeom>
          <a:solidFill>
            <a:schemeClr val="bg2"/>
          </a:solidFill>
          <a:ln/>
        </p:spPr>
      </p:sp>
      <p:sp>
        <p:nvSpPr>
          <p:cNvPr id="20" name="Text 18"/>
          <p:cNvSpPr txBox="1"/>
          <p:nvPr/>
        </p:nvSpPr>
        <p:spPr>
          <a:xfrm>
            <a:off x="4690872" y="2020824"/>
            <a:ext cx="27889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SERVER · FASTAPI</a:t>
            </a:r>
            <a:endParaRPr lang="en-US" sz="1200" dirty="0"/>
          </a:p>
        </p:txBody>
      </p:sp>
      <p:sp>
        <p:nvSpPr>
          <p:cNvPr id="21" name="Shape 19"/>
          <p:cNvSpPr/>
          <p:nvPr/>
        </p:nvSpPr>
        <p:spPr>
          <a:xfrm>
            <a:off x="4672584" y="2386584"/>
            <a:ext cx="2825496" cy="658368"/>
          </a:xfrm>
          <a:prstGeom prst="roundRect">
            <a:avLst>
              <a:gd name="adj" fmla="val 11111"/>
            </a:avLst>
          </a:prstGeom>
          <a:solidFill>
            <a:schemeClr val="bg1"/>
          </a:solidFill>
          <a:ln w="12700">
            <a:solidFill>
              <a:srgbClr val="D9E0DA"/>
            </a:solidFill>
            <a:prstDash val="solid"/>
          </a:ln>
        </p:spPr>
      </p:sp>
      <p:sp>
        <p:nvSpPr>
          <p:cNvPr id="22" name="Text 20"/>
          <p:cNvSpPr txBox="1"/>
          <p:nvPr/>
        </p:nvSpPr>
        <p:spPr>
          <a:xfrm>
            <a:off x="4828032" y="2459736"/>
            <a:ext cx="2514600" cy="274320"/>
          </a:xfrm>
          <a:prstGeom prst="rect">
            <a:avLst/>
          </a:prstGeom>
          <a:noFill/>
          <a:ln/>
        </p:spPr>
        <p:txBody>
          <a:bodyPr wrap="square" lIns="0" tIns="0" rIns="0" bIns="0" rtlCol="0" anchor="t"/>
          <a:lstStyle/>
          <a:p>
            <a:pPr indent="0" marL="0">
              <a:buNone/>
            </a:pPr>
            <a:r>
              <a:rPr lang="en-US" sz="1400" b="1" dirty="0">
                <a:solidFill>
                  <a:schemeClr val="tx1"/>
                </a:solidFill>
              </a:rPr>
              <a:t>Trip and meal API</a:t>
            </a:r>
            <a:endParaRPr lang="en-US" sz="1400" dirty="0"/>
          </a:p>
        </p:txBody>
      </p:sp>
      <p:sp>
        <p:nvSpPr>
          <p:cNvPr id="23" name="Text 21"/>
          <p:cNvSpPr txBox="1"/>
          <p:nvPr/>
        </p:nvSpPr>
        <p:spPr>
          <a:xfrm>
            <a:off x="4828032" y="2734056"/>
            <a:ext cx="2514600" cy="246888"/>
          </a:xfrm>
          <a:prstGeom prst="rect">
            <a:avLst/>
          </a:prstGeom>
          <a:noFill/>
          <a:ln/>
        </p:spPr>
        <p:txBody>
          <a:bodyPr wrap="square" lIns="0" tIns="0" rIns="0" bIns="0" rtlCol="0" anchor="t"/>
          <a:lstStyle/>
          <a:p>
            <a:pPr indent="0" marL="0">
              <a:buNone/>
            </a:pPr>
            <a:r>
              <a:rPr lang="en-US" sz="1200" dirty="0">
                <a:solidFill>
                  <a:schemeClr val="accent5"/>
                </a:solidFill>
              </a:rPr>
              <a:t>REST, from the phone</a:t>
            </a:r>
            <a:endParaRPr lang="en-US" sz="1200" dirty="0"/>
          </a:p>
        </p:txBody>
      </p:sp>
      <p:sp>
        <p:nvSpPr>
          <p:cNvPr id="24" name="Shape 22"/>
          <p:cNvSpPr/>
          <p:nvPr/>
        </p:nvSpPr>
        <p:spPr>
          <a:xfrm>
            <a:off x="4672584" y="3136392"/>
            <a:ext cx="2825496" cy="658368"/>
          </a:xfrm>
          <a:prstGeom prst="roundRect">
            <a:avLst>
              <a:gd name="adj" fmla="val 11111"/>
            </a:avLst>
          </a:prstGeom>
          <a:solidFill>
            <a:schemeClr val="bg1"/>
          </a:solidFill>
          <a:ln w="12700">
            <a:solidFill>
              <a:srgbClr val="D9E0DA"/>
            </a:solidFill>
            <a:prstDash val="solid"/>
          </a:ln>
        </p:spPr>
      </p:sp>
      <p:sp>
        <p:nvSpPr>
          <p:cNvPr id="25" name="Text 23"/>
          <p:cNvSpPr txBox="1"/>
          <p:nvPr/>
        </p:nvSpPr>
        <p:spPr>
          <a:xfrm>
            <a:off x="4828032" y="3209544"/>
            <a:ext cx="2514600" cy="274320"/>
          </a:xfrm>
          <a:prstGeom prst="rect">
            <a:avLst/>
          </a:prstGeom>
          <a:noFill/>
          <a:ln/>
        </p:spPr>
        <p:txBody>
          <a:bodyPr wrap="square" lIns="0" tIns="0" rIns="0" bIns="0" rtlCol="0" anchor="t"/>
          <a:lstStyle/>
          <a:p>
            <a:pPr indent="0" marL="0">
              <a:buNone/>
            </a:pPr>
            <a:r>
              <a:rPr lang="en-US" sz="1400" b="1" dirty="0">
                <a:solidFill>
                  <a:schemeClr val="tx1"/>
                </a:solidFill>
              </a:rPr>
              <a:t>Energy ingest</a:t>
            </a:r>
            <a:endParaRPr lang="en-US" sz="1400" dirty="0"/>
          </a:p>
        </p:txBody>
      </p:sp>
      <p:sp>
        <p:nvSpPr>
          <p:cNvPr id="26" name="Text 24"/>
          <p:cNvSpPr txBox="1"/>
          <p:nvPr/>
        </p:nvSpPr>
        <p:spPr>
          <a:xfrm>
            <a:off x="4828032" y="3483864"/>
            <a:ext cx="2514600" cy="246888"/>
          </a:xfrm>
          <a:prstGeom prst="rect">
            <a:avLst/>
          </a:prstGeom>
          <a:noFill/>
          <a:ln/>
        </p:spPr>
        <p:txBody>
          <a:bodyPr wrap="square" lIns="0" tIns="0" rIns="0" bIns="0" rtlCol="0" anchor="t"/>
          <a:lstStyle/>
          <a:p>
            <a:pPr indent="0" marL="0">
              <a:buNone/>
            </a:pPr>
            <a:r>
              <a:rPr lang="en-US" sz="1200" dirty="0">
                <a:solidFill>
                  <a:schemeClr val="accent5"/>
                </a:solidFill>
              </a:rPr>
              <a:t>MQTT · Mosquitto</a:t>
            </a:r>
            <a:endParaRPr lang="en-US" sz="1200" dirty="0"/>
          </a:p>
        </p:txBody>
      </p:sp>
      <p:sp>
        <p:nvSpPr>
          <p:cNvPr id="27" name="Shape 25"/>
          <p:cNvSpPr/>
          <p:nvPr/>
        </p:nvSpPr>
        <p:spPr>
          <a:xfrm>
            <a:off x="4672584" y="3886200"/>
            <a:ext cx="2825496" cy="658368"/>
          </a:xfrm>
          <a:prstGeom prst="roundRect">
            <a:avLst>
              <a:gd name="adj" fmla="val 11111"/>
            </a:avLst>
          </a:prstGeom>
          <a:solidFill>
            <a:srgbClr val="DCEFE3"/>
          </a:solidFill>
          <a:ln w="19050">
            <a:solidFill>
              <a:srgbClr val="2F7D5B"/>
            </a:solidFill>
            <a:prstDash val="solid"/>
          </a:ln>
        </p:spPr>
      </p:sp>
      <p:sp>
        <p:nvSpPr>
          <p:cNvPr id="28" name="Text 26"/>
          <p:cNvSpPr txBox="1"/>
          <p:nvPr/>
        </p:nvSpPr>
        <p:spPr>
          <a:xfrm>
            <a:off x="4828032" y="3959352"/>
            <a:ext cx="2514600" cy="274320"/>
          </a:xfrm>
          <a:prstGeom prst="rect">
            <a:avLst/>
          </a:prstGeom>
          <a:noFill/>
          <a:ln/>
        </p:spPr>
        <p:txBody>
          <a:bodyPr wrap="square" lIns="0" tIns="0" rIns="0" bIns="0" rtlCol="0" anchor="t"/>
          <a:lstStyle/>
          <a:p>
            <a:pPr indent="0" marL="0">
              <a:buNone/>
            </a:pPr>
            <a:r>
              <a:rPr lang="en-US" sz="1400" b="1" dirty="0">
                <a:solidFill>
                  <a:schemeClr val="tx1"/>
                </a:solidFill>
              </a:rPr>
              <a:t>Daily footprint engine</a:t>
            </a:r>
            <a:endParaRPr lang="en-US" sz="1400" dirty="0"/>
          </a:p>
        </p:txBody>
      </p:sp>
      <p:sp>
        <p:nvSpPr>
          <p:cNvPr id="29" name="Text 27"/>
          <p:cNvSpPr txBox="1"/>
          <p:nvPr/>
        </p:nvSpPr>
        <p:spPr>
          <a:xfrm>
            <a:off x="4828032" y="4233672"/>
            <a:ext cx="2514600" cy="246888"/>
          </a:xfrm>
          <a:prstGeom prst="rect">
            <a:avLst/>
          </a:prstGeom>
          <a:noFill/>
          <a:ln/>
        </p:spPr>
        <p:txBody>
          <a:bodyPr wrap="square" lIns="0" tIns="0" rIns="0" bIns="0" rtlCol="0" anchor="t"/>
          <a:lstStyle/>
          <a:p>
            <a:pPr indent="0" marL="0">
              <a:buNone/>
            </a:pPr>
            <a:r>
              <a:rPr lang="en-US" sz="1200" dirty="0">
                <a:solidFill>
                  <a:schemeClr val="tx1"/>
                </a:solidFill>
              </a:rPr>
              <a:t>personal and floor totals</a:t>
            </a:r>
            <a:endParaRPr lang="en-US" sz="1200" dirty="0"/>
          </a:p>
        </p:txBody>
      </p:sp>
      <p:sp>
        <p:nvSpPr>
          <p:cNvPr id="30" name="Shape 28"/>
          <p:cNvSpPr/>
          <p:nvPr/>
        </p:nvSpPr>
        <p:spPr>
          <a:xfrm>
            <a:off x="4672584" y="4636008"/>
            <a:ext cx="2825496" cy="658368"/>
          </a:xfrm>
          <a:prstGeom prst="roundRect">
            <a:avLst>
              <a:gd name="adj" fmla="val 11111"/>
            </a:avLst>
          </a:prstGeom>
          <a:solidFill>
            <a:schemeClr val="bg1"/>
          </a:solidFill>
          <a:ln w="12700">
            <a:solidFill>
              <a:srgbClr val="D9E0DA"/>
            </a:solidFill>
            <a:prstDash val="solid"/>
          </a:ln>
        </p:spPr>
      </p:sp>
      <p:sp>
        <p:nvSpPr>
          <p:cNvPr id="31" name="Text 29"/>
          <p:cNvSpPr txBox="1"/>
          <p:nvPr/>
        </p:nvSpPr>
        <p:spPr>
          <a:xfrm>
            <a:off x="4828032" y="4709160"/>
            <a:ext cx="2514600" cy="274320"/>
          </a:xfrm>
          <a:prstGeom prst="rect">
            <a:avLst/>
          </a:prstGeom>
          <a:noFill/>
          <a:ln/>
        </p:spPr>
        <p:txBody>
          <a:bodyPr wrap="square" lIns="0" tIns="0" rIns="0" bIns="0" rtlCol="0" anchor="t"/>
          <a:lstStyle/>
          <a:p>
            <a:pPr indent="0" marL="0">
              <a:buNone/>
            </a:pPr>
            <a:r>
              <a:rPr lang="en-US" sz="1400" b="1" dirty="0">
                <a:solidFill>
                  <a:schemeClr val="tx1"/>
                </a:solidFill>
              </a:rPr>
              <a:t>Forecast and waste</a:t>
            </a:r>
            <a:endParaRPr lang="en-US" sz="1400" dirty="0"/>
          </a:p>
        </p:txBody>
      </p:sp>
      <p:sp>
        <p:nvSpPr>
          <p:cNvPr id="32" name="Text 30"/>
          <p:cNvSpPr txBox="1"/>
          <p:nvPr/>
        </p:nvSpPr>
        <p:spPr>
          <a:xfrm>
            <a:off x="4828032" y="4983480"/>
            <a:ext cx="2514600" cy="246888"/>
          </a:xfrm>
          <a:prstGeom prst="rect">
            <a:avLst/>
          </a:prstGeom>
          <a:noFill/>
          <a:ln/>
        </p:spPr>
        <p:txBody>
          <a:bodyPr wrap="square" lIns="0" tIns="0" rIns="0" bIns="0" rtlCol="0" anchor="t"/>
          <a:lstStyle/>
          <a:p>
            <a:pPr indent="0" marL="0">
              <a:buNone/>
            </a:pPr>
            <a:r>
              <a:rPr lang="en-US" sz="1200" dirty="0">
                <a:solidFill>
                  <a:schemeClr val="accent5"/>
                </a:solidFill>
              </a:rPr>
              <a:t>LightGBM + after-hours rules</a:t>
            </a:r>
            <a:endParaRPr lang="en-US" sz="1200" dirty="0"/>
          </a:p>
        </p:txBody>
      </p:sp>
      <p:sp>
        <p:nvSpPr>
          <p:cNvPr id="33" name="Shape 31"/>
          <p:cNvSpPr/>
          <p:nvPr/>
        </p:nvSpPr>
        <p:spPr>
          <a:xfrm>
            <a:off x="4672584" y="5385816"/>
            <a:ext cx="2825496" cy="658368"/>
          </a:xfrm>
          <a:prstGeom prst="roundRect">
            <a:avLst>
              <a:gd name="adj" fmla="val 11111"/>
            </a:avLst>
          </a:prstGeom>
          <a:solidFill>
            <a:schemeClr val="bg1"/>
          </a:solidFill>
          <a:ln w="12700">
            <a:solidFill>
              <a:srgbClr val="D9E0DA"/>
            </a:solidFill>
            <a:prstDash val="solid"/>
          </a:ln>
        </p:spPr>
      </p:sp>
      <p:sp>
        <p:nvSpPr>
          <p:cNvPr id="34" name="Text 32"/>
          <p:cNvSpPr txBox="1"/>
          <p:nvPr/>
        </p:nvSpPr>
        <p:spPr>
          <a:xfrm>
            <a:off x="4828032" y="5458968"/>
            <a:ext cx="2514600" cy="274320"/>
          </a:xfrm>
          <a:prstGeom prst="rect">
            <a:avLst/>
          </a:prstGeom>
          <a:noFill/>
          <a:ln/>
        </p:spPr>
        <p:txBody>
          <a:bodyPr wrap="square" lIns="0" tIns="0" rIns="0" bIns="0" rtlCol="0" anchor="t"/>
          <a:lstStyle/>
          <a:p>
            <a:pPr indent="0" marL="0">
              <a:buNone/>
            </a:pPr>
            <a:r>
              <a:rPr lang="en-US" sz="1400" b="1" dirty="0">
                <a:solidFill>
                  <a:schemeClr val="tx1"/>
                </a:solidFill>
              </a:rPr>
              <a:t>Database</a:t>
            </a:r>
            <a:endParaRPr lang="en-US" sz="1400" dirty="0"/>
          </a:p>
        </p:txBody>
      </p:sp>
      <p:sp>
        <p:nvSpPr>
          <p:cNvPr id="35" name="Text 33"/>
          <p:cNvSpPr txBox="1"/>
          <p:nvPr/>
        </p:nvSpPr>
        <p:spPr>
          <a:xfrm>
            <a:off x="4828032" y="5733288"/>
            <a:ext cx="2514600" cy="246888"/>
          </a:xfrm>
          <a:prstGeom prst="rect">
            <a:avLst/>
          </a:prstGeom>
          <a:noFill/>
          <a:ln/>
        </p:spPr>
        <p:txBody>
          <a:bodyPr wrap="square" lIns="0" tIns="0" rIns="0" bIns="0" rtlCol="0" anchor="t"/>
          <a:lstStyle/>
          <a:p>
            <a:pPr indent="0" marL="0">
              <a:buNone/>
            </a:pPr>
            <a:r>
              <a:rPr lang="en-US" sz="1200" dirty="0">
                <a:solidFill>
                  <a:schemeClr val="accent5"/>
                </a:solidFill>
              </a:rPr>
              <a:t>PostgreSQL + TimescaleDB</a:t>
            </a:r>
            <a:endParaRPr lang="en-US" sz="1200" dirty="0"/>
          </a:p>
        </p:txBody>
      </p:sp>
      <p:sp>
        <p:nvSpPr>
          <p:cNvPr id="36" name="Shape 34"/>
          <p:cNvSpPr/>
          <p:nvPr/>
        </p:nvSpPr>
        <p:spPr>
          <a:xfrm>
            <a:off x="7790688" y="3881628"/>
            <a:ext cx="411480" cy="329184"/>
          </a:xfrm>
          <a:prstGeom prst="rightArrow">
            <a:avLst/>
          </a:prstGeom>
          <a:solidFill>
            <a:srgbClr val="8DA597"/>
          </a:solidFill>
          <a:ln/>
        </p:spPr>
      </p:sp>
      <p:sp>
        <p:nvSpPr>
          <p:cNvPr id="37" name="Shape 35"/>
          <p:cNvSpPr/>
          <p:nvPr/>
        </p:nvSpPr>
        <p:spPr>
          <a:xfrm>
            <a:off x="8330184" y="1874520"/>
            <a:ext cx="3154680" cy="4343400"/>
          </a:xfrm>
          <a:prstGeom prst="roundRect">
            <a:avLst>
              <a:gd name="adj" fmla="val 4348"/>
            </a:avLst>
          </a:prstGeom>
          <a:solidFill>
            <a:schemeClr val="bg2"/>
          </a:solidFill>
          <a:ln/>
        </p:spPr>
      </p:sp>
      <p:sp>
        <p:nvSpPr>
          <p:cNvPr id="38" name="Text 36"/>
          <p:cNvSpPr txBox="1"/>
          <p:nvPr/>
        </p:nvSpPr>
        <p:spPr>
          <a:xfrm>
            <a:off x="8513064" y="2020824"/>
            <a:ext cx="27889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OUTPUTS</a:t>
            </a:r>
            <a:endParaRPr lang="en-US" sz="1200" dirty="0"/>
          </a:p>
        </p:txBody>
      </p:sp>
      <p:sp>
        <p:nvSpPr>
          <p:cNvPr id="39" name="Shape 37"/>
          <p:cNvSpPr/>
          <p:nvPr/>
        </p:nvSpPr>
        <p:spPr>
          <a:xfrm>
            <a:off x="8494776" y="2386584"/>
            <a:ext cx="2825496" cy="658368"/>
          </a:xfrm>
          <a:prstGeom prst="roundRect">
            <a:avLst>
              <a:gd name="adj" fmla="val 11111"/>
            </a:avLst>
          </a:prstGeom>
          <a:solidFill>
            <a:schemeClr val="bg1"/>
          </a:solidFill>
          <a:ln w="12700">
            <a:solidFill>
              <a:srgbClr val="D9E0DA"/>
            </a:solidFill>
            <a:prstDash val="solid"/>
          </a:ln>
        </p:spPr>
      </p:sp>
      <p:sp>
        <p:nvSpPr>
          <p:cNvPr id="40" name="Text 38"/>
          <p:cNvSpPr txBox="1"/>
          <p:nvPr/>
        </p:nvSpPr>
        <p:spPr>
          <a:xfrm>
            <a:off x="8650224" y="2459736"/>
            <a:ext cx="2514600" cy="274320"/>
          </a:xfrm>
          <a:prstGeom prst="rect">
            <a:avLst/>
          </a:prstGeom>
          <a:noFill/>
          <a:ln/>
        </p:spPr>
        <p:txBody>
          <a:bodyPr wrap="square" lIns="0" tIns="0" rIns="0" bIns="0" rtlCol="0" anchor="t"/>
          <a:lstStyle/>
          <a:p>
            <a:pPr indent="0" marL="0">
              <a:buNone/>
            </a:pPr>
            <a:r>
              <a:rPr lang="en-US" sz="1400" b="1" dirty="0">
                <a:solidFill>
                  <a:schemeClr val="tx1"/>
                </a:solidFill>
              </a:rPr>
              <a:t>Personal summary</a:t>
            </a:r>
            <a:endParaRPr lang="en-US" sz="1400" dirty="0"/>
          </a:p>
        </p:txBody>
      </p:sp>
      <p:sp>
        <p:nvSpPr>
          <p:cNvPr id="41" name="Text 39"/>
          <p:cNvSpPr txBox="1"/>
          <p:nvPr/>
        </p:nvSpPr>
        <p:spPr>
          <a:xfrm>
            <a:off x="8650224" y="2734056"/>
            <a:ext cx="2514600" cy="246888"/>
          </a:xfrm>
          <a:prstGeom prst="rect">
            <a:avLst/>
          </a:prstGeom>
          <a:noFill/>
          <a:ln/>
        </p:spPr>
        <p:txBody>
          <a:bodyPr wrap="square" lIns="0" tIns="0" rIns="0" bIns="0" rtlCol="0" anchor="t"/>
          <a:lstStyle/>
          <a:p>
            <a:pPr indent="0" marL="0">
              <a:buNone/>
            </a:pPr>
            <a:r>
              <a:rPr lang="en-US" sz="1200" dirty="0">
                <a:solidFill>
                  <a:schemeClr val="accent5"/>
                </a:solidFill>
              </a:rPr>
              <a:t>total, items, color in the app</a:t>
            </a:r>
            <a:endParaRPr lang="en-US" sz="1200" dirty="0"/>
          </a:p>
        </p:txBody>
      </p:sp>
      <p:sp>
        <p:nvSpPr>
          <p:cNvPr id="42" name="Shape 40"/>
          <p:cNvSpPr/>
          <p:nvPr/>
        </p:nvSpPr>
        <p:spPr>
          <a:xfrm>
            <a:off x="8494776" y="3136392"/>
            <a:ext cx="2825496" cy="658368"/>
          </a:xfrm>
          <a:prstGeom prst="roundRect">
            <a:avLst>
              <a:gd name="adj" fmla="val 11111"/>
            </a:avLst>
          </a:prstGeom>
          <a:solidFill>
            <a:schemeClr val="bg1"/>
          </a:solidFill>
          <a:ln w="12700">
            <a:solidFill>
              <a:srgbClr val="D9E0DA"/>
            </a:solidFill>
            <a:prstDash val="solid"/>
          </a:ln>
        </p:spPr>
      </p:sp>
      <p:sp>
        <p:nvSpPr>
          <p:cNvPr id="43" name="Text 41"/>
          <p:cNvSpPr txBox="1"/>
          <p:nvPr/>
        </p:nvSpPr>
        <p:spPr>
          <a:xfrm>
            <a:off x="8650224" y="3209544"/>
            <a:ext cx="2514600" cy="274320"/>
          </a:xfrm>
          <a:prstGeom prst="rect">
            <a:avLst/>
          </a:prstGeom>
          <a:noFill/>
          <a:ln/>
        </p:spPr>
        <p:txBody>
          <a:bodyPr wrap="square" lIns="0" tIns="0" rIns="0" bIns="0" rtlCol="0" anchor="t"/>
          <a:lstStyle/>
          <a:p>
            <a:pPr indent="0" marL="0">
              <a:buNone/>
            </a:pPr>
            <a:r>
              <a:rPr lang="en-US" sz="1400" b="1" dirty="0">
                <a:solidFill>
                  <a:schemeClr val="tx1"/>
                </a:solidFill>
              </a:rPr>
              <a:t>Entrance display</a:t>
            </a:r>
            <a:endParaRPr lang="en-US" sz="1400" dirty="0"/>
          </a:p>
        </p:txBody>
      </p:sp>
      <p:sp>
        <p:nvSpPr>
          <p:cNvPr id="44" name="Text 42"/>
          <p:cNvSpPr txBox="1"/>
          <p:nvPr/>
        </p:nvSpPr>
        <p:spPr>
          <a:xfrm>
            <a:off x="8650224" y="3483864"/>
            <a:ext cx="2514600" cy="246888"/>
          </a:xfrm>
          <a:prstGeom prst="rect">
            <a:avLst/>
          </a:prstGeom>
          <a:noFill/>
          <a:ln/>
        </p:spPr>
        <p:txBody>
          <a:bodyPr wrap="square" lIns="0" tIns="0" rIns="0" bIns="0" rtlCol="0" anchor="t"/>
          <a:lstStyle/>
          <a:p>
            <a:pPr indent="0" marL="0">
              <a:buNone/>
            </a:pPr>
            <a:r>
              <a:rPr lang="en-US" sz="1200" dirty="0">
                <a:solidFill>
                  <a:schemeClr val="accent5"/>
                </a:solidFill>
              </a:rPr>
              <a:t>LED ring: the floor’s day</a:t>
            </a:r>
            <a:endParaRPr lang="en-US" sz="1200" dirty="0"/>
          </a:p>
        </p:txBody>
      </p:sp>
      <p:sp>
        <p:nvSpPr>
          <p:cNvPr id="45" name="Shape 43"/>
          <p:cNvSpPr/>
          <p:nvPr/>
        </p:nvSpPr>
        <p:spPr>
          <a:xfrm>
            <a:off x="8494776" y="3886200"/>
            <a:ext cx="2825496" cy="658368"/>
          </a:xfrm>
          <a:prstGeom prst="roundRect">
            <a:avLst>
              <a:gd name="adj" fmla="val 11111"/>
            </a:avLst>
          </a:prstGeom>
          <a:solidFill>
            <a:schemeClr val="bg1"/>
          </a:solidFill>
          <a:ln w="12700">
            <a:solidFill>
              <a:srgbClr val="D9E0DA"/>
            </a:solidFill>
            <a:prstDash val="solid"/>
          </a:ln>
        </p:spPr>
      </p:sp>
      <p:sp>
        <p:nvSpPr>
          <p:cNvPr id="46" name="Text 44"/>
          <p:cNvSpPr txBox="1"/>
          <p:nvPr/>
        </p:nvSpPr>
        <p:spPr>
          <a:xfrm>
            <a:off x="8650224" y="3959352"/>
            <a:ext cx="2514600" cy="274320"/>
          </a:xfrm>
          <a:prstGeom prst="rect">
            <a:avLst/>
          </a:prstGeom>
          <a:noFill/>
          <a:ln/>
        </p:spPr>
        <p:txBody>
          <a:bodyPr wrap="square" lIns="0" tIns="0" rIns="0" bIns="0" rtlCol="0" anchor="t"/>
          <a:lstStyle/>
          <a:p>
            <a:pPr indent="0" marL="0">
              <a:buNone/>
            </a:pPr>
            <a:r>
              <a:rPr lang="en-US" sz="1400" b="1" dirty="0">
                <a:solidFill>
                  <a:schemeClr val="tx1"/>
                </a:solidFill>
              </a:rPr>
              <a:t>Facility dashboard</a:t>
            </a:r>
            <a:endParaRPr lang="en-US" sz="1400" dirty="0"/>
          </a:p>
        </p:txBody>
      </p:sp>
      <p:sp>
        <p:nvSpPr>
          <p:cNvPr id="47" name="Text 45"/>
          <p:cNvSpPr txBox="1"/>
          <p:nvPr/>
        </p:nvSpPr>
        <p:spPr>
          <a:xfrm>
            <a:off x="8650224" y="4233672"/>
            <a:ext cx="2514600" cy="246888"/>
          </a:xfrm>
          <a:prstGeom prst="rect">
            <a:avLst/>
          </a:prstGeom>
          <a:noFill/>
          <a:ln/>
        </p:spPr>
        <p:txBody>
          <a:bodyPr wrap="square" lIns="0" tIns="0" rIns="0" bIns="0" rtlCol="0" anchor="t"/>
          <a:lstStyle/>
          <a:p>
            <a:pPr indent="0" marL="0">
              <a:buNone/>
            </a:pPr>
            <a:r>
              <a:rPr lang="en-US" sz="1200" dirty="0">
                <a:solidFill>
                  <a:schemeClr val="accent5"/>
                </a:solidFill>
              </a:rPr>
              <a:t>for the department head</a:t>
            </a:r>
            <a:endParaRPr lang="en-US" sz="1200" dirty="0"/>
          </a:p>
        </p:txBody>
      </p:sp>
      <p:sp>
        <p:nvSpPr>
          <p:cNvPr id="48" name="Shape 46"/>
          <p:cNvSpPr/>
          <p:nvPr/>
        </p:nvSpPr>
        <p:spPr>
          <a:xfrm>
            <a:off x="8494776" y="4636008"/>
            <a:ext cx="2825496" cy="658368"/>
          </a:xfrm>
          <a:prstGeom prst="roundRect">
            <a:avLst>
              <a:gd name="adj" fmla="val 11111"/>
            </a:avLst>
          </a:prstGeom>
          <a:solidFill>
            <a:schemeClr val="bg1"/>
          </a:solidFill>
          <a:ln w="12700">
            <a:solidFill>
              <a:srgbClr val="D9E0DA"/>
            </a:solidFill>
            <a:prstDash val="solid"/>
          </a:ln>
        </p:spPr>
      </p:sp>
      <p:sp>
        <p:nvSpPr>
          <p:cNvPr id="49" name="Text 47"/>
          <p:cNvSpPr txBox="1"/>
          <p:nvPr/>
        </p:nvSpPr>
        <p:spPr>
          <a:xfrm>
            <a:off x="8650224" y="4709160"/>
            <a:ext cx="2514600" cy="274320"/>
          </a:xfrm>
          <a:prstGeom prst="rect">
            <a:avLst/>
          </a:prstGeom>
          <a:noFill/>
          <a:ln/>
        </p:spPr>
        <p:txBody>
          <a:bodyPr wrap="square" lIns="0" tIns="0" rIns="0" bIns="0" rtlCol="0" anchor="t"/>
          <a:lstStyle/>
          <a:p>
            <a:pPr indent="0" marL="0">
              <a:buNone/>
            </a:pPr>
            <a:r>
              <a:rPr lang="en-US" sz="1400" b="1" dirty="0">
                <a:solidFill>
                  <a:schemeClr val="tx1"/>
                </a:solidFill>
              </a:rPr>
              <a:t>Waste alerts</a:t>
            </a:r>
            <a:endParaRPr lang="en-US" sz="1400" dirty="0"/>
          </a:p>
        </p:txBody>
      </p:sp>
      <p:sp>
        <p:nvSpPr>
          <p:cNvPr id="50" name="Text 48"/>
          <p:cNvSpPr txBox="1"/>
          <p:nvPr/>
        </p:nvSpPr>
        <p:spPr>
          <a:xfrm>
            <a:off x="8650224" y="4983480"/>
            <a:ext cx="2514600" cy="246888"/>
          </a:xfrm>
          <a:prstGeom prst="rect">
            <a:avLst/>
          </a:prstGeom>
          <a:noFill/>
          <a:ln/>
        </p:spPr>
        <p:txBody>
          <a:bodyPr wrap="square" lIns="0" tIns="0" rIns="0" bIns="0" rtlCol="0" anchor="t"/>
          <a:lstStyle/>
          <a:p>
            <a:pPr indent="0" marL="0">
              <a:buNone/>
            </a:pPr>
            <a:r>
              <a:rPr lang="en-US" sz="1200" dirty="0">
                <a:solidFill>
                  <a:schemeClr val="accent5"/>
                </a:solidFill>
              </a:rPr>
              <a:t>to the floor technician</a:t>
            </a:r>
            <a:endParaRPr lang="en-US" sz="12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WORKFLOW</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The app senses, the user confirms, the server adds up</a:t>
            </a:r>
            <a:endParaRPr lang="en-US" sz="3000" dirty="0"/>
          </a:p>
        </p:txBody>
      </p:sp>
      <p:sp>
        <p:nvSpPr>
          <p:cNvPr id="4" name="Shape 2"/>
          <p:cNvSpPr/>
          <p:nvPr/>
        </p:nvSpPr>
        <p:spPr>
          <a:xfrm>
            <a:off x="685800" y="1874520"/>
            <a:ext cx="1482852" cy="868680"/>
          </a:xfrm>
          <a:prstGeom prst="roundRect">
            <a:avLst>
              <a:gd name="adj" fmla="val 10526"/>
            </a:avLst>
          </a:prstGeom>
          <a:solidFill>
            <a:schemeClr val="bg1"/>
          </a:solidFill>
          <a:ln w="12700">
            <a:solidFill>
              <a:srgbClr val="D9E0DA"/>
            </a:solidFill>
            <a:prstDash val="solid"/>
          </a:ln>
        </p:spPr>
      </p:sp>
      <p:sp>
        <p:nvSpPr>
          <p:cNvPr id="5" name="Text 3"/>
          <p:cNvSpPr txBox="1"/>
          <p:nvPr/>
        </p:nvSpPr>
        <p:spPr>
          <a:xfrm>
            <a:off x="850392" y="1984248"/>
            <a:ext cx="1208532" cy="256032"/>
          </a:xfrm>
          <a:prstGeom prst="rect">
            <a:avLst/>
          </a:prstGeom>
          <a:noFill/>
          <a:ln/>
        </p:spPr>
        <p:txBody>
          <a:bodyPr wrap="square" lIns="0" tIns="0" rIns="0" bIns="0" rtlCol="0" anchor="t"/>
          <a:lstStyle/>
          <a:p>
            <a:pPr indent="0" marL="0">
              <a:buNone/>
            </a:pPr>
            <a:r>
              <a:rPr lang="en-US" sz="1200" b="1" dirty="0">
                <a:solidFill>
                  <a:schemeClr val="accent1"/>
                </a:solidFill>
              </a:rPr>
              <a:t>1</a:t>
            </a:r>
            <a:endParaRPr lang="en-US" sz="1200" dirty="0"/>
          </a:p>
        </p:txBody>
      </p:sp>
      <p:sp>
        <p:nvSpPr>
          <p:cNvPr id="6" name="Text 4"/>
          <p:cNvSpPr txBox="1"/>
          <p:nvPr/>
        </p:nvSpPr>
        <p:spPr>
          <a:xfrm>
            <a:off x="850392" y="2258568"/>
            <a:ext cx="1208532" cy="365760"/>
          </a:xfrm>
          <a:prstGeom prst="rect">
            <a:avLst/>
          </a:prstGeom>
          <a:noFill/>
          <a:ln/>
        </p:spPr>
        <p:txBody>
          <a:bodyPr wrap="square" lIns="0" tIns="0" rIns="0" bIns="0" rtlCol="0" anchor="t"/>
          <a:lstStyle/>
          <a:p>
            <a:pPr indent="0" marL="0">
              <a:buNone/>
            </a:pPr>
            <a:r>
              <a:rPr lang="en-US" sz="1800" b="1" dirty="0">
                <a:solidFill>
                  <a:schemeClr val="tx1"/>
                </a:solidFill>
              </a:rPr>
              <a:t>Sense</a:t>
            </a:r>
            <a:endParaRPr lang="en-US" sz="1800" dirty="0"/>
          </a:p>
        </p:txBody>
      </p:sp>
      <p:sp>
        <p:nvSpPr>
          <p:cNvPr id="7" name="Shape 5"/>
          <p:cNvSpPr/>
          <p:nvPr/>
        </p:nvSpPr>
        <p:spPr>
          <a:xfrm>
            <a:off x="2241804" y="2212848"/>
            <a:ext cx="237744" cy="201168"/>
          </a:xfrm>
          <a:prstGeom prst="rightArrow">
            <a:avLst/>
          </a:prstGeom>
          <a:solidFill>
            <a:srgbClr val="8DA597"/>
          </a:solidFill>
          <a:ln/>
        </p:spPr>
      </p:sp>
      <p:sp>
        <p:nvSpPr>
          <p:cNvPr id="8" name="Shape 6"/>
          <p:cNvSpPr/>
          <p:nvPr/>
        </p:nvSpPr>
        <p:spPr>
          <a:xfrm>
            <a:off x="2552700" y="1874520"/>
            <a:ext cx="1482852" cy="868680"/>
          </a:xfrm>
          <a:prstGeom prst="roundRect">
            <a:avLst>
              <a:gd name="adj" fmla="val 10526"/>
            </a:avLst>
          </a:prstGeom>
          <a:solidFill>
            <a:schemeClr val="bg1"/>
          </a:solidFill>
          <a:ln w="12700">
            <a:solidFill>
              <a:srgbClr val="D9E0DA"/>
            </a:solidFill>
            <a:prstDash val="solid"/>
          </a:ln>
        </p:spPr>
      </p:sp>
      <p:sp>
        <p:nvSpPr>
          <p:cNvPr id="9" name="Text 7"/>
          <p:cNvSpPr txBox="1"/>
          <p:nvPr/>
        </p:nvSpPr>
        <p:spPr>
          <a:xfrm>
            <a:off x="2717292" y="1984248"/>
            <a:ext cx="1208532" cy="256032"/>
          </a:xfrm>
          <a:prstGeom prst="rect">
            <a:avLst/>
          </a:prstGeom>
          <a:noFill/>
          <a:ln/>
        </p:spPr>
        <p:txBody>
          <a:bodyPr wrap="square" lIns="0" tIns="0" rIns="0" bIns="0" rtlCol="0" anchor="t"/>
          <a:lstStyle/>
          <a:p>
            <a:pPr indent="0" marL="0">
              <a:buNone/>
            </a:pPr>
            <a:r>
              <a:rPr lang="en-US" sz="1200" b="1" dirty="0">
                <a:solidFill>
                  <a:schemeClr val="accent1"/>
                </a:solidFill>
              </a:rPr>
              <a:t>2</a:t>
            </a:r>
            <a:endParaRPr lang="en-US" sz="1200" dirty="0"/>
          </a:p>
        </p:txBody>
      </p:sp>
      <p:sp>
        <p:nvSpPr>
          <p:cNvPr id="10" name="Text 8"/>
          <p:cNvSpPr txBox="1"/>
          <p:nvPr/>
        </p:nvSpPr>
        <p:spPr>
          <a:xfrm>
            <a:off x="2717292" y="2258568"/>
            <a:ext cx="1208532" cy="365760"/>
          </a:xfrm>
          <a:prstGeom prst="rect">
            <a:avLst/>
          </a:prstGeom>
          <a:noFill/>
          <a:ln/>
        </p:spPr>
        <p:txBody>
          <a:bodyPr wrap="square" lIns="0" tIns="0" rIns="0" bIns="0" rtlCol="0" anchor="t"/>
          <a:lstStyle/>
          <a:p>
            <a:pPr indent="0" marL="0">
              <a:buNone/>
            </a:pPr>
            <a:r>
              <a:rPr lang="en-US" sz="1800" b="1" dirty="0">
                <a:solidFill>
                  <a:schemeClr val="tx1"/>
                </a:solidFill>
              </a:rPr>
              <a:t>Classify</a:t>
            </a:r>
            <a:endParaRPr lang="en-US" sz="1800" dirty="0"/>
          </a:p>
        </p:txBody>
      </p:sp>
      <p:sp>
        <p:nvSpPr>
          <p:cNvPr id="11" name="Shape 9"/>
          <p:cNvSpPr/>
          <p:nvPr/>
        </p:nvSpPr>
        <p:spPr>
          <a:xfrm>
            <a:off x="4108704" y="2212848"/>
            <a:ext cx="237744" cy="201168"/>
          </a:xfrm>
          <a:prstGeom prst="rightArrow">
            <a:avLst/>
          </a:prstGeom>
          <a:solidFill>
            <a:srgbClr val="8DA597"/>
          </a:solidFill>
          <a:ln/>
        </p:spPr>
      </p:sp>
      <p:sp>
        <p:nvSpPr>
          <p:cNvPr id="12" name="Shape 10"/>
          <p:cNvSpPr/>
          <p:nvPr/>
        </p:nvSpPr>
        <p:spPr>
          <a:xfrm>
            <a:off x="4419600" y="1874520"/>
            <a:ext cx="1482852" cy="868680"/>
          </a:xfrm>
          <a:prstGeom prst="roundRect">
            <a:avLst>
              <a:gd name="adj" fmla="val 10526"/>
            </a:avLst>
          </a:prstGeom>
          <a:solidFill>
            <a:schemeClr val="tx1"/>
          </a:solidFill>
          <a:ln/>
        </p:spPr>
      </p:sp>
      <p:sp>
        <p:nvSpPr>
          <p:cNvPr id="13" name="Text 11"/>
          <p:cNvSpPr txBox="1"/>
          <p:nvPr/>
        </p:nvSpPr>
        <p:spPr>
          <a:xfrm>
            <a:off x="4584192" y="1984248"/>
            <a:ext cx="1208532" cy="256032"/>
          </a:xfrm>
          <a:prstGeom prst="rect">
            <a:avLst/>
          </a:prstGeom>
          <a:noFill/>
          <a:ln/>
        </p:spPr>
        <p:txBody>
          <a:bodyPr wrap="square" lIns="0" tIns="0" rIns="0" bIns="0" rtlCol="0" anchor="t"/>
          <a:lstStyle/>
          <a:p>
            <a:pPr indent="0" marL="0">
              <a:buNone/>
            </a:pPr>
            <a:r>
              <a:rPr lang="en-US" sz="1200" b="1" dirty="0">
                <a:solidFill>
                  <a:schemeClr val="accent2"/>
                </a:solidFill>
              </a:rPr>
              <a:t>3 · USER</a:t>
            </a:r>
            <a:endParaRPr lang="en-US" sz="1200" dirty="0"/>
          </a:p>
        </p:txBody>
      </p:sp>
      <p:sp>
        <p:nvSpPr>
          <p:cNvPr id="14" name="Text 12"/>
          <p:cNvSpPr txBox="1"/>
          <p:nvPr/>
        </p:nvSpPr>
        <p:spPr>
          <a:xfrm>
            <a:off x="4584192" y="2258568"/>
            <a:ext cx="1208532" cy="365760"/>
          </a:xfrm>
          <a:prstGeom prst="rect">
            <a:avLst/>
          </a:prstGeom>
          <a:noFill/>
          <a:ln/>
        </p:spPr>
        <p:txBody>
          <a:bodyPr wrap="square" lIns="0" tIns="0" rIns="0" bIns="0" rtlCol="0" anchor="t"/>
          <a:lstStyle/>
          <a:p>
            <a:pPr indent="0" marL="0">
              <a:buNone/>
            </a:pPr>
            <a:r>
              <a:rPr lang="en-US" sz="1800" b="1" dirty="0">
                <a:solidFill>
                  <a:schemeClr val="bg1"/>
                </a:solidFill>
              </a:rPr>
              <a:t>Confirm</a:t>
            </a:r>
            <a:endParaRPr lang="en-US" sz="1800" dirty="0"/>
          </a:p>
        </p:txBody>
      </p:sp>
      <p:sp>
        <p:nvSpPr>
          <p:cNvPr id="15" name="Shape 13"/>
          <p:cNvSpPr/>
          <p:nvPr/>
        </p:nvSpPr>
        <p:spPr>
          <a:xfrm>
            <a:off x="5975604" y="2212848"/>
            <a:ext cx="237744" cy="201168"/>
          </a:xfrm>
          <a:prstGeom prst="rightArrow">
            <a:avLst/>
          </a:prstGeom>
          <a:solidFill>
            <a:srgbClr val="8DA597"/>
          </a:solidFill>
          <a:ln/>
        </p:spPr>
      </p:sp>
      <p:sp>
        <p:nvSpPr>
          <p:cNvPr id="16" name="Shape 14"/>
          <p:cNvSpPr/>
          <p:nvPr/>
        </p:nvSpPr>
        <p:spPr>
          <a:xfrm>
            <a:off x="6286500" y="1874520"/>
            <a:ext cx="1482852" cy="868680"/>
          </a:xfrm>
          <a:prstGeom prst="roundRect">
            <a:avLst>
              <a:gd name="adj" fmla="val 10526"/>
            </a:avLst>
          </a:prstGeom>
          <a:solidFill>
            <a:schemeClr val="bg1"/>
          </a:solidFill>
          <a:ln w="12700">
            <a:solidFill>
              <a:srgbClr val="D9E0DA"/>
            </a:solidFill>
            <a:prstDash val="solid"/>
          </a:ln>
        </p:spPr>
      </p:sp>
      <p:sp>
        <p:nvSpPr>
          <p:cNvPr id="17" name="Text 15"/>
          <p:cNvSpPr txBox="1"/>
          <p:nvPr/>
        </p:nvSpPr>
        <p:spPr>
          <a:xfrm>
            <a:off x="6451092" y="1984248"/>
            <a:ext cx="1208532" cy="256032"/>
          </a:xfrm>
          <a:prstGeom prst="rect">
            <a:avLst/>
          </a:prstGeom>
          <a:noFill/>
          <a:ln/>
        </p:spPr>
        <p:txBody>
          <a:bodyPr wrap="square" lIns="0" tIns="0" rIns="0" bIns="0" rtlCol="0" anchor="t"/>
          <a:lstStyle/>
          <a:p>
            <a:pPr indent="0" marL="0">
              <a:buNone/>
            </a:pPr>
            <a:r>
              <a:rPr lang="en-US" sz="1200" b="1" dirty="0">
                <a:solidFill>
                  <a:schemeClr val="accent1"/>
                </a:solidFill>
              </a:rPr>
              <a:t>4</a:t>
            </a:r>
            <a:endParaRPr lang="en-US" sz="1200" dirty="0"/>
          </a:p>
        </p:txBody>
      </p:sp>
      <p:sp>
        <p:nvSpPr>
          <p:cNvPr id="18" name="Text 16"/>
          <p:cNvSpPr txBox="1"/>
          <p:nvPr/>
        </p:nvSpPr>
        <p:spPr>
          <a:xfrm>
            <a:off x="6451092" y="2258568"/>
            <a:ext cx="1208532" cy="365760"/>
          </a:xfrm>
          <a:prstGeom prst="rect">
            <a:avLst/>
          </a:prstGeom>
          <a:noFill/>
          <a:ln/>
        </p:spPr>
        <p:txBody>
          <a:bodyPr wrap="square" lIns="0" tIns="0" rIns="0" bIns="0" rtlCol="0" anchor="t"/>
          <a:lstStyle/>
          <a:p>
            <a:pPr indent="0" marL="0">
              <a:buNone/>
            </a:pPr>
            <a:r>
              <a:rPr lang="en-US" sz="1800" b="1" dirty="0">
                <a:solidFill>
                  <a:schemeClr val="tx1"/>
                </a:solidFill>
              </a:rPr>
              <a:t>Compute</a:t>
            </a:r>
            <a:endParaRPr lang="en-US" sz="1800" dirty="0"/>
          </a:p>
        </p:txBody>
      </p:sp>
      <p:sp>
        <p:nvSpPr>
          <p:cNvPr id="19" name="Shape 17"/>
          <p:cNvSpPr/>
          <p:nvPr/>
        </p:nvSpPr>
        <p:spPr>
          <a:xfrm>
            <a:off x="7842504" y="2212848"/>
            <a:ext cx="237744" cy="201168"/>
          </a:xfrm>
          <a:prstGeom prst="rightArrow">
            <a:avLst/>
          </a:prstGeom>
          <a:solidFill>
            <a:srgbClr val="8DA597"/>
          </a:solidFill>
          <a:ln/>
        </p:spPr>
      </p:sp>
      <p:sp>
        <p:nvSpPr>
          <p:cNvPr id="20" name="Shape 18"/>
          <p:cNvSpPr/>
          <p:nvPr/>
        </p:nvSpPr>
        <p:spPr>
          <a:xfrm>
            <a:off x="8153400" y="1874520"/>
            <a:ext cx="1482852" cy="868680"/>
          </a:xfrm>
          <a:prstGeom prst="roundRect">
            <a:avLst>
              <a:gd name="adj" fmla="val 10526"/>
            </a:avLst>
          </a:prstGeom>
          <a:solidFill>
            <a:schemeClr val="bg1"/>
          </a:solidFill>
          <a:ln w="12700">
            <a:solidFill>
              <a:srgbClr val="D9E0DA"/>
            </a:solidFill>
            <a:prstDash val="solid"/>
          </a:ln>
        </p:spPr>
      </p:sp>
      <p:sp>
        <p:nvSpPr>
          <p:cNvPr id="21" name="Text 19"/>
          <p:cNvSpPr txBox="1"/>
          <p:nvPr/>
        </p:nvSpPr>
        <p:spPr>
          <a:xfrm>
            <a:off x="8317992" y="1984248"/>
            <a:ext cx="1208532" cy="256032"/>
          </a:xfrm>
          <a:prstGeom prst="rect">
            <a:avLst/>
          </a:prstGeom>
          <a:noFill/>
          <a:ln/>
        </p:spPr>
        <p:txBody>
          <a:bodyPr wrap="square" lIns="0" tIns="0" rIns="0" bIns="0" rtlCol="0" anchor="t"/>
          <a:lstStyle/>
          <a:p>
            <a:pPr indent="0" marL="0">
              <a:buNone/>
            </a:pPr>
            <a:r>
              <a:rPr lang="en-US" sz="1200" b="1" dirty="0">
                <a:solidFill>
                  <a:schemeClr val="accent1"/>
                </a:solidFill>
              </a:rPr>
              <a:t>5</a:t>
            </a:r>
            <a:endParaRPr lang="en-US" sz="1200" dirty="0"/>
          </a:p>
        </p:txBody>
      </p:sp>
      <p:sp>
        <p:nvSpPr>
          <p:cNvPr id="22" name="Text 20"/>
          <p:cNvSpPr txBox="1"/>
          <p:nvPr/>
        </p:nvSpPr>
        <p:spPr>
          <a:xfrm>
            <a:off x="8317992" y="2258568"/>
            <a:ext cx="1208532" cy="365760"/>
          </a:xfrm>
          <a:prstGeom prst="rect">
            <a:avLst/>
          </a:prstGeom>
          <a:noFill/>
          <a:ln/>
        </p:spPr>
        <p:txBody>
          <a:bodyPr wrap="square" lIns="0" tIns="0" rIns="0" bIns="0" rtlCol="0" anchor="t"/>
          <a:lstStyle/>
          <a:p>
            <a:pPr indent="0" marL="0">
              <a:buNone/>
            </a:pPr>
            <a:r>
              <a:rPr lang="en-US" sz="1800" b="1" dirty="0">
                <a:solidFill>
                  <a:schemeClr val="tx1"/>
                </a:solidFill>
              </a:rPr>
              <a:t>Notify</a:t>
            </a:r>
            <a:endParaRPr lang="en-US" sz="1800" dirty="0"/>
          </a:p>
        </p:txBody>
      </p:sp>
      <p:sp>
        <p:nvSpPr>
          <p:cNvPr id="23" name="Shape 21"/>
          <p:cNvSpPr/>
          <p:nvPr/>
        </p:nvSpPr>
        <p:spPr>
          <a:xfrm>
            <a:off x="9709404" y="2212848"/>
            <a:ext cx="237744" cy="201168"/>
          </a:xfrm>
          <a:prstGeom prst="rightArrow">
            <a:avLst/>
          </a:prstGeom>
          <a:solidFill>
            <a:srgbClr val="8DA597"/>
          </a:solidFill>
          <a:ln/>
        </p:spPr>
      </p:sp>
      <p:sp>
        <p:nvSpPr>
          <p:cNvPr id="24" name="Shape 22"/>
          <p:cNvSpPr/>
          <p:nvPr/>
        </p:nvSpPr>
        <p:spPr>
          <a:xfrm>
            <a:off x="10020300" y="1874520"/>
            <a:ext cx="1482852" cy="868680"/>
          </a:xfrm>
          <a:prstGeom prst="roundRect">
            <a:avLst>
              <a:gd name="adj" fmla="val 10526"/>
            </a:avLst>
          </a:prstGeom>
          <a:solidFill>
            <a:schemeClr val="bg1"/>
          </a:solidFill>
          <a:ln w="12700">
            <a:solidFill>
              <a:srgbClr val="D9E0DA"/>
            </a:solidFill>
            <a:prstDash val="solid"/>
          </a:ln>
        </p:spPr>
      </p:sp>
      <p:sp>
        <p:nvSpPr>
          <p:cNvPr id="25" name="Text 23"/>
          <p:cNvSpPr txBox="1"/>
          <p:nvPr/>
        </p:nvSpPr>
        <p:spPr>
          <a:xfrm>
            <a:off x="10184892" y="1984248"/>
            <a:ext cx="1208532" cy="256032"/>
          </a:xfrm>
          <a:prstGeom prst="rect">
            <a:avLst/>
          </a:prstGeom>
          <a:noFill/>
          <a:ln/>
        </p:spPr>
        <p:txBody>
          <a:bodyPr wrap="square" lIns="0" tIns="0" rIns="0" bIns="0" rtlCol="0" anchor="t"/>
          <a:lstStyle/>
          <a:p>
            <a:pPr indent="0" marL="0">
              <a:buNone/>
            </a:pPr>
            <a:r>
              <a:rPr lang="en-US" sz="1200" b="1" dirty="0">
                <a:solidFill>
                  <a:schemeClr val="accent1"/>
                </a:solidFill>
              </a:rPr>
              <a:t>6</a:t>
            </a:r>
            <a:endParaRPr lang="en-US" sz="1200" dirty="0"/>
          </a:p>
        </p:txBody>
      </p:sp>
      <p:sp>
        <p:nvSpPr>
          <p:cNvPr id="26" name="Text 24"/>
          <p:cNvSpPr txBox="1"/>
          <p:nvPr/>
        </p:nvSpPr>
        <p:spPr>
          <a:xfrm>
            <a:off x="10184892" y="2258568"/>
            <a:ext cx="1208532" cy="365760"/>
          </a:xfrm>
          <a:prstGeom prst="rect">
            <a:avLst/>
          </a:prstGeom>
          <a:noFill/>
          <a:ln/>
        </p:spPr>
        <p:txBody>
          <a:bodyPr wrap="square" lIns="0" tIns="0" rIns="0" bIns="0" rtlCol="0" anchor="t"/>
          <a:lstStyle/>
          <a:p>
            <a:pPr indent="0" marL="0">
              <a:buNone/>
            </a:pPr>
            <a:r>
              <a:rPr lang="en-US" sz="1800" b="1" dirty="0">
                <a:solidFill>
                  <a:schemeClr val="tx1"/>
                </a:solidFill>
              </a:rPr>
              <a:t>Improve</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2971800"/>
          <a:ext cx="10817352" cy="914400"/>
        </p:xfrm>
        <a:graphic>
          <a:graphicData uri="http://schemas.openxmlformats.org/drawingml/2006/table">
            <a:tbl>
              <a:tblPr/>
              <a:tblGrid>
                <a:gridCol w="3017520"/>
                <a:gridCol w="7799832"/>
              </a:tblGrid>
              <a:tr h="393192">
                <a:tc>
                  <a:txBody>
                    <a:bodyPr/>
                    <a:lstStyle/>
                    <a:p>
                      <a:pPr indent="0" marL="0">
                        <a:buNone/>
                      </a:pPr>
                      <a:r>
                        <a:rPr lang="en-US" sz="1400" b="1" dirty="0">
                          <a:solidFill>
                            <a:schemeClr val="tx1"/>
                          </a:solidFill>
                        </a:rPr>
                        <a:t>When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What happens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393192">
                <a:tc>
                  <a:txBody>
                    <a:bodyPr/>
                    <a:lstStyle/>
                    <a:p>
                      <a:pPr indent="0" marL="0">
                        <a:buNone/>
                      </a:pPr>
                      <a:r>
                        <a:rPr lang="en-US" sz="1400" dirty="0">
                          <a:solidFill>
                            <a:schemeClr val="tx2"/>
                          </a:solidFill>
                        </a:rPr>
                        <a:t>A trip ends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Mode classified on the phone; one-tap question if confidence is below 70%</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400" dirty="0">
                          <a:solidFill>
                            <a:schemeClr val="tx2"/>
                          </a:solidFill>
                        </a:rPr>
                        <a:t>A meal photo is taken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Top 3 dishes shown; the user picks the dish and the size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400" dirty="0">
                          <a:solidFill>
                            <a:schemeClr val="tx2"/>
                          </a:solidFill>
                        </a:rPr>
                        <a:t>Arriving at the department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Geofence check-in counts the hours on the floor (no location is kept)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400" dirty="0">
                          <a:solidFill>
                            <a:schemeClr val="tx2"/>
                          </a:solidFill>
                        </a:rPr>
                        <a:t>Every 10 seconds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Floor monitors send current per phase and per circuit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400" dirty="0">
                          <a:solidFill>
                            <a:schemeClr val="tx2"/>
                          </a:solidFill>
                        </a:rPr>
                        <a:t>After working hours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Load above the base level outside the timetable raises a waste alert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400" dirty="0">
                          <a:solidFill>
                            <a:schemeClr val="tx2"/>
                          </a:solidFill>
                        </a:rPr>
                        <a:t>11 pm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Personal total and color in the app; the floor’s total and color on the entrance display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400" dirty="0">
                          <a:solidFill>
                            <a:schemeClr val="tx2"/>
                          </a:solidFill>
                        </a:rPr>
                        <a:t>Every week</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A personal tip; a floor report to the department head</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DATA FLOW</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Three pipelines, two daily numbers</a:t>
            </a:r>
            <a:endParaRPr lang="en-US" sz="3000" dirty="0"/>
          </a:p>
        </p:txBody>
      </p:sp>
      <p:sp>
        <p:nvSpPr>
          <p:cNvPr id="4" name="Text 2"/>
          <p:cNvSpPr txBox="1"/>
          <p:nvPr/>
        </p:nvSpPr>
        <p:spPr>
          <a:xfrm>
            <a:off x="685800" y="1874520"/>
            <a:ext cx="1143000" cy="603504"/>
          </a:xfrm>
          <a:prstGeom prst="rect">
            <a:avLst/>
          </a:prstGeom>
          <a:noFill/>
          <a:ln/>
        </p:spPr>
        <p:txBody>
          <a:bodyPr wrap="square" lIns="0" tIns="0" rIns="0" bIns="0" rtlCol="0" anchor="ctr"/>
          <a:lstStyle/>
          <a:p>
            <a:pPr indent="0" marL="0">
              <a:buNone/>
            </a:pPr>
            <a:r>
              <a:rPr lang="en-US" sz="1500" b="1" dirty="0">
                <a:solidFill>
                  <a:schemeClr val="accent1"/>
                </a:solidFill>
              </a:rPr>
              <a:t>Transport</a:t>
            </a:r>
            <a:endParaRPr lang="en-US" sz="1500" dirty="0"/>
          </a:p>
        </p:txBody>
      </p:sp>
      <p:sp>
        <p:nvSpPr>
          <p:cNvPr id="5" name="Shape 3"/>
          <p:cNvSpPr/>
          <p:nvPr/>
        </p:nvSpPr>
        <p:spPr>
          <a:xfrm>
            <a:off x="1874520" y="1874520"/>
            <a:ext cx="1554480" cy="603504"/>
          </a:xfrm>
          <a:prstGeom prst="roundRect">
            <a:avLst>
              <a:gd name="adj" fmla="val 12121"/>
            </a:avLst>
          </a:prstGeom>
          <a:solidFill>
            <a:schemeClr val="bg1"/>
          </a:solidFill>
          <a:ln w="12700">
            <a:solidFill>
              <a:srgbClr val="D9E0DA"/>
            </a:solidFill>
            <a:prstDash val="solid"/>
          </a:ln>
        </p:spPr>
      </p:sp>
      <p:sp>
        <p:nvSpPr>
          <p:cNvPr id="6" name="Text 4"/>
          <p:cNvSpPr txBox="1"/>
          <p:nvPr/>
        </p:nvSpPr>
        <p:spPr>
          <a:xfrm>
            <a:off x="1929384" y="187452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GPS and motion sensors</a:t>
            </a:r>
            <a:endParaRPr lang="en-US" sz="1300" dirty="0"/>
          </a:p>
        </p:txBody>
      </p:sp>
      <p:sp>
        <p:nvSpPr>
          <p:cNvPr id="7" name="Shape 5"/>
          <p:cNvSpPr/>
          <p:nvPr/>
        </p:nvSpPr>
        <p:spPr>
          <a:xfrm>
            <a:off x="3493008" y="2075688"/>
            <a:ext cx="228600" cy="201168"/>
          </a:xfrm>
          <a:prstGeom prst="rightArrow">
            <a:avLst/>
          </a:prstGeom>
          <a:solidFill>
            <a:srgbClr val="8DA597"/>
          </a:solidFill>
          <a:ln/>
        </p:spPr>
      </p:sp>
      <p:sp>
        <p:nvSpPr>
          <p:cNvPr id="8" name="Shape 6"/>
          <p:cNvSpPr/>
          <p:nvPr/>
        </p:nvSpPr>
        <p:spPr>
          <a:xfrm>
            <a:off x="3776472" y="1874520"/>
            <a:ext cx="1554480" cy="603504"/>
          </a:xfrm>
          <a:prstGeom prst="roundRect">
            <a:avLst>
              <a:gd name="adj" fmla="val 12121"/>
            </a:avLst>
          </a:prstGeom>
          <a:solidFill>
            <a:schemeClr val="bg1"/>
          </a:solidFill>
          <a:ln w="12700">
            <a:solidFill>
              <a:srgbClr val="D9E0DA"/>
            </a:solidFill>
            <a:prstDash val="solid"/>
          </a:ln>
        </p:spPr>
      </p:sp>
      <p:sp>
        <p:nvSpPr>
          <p:cNvPr id="9" name="Text 7"/>
          <p:cNvSpPr txBox="1"/>
          <p:nvPr/>
        </p:nvSpPr>
        <p:spPr>
          <a:xfrm>
            <a:off x="3831336" y="187452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Trip segments</a:t>
            </a:r>
            <a:endParaRPr lang="en-US" sz="1300" dirty="0"/>
          </a:p>
        </p:txBody>
      </p:sp>
      <p:sp>
        <p:nvSpPr>
          <p:cNvPr id="10" name="Shape 8"/>
          <p:cNvSpPr/>
          <p:nvPr/>
        </p:nvSpPr>
        <p:spPr>
          <a:xfrm>
            <a:off x="5394960" y="2075688"/>
            <a:ext cx="228600" cy="201168"/>
          </a:xfrm>
          <a:prstGeom prst="rightArrow">
            <a:avLst/>
          </a:prstGeom>
          <a:solidFill>
            <a:srgbClr val="8DA597"/>
          </a:solidFill>
          <a:ln/>
        </p:spPr>
      </p:sp>
      <p:sp>
        <p:nvSpPr>
          <p:cNvPr id="11" name="Shape 9"/>
          <p:cNvSpPr/>
          <p:nvPr/>
        </p:nvSpPr>
        <p:spPr>
          <a:xfrm>
            <a:off x="5678424" y="1874520"/>
            <a:ext cx="1554480" cy="603504"/>
          </a:xfrm>
          <a:prstGeom prst="roundRect">
            <a:avLst>
              <a:gd name="adj" fmla="val 12121"/>
            </a:avLst>
          </a:prstGeom>
          <a:solidFill>
            <a:schemeClr val="bg1"/>
          </a:solidFill>
          <a:ln w="12700">
            <a:solidFill>
              <a:srgbClr val="D9E0DA"/>
            </a:solidFill>
            <a:prstDash val="solid"/>
          </a:ln>
        </p:spPr>
      </p:sp>
      <p:sp>
        <p:nvSpPr>
          <p:cNvPr id="12" name="Text 10"/>
          <p:cNvSpPr txBox="1"/>
          <p:nvPr/>
        </p:nvSpPr>
        <p:spPr>
          <a:xfrm>
            <a:off x="5733288" y="187452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Mode classifier</a:t>
            </a:r>
            <a:endParaRPr lang="en-US" sz="1300" dirty="0"/>
          </a:p>
        </p:txBody>
      </p:sp>
      <p:sp>
        <p:nvSpPr>
          <p:cNvPr id="13" name="Shape 11"/>
          <p:cNvSpPr/>
          <p:nvPr/>
        </p:nvSpPr>
        <p:spPr>
          <a:xfrm>
            <a:off x="7296912" y="2075688"/>
            <a:ext cx="228600" cy="201168"/>
          </a:xfrm>
          <a:prstGeom prst="rightArrow">
            <a:avLst/>
          </a:prstGeom>
          <a:solidFill>
            <a:srgbClr val="8DA597"/>
          </a:solidFill>
          <a:ln/>
        </p:spPr>
      </p:sp>
      <p:sp>
        <p:nvSpPr>
          <p:cNvPr id="14" name="Shape 12"/>
          <p:cNvSpPr/>
          <p:nvPr/>
        </p:nvSpPr>
        <p:spPr>
          <a:xfrm>
            <a:off x="7580376" y="1874520"/>
            <a:ext cx="1554480" cy="603504"/>
          </a:xfrm>
          <a:prstGeom prst="roundRect">
            <a:avLst>
              <a:gd name="adj" fmla="val 12121"/>
            </a:avLst>
          </a:prstGeom>
          <a:solidFill>
            <a:schemeClr val="bg1"/>
          </a:solidFill>
          <a:ln w="12700">
            <a:solidFill>
              <a:srgbClr val="D9E0DA"/>
            </a:solidFill>
            <a:prstDash val="solid"/>
          </a:ln>
        </p:spPr>
      </p:sp>
      <p:sp>
        <p:nvSpPr>
          <p:cNvPr id="15" name="Text 13"/>
          <p:cNvSpPr txBox="1"/>
          <p:nvPr/>
        </p:nvSpPr>
        <p:spPr>
          <a:xfrm>
            <a:off x="7635240" y="187452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Trip record</a:t>
            </a:r>
            <a:endParaRPr lang="en-US" sz="1300" dirty="0"/>
          </a:p>
        </p:txBody>
      </p:sp>
      <p:sp>
        <p:nvSpPr>
          <p:cNvPr id="16" name="Shape 14"/>
          <p:cNvSpPr/>
          <p:nvPr/>
        </p:nvSpPr>
        <p:spPr>
          <a:xfrm>
            <a:off x="9198864" y="2075688"/>
            <a:ext cx="228600" cy="201168"/>
          </a:xfrm>
          <a:prstGeom prst="rightArrow">
            <a:avLst/>
          </a:prstGeom>
          <a:solidFill>
            <a:srgbClr val="2F7D5B"/>
          </a:solidFill>
          <a:ln/>
        </p:spPr>
      </p:sp>
      <p:sp>
        <p:nvSpPr>
          <p:cNvPr id="17" name="Text 15"/>
          <p:cNvSpPr txBox="1"/>
          <p:nvPr/>
        </p:nvSpPr>
        <p:spPr>
          <a:xfrm>
            <a:off x="1874520" y="2569464"/>
            <a:ext cx="7498080" cy="502920"/>
          </a:xfrm>
          <a:prstGeom prst="rect">
            <a:avLst/>
          </a:prstGeom>
          <a:noFill/>
          <a:ln/>
        </p:spPr>
        <p:txBody>
          <a:bodyPr wrap="square" lIns="0" tIns="0" rIns="0" bIns="0" rtlCol="0" anchor="t"/>
          <a:lstStyle/>
          <a:p>
            <a:pPr indent="0" marL="0">
              <a:buNone/>
            </a:pPr>
            <a:r>
              <a:rPr lang="en-US" sz="1200" dirty="0">
                <a:solidFill>
                  <a:schemeClr val="accent5"/>
                </a:solidFill>
              </a:rPr>
              <a:t>GPS points and sensor windows → trips → mode and km on the phone → record sent by REST (raw GPS stays on the phone)</a:t>
            </a:r>
            <a:endParaRPr lang="en-US" sz="1200" dirty="0"/>
          </a:p>
        </p:txBody>
      </p:sp>
      <p:sp>
        <p:nvSpPr>
          <p:cNvPr id="18" name="Text 16"/>
          <p:cNvSpPr txBox="1"/>
          <p:nvPr/>
        </p:nvSpPr>
        <p:spPr>
          <a:xfrm>
            <a:off x="685800" y="3291840"/>
            <a:ext cx="1143000" cy="603504"/>
          </a:xfrm>
          <a:prstGeom prst="rect">
            <a:avLst/>
          </a:prstGeom>
          <a:noFill/>
          <a:ln/>
        </p:spPr>
        <p:txBody>
          <a:bodyPr wrap="square" lIns="0" tIns="0" rIns="0" bIns="0" rtlCol="0" anchor="ctr"/>
          <a:lstStyle/>
          <a:p>
            <a:pPr indent="0" marL="0">
              <a:buNone/>
            </a:pPr>
            <a:r>
              <a:rPr lang="en-US" sz="1500" b="1" dirty="0">
                <a:solidFill>
                  <a:schemeClr val="accent1"/>
                </a:solidFill>
              </a:rPr>
              <a:t>Food</a:t>
            </a:r>
            <a:endParaRPr lang="en-US" sz="1500" dirty="0"/>
          </a:p>
        </p:txBody>
      </p:sp>
      <p:sp>
        <p:nvSpPr>
          <p:cNvPr id="19" name="Shape 17"/>
          <p:cNvSpPr/>
          <p:nvPr/>
        </p:nvSpPr>
        <p:spPr>
          <a:xfrm>
            <a:off x="1874520" y="3291840"/>
            <a:ext cx="1554480" cy="603504"/>
          </a:xfrm>
          <a:prstGeom prst="roundRect">
            <a:avLst>
              <a:gd name="adj" fmla="val 12121"/>
            </a:avLst>
          </a:prstGeom>
          <a:solidFill>
            <a:schemeClr val="bg1"/>
          </a:solidFill>
          <a:ln w="12700">
            <a:solidFill>
              <a:srgbClr val="D9E0DA"/>
            </a:solidFill>
            <a:prstDash val="solid"/>
          </a:ln>
        </p:spPr>
      </p:sp>
      <p:sp>
        <p:nvSpPr>
          <p:cNvPr id="20" name="Text 18"/>
          <p:cNvSpPr txBox="1"/>
          <p:nvPr/>
        </p:nvSpPr>
        <p:spPr>
          <a:xfrm>
            <a:off x="1929384" y="329184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Plate photo</a:t>
            </a:r>
            <a:endParaRPr lang="en-US" sz="1300" dirty="0"/>
          </a:p>
        </p:txBody>
      </p:sp>
      <p:sp>
        <p:nvSpPr>
          <p:cNvPr id="21" name="Shape 19"/>
          <p:cNvSpPr/>
          <p:nvPr/>
        </p:nvSpPr>
        <p:spPr>
          <a:xfrm>
            <a:off x="3493008" y="3493008"/>
            <a:ext cx="228600" cy="201168"/>
          </a:xfrm>
          <a:prstGeom prst="rightArrow">
            <a:avLst/>
          </a:prstGeom>
          <a:solidFill>
            <a:srgbClr val="8DA597"/>
          </a:solidFill>
          <a:ln/>
        </p:spPr>
      </p:sp>
      <p:sp>
        <p:nvSpPr>
          <p:cNvPr id="22" name="Shape 20"/>
          <p:cNvSpPr/>
          <p:nvPr/>
        </p:nvSpPr>
        <p:spPr>
          <a:xfrm>
            <a:off x="3776472" y="3291840"/>
            <a:ext cx="1554480" cy="603504"/>
          </a:xfrm>
          <a:prstGeom prst="roundRect">
            <a:avLst>
              <a:gd name="adj" fmla="val 12121"/>
            </a:avLst>
          </a:prstGeom>
          <a:solidFill>
            <a:schemeClr val="bg1"/>
          </a:solidFill>
          <a:ln w="12700">
            <a:solidFill>
              <a:srgbClr val="D9E0DA"/>
            </a:solidFill>
            <a:prstDash val="solid"/>
          </a:ln>
        </p:spPr>
      </p:sp>
      <p:sp>
        <p:nvSpPr>
          <p:cNvPr id="23" name="Text 21"/>
          <p:cNvSpPr txBox="1"/>
          <p:nvPr/>
        </p:nvSpPr>
        <p:spPr>
          <a:xfrm>
            <a:off x="3831336" y="329184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MobileNet on phone</a:t>
            </a:r>
            <a:endParaRPr lang="en-US" sz="1300" dirty="0"/>
          </a:p>
        </p:txBody>
      </p:sp>
      <p:sp>
        <p:nvSpPr>
          <p:cNvPr id="24" name="Shape 22"/>
          <p:cNvSpPr/>
          <p:nvPr/>
        </p:nvSpPr>
        <p:spPr>
          <a:xfrm>
            <a:off x="5394960" y="3493008"/>
            <a:ext cx="228600" cy="201168"/>
          </a:xfrm>
          <a:prstGeom prst="rightArrow">
            <a:avLst/>
          </a:prstGeom>
          <a:solidFill>
            <a:srgbClr val="8DA597"/>
          </a:solidFill>
          <a:ln/>
        </p:spPr>
      </p:sp>
      <p:sp>
        <p:nvSpPr>
          <p:cNvPr id="25" name="Shape 23"/>
          <p:cNvSpPr/>
          <p:nvPr/>
        </p:nvSpPr>
        <p:spPr>
          <a:xfrm>
            <a:off x="5678424" y="3291840"/>
            <a:ext cx="1554480" cy="603504"/>
          </a:xfrm>
          <a:prstGeom prst="roundRect">
            <a:avLst>
              <a:gd name="adj" fmla="val 12121"/>
            </a:avLst>
          </a:prstGeom>
          <a:solidFill>
            <a:schemeClr val="bg1"/>
          </a:solidFill>
          <a:ln w="12700">
            <a:solidFill>
              <a:srgbClr val="D9E0DA"/>
            </a:solidFill>
            <a:prstDash val="solid"/>
          </a:ln>
        </p:spPr>
      </p:sp>
      <p:sp>
        <p:nvSpPr>
          <p:cNvPr id="26" name="Text 24"/>
          <p:cNvSpPr txBox="1"/>
          <p:nvPr/>
        </p:nvSpPr>
        <p:spPr>
          <a:xfrm>
            <a:off x="5733288" y="329184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Top 3 + size</a:t>
            </a:r>
            <a:endParaRPr lang="en-US" sz="1300" dirty="0"/>
          </a:p>
        </p:txBody>
      </p:sp>
      <p:sp>
        <p:nvSpPr>
          <p:cNvPr id="27" name="Shape 25"/>
          <p:cNvSpPr/>
          <p:nvPr/>
        </p:nvSpPr>
        <p:spPr>
          <a:xfrm>
            <a:off x="7296912" y="3493008"/>
            <a:ext cx="228600" cy="201168"/>
          </a:xfrm>
          <a:prstGeom prst="rightArrow">
            <a:avLst/>
          </a:prstGeom>
          <a:solidFill>
            <a:srgbClr val="8DA597"/>
          </a:solidFill>
          <a:ln/>
        </p:spPr>
      </p:sp>
      <p:sp>
        <p:nvSpPr>
          <p:cNvPr id="28" name="Shape 26"/>
          <p:cNvSpPr/>
          <p:nvPr/>
        </p:nvSpPr>
        <p:spPr>
          <a:xfrm>
            <a:off x="7580376" y="3291840"/>
            <a:ext cx="1554480" cy="603504"/>
          </a:xfrm>
          <a:prstGeom prst="roundRect">
            <a:avLst>
              <a:gd name="adj" fmla="val 12121"/>
            </a:avLst>
          </a:prstGeom>
          <a:solidFill>
            <a:schemeClr val="bg1"/>
          </a:solidFill>
          <a:ln w="12700">
            <a:solidFill>
              <a:srgbClr val="D9E0DA"/>
            </a:solidFill>
            <a:prstDash val="solid"/>
          </a:ln>
        </p:spPr>
      </p:sp>
      <p:sp>
        <p:nvSpPr>
          <p:cNvPr id="29" name="Text 27"/>
          <p:cNvSpPr txBox="1"/>
          <p:nvPr/>
        </p:nvSpPr>
        <p:spPr>
          <a:xfrm>
            <a:off x="7635240" y="329184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Meal record</a:t>
            </a:r>
            <a:endParaRPr lang="en-US" sz="1300" dirty="0"/>
          </a:p>
        </p:txBody>
      </p:sp>
      <p:sp>
        <p:nvSpPr>
          <p:cNvPr id="30" name="Shape 28"/>
          <p:cNvSpPr/>
          <p:nvPr/>
        </p:nvSpPr>
        <p:spPr>
          <a:xfrm>
            <a:off x="9198864" y="3493008"/>
            <a:ext cx="228600" cy="201168"/>
          </a:xfrm>
          <a:prstGeom prst="rightArrow">
            <a:avLst/>
          </a:prstGeom>
          <a:solidFill>
            <a:srgbClr val="2F7D5B"/>
          </a:solidFill>
          <a:ln/>
        </p:spPr>
      </p:sp>
      <p:sp>
        <p:nvSpPr>
          <p:cNvPr id="31" name="Text 29"/>
          <p:cNvSpPr txBox="1"/>
          <p:nvPr/>
        </p:nvSpPr>
        <p:spPr>
          <a:xfrm>
            <a:off x="1874520" y="3986784"/>
            <a:ext cx="7498080" cy="502920"/>
          </a:xfrm>
          <a:prstGeom prst="rect">
            <a:avLst/>
          </a:prstGeom>
          <a:noFill/>
          <a:ln/>
        </p:spPr>
        <p:txBody>
          <a:bodyPr wrap="square" lIns="0" tIns="0" rIns="0" bIns="0" rtlCol="0" anchor="t"/>
          <a:lstStyle/>
          <a:p>
            <a:pPr indent="0" marL="0">
              <a:buNone/>
            </a:pPr>
            <a:r>
              <a:rPr lang="en-US" sz="1200" dirty="0">
                <a:solidFill>
                  <a:schemeClr val="accent5"/>
                </a:solidFill>
              </a:rPr>
              <a:t>photo → 224 × 224 image → dish probabilities → user picks dish and portion → record (the photo stays on the phone)</a:t>
            </a:r>
            <a:endParaRPr lang="en-US" sz="1200" dirty="0"/>
          </a:p>
        </p:txBody>
      </p:sp>
      <p:sp>
        <p:nvSpPr>
          <p:cNvPr id="32" name="Text 30"/>
          <p:cNvSpPr txBox="1"/>
          <p:nvPr/>
        </p:nvSpPr>
        <p:spPr>
          <a:xfrm>
            <a:off x="685800" y="4709160"/>
            <a:ext cx="1143000" cy="603504"/>
          </a:xfrm>
          <a:prstGeom prst="rect">
            <a:avLst/>
          </a:prstGeom>
          <a:noFill/>
          <a:ln/>
        </p:spPr>
        <p:txBody>
          <a:bodyPr wrap="square" lIns="0" tIns="0" rIns="0" bIns="0" rtlCol="0" anchor="ctr"/>
          <a:lstStyle/>
          <a:p>
            <a:pPr indent="0" marL="0">
              <a:buNone/>
            </a:pPr>
            <a:r>
              <a:rPr lang="en-US" sz="1500" b="1" dirty="0">
                <a:solidFill>
                  <a:schemeClr val="accent1"/>
                </a:solidFill>
              </a:rPr>
              <a:t>Energy</a:t>
            </a:r>
            <a:endParaRPr lang="en-US" sz="1500" dirty="0"/>
          </a:p>
        </p:txBody>
      </p:sp>
      <p:sp>
        <p:nvSpPr>
          <p:cNvPr id="33" name="Shape 31"/>
          <p:cNvSpPr/>
          <p:nvPr/>
        </p:nvSpPr>
        <p:spPr>
          <a:xfrm>
            <a:off x="1874520" y="4709160"/>
            <a:ext cx="1554480" cy="603504"/>
          </a:xfrm>
          <a:prstGeom prst="roundRect">
            <a:avLst>
              <a:gd name="adj" fmla="val 12121"/>
            </a:avLst>
          </a:prstGeom>
          <a:solidFill>
            <a:schemeClr val="bg1"/>
          </a:solidFill>
          <a:ln w="12700">
            <a:solidFill>
              <a:srgbClr val="D9E0DA"/>
            </a:solidFill>
            <a:prstDash val="solid"/>
          </a:ln>
        </p:spPr>
      </p:sp>
      <p:sp>
        <p:nvSpPr>
          <p:cNvPr id="34" name="Text 32"/>
          <p:cNvSpPr txBox="1"/>
          <p:nvPr/>
        </p:nvSpPr>
        <p:spPr>
          <a:xfrm>
            <a:off x="1929384" y="470916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CT clamps on the floor board</a:t>
            </a:r>
            <a:endParaRPr lang="en-US" sz="1300" dirty="0"/>
          </a:p>
        </p:txBody>
      </p:sp>
      <p:sp>
        <p:nvSpPr>
          <p:cNvPr id="35" name="Shape 33"/>
          <p:cNvSpPr/>
          <p:nvPr/>
        </p:nvSpPr>
        <p:spPr>
          <a:xfrm>
            <a:off x="3493008" y="4910328"/>
            <a:ext cx="228600" cy="201168"/>
          </a:xfrm>
          <a:prstGeom prst="rightArrow">
            <a:avLst/>
          </a:prstGeom>
          <a:solidFill>
            <a:srgbClr val="8DA597"/>
          </a:solidFill>
          <a:ln/>
        </p:spPr>
      </p:sp>
      <p:sp>
        <p:nvSpPr>
          <p:cNvPr id="36" name="Shape 34"/>
          <p:cNvSpPr/>
          <p:nvPr/>
        </p:nvSpPr>
        <p:spPr>
          <a:xfrm>
            <a:off x="3776472" y="4709160"/>
            <a:ext cx="1554480" cy="603504"/>
          </a:xfrm>
          <a:prstGeom prst="roundRect">
            <a:avLst>
              <a:gd name="adj" fmla="val 12121"/>
            </a:avLst>
          </a:prstGeom>
          <a:solidFill>
            <a:schemeClr val="bg1"/>
          </a:solidFill>
          <a:ln w="12700">
            <a:solidFill>
              <a:srgbClr val="D9E0DA"/>
            </a:solidFill>
            <a:prstDash val="solid"/>
          </a:ln>
        </p:spPr>
      </p:sp>
      <p:sp>
        <p:nvSpPr>
          <p:cNvPr id="37" name="Text 35"/>
          <p:cNvSpPr txBox="1"/>
          <p:nvPr/>
        </p:nvSpPr>
        <p:spPr>
          <a:xfrm>
            <a:off x="3831336" y="470916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MQTT every 10 s</a:t>
            </a:r>
            <a:endParaRPr lang="en-US" sz="1300" dirty="0"/>
          </a:p>
        </p:txBody>
      </p:sp>
      <p:sp>
        <p:nvSpPr>
          <p:cNvPr id="38" name="Shape 36"/>
          <p:cNvSpPr/>
          <p:nvPr/>
        </p:nvSpPr>
        <p:spPr>
          <a:xfrm>
            <a:off x="5394960" y="4910328"/>
            <a:ext cx="228600" cy="201168"/>
          </a:xfrm>
          <a:prstGeom prst="rightArrow">
            <a:avLst/>
          </a:prstGeom>
          <a:solidFill>
            <a:srgbClr val="8DA597"/>
          </a:solidFill>
          <a:ln/>
        </p:spPr>
      </p:sp>
      <p:sp>
        <p:nvSpPr>
          <p:cNvPr id="39" name="Shape 37"/>
          <p:cNvSpPr/>
          <p:nvPr/>
        </p:nvSpPr>
        <p:spPr>
          <a:xfrm>
            <a:off x="5678424" y="4709160"/>
            <a:ext cx="1554480" cy="603504"/>
          </a:xfrm>
          <a:prstGeom prst="roundRect">
            <a:avLst>
              <a:gd name="adj" fmla="val 12121"/>
            </a:avLst>
          </a:prstGeom>
          <a:solidFill>
            <a:schemeClr val="bg1"/>
          </a:solidFill>
          <a:ln w="12700">
            <a:solidFill>
              <a:srgbClr val="D9E0DA"/>
            </a:solidFill>
            <a:prstDash val="solid"/>
          </a:ln>
        </p:spPr>
      </p:sp>
      <p:sp>
        <p:nvSpPr>
          <p:cNvPr id="40" name="Text 38"/>
          <p:cNvSpPr txBox="1"/>
          <p:nvPr/>
        </p:nvSpPr>
        <p:spPr>
          <a:xfrm>
            <a:off x="5733288" y="470916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TimescaleDB</a:t>
            </a:r>
            <a:endParaRPr lang="en-US" sz="1300" dirty="0"/>
          </a:p>
        </p:txBody>
      </p:sp>
      <p:sp>
        <p:nvSpPr>
          <p:cNvPr id="41" name="Shape 39"/>
          <p:cNvSpPr/>
          <p:nvPr/>
        </p:nvSpPr>
        <p:spPr>
          <a:xfrm>
            <a:off x="7296912" y="4910328"/>
            <a:ext cx="228600" cy="201168"/>
          </a:xfrm>
          <a:prstGeom prst="rightArrow">
            <a:avLst/>
          </a:prstGeom>
          <a:solidFill>
            <a:srgbClr val="8DA597"/>
          </a:solidFill>
          <a:ln/>
        </p:spPr>
      </p:sp>
      <p:sp>
        <p:nvSpPr>
          <p:cNvPr id="42" name="Shape 40"/>
          <p:cNvSpPr/>
          <p:nvPr/>
        </p:nvSpPr>
        <p:spPr>
          <a:xfrm>
            <a:off x="7580376" y="4709160"/>
            <a:ext cx="1554480" cy="603504"/>
          </a:xfrm>
          <a:prstGeom prst="roundRect">
            <a:avLst>
              <a:gd name="adj" fmla="val 12121"/>
            </a:avLst>
          </a:prstGeom>
          <a:solidFill>
            <a:schemeClr val="bg1"/>
          </a:solidFill>
          <a:ln w="12700">
            <a:solidFill>
              <a:srgbClr val="D9E0DA"/>
            </a:solidFill>
            <a:prstDash val="solid"/>
          </a:ln>
        </p:spPr>
      </p:sp>
      <p:sp>
        <p:nvSpPr>
          <p:cNvPr id="43" name="Text 41"/>
          <p:cNvSpPr txBox="1"/>
          <p:nvPr/>
        </p:nvSpPr>
        <p:spPr>
          <a:xfrm>
            <a:off x="7635240" y="4709160"/>
            <a:ext cx="1444752" cy="603504"/>
          </a:xfrm>
          <a:prstGeom prst="rect">
            <a:avLst/>
          </a:prstGeom>
          <a:noFill/>
          <a:ln/>
        </p:spPr>
        <p:txBody>
          <a:bodyPr wrap="square" lIns="0" tIns="0" rIns="0" bIns="0" rtlCol="0" anchor="ctr"/>
          <a:lstStyle/>
          <a:p>
            <a:pPr algn="ctr" indent="0" marL="0">
              <a:buNone/>
            </a:pPr>
            <a:r>
              <a:rPr lang="en-US" sz="1300" dirty="0">
                <a:solidFill>
                  <a:schemeClr val="tx1"/>
                </a:solidFill>
              </a:rPr>
              <a:t>kWh, forecast, waste</a:t>
            </a:r>
            <a:endParaRPr lang="en-US" sz="1300" dirty="0"/>
          </a:p>
        </p:txBody>
      </p:sp>
      <p:sp>
        <p:nvSpPr>
          <p:cNvPr id="44" name="Shape 42"/>
          <p:cNvSpPr/>
          <p:nvPr/>
        </p:nvSpPr>
        <p:spPr>
          <a:xfrm>
            <a:off x="9198864" y="4910328"/>
            <a:ext cx="228600" cy="201168"/>
          </a:xfrm>
          <a:prstGeom prst="rightArrow">
            <a:avLst/>
          </a:prstGeom>
          <a:solidFill>
            <a:srgbClr val="2F7D5B"/>
          </a:solidFill>
          <a:ln/>
        </p:spPr>
      </p:sp>
      <p:sp>
        <p:nvSpPr>
          <p:cNvPr id="45" name="Text 43"/>
          <p:cNvSpPr txBox="1"/>
          <p:nvPr/>
        </p:nvSpPr>
        <p:spPr>
          <a:xfrm>
            <a:off x="1874520" y="5404104"/>
            <a:ext cx="7498080" cy="502920"/>
          </a:xfrm>
          <a:prstGeom prst="rect">
            <a:avLst/>
          </a:prstGeom>
          <a:noFill/>
          <a:ln/>
        </p:spPr>
        <p:txBody>
          <a:bodyPr wrap="square" lIns="0" tIns="0" rIns="0" bIns="0" rtlCol="0" anchor="t"/>
          <a:lstStyle/>
          <a:p>
            <a:pPr indent="0" marL="0">
              <a:buNone/>
            </a:pPr>
            <a:r>
              <a:rPr lang="en-US" sz="1200" dirty="0">
                <a:solidFill>
                  <a:schemeClr val="accent5"/>
                </a:solidFill>
              </a:rPr>
              <a:t>current samples → Irms per phase, W, Wh → JSON message → time-series table → daily kWh, forecast and after-hours waste</a:t>
            </a:r>
            <a:endParaRPr lang="en-US" sz="1200" dirty="0"/>
          </a:p>
        </p:txBody>
      </p:sp>
      <p:sp>
        <p:nvSpPr>
          <p:cNvPr id="46" name="Shape 44"/>
          <p:cNvSpPr/>
          <p:nvPr/>
        </p:nvSpPr>
        <p:spPr>
          <a:xfrm>
            <a:off x="9528048" y="1874520"/>
            <a:ext cx="1975104" cy="4041648"/>
          </a:xfrm>
          <a:prstGeom prst="roundRect">
            <a:avLst>
              <a:gd name="adj" fmla="val 6944"/>
            </a:avLst>
          </a:prstGeom>
          <a:solidFill>
            <a:schemeClr val="tx1"/>
          </a:solidFill>
          <a:ln/>
        </p:spPr>
      </p:sp>
      <p:sp>
        <p:nvSpPr>
          <p:cNvPr id="47" name="Text 45"/>
          <p:cNvSpPr txBox="1"/>
          <p:nvPr/>
        </p:nvSpPr>
        <p:spPr>
          <a:xfrm>
            <a:off x="9710928" y="2331720"/>
            <a:ext cx="1645920" cy="868680"/>
          </a:xfrm>
          <a:prstGeom prst="rect">
            <a:avLst/>
          </a:prstGeom>
          <a:noFill/>
          <a:ln/>
        </p:spPr>
        <p:txBody>
          <a:bodyPr wrap="square" lIns="0" tIns="0" rIns="0" bIns="0" rtlCol="0" anchor="t"/>
          <a:lstStyle/>
          <a:p>
            <a:pPr indent="0" marL="0">
              <a:buNone/>
            </a:pPr>
            <a:r>
              <a:rPr lang="en-US" sz="1900" b="1" dirty="0">
                <a:solidFill>
                  <a:schemeClr val="bg1"/>
                </a:solidFill>
              </a:rPr>
              <a:t>Daily footprint engine</a:t>
            </a:r>
            <a:endParaRPr lang="en-US" sz="1900" dirty="0"/>
          </a:p>
        </p:txBody>
      </p:sp>
      <p:sp>
        <p:nvSpPr>
          <p:cNvPr id="48" name="Text 46"/>
          <p:cNvSpPr txBox="1"/>
          <p:nvPr/>
        </p:nvSpPr>
        <p:spPr>
          <a:xfrm>
            <a:off x="9710928" y="3246120"/>
            <a:ext cx="1645920" cy="822960"/>
          </a:xfrm>
          <a:prstGeom prst="rect">
            <a:avLst/>
          </a:prstGeom>
          <a:noFill/>
          <a:ln/>
        </p:spPr>
        <p:txBody>
          <a:bodyPr wrap="square" lIns="0" tIns="0" rIns="0" bIns="0" rtlCol="0" anchor="t"/>
          <a:lstStyle/>
          <a:p>
            <a:pPr indent="0" marL="0">
              <a:buNone/>
            </a:pPr>
            <a:r>
              <a:rPr lang="en-US" sz="1400" dirty="0">
                <a:solidFill>
                  <a:srgbClr val="C9D8CF"/>
                </a:solidFill>
              </a:rPr>
              <a:t>+ hours on the floor, timetable, home bill</a:t>
            </a:r>
            <a:endParaRPr lang="en-US" sz="1400" dirty="0"/>
          </a:p>
        </p:txBody>
      </p:sp>
      <p:sp>
        <p:nvSpPr>
          <p:cNvPr id="49" name="Shape 47"/>
          <p:cNvSpPr/>
          <p:nvPr/>
        </p:nvSpPr>
        <p:spPr>
          <a:xfrm>
            <a:off x="9710928" y="4206240"/>
            <a:ext cx="1609344" cy="0"/>
          </a:xfrm>
          <a:prstGeom prst="line">
            <a:avLst/>
          </a:prstGeom>
          <a:noFill/>
          <a:ln w="12700">
            <a:solidFill>
              <a:srgbClr val="3E5A51"/>
            </a:solidFill>
            <a:prstDash val="solid"/>
          </a:ln>
        </p:spPr>
      </p:sp>
      <p:sp>
        <p:nvSpPr>
          <p:cNvPr id="50" name="Text 48"/>
          <p:cNvSpPr txBox="1"/>
          <p:nvPr/>
        </p:nvSpPr>
        <p:spPr>
          <a:xfrm>
            <a:off x="9710928" y="4343400"/>
            <a:ext cx="1645920" cy="914400"/>
          </a:xfrm>
          <a:prstGeom prst="rect">
            <a:avLst/>
          </a:prstGeom>
          <a:noFill/>
          <a:ln/>
        </p:spPr>
        <p:txBody>
          <a:bodyPr wrap="square" lIns="0" tIns="0" rIns="0" bIns="0" rtlCol="0" anchor="t"/>
          <a:lstStyle/>
          <a:p>
            <a:pPr indent="0" marL="0">
              <a:buNone/>
            </a:pPr>
            <a:r>
              <a:rPr lang="en-US" sz="1400" dirty="0">
                <a:solidFill>
                  <a:schemeClr val="accent2"/>
                </a:solidFill>
              </a:rPr>
              <a:t>App, entrance display, dashboard, alerts</a:t>
            </a:r>
            <a:endParaRPr lang="en-US" sz="14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DATA FLOW · RECORDS</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What travels between the components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2240280"/>
                <a:gridCol w="5486400"/>
                <a:gridCol w="1417320"/>
                <a:gridCol w="1673352"/>
              </a:tblGrid>
              <a:tr h="411480">
                <a:tc>
                  <a:txBody>
                    <a:bodyPr/>
                    <a:lstStyle/>
                    <a:p>
                      <a:pPr indent="0" marL="0">
                        <a:buNone/>
                      </a:pPr>
                      <a:r>
                        <a:rPr lang="en-US" sz="1500" b="1" dirty="0">
                          <a:solidFill>
                            <a:schemeClr val="tx1"/>
                          </a:solidFill>
                        </a:rPr>
                        <a:t>Record</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500" b="1" dirty="0">
                          <a:solidFill>
                            <a:schemeClr val="tx1"/>
                          </a:solidFill>
                        </a:rPr>
                        <a:t>Key fields</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500" b="1" dirty="0">
                          <a:solidFill>
                            <a:schemeClr val="tx1"/>
                          </a:solidFill>
                        </a:rPr>
                        <a:t>Rate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500" b="1" dirty="0">
                          <a:solidFill>
                            <a:schemeClr val="tx1"/>
                          </a:solidFill>
                        </a:rPr>
                        <a:t>Stored in</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411480">
                <a:tc>
                  <a:txBody>
                    <a:bodyPr/>
                    <a:lstStyle/>
                    <a:p>
                      <a:pPr indent="0" marL="0">
                        <a:buNone/>
                      </a:pPr>
                      <a:r>
                        <a:rPr lang="en-US" sz="1500" dirty="0">
                          <a:solidFill>
                            <a:schemeClr val="tx2"/>
                          </a:solidFill>
                        </a:rPr>
                        <a:t>Meter reading</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device, circuit, time, Irms, W, Wh</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every 10 s</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TimescaleDB</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11480">
                <a:tc>
                  <a:txBody>
                    <a:bodyPr/>
                    <a:lstStyle/>
                    <a:p>
                      <a:pPr indent="0" marL="0">
                        <a:buNone/>
                      </a:pPr>
                      <a:r>
                        <a:rPr lang="en-US" sz="1500" dirty="0">
                          <a:solidFill>
                            <a:schemeClr val="tx2"/>
                          </a:solidFill>
                        </a:rPr>
                        <a:t>Trip record</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user, start, end, km, mode, confidence, passengers</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per trip</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PostgreSQL</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11480">
                <a:tc>
                  <a:txBody>
                    <a:bodyPr/>
                    <a:lstStyle/>
                    <a:p>
                      <a:pPr indent="0" marL="0">
                        <a:buNone/>
                      </a:pPr>
                      <a:r>
                        <a:rPr lang="en-US" sz="1500" dirty="0">
                          <a:solidFill>
                            <a:schemeClr val="tx2"/>
                          </a:solidFill>
                        </a:rPr>
                        <a:t>Meal log</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user, dish, portion, time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per meal</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PostgreSQL</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11480">
                <a:tc>
                  <a:txBody>
                    <a:bodyPr/>
                    <a:lstStyle/>
                    <a:p>
                      <a:pPr indent="0" marL="0">
                        <a:buNone/>
                      </a:pPr>
                      <a:r>
                        <a:rPr lang="en-US" sz="1500" dirty="0">
                          <a:solidFill>
                            <a:schemeClr val="tx2"/>
                          </a:solidFill>
                        </a:rPr>
                        <a:t>Floor presence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user, date, hours on the floor</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daily</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PostgreSQL</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11480">
                <a:tc>
                  <a:txBody>
                    <a:bodyPr/>
                    <a:lstStyle/>
                    <a:p>
                      <a:pPr indent="0" marL="0">
                        <a:buNone/>
                      </a:pPr>
                      <a:r>
                        <a:rPr lang="en-US" sz="1500" dirty="0">
                          <a:solidFill>
                            <a:schemeClr val="tx2"/>
                          </a:solidFill>
                        </a:rPr>
                        <a:t>Timetable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room, day, hour, expected people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per term</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PostgreSQL</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11480">
                <a:tc>
                  <a:txBody>
                    <a:bodyPr/>
                    <a:lstStyle/>
                    <a:p>
                      <a:pPr indent="0" marL="0">
                        <a:buNone/>
                      </a:pPr>
                      <a:r>
                        <a:rPr lang="en-US" sz="1500" dirty="0">
                          <a:solidFill>
                            <a:schemeClr val="tx2"/>
                          </a:solidFill>
                        </a:rPr>
                        <a:t>Waste event</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circuit, start, end, kWh, confirmed</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when found</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PostgreSQL</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11480">
                <a:tc>
                  <a:txBody>
                    <a:bodyPr/>
                    <a:lstStyle/>
                    <a:p>
                      <a:pPr indent="0" marL="0">
                        <a:buNone/>
                      </a:pPr>
                      <a:r>
                        <a:rPr lang="en-US" sz="1500" dirty="0">
                          <a:solidFill>
                            <a:schemeClr val="tx2"/>
                          </a:solidFill>
                        </a:rPr>
                        <a:t>Daily footprint</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user or floor, date, items, total, color</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daily</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PostgreSQL</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Shape 2"/>
          <p:cNvSpPr/>
          <p:nvPr/>
        </p:nvSpPr>
        <p:spPr>
          <a:xfrm>
            <a:off x="685800" y="5349240"/>
            <a:ext cx="10817352" cy="868680"/>
          </a:xfrm>
          <a:prstGeom prst="roundRect">
            <a:avLst>
              <a:gd name="adj" fmla="val 12632"/>
            </a:avLst>
          </a:prstGeom>
          <a:solidFill>
            <a:schemeClr val="bg2"/>
          </a:solidFill>
          <a:ln/>
        </p:spPr>
      </p:sp>
      <p:sp>
        <p:nvSpPr>
          <p:cNvPr id="6" name="Text 3"/>
          <p:cNvSpPr txBox="1"/>
          <p:nvPr/>
        </p:nvSpPr>
        <p:spPr>
          <a:xfrm>
            <a:off x="1005840" y="5349240"/>
            <a:ext cx="10177272" cy="868680"/>
          </a:xfrm>
          <a:prstGeom prst="rect">
            <a:avLst/>
          </a:prstGeom>
          <a:noFill/>
          <a:ln/>
        </p:spPr>
        <p:txBody>
          <a:bodyPr wrap="square" lIns="0" tIns="0" rIns="0" bIns="0" rtlCol="0" anchor="ctr"/>
          <a:lstStyle/>
          <a:p>
            <a:pPr indent="0" marL="0">
              <a:buNone/>
            </a:pPr>
            <a:r>
              <a:rPr lang="en-US" sz="1500" b="1" dirty="0">
                <a:solidFill>
                  <a:schemeClr val="accent1"/>
                </a:solidFill>
              </a:rPr>
              <a:t>Privacy by design: </a:t>
            </a:r>
            <a:pPr indent="0" marL="0">
              <a:buNone/>
            </a:pPr>
            <a:r>
              <a:rPr lang="en-US" sz="1500" dirty="0">
                <a:solidFill>
                  <a:schemeClr val="tx1"/>
                </a:solidFill>
              </a:rPr>
              <a:t>photos and locations never leave the phone, presence is stored as hours only, volunteers are IDs instead of names, and raw GPS is deleted once the trip is summarized.</a:t>
            </a:r>
            <a:endParaRPr lang="en-US" sz="15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EQUATION 1 · THE CORE RULE</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Every footprint is activity × emission factor</a:t>
            </a:r>
            <a:endParaRPr lang="en-US" sz="3000" dirty="0"/>
          </a:p>
        </p:txBody>
      </p:sp>
      <p:sp>
        <p:nvSpPr>
          <p:cNvPr id="4" name="Shape 2"/>
          <p:cNvSpPr/>
          <p:nvPr/>
        </p:nvSpPr>
        <p:spPr>
          <a:xfrm>
            <a:off x="685800" y="1874520"/>
            <a:ext cx="4892040" cy="1143000"/>
          </a:xfrm>
          <a:prstGeom prst="roundRect">
            <a:avLst>
              <a:gd name="adj" fmla="val 9600"/>
            </a:avLst>
          </a:prstGeom>
          <a:solidFill>
            <a:schemeClr val="bg1"/>
          </a:solidFill>
          <a:ln w="12700">
            <a:solidFill>
              <a:srgbClr val="D9E0DA"/>
            </a:solidFill>
            <a:prstDash val="solid"/>
          </a:ln>
        </p:spPr>
      </p:sp>
      <p:pic>
        <p:nvPicPr>
          <p:cNvPr id="5" name="Image 0" descr="CO2e equals the sum over activities of activity amount times emission factor">    </p:cNvPr>
          <p:cNvPicPr>
            <a:picLocks noChangeAspect="1"/>
          </p:cNvPicPr>
          <p:nvPr/>
        </p:nvPicPr>
        <p:blipFill>
          <a:blip r:embed="rId1"/>
          <a:stretch>
            <a:fillRect/>
          </a:stretch>
        </p:blipFill>
        <p:spPr>
          <a:xfrm>
            <a:off x="1714500" y="2124671"/>
            <a:ext cx="2834640" cy="642699"/>
          </a:xfrm>
          <a:prstGeom prst="rect">
            <a:avLst/>
          </a:prstGeom>
        </p:spPr>
      </p:pic>
      <p:sp>
        <p:nvSpPr>
          <p:cNvPr id="6" name="Text 3"/>
          <p:cNvSpPr txBox="1"/>
          <p:nvPr/>
        </p:nvSpPr>
        <p:spPr>
          <a:xfrm>
            <a:off x="685800" y="3182112"/>
            <a:ext cx="4892040" cy="731520"/>
          </a:xfrm>
          <a:prstGeom prst="rect">
            <a:avLst/>
          </a:prstGeom>
          <a:noFill/>
          <a:ln/>
        </p:spPr>
        <p:txBody>
          <a:bodyPr wrap="square" lIns="0" tIns="0" rIns="0" bIns="0" rtlCol="0" anchor="t"/>
          <a:lstStyle/>
          <a:p>
            <a:pPr indent="0" marL="0">
              <a:buNone/>
            </a:pPr>
            <a:r>
              <a:rPr lang="en-US" sz="1500" dirty="0">
                <a:solidFill>
                  <a:schemeClr val="tx2"/>
                </a:solidFill>
              </a:rPr>
              <a:t>A</a:t>
            </a:r>
            <a:pPr indent="0" marL="0">
              <a:buNone/>
            </a:pPr>
            <a:r>
              <a:rPr lang="en-US" sz="1500" baseline="-40000" dirty="0">
                <a:solidFill>
                  <a:schemeClr val="accent1"/>
                </a:solidFill>
              </a:rPr>
              <a:t>i</a:t>
            </a:r>
            <a:pPr indent="0" marL="0">
              <a:buNone/>
            </a:pPr>
            <a:r>
              <a:rPr lang="en-US" sz="1500" dirty="0">
                <a:solidFill>
                  <a:schemeClr val="tx2"/>
                </a:solidFill>
              </a:rPr>
              <a:t> is the amount of activity i (kWh, km, kg) and EF</a:t>
            </a:r>
            <a:pPr indent="0" marL="0">
              <a:buNone/>
            </a:pPr>
            <a:r>
              <a:rPr lang="en-US" sz="1500" baseline="-40000" dirty="0">
                <a:solidFill>
                  <a:schemeClr val="accent1"/>
                </a:solidFill>
              </a:rPr>
              <a:t>i</a:t>
            </a:r>
            <a:pPr indent="0" marL="0">
              <a:buNone/>
            </a:pPr>
            <a:r>
              <a:rPr lang="en-US" sz="1500" dirty="0">
                <a:solidFill>
                  <a:schemeClr val="tx2"/>
                </a:solidFill>
              </a:rPr>
              <a:t> its emission factor in kg CO₂e per unit.</a:t>
            </a:r>
            <a:endParaRPr lang="en-US" sz="1500" dirty="0"/>
          </a:p>
        </p:txBody>
      </p:sp>
      <p:sp>
        <p:nvSpPr>
          <p:cNvPr id="7" name="Shape 4"/>
          <p:cNvSpPr/>
          <p:nvPr/>
        </p:nvSpPr>
        <p:spPr>
          <a:xfrm>
            <a:off x="685800" y="4069080"/>
            <a:ext cx="4892040" cy="2057400"/>
          </a:xfrm>
          <a:prstGeom prst="roundRect">
            <a:avLst>
              <a:gd name="adj" fmla="val 5333"/>
            </a:avLst>
          </a:prstGeom>
          <a:solidFill>
            <a:schemeClr val="tx1"/>
          </a:solidFill>
          <a:ln/>
        </p:spPr>
      </p:sp>
      <p:sp>
        <p:nvSpPr>
          <p:cNvPr id="8" name="Text 5"/>
          <p:cNvSpPr txBox="1"/>
          <p:nvPr/>
        </p:nvSpPr>
        <p:spPr>
          <a:xfrm>
            <a:off x="960120" y="4279392"/>
            <a:ext cx="4389120" cy="292608"/>
          </a:xfrm>
          <a:prstGeom prst="rect">
            <a:avLst/>
          </a:prstGeom>
          <a:noFill/>
          <a:ln/>
        </p:spPr>
        <p:txBody>
          <a:bodyPr wrap="square" lIns="0" tIns="0" rIns="0" bIns="0" rtlCol="0" anchor="t"/>
          <a:lstStyle/>
          <a:p>
            <a:pPr indent="0" marL="0">
              <a:buNone/>
            </a:pPr>
            <a:r>
              <a:rPr lang="en-US" sz="1300" b="1" dirty="0">
                <a:solidFill>
                  <a:schemeClr val="accent2"/>
                </a:solidFill>
              </a:rPr>
              <a:t>PERSONAL BUDGET = 2,500 kg ÷ 365 ≈ 6.8 kg</a:t>
            </a:r>
            <a:endParaRPr lang="en-US" sz="1300" dirty="0"/>
          </a:p>
        </p:txBody>
      </p:sp>
      <p:sp>
        <p:nvSpPr>
          <p:cNvPr id="9" name="Shape 6"/>
          <p:cNvSpPr/>
          <p:nvPr/>
        </p:nvSpPr>
        <p:spPr>
          <a:xfrm>
            <a:off x="960120" y="4754880"/>
            <a:ext cx="1371600" cy="1097280"/>
          </a:xfrm>
          <a:prstGeom prst="roundRect">
            <a:avLst>
              <a:gd name="adj" fmla="val 8333"/>
            </a:avLst>
          </a:prstGeom>
          <a:solidFill>
            <a:schemeClr val="accent2"/>
          </a:solidFill>
          <a:ln/>
        </p:spPr>
      </p:sp>
      <p:sp>
        <p:nvSpPr>
          <p:cNvPr id="10" name="Text 7"/>
          <p:cNvSpPr txBox="1"/>
          <p:nvPr/>
        </p:nvSpPr>
        <p:spPr>
          <a:xfrm>
            <a:off x="1097280" y="4864608"/>
            <a:ext cx="1143000" cy="320040"/>
          </a:xfrm>
          <a:prstGeom prst="rect">
            <a:avLst/>
          </a:prstGeom>
          <a:noFill/>
          <a:ln/>
        </p:spPr>
        <p:txBody>
          <a:bodyPr wrap="square" lIns="0" tIns="0" rIns="0" bIns="0" rtlCol="0" anchor="t"/>
          <a:lstStyle/>
          <a:p>
            <a:pPr indent="0" marL="0">
              <a:buNone/>
            </a:pPr>
            <a:r>
              <a:rPr lang="en-US" sz="1500" b="1" dirty="0">
                <a:solidFill>
                  <a:schemeClr val="tx1"/>
                </a:solidFill>
              </a:rPr>
              <a:t>Green</a:t>
            </a:r>
            <a:endParaRPr lang="en-US" sz="1500" dirty="0"/>
          </a:p>
        </p:txBody>
      </p:sp>
      <p:sp>
        <p:nvSpPr>
          <p:cNvPr id="11" name="Text 8"/>
          <p:cNvSpPr txBox="1"/>
          <p:nvPr/>
        </p:nvSpPr>
        <p:spPr>
          <a:xfrm>
            <a:off x="1097280" y="5212080"/>
            <a:ext cx="1188720" cy="502920"/>
          </a:xfrm>
          <a:prstGeom prst="rect">
            <a:avLst/>
          </a:prstGeom>
          <a:noFill/>
          <a:ln/>
        </p:spPr>
        <p:txBody>
          <a:bodyPr wrap="square" lIns="0" tIns="0" rIns="0" bIns="0" rtlCol="0" anchor="t"/>
          <a:lstStyle/>
          <a:p>
            <a:pPr indent="0" marL="0">
              <a:buNone/>
            </a:pPr>
            <a:r>
              <a:rPr lang="en-US" sz="1300" dirty="0">
                <a:solidFill>
                  <a:schemeClr val="tx1"/>
                </a:solidFill>
              </a:rPr>
              <a:t>≤ 4.8 kg (70%)</a:t>
            </a:r>
            <a:endParaRPr lang="en-US" sz="1300" dirty="0"/>
          </a:p>
        </p:txBody>
      </p:sp>
      <p:sp>
        <p:nvSpPr>
          <p:cNvPr id="12" name="Shape 9"/>
          <p:cNvSpPr/>
          <p:nvPr/>
        </p:nvSpPr>
        <p:spPr>
          <a:xfrm>
            <a:off x="2441448" y="4754880"/>
            <a:ext cx="1371600" cy="1097280"/>
          </a:xfrm>
          <a:prstGeom prst="roundRect">
            <a:avLst>
              <a:gd name="adj" fmla="val 8333"/>
            </a:avLst>
          </a:prstGeom>
          <a:solidFill>
            <a:schemeClr val="accent4"/>
          </a:solidFill>
          <a:ln/>
        </p:spPr>
      </p:sp>
      <p:sp>
        <p:nvSpPr>
          <p:cNvPr id="13" name="Text 10"/>
          <p:cNvSpPr txBox="1"/>
          <p:nvPr/>
        </p:nvSpPr>
        <p:spPr>
          <a:xfrm>
            <a:off x="2578608" y="4864608"/>
            <a:ext cx="1143000" cy="320040"/>
          </a:xfrm>
          <a:prstGeom prst="rect">
            <a:avLst/>
          </a:prstGeom>
          <a:noFill/>
          <a:ln/>
        </p:spPr>
        <p:txBody>
          <a:bodyPr wrap="square" lIns="0" tIns="0" rIns="0" bIns="0" rtlCol="0" anchor="t"/>
          <a:lstStyle/>
          <a:p>
            <a:pPr indent="0" marL="0">
              <a:buNone/>
            </a:pPr>
            <a:r>
              <a:rPr lang="en-US" sz="1500" b="1" dirty="0">
                <a:solidFill>
                  <a:schemeClr val="tx1"/>
                </a:solidFill>
              </a:rPr>
              <a:t>Yellow</a:t>
            </a:r>
            <a:endParaRPr lang="en-US" sz="1500" dirty="0"/>
          </a:p>
        </p:txBody>
      </p:sp>
      <p:sp>
        <p:nvSpPr>
          <p:cNvPr id="14" name="Text 11"/>
          <p:cNvSpPr txBox="1"/>
          <p:nvPr/>
        </p:nvSpPr>
        <p:spPr>
          <a:xfrm>
            <a:off x="2578608" y="5212080"/>
            <a:ext cx="1188720" cy="502920"/>
          </a:xfrm>
          <a:prstGeom prst="rect">
            <a:avLst/>
          </a:prstGeom>
          <a:noFill/>
          <a:ln/>
        </p:spPr>
        <p:txBody>
          <a:bodyPr wrap="square" lIns="0" tIns="0" rIns="0" bIns="0" rtlCol="0" anchor="t"/>
          <a:lstStyle/>
          <a:p>
            <a:pPr indent="0" marL="0">
              <a:buNone/>
            </a:pPr>
            <a:r>
              <a:rPr lang="en-US" sz="1300" dirty="0">
                <a:solidFill>
                  <a:schemeClr val="tx1"/>
                </a:solidFill>
              </a:rPr>
              <a:t>≤ 6.8 kg</a:t>
            </a:r>
            <a:endParaRPr lang="en-US" sz="1300" dirty="0"/>
          </a:p>
        </p:txBody>
      </p:sp>
      <p:sp>
        <p:nvSpPr>
          <p:cNvPr id="15" name="Shape 12"/>
          <p:cNvSpPr/>
          <p:nvPr/>
        </p:nvSpPr>
        <p:spPr>
          <a:xfrm>
            <a:off x="3922776" y="4754880"/>
            <a:ext cx="1371600" cy="1097280"/>
          </a:xfrm>
          <a:prstGeom prst="roundRect">
            <a:avLst>
              <a:gd name="adj" fmla="val 8333"/>
            </a:avLst>
          </a:prstGeom>
          <a:solidFill>
            <a:schemeClr val="accent3"/>
          </a:solidFill>
          <a:ln/>
        </p:spPr>
      </p:sp>
      <p:sp>
        <p:nvSpPr>
          <p:cNvPr id="16" name="Text 13"/>
          <p:cNvSpPr txBox="1"/>
          <p:nvPr/>
        </p:nvSpPr>
        <p:spPr>
          <a:xfrm>
            <a:off x="4059936" y="4864608"/>
            <a:ext cx="1143000" cy="320040"/>
          </a:xfrm>
          <a:prstGeom prst="rect">
            <a:avLst/>
          </a:prstGeom>
          <a:noFill/>
          <a:ln/>
        </p:spPr>
        <p:txBody>
          <a:bodyPr wrap="square" lIns="0" tIns="0" rIns="0" bIns="0" rtlCol="0" anchor="t"/>
          <a:lstStyle/>
          <a:p>
            <a:pPr indent="0" marL="0">
              <a:buNone/>
            </a:pPr>
            <a:r>
              <a:rPr lang="en-US" sz="1500" b="1" dirty="0">
                <a:solidFill>
                  <a:schemeClr val="bg1"/>
                </a:solidFill>
              </a:rPr>
              <a:t>Red</a:t>
            </a:r>
            <a:endParaRPr lang="en-US" sz="1500" dirty="0"/>
          </a:p>
        </p:txBody>
      </p:sp>
      <p:sp>
        <p:nvSpPr>
          <p:cNvPr id="17" name="Text 14"/>
          <p:cNvSpPr txBox="1"/>
          <p:nvPr/>
        </p:nvSpPr>
        <p:spPr>
          <a:xfrm>
            <a:off x="4059936" y="5212080"/>
            <a:ext cx="1188720" cy="502920"/>
          </a:xfrm>
          <a:prstGeom prst="rect">
            <a:avLst/>
          </a:prstGeom>
          <a:noFill/>
          <a:ln/>
        </p:spPr>
        <p:txBody>
          <a:bodyPr wrap="square" lIns="0" tIns="0" rIns="0" bIns="0" rtlCol="0" anchor="t"/>
          <a:lstStyle/>
          <a:p>
            <a:pPr indent="0" marL="0">
              <a:buNone/>
            </a:pPr>
            <a:r>
              <a:rPr lang="en-US" sz="1300" dirty="0">
                <a:solidFill>
                  <a:schemeClr val="bg1"/>
                </a:solidFill>
              </a:rPr>
              <a:t>&gt; 6.8 kg</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897880" y="1874520"/>
          <a:ext cx="5605272" cy="914400"/>
        </p:xfrm>
        <a:graphic>
          <a:graphicData uri="http://schemas.openxmlformats.org/drawingml/2006/table">
            <a:tbl>
              <a:tblPr/>
              <a:tblGrid>
                <a:gridCol w="2880360"/>
                <a:gridCol w="1417320"/>
                <a:gridCol w="1307592"/>
              </a:tblGrid>
              <a:tr h="384048">
                <a:tc>
                  <a:txBody>
                    <a:bodyPr/>
                    <a:lstStyle/>
                    <a:p>
                      <a:pPr indent="0" marL="0">
                        <a:buNone/>
                      </a:pPr>
                      <a:r>
                        <a:rPr lang="en-US" sz="1400" b="1" dirty="0">
                          <a:solidFill>
                            <a:schemeClr val="tx1"/>
                          </a:solidFill>
                        </a:rPr>
                        <a:t>Activity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Unit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kg CO₂e / unit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384048">
                <a:tc>
                  <a:txBody>
                    <a:bodyPr/>
                    <a:lstStyle/>
                    <a:p>
                      <a:pPr indent="0" marL="0">
                        <a:buNone/>
                      </a:pPr>
                      <a:r>
                        <a:rPr lang="en-US" sz="1400" dirty="0">
                          <a:solidFill>
                            <a:schemeClr val="tx2"/>
                          </a:solidFill>
                        </a:rPr>
                        <a:t>Egypt grid electricity (2024)</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kWh</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0.45</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Petrol car, ÷ passengers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km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0.17</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Microbus or bus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passenger-km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0.10</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Metro</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passenger-km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0.06</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Walking or cycling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km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0</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LPG cylinder (12.5 kg)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cylinder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37.5</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Beef (dairy to beef herd)</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kg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33 to 99.5</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Chicken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kg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9.9</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Rice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kg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4.5</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84048">
                <a:tc>
                  <a:txBody>
                    <a:bodyPr/>
                    <a:lstStyle/>
                    <a:p>
                      <a:pPr indent="0" marL="0">
                        <a:buNone/>
                      </a:pPr>
                      <a:r>
                        <a:rPr lang="en-US" sz="1400" dirty="0">
                          <a:solidFill>
                            <a:schemeClr val="tx2"/>
                          </a:solidFill>
                        </a:rPr>
                        <a:t>Lentils and beans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kg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1.8</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EQUATION 2 · A PERSON’S DAY</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One person’s daily footprint D, in kg CO₂e</a:t>
            </a:r>
            <a:endParaRPr lang="en-US" sz="3000" dirty="0"/>
          </a:p>
        </p:txBody>
      </p:sp>
      <p:sp>
        <p:nvSpPr>
          <p:cNvPr id="4" name="Shape 2"/>
          <p:cNvSpPr/>
          <p:nvPr/>
        </p:nvSpPr>
        <p:spPr>
          <a:xfrm>
            <a:off x="685800" y="1874520"/>
            <a:ext cx="10817352" cy="1600200"/>
          </a:xfrm>
          <a:prstGeom prst="roundRect">
            <a:avLst>
              <a:gd name="adj" fmla="val 6857"/>
            </a:avLst>
          </a:prstGeom>
          <a:solidFill>
            <a:schemeClr val="bg1"/>
          </a:solidFill>
          <a:ln w="12700">
            <a:solidFill>
              <a:srgbClr val="D9E0DA"/>
            </a:solidFill>
            <a:prstDash val="solid"/>
          </a:ln>
        </p:spPr>
      </p:sp>
      <p:pic>
        <p:nvPicPr>
          <p:cNvPr id="5" name="Image 0" descr="D equals the sum over trips of distance times mode factor plus the sum over meals of dish footprint times portion size">    </p:cNvPr>
          <p:cNvPicPr>
            <a:picLocks noChangeAspect="1"/>
          </p:cNvPicPr>
          <p:nvPr/>
        </p:nvPicPr>
        <p:blipFill>
          <a:blip r:embed="rId1"/>
          <a:stretch>
            <a:fillRect/>
          </a:stretch>
        </p:blipFill>
        <p:spPr>
          <a:xfrm>
            <a:off x="1051560" y="1993392"/>
            <a:ext cx="4846320" cy="711673"/>
          </a:xfrm>
          <a:prstGeom prst="rect">
            <a:avLst/>
          </a:prstGeom>
        </p:spPr>
      </p:pic>
      <p:pic>
        <p:nvPicPr>
          <p:cNvPr id="6" name="Image 1" descr="plus 0.45 times floor energy times the person’s hours on the floor over all person-hours, plus home electricity times 0.45 plus home gas, divided by household members">    </p:cNvPr>
          <p:cNvPicPr>
            <a:picLocks noChangeAspect="1"/>
          </p:cNvPicPr>
          <p:nvPr/>
        </p:nvPicPr>
        <p:blipFill>
          <a:blip r:embed="rId2"/>
          <a:stretch>
            <a:fillRect/>
          </a:stretch>
        </p:blipFill>
        <p:spPr>
          <a:xfrm>
            <a:off x="1051560" y="2743200"/>
            <a:ext cx="4663440" cy="634632"/>
          </a:xfrm>
          <a:prstGeom prst="rect">
            <a:avLst/>
          </a:prstGeom>
        </p:spPr>
      </p:pic>
      <p:sp>
        <p:nvSpPr>
          <p:cNvPr id="7" name="Text 3"/>
          <p:cNvSpPr txBox="1"/>
          <p:nvPr/>
        </p:nvSpPr>
        <p:spPr>
          <a:xfrm>
            <a:off x="685800" y="3639312"/>
            <a:ext cx="5303520" cy="329184"/>
          </a:xfrm>
          <a:prstGeom prst="rect">
            <a:avLst/>
          </a:prstGeom>
          <a:noFill/>
          <a:ln/>
        </p:spPr>
        <p:txBody>
          <a:bodyPr wrap="square" lIns="0" tIns="0" rIns="0" bIns="0" rtlCol="0" anchor="t"/>
          <a:lstStyle/>
          <a:p>
            <a:pPr indent="0" marL="0">
              <a:buNone/>
            </a:pPr>
            <a:r>
              <a:rPr lang="en-US" sz="1500" b="1" dirty="0">
                <a:solidFill>
                  <a:schemeClr val="tx1"/>
                </a:solidFill>
              </a:rPr>
              <a:t>d</a:t>
            </a:r>
            <a:pPr indent="0" marL="0">
              <a:buNone/>
            </a:pPr>
            <a:r>
              <a:rPr lang="en-US" sz="1500" dirty="0">
                <a:solidFill>
                  <a:schemeClr val="tx2"/>
                </a:solidFill>
              </a:rPr>
              <a:t> trip distance (km); </a:t>
            </a:r>
            <a:pPr indent="0" marL="0">
              <a:buNone/>
            </a:pPr>
            <a:r>
              <a:rPr lang="en-US" sz="1500" b="1" dirty="0">
                <a:solidFill>
                  <a:schemeClr val="tx1"/>
                </a:solidFill>
              </a:rPr>
              <a:t>f</a:t>
            </a:r>
            <a:pPr indent="0" marL="0">
              <a:buNone/>
            </a:pPr>
            <a:r>
              <a:rPr lang="en-US" sz="1500" b="1" baseline="-40000" dirty="0">
                <a:solidFill>
                  <a:schemeClr val="tx1"/>
                </a:solidFill>
              </a:rPr>
              <a:t>mode</a:t>
            </a:r>
            <a:pPr indent="0" marL="0">
              <a:buNone/>
            </a:pPr>
            <a:r>
              <a:rPr lang="en-US" sz="1500" dirty="0">
                <a:solidFill>
                  <a:schemeClr val="tx2"/>
                </a:solidFill>
              </a:rPr>
              <a:t> mode factor</a:t>
            </a:r>
            <a:endParaRPr lang="en-US" sz="1500" dirty="0"/>
          </a:p>
        </p:txBody>
      </p:sp>
      <p:sp>
        <p:nvSpPr>
          <p:cNvPr id="8" name="Text 4"/>
          <p:cNvSpPr txBox="1"/>
          <p:nvPr/>
        </p:nvSpPr>
        <p:spPr>
          <a:xfrm>
            <a:off x="6172200" y="3639312"/>
            <a:ext cx="5303520" cy="329184"/>
          </a:xfrm>
          <a:prstGeom prst="rect">
            <a:avLst/>
          </a:prstGeom>
          <a:noFill/>
          <a:ln/>
        </p:spPr>
        <p:txBody>
          <a:bodyPr wrap="square" lIns="0" tIns="0" rIns="0" bIns="0" rtlCol="0" anchor="t"/>
          <a:lstStyle/>
          <a:p>
            <a:pPr indent="0" marL="0">
              <a:buNone/>
            </a:pPr>
            <a:r>
              <a:rPr lang="en-US" sz="1500" b="1" dirty="0">
                <a:solidFill>
                  <a:schemeClr val="tx1"/>
                </a:solidFill>
              </a:rPr>
              <a:t>f</a:t>
            </a:r>
            <a:pPr indent="0" marL="0">
              <a:buNone/>
            </a:pPr>
            <a:r>
              <a:rPr lang="en-US" sz="1500" b="1" baseline="-40000" dirty="0">
                <a:solidFill>
                  <a:schemeClr val="tx1"/>
                </a:solidFill>
              </a:rPr>
              <a:t>dish</a:t>
            </a:r>
            <a:pPr indent="0" marL="0">
              <a:buNone/>
            </a:pPr>
            <a:r>
              <a:rPr lang="en-US" sz="1500" dirty="0">
                <a:solidFill>
                  <a:schemeClr val="tx2"/>
                </a:solidFill>
              </a:rPr>
              <a:t> meal footprint; </a:t>
            </a:r>
            <a:pPr indent="0" marL="0">
              <a:buNone/>
            </a:pPr>
            <a:r>
              <a:rPr lang="en-US" sz="1500" b="1" dirty="0">
                <a:solidFill>
                  <a:schemeClr val="tx1"/>
                </a:solidFill>
              </a:rPr>
              <a:t>s</a:t>
            </a:r>
            <a:pPr indent="0" marL="0">
              <a:buNone/>
            </a:pPr>
            <a:r>
              <a:rPr lang="en-US" sz="1500" dirty="0">
                <a:solidFill>
                  <a:schemeClr val="tx2"/>
                </a:solidFill>
              </a:rPr>
              <a:t> portion 0.7, 1 or 1.4</a:t>
            </a:r>
            <a:endParaRPr lang="en-US" sz="1500" dirty="0"/>
          </a:p>
        </p:txBody>
      </p:sp>
      <p:sp>
        <p:nvSpPr>
          <p:cNvPr id="9" name="Text 5"/>
          <p:cNvSpPr txBox="1"/>
          <p:nvPr/>
        </p:nvSpPr>
        <p:spPr>
          <a:xfrm>
            <a:off x="685800" y="4005072"/>
            <a:ext cx="5303520" cy="329184"/>
          </a:xfrm>
          <a:prstGeom prst="rect">
            <a:avLst/>
          </a:prstGeom>
          <a:noFill/>
          <a:ln/>
        </p:spPr>
        <p:txBody>
          <a:bodyPr wrap="square" lIns="0" tIns="0" rIns="0" bIns="0" rtlCol="0" anchor="t"/>
          <a:lstStyle/>
          <a:p>
            <a:pPr indent="0" marL="0">
              <a:buNone/>
            </a:pPr>
            <a:r>
              <a:rPr lang="en-US" sz="1500" b="1" dirty="0">
                <a:solidFill>
                  <a:schemeClr val="tx1"/>
                </a:solidFill>
              </a:rPr>
              <a:t>E</a:t>
            </a:r>
            <a:pPr indent="0" marL="0">
              <a:buNone/>
            </a:pPr>
            <a:r>
              <a:rPr lang="en-US" sz="1500" b="1" baseline="-40000" dirty="0">
                <a:solidFill>
                  <a:schemeClr val="tx1"/>
                </a:solidFill>
              </a:rPr>
              <a:t>floor</a:t>
            </a:r>
            <a:pPr indent="0" marL="0">
              <a:buNone/>
            </a:pPr>
            <a:r>
              <a:rPr lang="en-US" sz="1500" dirty="0">
                <a:solidFill>
                  <a:schemeClr val="tx2"/>
                </a:solidFill>
              </a:rPr>
              <a:t> floor kWh per day from the monitors</a:t>
            </a:r>
            <a:endParaRPr lang="en-US" sz="1500" dirty="0"/>
          </a:p>
        </p:txBody>
      </p:sp>
      <p:sp>
        <p:nvSpPr>
          <p:cNvPr id="10" name="Text 6"/>
          <p:cNvSpPr txBox="1"/>
          <p:nvPr/>
        </p:nvSpPr>
        <p:spPr>
          <a:xfrm>
            <a:off x="6172200" y="4005072"/>
            <a:ext cx="5303520" cy="329184"/>
          </a:xfrm>
          <a:prstGeom prst="rect">
            <a:avLst/>
          </a:prstGeom>
          <a:noFill/>
          <a:ln/>
        </p:spPr>
        <p:txBody>
          <a:bodyPr wrap="square" lIns="0" tIns="0" rIns="0" bIns="0" rtlCol="0" anchor="t"/>
          <a:lstStyle/>
          <a:p>
            <a:pPr indent="0" marL="0">
              <a:buNone/>
            </a:pPr>
            <a:r>
              <a:rPr lang="en-US" sz="1500" b="1" dirty="0">
                <a:solidFill>
                  <a:schemeClr val="tx1"/>
                </a:solidFill>
              </a:rPr>
              <a:t>h</a:t>
            </a:r>
            <a:pPr indent="0" marL="0">
              <a:buNone/>
            </a:pPr>
            <a:r>
              <a:rPr lang="en-US" sz="1500" b="1" baseline="-40000" dirty="0">
                <a:solidFill>
                  <a:schemeClr val="tx1"/>
                </a:solidFill>
              </a:rPr>
              <a:t>i</a:t>
            </a:r>
            <a:pPr indent="0" marL="0">
              <a:buNone/>
            </a:pPr>
            <a:r>
              <a:rPr lang="en-US" sz="1500" dirty="0">
                <a:solidFill>
                  <a:schemeClr val="tx2"/>
                </a:solidFill>
              </a:rPr>
              <a:t> your hours on the floor; </a:t>
            </a:r>
            <a:pPr indent="0" marL="0">
              <a:buNone/>
            </a:pPr>
            <a:r>
              <a:rPr lang="en-US" sz="1500" b="1" dirty="0">
                <a:solidFill>
                  <a:schemeClr val="tx1"/>
                </a:solidFill>
              </a:rPr>
              <a:t>H</a:t>
            </a:r>
            <a:pPr indent="0" marL="0">
              <a:buNone/>
            </a:pPr>
            <a:r>
              <a:rPr lang="en-US" sz="1500" dirty="0">
                <a:solidFill>
                  <a:schemeClr val="tx2"/>
                </a:solidFill>
              </a:rPr>
              <a:t> all person-hours</a:t>
            </a:r>
            <a:endParaRPr lang="en-US" sz="1500" dirty="0"/>
          </a:p>
        </p:txBody>
      </p:sp>
      <p:sp>
        <p:nvSpPr>
          <p:cNvPr id="11" name="Text 7"/>
          <p:cNvSpPr txBox="1"/>
          <p:nvPr/>
        </p:nvSpPr>
        <p:spPr>
          <a:xfrm>
            <a:off x="685800" y="4370832"/>
            <a:ext cx="5303520" cy="329184"/>
          </a:xfrm>
          <a:prstGeom prst="rect">
            <a:avLst/>
          </a:prstGeom>
          <a:noFill/>
          <a:ln/>
        </p:spPr>
        <p:txBody>
          <a:bodyPr wrap="square" lIns="0" tIns="0" rIns="0" bIns="0" rtlCol="0" anchor="t"/>
          <a:lstStyle/>
          <a:p>
            <a:pPr indent="0" marL="0">
              <a:buNone/>
            </a:pPr>
            <a:r>
              <a:rPr lang="en-US" sz="1500" b="1" dirty="0">
                <a:solidFill>
                  <a:schemeClr val="tx1"/>
                </a:solidFill>
              </a:rPr>
              <a:t>E</a:t>
            </a:r>
            <a:pPr indent="0" marL="0">
              <a:buNone/>
            </a:pPr>
            <a:r>
              <a:rPr lang="en-US" sz="1500" b="1" baseline="-40000" dirty="0">
                <a:solidFill>
                  <a:schemeClr val="tx1"/>
                </a:solidFill>
              </a:rPr>
              <a:t>home</a:t>
            </a:r>
            <a:pPr indent="0" marL="0">
              <a:buNone/>
            </a:pPr>
            <a:r>
              <a:rPr lang="en-US" sz="1500" dirty="0">
                <a:solidFill>
                  <a:schemeClr val="tx2"/>
                </a:solidFill>
              </a:rPr>
              <a:t> home kWh per day from the monthly bill (optional)</a:t>
            </a:r>
            <a:endParaRPr lang="en-US" sz="1500" dirty="0"/>
          </a:p>
        </p:txBody>
      </p:sp>
      <p:sp>
        <p:nvSpPr>
          <p:cNvPr id="12" name="Text 8"/>
          <p:cNvSpPr txBox="1"/>
          <p:nvPr/>
        </p:nvSpPr>
        <p:spPr>
          <a:xfrm>
            <a:off x="6172200" y="4370832"/>
            <a:ext cx="5303520" cy="329184"/>
          </a:xfrm>
          <a:prstGeom prst="rect">
            <a:avLst/>
          </a:prstGeom>
          <a:noFill/>
          <a:ln/>
        </p:spPr>
        <p:txBody>
          <a:bodyPr wrap="square" lIns="0" tIns="0" rIns="0" bIns="0" rtlCol="0" anchor="t"/>
          <a:lstStyle/>
          <a:p>
            <a:pPr indent="0" marL="0">
              <a:buNone/>
            </a:pPr>
            <a:r>
              <a:rPr lang="en-US" sz="1500" b="1" dirty="0">
                <a:solidFill>
                  <a:schemeClr val="tx1"/>
                </a:solidFill>
              </a:rPr>
              <a:t>G</a:t>
            </a:r>
            <a:pPr indent="0" marL="0">
              <a:buNone/>
            </a:pPr>
            <a:r>
              <a:rPr lang="en-US" sz="1500" dirty="0">
                <a:solidFill>
                  <a:schemeClr val="tx2"/>
                </a:solidFill>
              </a:rPr>
              <a:t> home gas: cylinders × 37.5 ÷ 30; </a:t>
            </a:r>
            <a:pPr indent="0" marL="0">
              <a:buNone/>
            </a:pPr>
            <a:r>
              <a:rPr lang="en-US" sz="1500" b="1" dirty="0">
                <a:solidFill>
                  <a:schemeClr val="tx1"/>
                </a:solidFill>
              </a:rPr>
              <a:t>N</a:t>
            </a:r>
            <a:pPr indent="0" marL="0">
              <a:buNone/>
            </a:pPr>
            <a:r>
              <a:rPr lang="en-US" sz="1500" b="1" baseline="-40000" dirty="0">
                <a:solidFill>
                  <a:schemeClr val="tx1"/>
                </a:solidFill>
              </a:rPr>
              <a:t>home</a:t>
            </a:r>
            <a:pPr indent="0" marL="0">
              <a:buNone/>
            </a:pPr>
            <a:r>
              <a:rPr lang="en-US" sz="1500" dirty="0">
                <a:solidFill>
                  <a:schemeClr val="tx2"/>
                </a:solidFill>
              </a:rPr>
              <a:t> members</a:t>
            </a:r>
            <a:endParaRPr lang="en-US" sz="1500" dirty="0"/>
          </a:p>
        </p:txBody>
      </p:sp>
      <p:sp>
        <p:nvSpPr>
          <p:cNvPr id="13" name="Shape 9"/>
          <p:cNvSpPr/>
          <p:nvPr/>
        </p:nvSpPr>
        <p:spPr>
          <a:xfrm>
            <a:off x="685800" y="4956048"/>
            <a:ext cx="1417320" cy="1005840"/>
          </a:xfrm>
          <a:prstGeom prst="roundRect">
            <a:avLst>
              <a:gd name="adj" fmla="val 9091"/>
            </a:avLst>
          </a:prstGeom>
          <a:solidFill>
            <a:schemeClr val="bg2"/>
          </a:solidFill>
          <a:ln/>
        </p:spPr>
      </p:sp>
      <p:sp>
        <p:nvSpPr>
          <p:cNvPr id="14" name="Text 10"/>
          <p:cNvSpPr txBox="1"/>
          <p:nvPr/>
        </p:nvSpPr>
        <p:spPr>
          <a:xfrm>
            <a:off x="822960" y="5047488"/>
            <a:ext cx="1234440" cy="292608"/>
          </a:xfrm>
          <a:prstGeom prst="rect">
            <a:avLst/>
          </a:prstGeom>
          <a:noFill/>
          <a:ln/>
        </p:spPr>
        <p:txBody>
          <a:bodyPr wrap="square" lIns="0" tIns="0" rIns="0" bIns="0" rtlCol="0" anchor="t"/>
          <a:lstStyle/>
          <a:p>
            <a:pPr indent="0" marL="0">
              <a:buNone/>
            </a:pPr>
            <a:r>
              <a:rPr lang="en-US" sz="1300" dirty="0">
                <a:solidFill>
                  <a:schemeClr val="tx2"/>
                </a:solidFill>
              </a:rPr>
              <a:t>Transport</a:t>
            </a:r>
            <a:endParaRPr lang="en-US" sz="1300" dirty="0"/>
          </a:p>
        </p:txBody>
      </p:sp>
      <p:sp>
        <p:nvSpPr>
          <p:cNvPr id="15" name="Text 11"/>
          <p:cNvSpPr txBox="1"/>
          <p:nvPr/>
        </p:nvSpPr>
        <p:spPr>
          <a:xfrm>
            <a:off x="822960" y="5349240"/>
            <a:ext cx="1234440" cy="457200"/>
          </a:xfrm>
          <a:prstGeom prst="rect">
            <a:avLst/>
          </a:prstGeom>
          <a:noFill/>
          <a:ln/>
        </p:spPr>
        <p:txBody>
          <a:bodyPr wrap="square" lIns="0" tIns="0" rIns="0" bIns="0" rtlCol="0" anchor="t"/>
          <a:lstStyle/>
          <a:p>
            <a:pPr indent="0" marL="0">
              <a:buNone/>
            </a:pPr>
            <a:r>
              <a:rPr lang="en-US" sz="2400" b="1" dirty="0">
                <a:solidFill>
                  <a:schemeClr val="tx1"/>
                </a:solidFill>
              </a:rPr>
              <a:t>2.0</a:t>
            </a:r>
            <a:endParaRPr lang="en-US" sz="2400" dirty="0"/>
          </a:p>
        </p:txBody>
      </p:sp>
      <p:sp>
        <p:nvSpPr>
          <p:cNvPr id="16" name="Shape 12"/>
          <p:cNvSpPr/>
          <p:nvPr/>
        </p:nvSpPr>
        <p:spPr>
          <a:xfrm>
            <a:off x="2267712" y="4956048"/>
            <a:ext cx="1417320" cy="1005840"/>
          </a:xfrm>
          <a:prstGeom prst="roundRect">
            <a:avLst>
              <a:gd name="adj" fmla="val 9091"/>
            </a:avLst>
          </a:prstGeom>
          <a:solidFill>
            <a:schemeClr val="bg2"/>
          </a:solidFill>
          <a:ln/>
        </p:spPr>
      </p:sp>
      <p:sp>
        <p:nvSpPr>
          <p:cNvPr id="17" name="Text 13"/>
          <p:cNvSpPr txBox="1"/>
          <p:nvPr/>
        </p:nvSpPr>
        <p:spPr>
          <a:xfrm>
            <a:off x="2404872" y="5047488"/>
            <a:ext cx="1234440" cy="292608"/>
          </a:xfrm>
          <a:prstGeom prst="rect">
            <a:avLst/>
          </a:prstGeom>
          <a:noFill/>
          <a:ln/>
        </p:spPr>
        <p:txBody>
          <a:bodyPr wrap="square" lIns="0" tIns="0" rIns="0" bIns="0" rtlCol="0" anchor="t"/>
          <a:lstStyle/>
          <a:p>
            <a:pPr indent="0" marL="0">
              <a:buNone/>
            </a:pPr>
            <a:r>
              <a:rPr lang="en-US" sz="1300" dirty="0">
                <a:solidFill>
                  <a:schemeClr val="tx2"/>
                </a:solidFill>
              </a:rPr>
              <a:t>Food</a:t>
            </a:r>
            <a:endParaRPr lang="en-US" sz="1300" dirty="0"/>
          </a:p>
        </p:txBody>
      </p:sp>
      <p:sp>
        <p:nvSpPr>
          <p:cNvPr id="18" name="Text 14"/>
          <p:cNvSpPr txBox="1"/>
          <p:nvPr/>
        </p:nvSpPr>
        <p:spPr>
          <a:xfrm>
            <a:off x="2404872" y="5349240"/>
            <a:ext cx="1234440" cy="457200"/>
          </a:xfrm>
          <a:prstGeom prst="rect">
            <a:avLst/>
          </a:prstGeom>
          <a:noFill/>
          <a:ln/>
        </p:spPr>
        <p:txBody>
          <a:bodyPr wrap="square" lIns="0" tIns="0" rIns="0" bIns="0" rtlCol="0" anchor="t"/>
          <a:lstStyle/>
          <a:p>
            <a:pPr indent="0" marL="0">
              <a:buNone/>
            </a:pPr>
            <a:r>
              <a:rPr lang="en-US" sz="2400" b="1" dirty="0">
                <a:solidFill>
                  <a:schemeClr val="tx1"/>
                </a:solidFill>
              </a:rPr>
              <a:t>2.6</a:t>
            </a:r>
            <a:endParaRPr lang="en-US" sz="2400" dirty="0"/>
          </a:p>
        </p:txBody>
      </p:sp>
      <p:sp>
        <p:nvSpPr>
          <p:cNvPr id="19" name="Shape 15"/>
          <p:cNvSpPr/>
          <p:nvPr/>
        </p:nvSpPr>
        <p:spPr>
          <a:xfrm>
            <a:off x="3849624" y="4956048"/>
            <a:ext cx="1417320" cy="1005840"/>
          </a:xfrm>
          <a:prstGeom prst="roundRect">
            <a:avLst>
              <a:gd name="adj" fmla="val 9091"/>
            </a:avLst>
          </a:prstGeom>
          <a:solidFill>
            <a:schemeClr val="bg2"/>
          </a:solidFill>
          <a:ln/>
        </p:spPr>
      </p:sp>
      <p:sp>
        <p:nvSpPr>
          <p:cNvPr id="20" name="Text 16"/>
          <p:cNvSpPr txBox="1"/>
          <p:nvPr/>
        </p:nvSpPr>
        <p:spPr>
          <a:xfrm>
            <a:off x="3986784" y="5047488"/>
            <a:ext cx="1234440" cy="292608"/>
          </a:xfrm>
          <a:prstGeom prst="rect">
            <a:avLst/>
          </a:prstGeom>
          <a:noFill/>
          <a:ln/>
        </p:spPr>
        <p:txBody>
          <a:bodyPr wrap="square" lIns="0" tIns="0" rIns="0" bIns="0" rtlCol="0" anchor="t"/>
          <a:lstStyle/>
          <a:p>
            <a:pPr indent="0" marL="0">
              <a:buNone/>
            </a:pPr>
            <a:r>
              <a:rPr lang="en-US" sz="1300" dirty="0">
                <a:solidFill>
                  <a:schemeClr val="tx2"/>
                </a:solidFill>
              </a:rPr>
              <a:t>Floor share</a:t>
            </a:r>
            <a:endParaRPr lang="en-US" sz="1300" dirty="0"/>
          </a:p>
        </p:txBody>
      </p:sp>
      <p:sp>
        <p:nvSpPr>
          <p:cNvPr id="21" name="Text 17"/>
          <p:cNvSpPr txBox="1"/>
          <p:nvPr/>
        </p:nvSpPr>
        <p:spPr>
          <a:xfrm>
            <a:off x="3986784" y="5349240"/>
            <a:ext cx="1234440" cy="457200"/>
          </a:xfrm>
          <a:prstGeom prst="rect">
            <a:avLst/>
          </a:prstGeom>
          <a:noFill/>
          <a:ln/>
        </p:spPr>
        <p:txBody>
          <a:bodyPr wrap="square" lIns="0" tIns="0" rIns="0" bIns="0" rtlCol="0" anchor="t"/>
          <a:lstStyle/>
          <a:p>
            <a:pPr indent="0" marL="0">
              <a:buNone/>
            </a:pPr>
            <a:r>
              <a:rPr lang="en-US" sz="2400" b="1" dirty="0">
                <a:solidFill>
                  <a:schemeClr val="tx1"/>
                </a:solidFill>
              </a:rPr>
              <a:t>0.6</a:t>
            </a:r>
            <a:endParaRPr lang="en-US" sz="2400" dirty="0"/>
          </a:p>
        </p:txBody>
      </p:sp>
      <p:sp>
        <p:nvSpPr>
          <p:cNvPr id="22" name="Shape 18"/>
          <p:cNvSpPr/>
          <p:nvPr/>
        </p:nvSpPr>
        <p:spPr>
          <a:xfrm>
            <a:off x="5431536" y="4956048"/>
            <a:ext cx="1417320" cy="1005840"/>
          </a:xfrm>
          <a:prstGeom prst="roundRect">
            <a:avLst>
              <a:gd name="adj" fmla="val 9091"/>
            </a:avLst>
          </a:prstGeom>
          <a:solidFill>
            <a:schemeClr val="bg2"/>
          </a:solidFill>
          <a:ln/>
        </p:spPr>
      </p:sp>
      <p:sp>
        <p:nvSpPr>
          <p:cNvPr id="23" name="Text 19"/>
          <p:cNvSpPr txBox="1"/>
          <p:nvPr/>
        </p:nvSpPr>
        <p:spPr>
          <a:xfrm>
            <a:off x="5568696" y="5047488"/>
            <a:ext cx="1234440" cy="292608"/>
          </a:xfrm>
          <a:prstGeom prst="rect">
            <a:avLst/>
          </a:prstGeom>
          <a:noFill/>
          <a:ln/>
        </p:spPr>
        <p:txBody>
          <a:bodyPr wrap="square" lIns="0" tIns="0" rIns="0" bIns="0" rtlCol="0" anchor="t"/>
          <a:lstStyle/>
          <a:p>
            <a:pPr indent="0" marL="0">
              <a:buNone/>
            </a:pPr>
            <a:r>
              <a:rPr lang="en-US" sz="1300" dirty="0">
                <a:solidFill>
                  <a:schemeClr val="tx2"/>
                </a:solidFill>
              </a:rPr>
              <a:t>Home</a:t>
            </a:r>
            <a:endParaRPr lang="en-US" sz="1300" dirty="0"/>
          </a:p>
        </p:txBody>
      </p:sp>
      <p:sp>
        <p:nvSpPr>
          <p:cNvPr id="24" name="Text 20"/>
          <p:cNvSpPr txBox="1"/>
          <p:nvPr/>
        </p:nvSpPr>
        <p:spPr>
          <a:xfrm>
            <a:off x="5568696" y="5349240"/>
            <a:ext cx="1234440" cy="457200"/>
          </a:xfrm>
          <a:prstGeom prst="rect">
            <a:avLst/>
          </a:prstGeom>
          <a:noFill/>
          <a:ln/>
        </p:spPr>
        <p:txBody>
          <a:bodyPr wrap="square" lIns="0" tIns="0" rIns="0" bIns="0" rtlCol="0" anchor="t"/>
          <a:lstStyle/>
          <a:p>
            <a:pPr indent="0" marL="0">
              <a:buNone/>
            </a:pPr>
            <a:r>
              <a:rPr lang="en-US" sz="2400" b="1" dirty="0">
                <a:solidFill>
                  <a:schemeClr val="tx1"/>
                </a:solidFill>
              </a:rPr>
              <a:t>1.2</a:t>
            </a:r>
            <a:endParaRPr lang="en-US" sz="2400" dirty="0"/>
          </a:p>
        </p:txBody>
      </p:sp>
      <p:sp>
        <p:nvSpPr>
          <p:cNvPr id="25" name="Shape 21"/>
          <p:cNvSpPr/>
          <p:nvPr/>
        </p:nvSpPr>
        <p:spPr>
          <a:xfrm>
            <a:off x="7013448" y="4956048"/>
            <a:ext cx="4489704" cy="1005840"/>
          </a:xfrm>
          <a:prstGeom prst="roundRect">
            <a:avLst>
              <a:gd name="adj" fmla="val 9091"/>
            </a:avLst>
          </a:prstGeom>
          <a:solidFill>
            <a:schemeClr val="accent4"/>
          </a:solidFill>
          <a:ln/>
        </p:spPr>
      </p:sp>
      <p:sp>
        <p:nvSpPr>
          <p:cNvPr id="26" name="Text 22"/>
          <p:cNvSpPr txBox="1"/>
          <p:nvPr/>
        </p:nvSpPr>
        <p:spPr>
          <a:xfrm>
            <a:off x="7242048" y="5047488"/>
            <a:ext cx="3840480" cy="292608"/>
          </a:xfrm>
          <a:prstGeom prst="rect">
            <a:avLst/>
          </a:prstGeom>
          <a:noFill/>
          <a:ln/>
        </p:spPr>
        <p:txBody>
          <a:bodyPr wrap="square" lIns="0" tIns="0" rIns="0" bIns="0" rtlCol="0" anchor="t"/>
          <a:lstStyle/>
          <a:p>
            <a:pPr indent="0" marL="0">
              <a:buNone/>
            </a:pPr>
            <a:r>
              <a:rPr lang="en-US" sz="1300" dirty="0">
                <a:solidFill>
                  <a:schemeClr val="tx1"/>
                </a:solidFill>
              </a:rPr>
              <a:t>Example day total</a:t>
            </a:r>
            <a:endParaRPr lang="en-US" sz="1300" dirty="0"/>
          </a:p>
        </p:txBody>
      </p:sp>
      <p:sp>
        <p:nvSpPr>
          <p:cNvPr id="27" name="Text 23"/>
          <p:cNvSpPr txBox="1"/>
          <p:nvPr/>
        </p:nvSpPr>
        <p:spPr>
          <a:xfrm>
            <a:off x="7242048" y="5349240"/>
            <a:ext cx="4114800" cy="457200"/>
          </a:xfrm>
          <a:prstGeom prst="rect">
            <a:avLst/>
          </a:prstGeom>
          <a:noFill/>
          <a:ln/>
        </p:spPr>
        <p:txBody>
          <a:bodyPr wrap="square" lIns="0" tIns="0" rIns="0" bIns="0" rtlCol="0" anchor="t"/>
          <a:lstStyle/>
          <a:p>
            <a:pPr indent="0" marL="0">
              <a:buNone/>
            </a:pPr>
            <a:r>
              <a:rPr lang="en-US" sz="2400" b="1" dirty="0">
                <a:solidFill>
                  <a:schemeClr val="tx1"/>
                </a:solidFill>
              </a:rPr>
              <a:t>6.4 kg · 94% · yellow</a:t>
            </a:r>
            <a:endParaRPr lang="en-US" sz="24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EQUATION 3 · MEALS</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A meal’s footprint comes from its ingredients</a:t>
            </a:r>
            <a:endParaRPr lang="en-US" sz="3000" dirty="0"/>
          </a:p>
        </p:txBody>
      </p:sp>
      <p:sp>
        <p:nvSpPr>
          <p:cNvPr id="4" name="Shape 2"/>
          <p:cNvSpPr/>
          <p:nvPr/>
        </p:nvSpPr>
        <p:spPr>
          <a:xfrm>
            <a:off x="685800" y="1874520"/>
            <a:ext cx="10817352" cy="1280160"/>
          </a:xfrm>
          <a:prstGeom prst="roundRect">
            <a:avLst>
              <a:gd name="adj" fmla="val 8571"/>
            </a:avLst>
          </a:prstGeom>
          <a:solidFill>
            <a:schemeClr val="bg1"/>
          </a:solidFill>
          <a:ln w="12700">
            <a:solidFill>
              <a:srgbClr val="D9E0DA"/>
            </a:solidFill>
            <a:prstDash val="solid"/>
          </a:ln>
        </p:spPr>
      </p:sp>
      <p:pic>
        <p:nvPicPr>
          <p:cNvPr id="5" name="Image 0" descr="Dish footprint equals the sum over ingredients of raw weight times emission factor; meal footprint equals dish footprint times portion size">    </p:cNvPr>
          <p:cNvPicPr>
            <a:picLocks noChangeAspect="1"/>
          </p:cNvPicPr>
          <p:nvPr/>
        </p:nvPicPr>
        <p:blipFill>
          <a:blip r:embed="rId1"/>
          <a:stretch>
            <a:fillRect/>
          </a:stretch>
        </p:blipFill>
        <p:spPr>
          <a:xfrm>
            <a:off x="1051560" y="2002536"/>
            <a:ext cx="5120640" cy="647148"/>
          </a:xfrm>
          <a:prstGeom prst="rect">
            <a:avLst/>
          </a:prstGeom>
        </p:spPr>
      </p:pic>
      <p:sp>
        <p:nvSpPr>
          <p:cNvPr id="6" name="Text 3"/>
          <p:cNvSpPr txBox="1"/>
          <p:nvPr/>
        </p:nvSpPr>
        <p:spPr>
          <a:xfrm>
            <a:off x="1051560" y="2743200"/>
            <a:ext cx="10085832" cy="292608"/>
          </a:xfrm>
          <a:prstGeom prst="rect">
            <a:avLst/>
          </a:prstGeom>
          <a:noFill/>
          <a:ln/>
        </p:spPr>
        <p:txBody>
          <a:bodyPr wrap="square" lIns="0" tIns="0" rIns="0" bIns="0" rtlCol="0" anchor="t"/>
          <a:lstStyle/>
          <a:p>
            <a:pPr indent="0" marL="0">
              <a:buNone/>
            </a:pPr>
            <a:r>
              <a:rPr lang="en-US" sz="1300" dirty="0">
                <a:solidFill>
                  <a:schemeClr val="accent5"/>
                </a:solidFill>
              </a:rPr>
              <a:t>w j = raw weight of ingredient j in kg · EF j = its factor (Poore and Nemecek) · s = portion size chosen by the user</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3383280"/>
          <a:ext cx="10817352" cy="914400"/>
        </p:xfrm>
        <a:graphic>
          <a:graphicData uri="http://schemas.openxmlformats.org/drawingml/2006/table">
            <a:tbl>
              <a:tblPr/>
              <a:tblGrid>
                <a:gridCol w="2743200"/>
                <a:gridCol w="5971032"/>
                <a:gridCol w="2103120"/>
              </a:tblGrid>
              <a:tr h="475488">
                <a:tc>
                  <a:txBody>
                    <a:bodyPr/>
                    <a:lstStyle/>
                    <a:p>
                      <a:pPr indent="0" marL="0">
                        <a:buNone/>
                      </a:pPr>
                      <a:r>
                        <a:rPr lang="en-US" sz="1600" b="1" dirty="0">
                          <a:solidFill>
                            <a:schemeClr val="tx1"/>
                          </a:solidFill>
                        </a:rPr>
                        <a:t>Dish (medium plate)</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600" b="1" dirty="0">
                          <a:solidFill>
                            <a:schemeClr val="tx1"/>
                          </a:solidFill>
                        </a:rPr>
                        <a:t>Ingredients, raw weight</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600" b="1" dirty="0">
                          <a:solidFill>
                            <a:schemeClr val="tx1"/>
                          </a:solidFill>
                        </a:rPr>
                        <a:t>kg CO₂e</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475488">
                <a:tc>
                  <a:txBody>
                    <a:bodyPr/>
                    <a:lstStyle/>
                    <a:p>
                      <a:pPr indent="0" marL="0">
                        <a:buNone/>
                      </a:pPr>
                      <a:r>
                        <a:rPr lang="en-US" sz="1600" dirty="0">
                          <a:solidFill>
                            <a:schemeClr val="tx2"/>
                          </a:solidFill>
                        </a:rPr>
                        <a:t>Koshary</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600" dirty="0">
                          <a:solidFill>
                            <a:schemeClr val="tx2"/>
                          </a:solidFill>
                        </a:rPr>
                        <a:t>rice 100 g, lentils 50, pasta 50, tomato 50, onion 30</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600" dirty="0">
                          <a:solidFill>
                            <a:schemeClr val="tx2"/>
                          </a:solidFill>
                        </a:rPr>
                        <a:t>0.73</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75488">
                <a:tc>
                  <a:txBody>
                    <a:bodyPr/>
                    <a:lstStyle/>
                    <a:p>
                      <a:pPr indent="0" marL="0">
                        <a:buNone/>
                      </a:pPr>
                      <a:r>
                        <a:rPr lang="en-US" sz="1600" dirty="0">
                          <a:solidFill>
                            <a:schemeClr val="tx2"/>
                          </a:solidFill>
                        </a:rPr>
                        <a:t>Chicken with rice</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600" dirty="0">
                          <a:solidFill>
                            <a:schemeClr val="tx2"/>
                          </a:solidFill>
                        </a:rPr>
                        <a:t>chicken 150 g, rice 100</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600" dirty="0">
                          <a:solidFill>
                            <a:schemeClr val="tx2"/>
                          </a:solidFill>
                        </a:rPr>
                        <a:t>1.93</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75488">
                <a:tc>
                  <a:txBody>
                    <a:bodyPr/>
                    <a:lstStyle/>
                    <a:p>
                      <a:pPr indent="0" marL="0">
                        <a:buNone/>
                      </a:pPr>
                      <a:r>
                        <a:rPr lang="en-US" sz="1600" dirty="0">
                          <a:solidFill>
                            <a:schemeClr val="tx2"/>
                          </a:solidFill>
                        </a:rPr>
                        <a:t>Beef with rice</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600" dirty="0">
                          <a:solidFill>
                            <a:schemeClr val="tx2"/>
                          </a:solidFill>
                        </a:rPr>
                        <a:t>beef 150 g, rice 100</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600" dirty="0">
                          <a:solidFill>
                            <a:schemeClr val="tx2"/>
                          </a:solidFill>
                        </a:rPr>
                        <a:t>5.4 to 15.4</a:t>
                      </a:r>
                      <a:endParaRPr lang="en-US" sz="16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8" name="Shape 4"/>
          <p:cNvSpPr/>
          <p:nvPr/>
        </p:nvSpPr>
        <p:spPr>
          <a:xfrm>
            <a:off x="685800" y="5349240"/>
            <a:ext cx="10817352" cy="777240"/>
          </a:xfrm>
          <a:prstGeom prst="roundRect">
            <a:avLst>
              <a:gd name="adj" fmla="val 14118"/>
            </a:avLst>
          </a:prstGeom>
          <a:solidFill>
            <a:schemeClr val="bg2"/>
          </a:solidFill>
          <a:ln/>
        </p:spPr>
      </p:sp>
      <p:sp>
        <p:nvSpPr>
          <p:cNvPr id="9" name="Text 5"/>
          <p:cNvSpPr txBox="1"/>
          <p:nvPr/>
        </p:nvSpPr>
        <p:spPr>
          <a:xfrm>
            <a:off x="1005840" y="5349240"/>
            <a:ext cx="10177272" cy="777240"/>
          </a:xfrm>
          <a:prstGeom prst="rect">
            <a:avLst/>
          </a:prstGeom>
          <a:noFill/>
          <a:ln/>
        </p:spPr>
        <p:txBody>
          <a:bodyPr wrap="square" lIns="0" tIns="0" rIns="0" bIns="0" rtlCol="0" anchor="ctr"/>
          <a:lstStyle/>
          <a:p>
            <a:pPr indent="0" marL="0">
              <a:buNone/>
            </a:pPr>
            <a:r>
              <a:rPr lang="en-US" sz="1600" dirty="0">
                <a:solidFill>
                  <a:schemeClr val="tx1"/>
                </a:solidFill>
              </a:rPr>
              <a:t>The team builds this table for 20 dishes, including the faculty cafeteria menu. Beef uses the dairy-herd factor (33) as a conservative value.</a:t>
            </a:r>
            <a:endParaRPr lang="en-US" sz="16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EQUATION 4 · THE FLOOR</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The floor’s footprint, intensity and after-hours waste</a:t>
            </a:r>
            <a:endParaRPr lang="en-US" sz="3000" dirty="0"/>
          </a:p>
        </p:txBody>
      </p:sp>
      <p:sp>
        <p:nvSpPr>
          <p:cNvPr id="4" name="Shape 2"/>
          <p:cNvSpPr/>
          <p:nvPr/>
        </p:nvSpPr>
        <p:spPr>
          <a:xfrm>
            <a:off x="685800" y="1874520"/>
            <a:ext cx="10817352" cy="1005840"/>
          </a:xfrm>
          <a:prstGeom prst="roundRect">
            <a:avLst>
              <a:gd name="adj" fmla="val 10909"/>
            </a:avLst>
          </a:prstGeom>
          <a:solidFill>
            <a:schemeClr val="bg1"/>
          </a:solidFill>
          <a:ln w="12700">
            <a:solidFill>
              <a:srgbClr val="D9E0DA"/>
            </a:solidFill>
            <a:prstDash val="solid"/>
          </a:ln>
        </p:spPr>
      </p:sp>
      <p:pic>
        <p:nvPicPr>
          <p:cNvPr id="5" name="Image 0" descr="C floor equals 0.45 times floor energy; intensity I equals C floor over person-hours H; ratio r equals floor energy over baseline energy">    </p:cNvPr>
          <p:cNvPicPr>
            <a:picLocks noChangeAspect="1"/>
          </p:cNvPicPr>
          <p:nvPr/>
        </p:nvPicPr>
        <p:blipFill>
          <a:blip r:embed="rId1"/>
          <a:stretch>
            <a:fillRect/>
          </a:stretch>
        </p:blipFill>
        <p:spPr>
          <a:xfrm>
            <a:off x="2756916" y="2058444"/>
            <a:ext cx="6675120" cy="637993"/>
          </a:xfrm>
          <a:prstGeom prst="rect">
            <a:avLst/>
          </a:prstGeom>
        </p:spPr>
      </p:pic>
      <p:sp>
        <p:nvSpPr>
          <p:cNvPr id="6" name="Shape 3"/>
          <p:cNvSpPr/>
          <p:nvPr/>
        </p:nvSpPr>
        <p:spPr>
          <a:xfrm>
            <a:off x="685800" y="3017520"/>
            <a:ext cx="10817352" cy="1005840"/>
          </a:xfrm>
          <a:prstGeom prst="roundRect">
            <a:avLst>
              <a:gd name="adj" fmla="val 10909"/>
            </a:avLst>
          </a:prstGeom>
          <a:solidFill>
            <a:schemeClr val="bg1"/>
          </a:solidFill>
          <a:ln w="12700">
            <a:solidFill>
              <a:srgbClr val="D9E0DA"/>
            </a:solidFill>
            <a:prstDash val="solid"/>
          </a:ln>
        </p:spPr>
      </p:sp>
      <p:pic>
        <p:nvPicPr>
          <p:cNvPr id="7" name="Image 1" descr="Waste W equals the sum over hours outside working time of the power above the base load times the time step">    </p:cNvPr>
          <p:cNvPicPr>
            <a:picLocks noChangeAspect="1"/>
          </p:cNvPicPr>
          <p:nvPr/>
        </p:nvPicPr>
        <p:blipFill>
          <a:blip r:embed="rId2"/>
          <a:stretch>
            <a:fillRect/>
          </a:stretch>
        </p:blipFill>
        <p:spPr>
          <a:xfrm>
            <a:off x="3717036" y="3211204"/>
            <a:ext cx="4754880" cy="618471"/>
          </a:xfrm>
          <a:prstGeom prst="rect">
            <a:avLst/>
          </a:prstGeom>
        </p:spPr>
      </p:pic>
      <p:sp>
        <p:nvSpPr>
          <p:cNvPr id="8" name="Text 4"/>
          <p:cNvSpPr txBox="1"/>
          <p:nvPr/>
        </p:nvSpPr>
        <p:spPr>
          <a:xfrm>
            <a:off x="685800" y="4224528"/>
            <a:ext cx="5943600" cy="173736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E</a:t>
            </a:r>
            <a:pPr indent="0" marL="0">
              <a:spcAft>
                <a:spcPts val="600"/>
              </a:spcAft>
              <a:buNone/>
            </a:pPr>
            <a:r>
              <a:rPr lang="en-US" sz="1500" b="1" baseline="-40000" dirty="0">
                <a:solidFill>
                  <a:schemeClr val="tx1"/>
                </a:solidFill>
              </a:rPr>
              <a:t>floor</a:t>
            </a:r>
            <a:pPr indent="0" marL="0">
              <a:spcAft>
                <a:spcPts val="600"/>
              </a:spcAft>
              <a:buNone/>
            </a:pPr>
            <a:r>
              <a:rPr lang="en-US" sz="1500" dirty="0">
                <a:solidFill>
                  <a:schemeClr val="tx2"/>
                </a:solidFill>
              </a:rPr>
              <a:t> floor kWh per day, all three phases</a:t>
            </a:r>
            <a:pPr indent="0" marL="0">
              <a:spcAft>
                <a:spcPts val="600"/>
              </a:spcAft>
              <a:buNone/>
            </a:pPr>
            <a:endParaRPr lang="en-US" sz="1500" dirty="0"/>
          </a:p>
          <a:p>
            <a:pPr indent="0" marL="0">
              <a:spcAft>
                <a:spcPts val="600"/>
              </a:spcAft>
              <a:buNone/>
            </a:pPr>
            <a:r>
              <a:rPr lang="en-US" sz="1500" b="1" dirty="0">
                <a:solidFill>
                  <a:schemeClr val="tx1"/>
                </a:solidFill>
              </a:rPr>
              <a:t>I</a:t>
            </a:r>
            <a:pPr indent="0" marL="0">
              <a:spcAft>
                <a:spcPts val="600"/>
              </a:spcAft>
              <a:buNone/>
            </a:pPr>
            <a:r>
              <a:rPr lang="en-US" sz="1500" dirty="0">
                <a:solidFill>
                  <a:schemeClr val="tx2"/>
                </a:solidFill>
              </a:rPr>
              <a:t> kg CO₂e per person-hour; </a:t>
            </a:r>
            <a:pPr indent="0" marL="0">
              <a:spcAft>
                <a:spcPts val="600"/>
              </a:spcAft>
              <a:buNone/>
            </a:pPr>
            <a:r>
              <a:rPr lang="en-US" sz="1500" b="1" dirty="0">
                <a:solidFill>
                  <a:schemeClr val="tx1"/>
                </a:solidFill>
              </a:rPr>
              <a:t>H</a:t>
            </a:r>
            <a:pPr indent="0" marL="0">
              <a:spcAft>
                <a:spcPts val="600"/>
              </a:spcAft>
              <a:buNone/>
            </a:pPr>
            <a:r>
              <a:rPr lang="en-US" sz="1500" dirty="0">
                <a:solidFill>
                  <a:schemeClr val="tx2"/>
                </a:solidFill>
              </a:rPr>
              <a:t> person-hours from the timetable</a:t>
            </a:r>
            <a:pPr indent="0" marL="0">
              <a:spcAft>
                <a:spcPts val="600"/>
              </a:spcAft>
              <a:buNone/>
            </a:pPr>
            <a:endParaRPr lang="en-US" sz="1500" dirty="0"/>
          </a:p>
          <a:p>
            <a:pPr indent="0" marL="0">
              <a:spcAft>
                <a:spcPts val="600"/>
              </a:spcAft>
              <a:buNone/>
            </a:pPr>
            <a:r>
              <a:rPr lang="en-US" sz="1500" b="1" dirty="0">
                <a:solidFill>
                  <a:schemeClr val="tx1"/>
                </a:solidFill>
              </a:rPr>
              <a:t>E</a:t>
            </a:r>
            <a:pPr indent="0" marL="0">
              <a:spcAft>
                <a:spcPts val="600"/>
              </a:spcAft>
              <a:buNone/>
            </a:pPr>
            <a:r>
              <a:rPr lang="en-US" sz="1500" b="1" baseline="-40000" dirty="0">
                <a:solidFill>
                  <a:schemeClr val="tx1"/>
                </a:solidFill>
              </a:rPr>
              <a:t>base</a:t>
            </a:r>
            <a:pPr indent="0" marL="0">
              <a:spcAft>
                <a:spcPts val="600"/>
              </a:spcAft>
              <a:buNone/>
            </a:pPr>
            <a:r>
              <a:rPr lang="en-US" sz="1500" dirty="0">
                <a:solidFill>
                  <a:schemeClr val="tx2"/>
                </a:solidFill>
              </a:rPr>
              <a:t> same weekday, first 3 weeks (before feedback)</a:t>
            </a:r>
            <a:pPr indent="0" marL="0">
              <a:spcAft>
                <a:spcPts val="600"/>
              </a:spcAft>
              <a:buNone/>
            </a:pPr>
            <a:endParaRPr lang="en-US" sz="1500" dirty="0"/>
          </a:p>
          <a:p>
            <a:pPr indent="0" marL="0">
              <a:spcAft>
                <a:spcPts val="600"/>
              </a:spcAft>
              <a:buNone/>
            </a:pPr>
            <a:r>
              <a:rPr lang="en-US" sz="1500" b="1" dirty="0">
                <a:solidFill>
                  <a:schemeClr val="tx1"/>
                </a:solidFill>
              </a:rPr>
              <a:t>T</a:t>
            </a:r>
            <a:pPr indent="0" marL="0">
              <a:spcAft>
                <a:spcPts val="600"/>
              </a:spcAft>
              <a:buNone/>
            </a:pPr>
            <a:r>
              <a:rPr lang="en-US" sz="1500" b="1" baseline="-40000" dirty="0">
                <a:solidFill>
                  <a:schemeClr val="tx1"/>
                </a:solidFill>
              </a:rPr>
              <a:t>work</a:t>
            </a:r>
            <a:pPr indent="0" marL="0">
              <a:spcAft>
                <a:spcPts val="600"/>
              </a:spcAft>
              <a:buNone/>
            </a:pPr>
            <a:r>
              <a:rPr lang="en-US" sz="1500" dirty="0">
                <a:solidFill>
                  <a:schemeClr val="tx2"/>
                </a:solidFill>
              </a:rPr>
              <a:t> timetable hours; </a:t>
            </a:r>
            <a:pPr indent="0" marL="0">
              <a:spcAft>
                <a:spcPts val="600"/>
              </a:spcAft>
              <a:buNone/>
            </a:pPr>
            <a:r>
              <a:rPr lang="en-US" sz="1500" b="1" dirty="0">
                <a:solidFill>
                  <a:schemeClr val="tx1"/>
                </a:solidFill>
              </a:rPr>
              <a:t>P</a:t>
            </a:r>
            <a:pPr indent="0" marL="0">
              <a:spcAft>
                <a:spcPts val="600"/>
              </a:spcAft>
              <a:buNone/>
            </a:pPr>
            <a:r>
              <a:rPr lang="en-US" sz="1500" b="1" baseline="-40000" dirty="0">
                <a:solidFill>
                  <a:schemeClr val="tx1"/>
                </a:solidFill>
              </a:rPr>
              <a:t>base</a:t>
            </a:r>
            <a:pPr indent="0" marL="0">
              <a:spcAft>
                <a:spcPts val="600"/>
              </a:spcAft>
              <a:buNone/>
            </a:pPr>
            <a:r>
              <a:rPr lang="en-US" sz="1500" dirty="0">
                <a:solidFill>
                  <a:schemeClr val="tx2"/>
                </a:solidFill>
              </a:rPr>
              <a:t> night base load (servers, fridges)</a:t>
            </a:r>
            <a:endParaRPr lang="en-US" sz="1500" dirty="0"/>
          </a:p>
        </p:txBody>
      </p:sp>
      <p:sp>
        <p:nvSpPr>
          <p:cNvPr id="9" name="Shape 5"/>
          <p:cNvSpPr/>
          <p:nvPr/>
        </p:nvSpPr>
        <p:spPr>
          <a:xfrm>
            <a:off x="6903720" y="4224528"/>
            <a:ext cx="1463040" cy="777240"/>
          </a:xfrm>
          <a:prstGeom prst="roundRect">
            <a:avLst>
              <a:gd name="adj" fmla="val 11765"/>
            </a:avLst>
          </a:prstGeom>
          <a:solidFill>
            <a:schemeClr val="accent2"/>
          </a:solidFill>
          <a:ln/>
        </p:spPr>
      </p:sp>
      <p:sp>
        <p:nvSpPr>
          <p:cNvPr id="10" name="Text 6"/>
          <p:cNvSpPr txBox="1"/>
          <p:nvPr/>
        </p:nvSpPr>
        <p:spPr>
          <a:xfrm>
            <a:off x="7040880" y="4279392"/>
            <a:ext cx="1188720" cy="320040"/>
          </a:xfrm>
          <a:prstGeom prst="rect">
            <a:avLst/>
          </a:prstGeom>
          <a:noFill/>
          <a:ln/>
        </p:spPr>
        <p:txBody>
          <a:bodyPr wrap="square" lIns="0" tIns="0" rIns="0" bIns="0" rtlCol="0" anchor="t"/>
          <a:lstStyle/>
          <a:p>
            <a:pPr indent="0" marL="0">
              <a:buNone/>
            </a:pPr>
            <a:r>
              <a:rPr lang="en-US" sz="1500" b="1" dirty="0">
                <a:solidFill>
                  <a:schemeClr val="tx1"/>
                </a:solidFill>
              </a:rPr>
              <a:t>Green</a:t>
            </a:r>
            <a:endParaRPr lang="en-US" sz="1500" dirty="0"/>
          </a:p>
        </p:txBody>
      </p:sp>
      <p:sp>
        <p:nvSpPr>
          <p:cNvPr id="11" name="Text 7"/>
          <p:cNvSpPr txBox="1"/>
          <p:nvPr/>
        </p:nvSpPr>
        <p:spPr>
          <a:xfrm>
            <a:off x="7040880" y="4599432"/>
            <a:ext cx="1188720" cy="320040"/>
          </a:xfrm>
          <a:prstGeom prst="rect">
            <a:avLst/>
          </a:prstGeom>
          <a:noFill/>
          <a:ln/>
        </p:spPr>
        <p:txBody>
          <a:bodyPr wrap="square" lIns="0" tIns="0" rIns="0" bIns="0" rtlCol="0" anchor="t"/>
          <a:lstStyle/>
          <a:p>
            <a:pPr indent="0" marL="0">
              <a:buNone/>
            </a:pPr>
            <a:r>
              <a:rPr lang="en-US" sz="1300" dirty="0">
                <a:solidFill>
                  <a:schemeClr val="tx1"/>
                </a:solidFill>
              </a:rPr>
              <a:t>r ≤ 0.9</a:t>
            </a:r>
            <a:endParaRPr lang="en-US" sz="1300" dirty="0"/>
          </a:p>
        </p:txBody>
      </p:sp>
      <p:sp>
        <p:nvSpPr>
          <p:cNvPr id="12" name="Shape 8"/>
          <p:cNvSpPr/>
          <p:nvPr/>
        </p:nvSpPr>
        <p:spPr>
          <a:xfrm>
            <a:off x="8467344" y="4224528"/>
            <a:ext cx="1463040" cy="777240"/>
          </a:xfrm>
          <a:prstGeom prst="roundRect">
            <a:avLst>
              <a:gd name="adj" fmla="val 11765"/>
            </a:avLst>
          </a:prstGeom>
          <a:solidFill>
            <a:schemeClr val="accent4"/>
          </a:solidFill>
          <a:ln/>
        </p:spPr>
      </p:sp>
      <p:sp>
        <p:nvSpPr>
          <p:cNvPr id="13" name="Text 9"/>
          <p:cNvSpPr txBox="1"/>
          <p:nvPr/>
        </p:nvSpPr>
        <p:spPr>
          <a:xfrm>
            <a:off x="8604504" y="4279392"/>
            <a:ext cx="1188720" cy="320040"/>
          </a:xfrm>
          <a:prstGeom prst="rect">
            <a:avLst/>
          </a:prstGeom>
          <a:noFill/>
          <a:ln/>
        </p:spPr>
        <p:txBody>
          <a:bodyPr wrap="square" lIns="0" tIns="0" rIns="0" bIns="0" rtlCol="0" anchor="t"/>
          <a:lstStyle/>
          <a:p>
            <a:pPr indent="0" marL="0">
              <a:buNone/>
            </a:pPr>
            <a:r>
              <a:rPr lang="en-US" sz="1500" b="1" dirty="0">
                <a:solidFill>
                  <a:schemeClr val="tx1"/>
                </a:solidFill>
              </a:rPr>
              <a:t>Yellow</a:t>
            </a:r>
            <a:endParaRPr lang="en-US" sz="1500" dirty="0"/>
          </a:p>
        </p:txBody>
      </p:sp>
      <p:sp>
        <p:nvSpPr>
          <p:cNvPr id="14" name="Text 10"/>
          <p:cNvSpPr txBox="1"/>
          <p:nvPr/>
        </p:nvSpPr>
        <p:spPr>
          <a:xfrm>
            <a:off x="8604504" y="4599432"/>
            <a:ext cx="1188720" cy="320040"/>
          </a:xfrm>
          <a:prstGeom prst="rect">
            <a:avLst/>
          </a:prstGeom>
          <a:noFill/>
          <a:ln/>
        </p:spPr>
        <p:txBody>
          <a:bodyPr wrap="square" lIns="0" tIns="0" rIns="0" bIns="0" rtlCol="0" anchor="t"/>
          <a:lstStyle/>
          <a:p>
            <a:pPr indent="0" marL="0">
              <a:buNone/>
            </a:pPr>
            <a:r>
              <a:rPr lang="en-US" sz="1300" dirty="0">
                <a:solidFill>
                  <a:schemeClr val="tx1"/>
                </a:solidFill>
              </a:rPr>
              <a:t>r ≤ 1.0</a:t>
            </a:r>
            <a:endParaRPr lang="en-US" sz="1300" dirty="0"/>
          </a:p>
        </p:txBody>
      </p:sp>
      <p:sp>
        <p:nvSpPr>
          <p:cNvPr id="15" name="Shape 11"/>
          <p:cNvSpPr/>
          <p:nvPr/>
        </p:nvSpPr>
        <p:spPr>
          <a:xfrm>
            <a:off x="10030968" y="4224528"/>
            <a:ext cx="1463040" cy="777240"/>
          </a:xfrm>
          <a:prstGeom prst="roundRect">
            <a:avLst>
              <a:gd name="adj" fmla="val 11765"/>
            </a:avLst>
          </a:prstGeom>
          <a:solidFill>
            <a:schemeClr val="accent3"/>
          </a:solidFill>
          <a:ln/>
        </p:spPr>
      </p:sp>
      <p:sp>
        <p:nvSpPr>
          <p:cNvPr id="16" name="Text 12"/>
          <p:cNvSpPr txBox="1"/>
          <p:nvPr/>
        </p:nvSpPr>
        <p:spPr>
          <a:xfrm>
            <a:off x="10168128" y="4279392"/>
            <a:ext cx="1188720" cy="320040"/>
          </a:xfrm>
          <a:prstGeom prst="rect">
            <a:avLst/>
          </a:prstGeom>
          <a:noFill/>
          <a:ln/>
        </p:spPr>
        <p:txBody>
          <a:bodyPr wrap="square" lIns="0" tIns="0" rIns="0" bIns="0" rtlCol="0" anchor="t"/>
          <a:lstStyle/>
          <a:p>
            <a:pPr indent="0" marL="0">
              <a:buNone/>
            </a:pPr>
            <a:r>
              <a:rPr lang="en-US" sz="1500" b="1" dirty="0">
                <a:solidFill>
                  <a:schemeClr val="bg1"/>
                </a:solidFill>
              </a:rPr>
              <a:t>Red</a:t>
            </a:r>
            <a:endParaRPr lang="en-US" sz="1500" dirty="0"/>
          </a:p>
        </p:txBody>
      </p:sp>
      <p:sp>
        <p:nvSpPr>
          <p:cNvPr id="17" name="Text 13"/>
          <p:cNvSpPr txBox="1"/>
          <p:nvPr/>
        </p:nvSpPr>
        <p:spPr>
          <a:xfrm>
            <a:off x="10168128" y="4599432"/>
            <a:ext cx="1188720" cy="320040"/>
          </a:xfrm>
          <a:prstGeom prst="rect">
            <a:avLst/>
          </a:prstGeom>
          <a:noFill/>
          <a:ln/>
        </p:spPr>
        <p:txBody>
          <a:bodyPr wrap="square" lIns="0" tIns="0" rIns="0" bIns="0" rtlCol="0" anchor="t"/>
          <a:lstStyle/>
          <a:p>
            <a:pPr indent="0" marL="0">
              <a:buNone/>
            </a:pPr>
            <a:r>
              <a:rPr lang="en-US" sz="1300" dirty="0">
                <a:solidFill>
                  <a:schemeClr val="bg1"/>
                </a:solidFill>
              </a:rPr>
              <a:t>r &gt; 1.0</a:t>
            </a:r>
            <a:endParaRPr lang="en-US" sz="1300" dirty="0"/>
          </a:p>
        </p:txBody>
      </p:sp>
      <p:sp>
        <p:nvSpPr>
          <p:cNvPr id="18" name="Shape 14"/>
          <p:cNvSpPr/>
          <p:nvPr/>
        </p:nvSpPr>
        <p:spPr>
          <a:xfrm>
            <a:off x="6903720" y="5138928"/>
            <a:ext cx="4599432" cy="987552"/>
          </a:xfrm>
          <a:prstGeom prst="roundRect">
            <a:avLst>
              <a:gd name="adj" fmla="val 11111"/>
            </a:avLst>
          </a:prstGeom>
          <a:solidFill>
            <a:schemeClr val="tx1"/>
          </a:solidFill>
          <a:ln/>
        </p:spPr>
      </p:sp>
      <p:sp>
        <p:nvSpPr>
          <p:cNvPr id="19" name="Text 15"/>
          <p:cNvSpPr txBox="1"/>
          <p:nvPr/>
        </p:nvSpPr>
        <p:spPr>
          <a:xfrm>
            <a:off x="7132320" y="5138928"/>
            <a:ext cx="4206240" cy="987552"/>
          </a:xfrm>
          <a:prstGeom prst="rect">
            <a:avLst/>
          </a:prstGeom>
          <a:noFill/>
          <a:ln/>
        </p:spPr>
        <p:txBody>
          <a:bodyPr wrap="square" lIns="0" tIns="0" rIns="0" bIns="0" rtlCol="0" anchor="ctr"/>
          <a:lstStyle/>
          <a:p>
            <a:pPr indent="0" marL="0">
              <a:buNone/>
            </a:pPr>
            <a:r>
              <a:rPr lang="en-US" sz="1400" b="1" dirty="0">
                <a:solidFill>
                  <a:schemeClr val="accent2"/>
                </a:solidFill>
              </a:rPr>
              <a:t>Example: </a:t>
            </a:r>
            <a:pPr indent="0" marL="0">
              <a:buNone/>
            </a:pPr>
            <a:r>
              <a:rPr lang="en-US" sz="1400" dirty="0">
                <a:solidFill>
                  <a:schemeClr val="bg1"/>
                </a:solidFill>
              </a:rPr>
              <a:t>330 kWh → 149 kg CO₂e, 0.10 kg per person-hour; 40 kWh after hours = 18 kg wasted.</a:t>
            </a:r>
            <a:endParaRPr lang="en-US" sz="14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EQUATION 5 · ENERGY MONITOR</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From current samples to calibrated kWh on three phases</a:t>
            </a:r>
            <a:endParaRPr lang="en-US" sz="3000" dirty="0"/>
          </a:p>
        </p:txBody>
      </p:sp>
      <p:sp>
        <p:nvSpPr>
          <p:cNvPr id="4" name="Shape 2"/>
          <p:cNvSpPr/>
          <p:nvPr/>
        </p:nvSpPr>
        <p:spPr>
          <a:xfrm>
            <a:off x="685800" y="1874520"/>
            <a:ext cx="6309360" cy="1691640"/>
          </a:xfrm>
          <a:prstGeom prst="roundRect">
            <a:avLst>
              <a:gd name="adj" fmla="val 6486"/>
            </a:avLst>
          </a:prstGeom>
          <a:solidFill>
            <a:schemeClr val="bg1"/>
          </a:solidFill>
          <a:ln w="12700">
            <a:solidFill>
              <a:srgbClr val="D9E0DA"/>
            </a:solidFill>
            <a:prstDash val="solid"/>
          </a:ln>
        </p:spPr>
      </p:sp>
      <p:pic>
        <p:nvPicPr>
          <p:cNvPr id="5" name="Image 0" descr="I rms equals the square root of the mean of the squared current samples">    </p:cNvPr>
          <p:cNvPicPr>
            <a:picLocks noChangeAspect="1"/>
          </p:cNvPicPr>
          <p:nvPr/>
        </p:nvPicPr>
        <p:blipFill>
          <a:blip r:embed="rId1"/>
          <a:stretch>
            <a:fillRect/>
          </a:stretch>
        </p:blipFill>
        <p:spPr>
          <a:xfrm>
            <a:off x="2377440" y="2103491"/>
            <a:ext cx="2926080" cy="1233699"/>
          </a:xfrm>
          <a:prstGeom prst="rect">
            <a:avLst/>
          </a:prstGeom>
        </p:spPr>
      </p:pic>
      <p:sp>
        <p:nvSpPr>
          <p:cNvPr id="6" name="Shape 3"/>
          <p:cNvSpPr/>
          <p:nvPr/>
        </p:nvSpPr>
        <p:spPr>
          <a:xfrm>
            <a:off x="685800" y="3749040"/>
            <a:ext cx="6309360" cy="1188720"/>
          </a:xfrm>
          <a:prstGeom prst="roundRect">
            <a:avLst>
              <a:gd name="adj" fmla="val 9231"/>
            </a:avLst>
          </a:prstGeom>
          <a:solidFill>
            <a:schemeClr val="bg1"/>
          </a:solidFill>
          <a:ln w="12700">
            <a:solidFill>
              <a:srgbClr val="D9E0DA"/>
            </a:solidFill>
            <a:prstDash val="solid"/>
          </a:ln>
        </p:spPr>
      </p:sp>
      <p:pic>
        <p:nvPicPr>
          <p:cNvPr id="7" name="Image 1" descr="Power equals k times voltage times the sum of I rms over the three phases; energy is the sum of power times the time step; k equals reference energy divided by device energy">    </p:cNvPr>
          <p:cNvPicPr>
            <a:picLocks noChangeAspect="1"/>
          </p:cNvPicPr>
          <p:nvPr/>
        </p:nvPicPr>
        <p:blipFill>
          <a:blip r:embed="rId2"/>
          <a:stretch>
            <a:fillRect/>
          </a:stretch>
        </p:blipFill>
        <p:spPr>
          <a:xfrm>
            <a:off x="1005840" y="4001084"/>
            <a:ext cx="5669280" cy="684632"/>
          </a:xfrm>
          <a:prstGeom prst="rect">
            <a:avLst/>
          </a:prstGeom>
        </p:spPr>
      </p:pic>
      <p:sp>
        <p:nvSpPr>
          <p:cNvPr id="8" name="Shape 4"/>
          <p:cNvSpPr/>
          <p:nvPr/>
        </p:nvSpPr>
        <p:spPr>
          <a:xfrm>
            <a:off x="7360920" y="1920240"/>
            <a:ext cx="420624" cy="420624"/>
          </a:xfrm>
          <a:prstGeom prst="ellipse">
            <a:avLst/>
          </a:prstGeom>
          <a:solidFill>
            <a:schemeClr val="accent1"/>
          </a:solidFill>
          <a:ln/>
        </p:spPr>
      </p:sp>
      <p:sp>
        <p:nvSpPr>
          <p:cNvPr id="9" name="Text 5"/>
          <p:cNvSpPr txBox="1"/>
          <p:nvPr/>
        </p:nvSpPr>
        <p:spPr>
          <a:xfrm>
            <a:off x="7360920" y="192024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0" name="Text 6"/>
          <p:cNvSpPr txBox="1"/>
          <p:nvPr/>
        </p:nvSpPr>
        <p:spPr>
          <a:xfrm>
            <a:off x="7955280" y="1901952"/>
            <a:ext cx="3547872" cy="685800"/>
          </a:xfrm>
          <a:prstGeom prst="rect">
            <a:avLst/>
          </a:prstGeom>
          <a:noFill/>
          <a:ln/>
        </p:spPr>
        <p:txBody>
          <a:bodyPr wrap="square" lIns="0" tIns="0" rIns="0" bIns="0" rtlCol="0" anchor="t"/>
          <a:lstStyle/>
          <a:p>
            <a:pPr indent="0" marL="0">
              <a:buNone/>
            </a:pPr>
            <a:r>
              <a:rPr lang="en-US" sz="1600" dirty="0">
                <a:solidFill>
                  <a:schemeClr val="tx2"/>
                </a:solidFill>
              </a:rPr>
              <a:t>Monitor A: a clamp on each of the floor’s three main phases.</a:t>
            </a:r>
            <a:endParaRPr lang="en-US" sz="1600" dirty="0"/>
          </a:p>
        </p:txBody>
      </p:sp>
      <p:sp>
        <p:nvSpPr>
          <p:cNvPr id="11" name="Shape 7"/>
          <p:cNvSpPr/>
          <p:nvPr/>
        </p:nvSpPr>
        <p:spPr>
          <a:xfrm>
            <a:off x="7360920" y="2697480"/>
            <a:ext cx="420624" cy="420624"/>
          </a:xfrm>
          <a:prstGeom prst="ellipse">
            <a:avLst/>
          </a:prstGeom>
          <a:solidFill>
            <a:schemeClr val="accent1"/>
          </a:solidFill>
          <a:ln/>
        </p:spPr>
      </p:sp>
      <p:sp>
        <p:nvSpPr>
          <p:cNvPr id="12" name="Text 8"/>
          <p:cNvSpPr txBox="1"/>
          <p:nvPr/>
        </p:nvSpPr>
        <p:spPr>
          <a:xfrm>
            <a:off x="7360920" y="26974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9"/>
          <p:cNvSpPr txBox="1"/>
          <p:nvPr/>
        </p:nvSpPr>
        <p:spPr>
          <a:xfrm>
            <a:off x="7955280" y="2679192"/>
            <a:ext cx="3547872" cy="685800"/>
          </a:xfrm>
          <a:prstGeom prst="rect">
            <a:avLst/>
          </a:prstGeom>
          <a:noFill/>
          <a:ln/>
        </p:spPr>
        <p:txBody>
          <a:bodyPr wrap="square" lIns="0" tIns="0" rIns="0" bIns="0" rtlCol="0" anchor="t"/>
          <a:lstStyle/>
          <a:p>
            <a:pPr indent="0" marL="0">
              <a:buNone/>
            </a:pPr>
            <a:r>
              <a:rPr lang="en-US" sz="1600" dirty="0">
                <a:solidFill>
                  <a:schemeClr val="tx2"/>
                </a:solidFill>
              </a:rPr>
              <a:t>Monitor B: clamps on lab ACs, lab PCs and lighting.</a:t>
            </a:r>
            <a:endParaRPr lang="en-US" sz="1600" dirty="0"/>
          </a:p>
        </p:txBody>
      </p:sp>
      <p:sp>
        <p:nvSpPr>
          <p:cNvPr id="14" name="Shape 10"/>
          <p:cNvSpPr/>
          <p:nvPr/>
        </p:nvSpPr>
        <p:spPr>
          <a:xfrm>
            <a:off x="7360920" y="3474720"/>
            <a:ext cx="420624" cy="420624"/>
          </a:xfrm>
          <a:prstGeom prst="ellipse">
            <a:avLst/>
          </a:prstGeom>
          <a:solidFill>
            <a:schemeClr val="accent1"/>
          </a:solidFill>
          <a:ln/>
        </p:spPr>
      </p:sp>
      <p:sp>
        <p:nvSpPr>
          <p:cNvPr id="15" name="Text 11"/>
          <p:cNvSpPr txBox="1"/>
          <p:nvPr/>
        </p:nvSpPr>
        <p:spPr>
          <a:xfrm>
            <a:off x="7360920" y="347472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2"/>
          <p:cNvSpPr txBox="1"/>
          <p:nvPr/>
        </p:nvSpPr>
        <p:spPr>
          <a:xfrm>
            <a:off x="7955280" y="3456432"/>
            <a:ext cx="3547872" cy="685800"/>
          </a:xfrm>
          <a:prstGeom prst="rect">
            <a:avLst/>
          </a:prstGeom>
          <a:noFill/>
          <a:ln/>
        </p:spPr>
        <p:txBody>
          <a:bodyPr wrap="square" lIns="0" tIns="0" rIns="0" bIns="0" rtlCol="0" anchor="t"/>
          <a:lstStyle/>
          <a:p>
            <a:pPr indent="0" marL="0">
              <a:buNone/>
            </a:pPr>
            <a:r>
              <a:rPr lang="en-US" sz="1600" dirty="0">
                <a:solidFill>
                  <a:schemeClr val="tx2"/>
                </a:solidFill>
              </a:rPr>
              <a:t>Power uses V = 220 V and k, updated weekly from a reference reading.</a:t>
            </a:r>
            <a:endParaRPr lang="en-US" sz="1600" dirty="0"/>
          </a:p>
        </p:txBody>
      </p:sp>
      <p:sp>
        <p:nvSpPr>
          <p:cNvPr id="17" name="Shape 13"/>
          <p:cNvSpPr/>
          <p:nvPr/>
        </p:nvSpPr>
        <p:spPr>
          <a:xfrm>
            <a:off x="7360920" y="4251960"/>
            <a:ext cx="420624" cy="420624"/>
          </a:xfrm>
          <a:prstGeom prst="ellipse">
            <a:avLst/>
          </a:prstGeom>
          <a:solidFill>
            <a:schemeClr val="accent1"/>
          </a:solidFill>
          <a:ln/>
        </p:spPr>
      </p:sp>
      <p:sp>
        <p:nvSpPr>
          <p:cNvPr id="18" name="Text 14"/>
          <p:cNvSpPr txBox="1"/>
          <p:nvPr/>
        </p:nvSpPr>
        <p:spPr>
          <a:xfrm>
            <a:off x="7360920" y="425196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9" name="Text 15"/>
          <p:cNvSpPr txBox="1"/>
          <p:nvPr/>
        </p:nvSpPr>
        <p:spPr>
          <a:xfrm>
            <a:off x="7955280" y="4233672"/>
            <a:ext cx="3547872" cy="685800"/>
          </a:xfrm>
          <a:prstGeom prst="rect">
            <a:avLst/>
          </a:prstGeom>
          <a:noFill/>
          <a:ln/>
        </p:spPr>
        <p:txBody>
          <a:bodyPr wrap="square" lIns="0" tIns="0" rIns="0" bIns="0" rtlCol="0" anchor="t"/>
          <a:lstStyle/>
          <a:p>
            <a:pPr indent="0" marL="0">
              <a:buNone/>
            </a:pPr>
            <a:r>
              <a:rPr lang="en-US" sz="1600" dirty="0">
                <a:solidFill>
                  <a:schemeClr val="tx2"/>
                </a:solidFill>
              </a:rPr>
              <a:t>Target: weekly error below 10%.</a:t>
            </a:r>
            <a:endParaRPr lang="en-US" sz="16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AI MODELS</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Four core models and one optional</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2148840"/>
                <a:gridCol w="2926080"/>
                <a:gridCol w="3639312"/>
                <a:gridCol w="1005840"/>
                <a:gridCol w="1097280"/>
              </a:tblGrid>
              <a:tr h="411480">
                <a:tc>
                  <a:txBody>
                    <a:bodyPr/>
                    <a:lstStyle/>
                    <a:p>
                      <a:pPr indent="0" marL="0">
                        <a:buNone/>
                      </a:pPr>
                      <a:r>
                        <a:rPr lang="en-US" sz="1400" b="1" dirty="0">
                          <a:solidFill>
                            <a:schemeClr val="tx1"/>
                          </a:solidFill>
                        </a:rPr>
                        <a:t>Model</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Input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Method</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Runs on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Priority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640080">
                <a:tc>
                  <a:txBody>
                    <a:bodyPr/>
                    <a:lstStyle/>
                    <a:p>
                      <a:pPr indent="0" marL="0">
                        <a:buNone/>
                      </a:pPr>
                      <a:r>
                        <a:rPr lang="en-US" sz="1400" dirty="0">
                          <a:solidFill>
                            <a:schemeClr val="tx2"/>
                          </a:solidFill>
                        </a:rPr>
                        <a:t>Transport mode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Speed, stops, acceleration, sensor vibration, GPS loss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Activity Recognition API, then Random Forest or LightGBM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Phone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b="1" dirty="0">
                          <a:solidFill>
                            <a:schemeClr val="accent1"/>
                          </a:solidFill>
                        </a:rPr>
                        <a:t>Core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640080">
                <a:tc>
                  <a:txBody>
                    <a:bodyPr/>
                    <a:lstStyle/>
                    <a:p>
                      <a:pPr indent="0" marL="0">
                        <a:buNone/>
                      </a:pPr>
                      <a:r>
                        <a:rPr lang="en-US" sz="1400" dirty="0">
                          <a:solidFill>
                            <a:schemeClr val="tx2"/>
                          </a:solidFill>
                        </a:rPr>
                        <a:t>Meal recognition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Plate photo</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Transfer learning on MobileNetV3 or EfficientNet-Lite0, LiteRT int8</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Phone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b="1" dirty="0">
                          <a:solidFill>
                            <a:schemeClr val="accent1"/>
                          </a:solidFill>
                        </a:rPr>
                        <a:t>Core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640080">
                <a:tc>
                  <a:txBody>
                    <a:bodyPr/>
                    <a:lstStyle/>
                    <a:p>
                      <a:pPr indent="0" marL="0">
                        <a:buNone/>
                      </a:pPr>
                      <a:r>
                        <a:rPr lang="en-US" sz="1400" dirty="0">
                          <a:solidFill>
                            <a:schemeClr val="tx2"/>
                          </a:solidFill>
                        </a:rPr>
                        <a:t>Floor forecast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Hourly kWh, hour, weekday, temperature, timetable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LightGBM; LSTM if there is enough data</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Server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b="1" dirty="0">
                          <a:solidFill>
                            <a:schemeClr val="accent1"/>
                          </a:solidFill>
                        </a:rPr>
                        <a:t>Core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640080">
                <a:tc>
                  <a:txBody>
                    <a:bodyPr/>
                    <a:lstStyle/>
                    <a:p>
                      <a:pPr indent="0" marL="0">
                        <a:buNone/>
                      </a:pPr>
                      <a:r>
                        <a:rPr lang="en-US" sz="1400" dirty="0">
                          <a:solidFill>
                            <a:schemeClr val="tx2"/>
                          </a:solidFill>
                        </a:rPr>
                        <a:t>After-hours waste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Load per circuit, timetable, forecast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Rules first, then Isolation Forest on forecast errors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Server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b="1" dirty="0">
                          <a:solidFill>
                            <a:schemeClr val="accent1"/>
                          </a:solidFill>
                        </a:rPr>
                        <a:t>Core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640080">
                <a:tc>
                  <a:txBody>
                    <a:bodyPr/>
                    <a:lstStyle/>
                    <a:p>
                      <a:pPr indent="0" marL="0">
                        <a:buNone/>
                      </a:pPr>
                      <a:r>
                        <a:rPr lang="en-US" sz="1400" dirty="0">
                          <a:solidFill>
                            <a:schemeClr val="tx2"/>
                          </a:solidFill>
                        </a:rPr>
                        <a:t>Appliance breakdown (NILM)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Floor main power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Disaggregation, checked against monitor B</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Server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b="1" dirty="0">
                          <a:solidFill>
                            <a:schemeClr val="accent5"/>
                          </a:solidFill>
                        </a:rPr>
                        <a:t>Optional</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Shape 2"/>
          <p:cNvSpPr/>
          <p:nvPr/>
        </p:nvSpPr>
        <p:spPr>
          <a:xfrm>
            <a:off x="685800" y="5577840"/>
            <a:ext cx="10817352" cy="640080"/>
          </a:xfrm>
          <a:prstGeom prst="roundRect">
            <a:avLst>
              <a:gd name="adj" fmla="val 17143"/>
            </a:avLst>
          </a:prstGeom>
          <a:solidFill>
            <a:schemeClr val="bg2"/>
          </a:solidFill>
          <a:ln/>
        </p:spPr>
      </p:sp>
      <p:sp>
        <p:nvSpPr>
          <p:cNvPr id="6" name="Text 3"/>
          <p:cNvSpPr txBox="1"/>
          <p:nvPr/>
        </p:nvSpPr>
        <p:spPr>
          <a:xfrm>
            <a:off x="1005840" y="5577840"/>
            <a:ext cx="10177272" cy="640080"/>
          </a:xfrm>
          <a:prstGeom prst="rect">
            <a:avLst/>
          </a:prstGeom>
          <a:noFill/>
          <a:ln/>
        </p:spPr>
        <p:txBody>
          <a:bodyPr wrap="square" lIns="0" tIns="0" rIns="0" bIns="0" rtlCol="0" anchor="ctr"/>
          <a:lstStyle/>
          <a:p>
            <a:pPr indent="0" marL="0">
              <a:buNone/>
            </a:pPr>
            <a:r>
              <a:rPr lang="en-US" sz="1500" b="1" dirty="0">
                <a:solidFill>
                  <a:schemeClr val="accent1"/>
                </a:solidFill>
              </a:rPr>
              <a:t>Rule: </a:t>
            </a:r>
            <a:pPr indent="0" marL="0">
              <a:buNone/>
            </a:pPr>
            <a:r>
              <a:rPr lang="en-US" sz="1500" dirty="0">
                <a:solidFill>
                  <a:schemeClr val="tx1"/>
                </a:solidFill>
              </a:rPr>
              <a:t>every model must beat a simple baseline measured first, on people and days not used in training.</a:t>
            </a:r>
            <a:endParaRPr lang="en-US" sz="15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DATASETS · PUBLIC</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Public data for pretraining and benchmarks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2377440"/>
                <a:gridCol w="731520"/>
                <a:gridCol w="4572000"/>
                <a:gridCol w="3136392"/>
              </a:tblGrid>
              <a:tr h="420624">
                <a:tc>
                  <a:txBody>
                    <a:bodyPr/>
                    <a:lstStyle/>
                    <a:p>
                      <a:pPr indent="0" marL="0">
                        <a:buNone/>
                      </a:pPr>
                      <a:r>
                        <a:rPr lang="en-US" sz="1400" b="1" dirty="0">
                          <a:solidFill>
                            <a:schemeClr val="tx1"/>
                          </a:solidFill>
                        </a:rPr>
                        <a:t>Dataset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Year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Contents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Our use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420624">
                <a:tc>
                  <a:txBody>
                    <a:bodyPr/>
                    <a:lstStyle/>
                    <a:p>
                      <a:pPr indent="0" marL="0">
                        <a:buNone/>
                      </a:pPr>
                      <a:r>
                        <a:rPr lang="en-US" sz="1400" dirty="0">
                          <a:solidFill>
                            <a:schemeClr val="tx2"/>
                          </a:solidFill>
                        </a:rPr>
                        <a:t>ImageNet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2012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About 1.28M training images, 1,000 classes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Pretrained MobileNetV3 weights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400" dirty="0">
                          <a:solidFill>
                            <a:schemeClr val="tx2"/>
                          </a:solidFill>
                        </a:rPr>
                        <a:t>Food-101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2014</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101,000 images of 101 dishes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Food pretraining and benchmark</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400" dirty="0">
                          <a:solidFill>
                            <a:schemeClr val="tx2"/>
                          </a:solidFill>
                        </a:rPr>
                        <a:t>SHL</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2018</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Phone sensor data, 8 transport and locomotion modes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Pretrain the transport classifier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400" dirty="0">
                          <a:solidFill>
                            <a:schemeClr val="tx2"/>
                          </a:solidFill>
                        </a:rPr>
                        <a:t>GeoLife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2012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GPS trajectories from 182 users, part with mode labels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Benchmark trip features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400" dirty="0">
                          <a:solidFill>
                            <a:schemeClr val="tx2"/>
                          </a:solidFill>
                        </a:rPr>
                        <a:t>Building Data Genome 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2020</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Hourly meters of 1,636 non-residential buildings, 2 years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Pretrain and benchmark the forecast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400" dirty="0">
                          <a:solidFill>
                            <a:schemeClr val="tx2"/>
                          </a:solidFill>
                        </a:rPr>
                        <a:t>UK-DALE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2015</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Whole-house and appliance demand, 5 UK homes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NILM benchmark (optional)</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400" dirty="0">
                          <a:solidFill>
                            <a:schemeClr val="tx2"/>
                          </a:solidFill>
                        </a:rPr>
                        <a:t>Poore and Nemecek</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2018</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Global food life-cycle emission factors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Dish footprints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400" dirty="0">
                          <a:solidFill>
                            <a:schemeClr val="tx2"/>
                          </a:solidFill>
                        </a:rPr>
                        <a:t>OpenStreetMap</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Locations of Cairo metro stations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Metro geofences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400" dirty="0">
                          <a:solidFill>
                            <a:schemeClr val="tx2"/>
                          </a:solidFill>
                        </a:rPr>
                        <a:t>Open-Meteo</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Hourly temperature at the faculty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Forecast input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DATASETS · COLLECTED BY THE TEAM</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Egyptian data, collected with consent and approval</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2148840"/>
                <a:gridCol w="3657600"/>
                <a:gridCol w="4069080"/>
                <a:gridCol w="941832"/>
              </a:tblGrid>
              <a:tr h="411480">
                <a:tc>
                  <a:txBody>
                    <a:bodyPr/>
                    <a:lstStyle/>
                    <a:p>
                      <a:pPr indent="0" marL="0">
                        <a:buNone/>
                      </a:pPr>
                      <a:r>
                        <a:rPr lang="en-US" sz="1400" b="1" dirty="0">
                          <a:solidFill>
                            <a:schemeClr val="tx1"/>
                          </a:solidFill>
                        </a:rPr>
                        <a:t>Data</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Amount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How</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Weeks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530352">
                <a:tc>
                  <a:txBody>
                    <a:bodyPr/>
                    <a:lstStyle/>
                    <a:p>
                      <a:pPr indent="0" marL="0">
                        <a:buNone/>
                      </a:pPr>
                      <a:r>
                        <a:rPr lang="en-US" sz="1400" dirty="0">
                          <a:solidFill>
                            <a:schemeClr val="tx2"/>
                          </a:solidFill>
                        </a:rPr>
                        <a:t>Floor electricity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6 channels every 10 s; about 2,350 hourly readings each</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Monitors on the floor board; weekly reference reading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6–20</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30352">
                <a:tc>
                  <a:txBody>
                    <a:bodyPr/>
                    <a:lstStyle/>
                    <a:p>
                      <a:pPr indent="0" marL="0">
                        <a:buNone/>
                      </a:pPr>
                      <a:r>
                        <a:rPr lang="en-US" sz="1400" dirty="0">
                          <a:solidFill>
                            <a:schemeClr val="tx2"/>
                          </a:solidFill>
                        </a:rPr>
                        <a:t>Timetable and presence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Room schedule; hours on the floor per volunteer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Department administration; app check-in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2–20</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30352">
                <a:tc>
                  <a:txBody>
                    <a:bodyPr/>
                    <a:lstStyle/>
                    <a:p>
                      <a:pPr indent="0" marL="0">
                        <a:buNone/>
                      </a:pPr>
                      <a:r>
                        <a:rPr lang="en-US" sz="1400" dirty="0">
                          <a:solidFill>
                            <a:schemeClr val="tx2"/>
                          </a:solidFill>
                        </a:rPr>
                        <a:t>Building bills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12–24 months of the building’s electricity bills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Official request to the faculty administration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2–4</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30352">
                <a:tc>
                  <a:txBody>
                    <a:bodyPr/>
                    <a:lstStyle/>
                    <a:p>
                      <a:pPr indent="0" marL="0">
                        <a:buNone/>
                      </a:pPr>
                      <a:r>
                        <a:rPr lang="en-US" sz="1400" dirty="0">
                          <a:solidFill>
                            <a:schemeClr val="tx2"/>
                          </a:solidFill>
                        </a:rPr>
                        <a:t>Food photos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200+ per dish: 3,000 photos from 30 people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Volunteers photograph meals and pick the dish name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4–10</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30352">
                <a:tc>
                  <a:txBody>
                    <a:bodyPr/>
                    <a:lstStyle/>
                    <a:p>
                      <a:pPr indent="0" marL="0">
                        <a:buNone/>
                      </a:pPr>
                      <a:r>
                        <a:rPr lang="en-US" sz="1400" dirty="0">
                          <a:solidFill>
                            <a:schemeClr val="tx2"/>
                          </a:solidFill>
                        </a:rPr>
                        <a:t>Labeled trips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 volunteers × 2 weeks ≈ 560 trips; 80+ per mode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Volunteer mode records GPS and sensors; user picks the mode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5–9</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30352">
                <a:tc>
                  <a:txBody>
                    <a:bodyPr/>
                    <a:lstStyle/>
                    <a:p>
                      <a:pPr indent="0" marL="0">
                        <a:buNone/>
                      </a:pPr>
                      <a:r>
                        <a:rPr lang="en-US" sz="1400" dirty="0">
                          <a:solidFill>
                            <a:schemeClr val="tx2"/>
                          </a:solidFill>
                        </a:rPr>
                        <a:t>Waste events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About 30 labeled after-hours events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Staged with the technician, plus confirmed alerts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8–18</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Shape 2"/>
          <p:cNvSpPr/>
          <p:nvPr/>
        </p:nvSpPr>
        <p:spPr>
          <a:xfrm>
            <a:off x="685800" y="5532120"/>
            <a:ext cx="5271516" cy="685800"/>
          </a:xfrm>
          <a:prstGeom prst="roundRect">
            <a:avLst>
              <a:gd name="adj" fmla="val 16000"/>
            </a:avLst>
          </a:prstGeom>
          <a:solidFill>
            <a:schemeClr val="tx1"/>
          </a:solidFill>
          <a:ln/>
        </p:spPr>
      </p:sp>
      <p:sp>
        <p:nvSpPr>
          <p:cNvPr id="6" name="Text 3"/>
          <p:cNvSpPr txBox="1"/>
          <p:nvPr/>
        </p:nvSpPr>
        <p:spPr>
          <a:xfrm>
            <a:off x="960120" y="5532120"/>
            <a:ext cx="4722876" cy="685800"/>
          </a:xfrm>
          <a:prstGeom prst="rect">
            <a:avLst/>
          </a:prstGeom>
          <a:noFill/>
          <a:ln/>
        </p:spPr>
        <p:txBody>
          <a:bodyPr wrap="square" lIns="0" tIns="0" rIns="0" bIns="0" rtlCol="0" anchor="ctr"/>
          <a:lstStyle/>
          <a:p>
            <a:pPr indent="0" marL="0">
              <a:buNone/>
            </a:pPr>
            <a:r>
              <a:rPr lang="en-US" sz="1400" b="1" dirty="0">
                <a:solidFill>
                  <a:schemeClr val="accent2"/>
                </a:solidFill>
              </a:rPr>
              <a:t>Split 70 / 15 / 15 by person and by week</a:t>
            </a:r>
            <a:pPr indent="0" marL="0">
              <a:buNone/>
            </a:pPr>
            <a:r>
              <a:rPr lang="en-US" sz="1400" dirty="0">
                <a:solidFill>
                  <a:schemeClr val="bg1"/>
                </a:solidFill>
              </a:rPr>
              <a:t>, never by photo or hour, so tests reflect new people and new days.</a:t>
            </a:r>
            <a:endParaRPr lang="en-US" sz="1400" dirty="0"/>
          </a:p>
        </p:txBody>
      </p:sp>
      <p:sp>
        <p:nvSpPr>
          <p:cNvPr id="7" name="Shape 4"/>
          <p:cNvSpPr/>
          <p:nvPr/>
        </p:nvSpPr>
        <p:spPr>
          <a:xfrm>
            <a:off x="6231636" y="5532120"/>
            <a:ext cx="5271516" cy="685800"/>
          </a:xfrm>
          <a:prstGeom prst="roundRect">
            <a:avLst>
              <a:gd name="adj" fmla="val 16000"/>
            </a:avLst>
          </a:prstGeom>
          <a:solidFill>
            <a:schemeClr val="tx1"/>
          </a:solidFill>
          <a:ln/>
        </p:spPr>
      </p:sp>
      <p:sp>
        <p:nvSpPr>
          <p:cNvPr id="8" name="Text 5"/>
          <p:cNvSpPr txBox="1"/>
          <p:nvPr/>
        </p:nvSpPr>
        <p:spPr>
          <a:xfrm>
            <a:off x="6505956" y="5532120"/>
            <a:ext cx="4722876" cy="685800"/>
          </a:xfrm>
          <a:prstGeom prst="rect">
            <a:avLst/>
          </a:prstGeom>
          <a:noFill/>
          <a:ln/>
        </p:spPr>
        <p:txBody>
          <a:bodyPr wrap="square" lIns="0" tIns="0" rIns="0" bIns="0" rtlCol="0" anchor="ctr"/>
          <a:lstStyle/>
          <a:p>
            <a:pPr indent="0" marL="0">
              <a:buNone/>
            </a:pPr>
            <a:r>
              <a:rPr lang="en-US" sz="1400" b="1" dirty="0">
                <a:solidFill>
                  <a:schemeClr val="accent2"/>
                </a:solidFill>
              </a:rPr>
              <a:t>Consent forms</a:t>
            </a:r>
            <a:pPr indent="0" marL="0">
              <a:buNone/>
            </a:pPr>
            <a:r>
              <a:rPr lang="en-US" sz="1400" dirty="0">
                <a:solidFill>
                  <a:schemeClr val="bg1"/>
                </a:solidFill>
              </a:rPr>
              <a:t>, IDs instead of names, raw GPS deleted after feature extraction, right to withdraw.</a:t>
            </a:r>
            <a:endParaRPr lang="en-US" sz="14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PERFORMANCE METRICS</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How each kind of model is measured</a:t>
            </a:r>
            <a:endParaRPr lang="en-US" sz="3000" dirty="0"/>
          </a:p>
        </p:txBody>
      </p:sp>
      <p:sp>
        <p:nvSpPr>
          <p:cNvPr id="4" name="Text 2"/>
          <p:cNvSpPr txBox="1"/>
          <p:nvPr/>
        </p:nvSpPr>
        <p:spPr>
          <a:xfrm>
            <a:off x="685800" y="1984248"/>
            <a:ext cx="2651760" cy="365760"/>
          </a:xfrm>
          <a:prstGeom prst="rect">
            <a:avLst/>
          </a:prstGeom>
          <a:noFill/>
          <a:ln/>
        </p:spPr>
        <p:txBody>
          <a:bodyPr wrap="square" lIns="0" tIns="0" rIns="0" bIns="0" rtlCol="0" anchor="t"/>
          <a:lstStyle/>
          <a:p>
            <a:pPr indent="0" marL="0">
              <a:buNone/>
            </a:pPr>
            <a:r>
              <a:rPr lang="en-US" sz="1800" b="1" dirty="0">
                <a:solidFill>
                  <a:schemeClr val="tx1"/>
                </a:solidFill>
              </a:rPr>
              <a:t>Classification</a:t>
            </a:r>
            <a:endParaRPr lang="en-US" sz="1800" dirty="0"/>
          </a:p>
        </p:txBody>
      </p:sp>
      <p:sp>
        <p:nvSpPr>
          <p:cNvPr id="5" name="Text 3"/>
          <p:cNvSpPr txBox="1"/>
          <p:nvPr/>
        </p:nvSpPr>
        <p:spPr>
          <a:xfrm>
            <a:off x="685800" y="2377440"/>
            <a:ext cx="2651760" cy="731520"/>
          </a:xfrm>
          <a:prstGeom prst="rect">
            <a:avLst/>
          </a:prstGeom>
          <a:noFill/>
          <a:ln/>
        </p:spPr>
        <p:txBody>
          <a:bodyPr wrap="square" lIns="0" tIns="0" rIns="0" bIns="0" rtlCol="0" anchor="t"/>
          <a:lstStyle/>
          <a:p>
            <a:pPr indent="0" marL="0">
              <a:buNone/>
            </a:pPr>
            <a:r>
              <a:rPr lang="en-US" sz="1300" dirty="0">
                <a:solidFill>
                  <a:schemeClr val="tx2"/>
                </a:solidFill>
              </a:rPr>
              <a:t>transport mode per trip; waste events found or missed</a:t>
            </a:r>
            <a:endParaRPr lang="en-US" sz="1300" dirty="0"/>
          </a:p>
        </p:txBody>
      </p:sp>
      <p:sp>
        <p:nvSpPr>
          <p:cNvPr id="6" name="Shape 4"/>
          <p:cNvSpPr/>
          <p:nvPr/>
        </p:nvSpPr>
        <p:spPr>
          <a:xfrm>
            <a:off x="3611880" y="1874520"/>
            <a:ext cx="7891272" cy="1298448"/>
          </a:xfrm>
          <a:prstGeom prst="roundRect">
            <a:avLst>
              <a:gd name="adj" fmla="val 8451"/>
            </a:avLst>
          </a:prstGeom>
          <a:solidFill>
            <a:schemeClr val="bg1"/>
          </a:solidFill>
          <a:ln w="12700">
            <a:solidFill>
              <a:srgbClr val="D9E0DA"/>
            </a:solidFill>
            <a:prstDash val="solid"/>
          </a:ln>
        </p:spPr>
      </p:sp>
      <p:pic>
        <p:nvPicPr>
          <p:cNvPr id="7" name="Image 0" descr="Precision equals TP over TP plus FP; Recall equals TP over TP plus FN; F1 equals 2PR over P plus R">    </p:cNvPr>
          <p:cNvPicPr>
            <a:picLocks noChangeAspect="1"/>
          </p:cNvPicPr>
          <p:nvPr/>
        </p:nvPicPr>
        <p:blipFill>
          <a:blip r:embed="rId1"/>
          <a:stretch>
            <a:fillRect/>
          </a:stretch>
        </p:blipFill>
        <p:spPr>
          <a:xfrm>
            <a:off x="4082796" y="2252719"/>
            <a:ext cx="6949440" cy="542050"/>
          </a:xfrm>
          <a:prstGeom prst="rect">
            <a:avLst/>
          </a:prstGeom>
        </p:spPr>
      </p:pic>
      <p:sp>
        <p:nvSpPr>
          <p:cNvPr id="8" name="Text 5"/>
          <p:cNvSpPr txBox="1"/>
          <p:nvPr/>
        </p:nvSpPr>
        <p:spPr>
          <a:xfrm>
            <a:off x="685800" y="3447288"/>
            <a:ext cx="2651760" cy="365760"/>
          </a:xfrm>
          <a:prstGeom prst="rect">
            <a:avLst/>
          </a:prstGeom>
          <a:noFill/>
          <a:ln/>
        </p:spPr>
        <p:txBody>
          <a:bodyPr wrap="square" lIns="0" tIns="0" rIns="0" bIns="0" rtlCol="0" anchor="t"/>
          <a:lstStyle/>
          <a:p>
            <a:pPr indent="0" marL="0">
              <a:buNone/>
            </a:pPr>
            <a:r>
              <a:rPr lang="en-US" sz="1800" b="1" dirty="0">
                <a:solidFill>
                  <a:schemeClr val="tx1"/>
                </a:solidFill>
              </a:rPr>
              <a:t>Regression</a:t>
            </a:r>
            <a:endParaRPr lang="en-US" sz="1800" dirty="0"/>
          </a:p>
        </p:txBody>
      </p:sp>
      <p:sp>
        <p:nvSpPr>
          <p:cNvPr id="9" name="Text 6"/>
          <p:cNvSpPr txBox="1"/>
          <p:nvPr/>
        </p:nvSpPr>
        <p:spPr>
          <a:xfrm>
            <a:off x="685800" y="3840480"/>
            <a:ext cx="2651760" cy="731520"/>
          </a:xfrm>
          <a:prstGeom prst="rect">
            <a:avLst/>
          </a:prstGeom>
          <a:noFill/>
          <a:ln/>
        </p:spPr>
        <p:txBody>
          <a:bodyPr wrap="square" lIns="0" tIns="0" rIns="0" bIns="0" rtlCol="0" anchor="t"/>
          <a:lstStyle/>
          <a:p>
            <a:pPr indent="0" marL="0">
              <a:buNone/>
            </a:pPr>
            <a:r>
              <a:rPr lang="en-US" sz="1300" dirty="0">
                <a:solidFill>
                  <a:schemeClr val="tx2"/>
                </a:solidFill>
              </a:rPr>
              <a:t>floor forecast, monitor error, trip distance</a:t>
            </a:r>
            <a:endParaRPr lang="en-US" sz="1300" dirty="0"/>
          </a:p>
        </p:txBody>
      </p:sp>
      <p:sp>
        <p:nvSpPr>
          <p:cNvPr id="10" name="Shape 7"/>
          <p:cNvSpPr/>
          <p:nvPr/>
        </p:nvSpPr>
        <p:spPr>
          <a:xfrm>
            <a:off x="3611880" y="3337560"/>
            <a:ext cx="7891272" cy="1298448"/>
          </a:xfrm>
          <a:prstGeom prst="roundRect">
            <a:avLst>
              <a:gd name="adj" fmla="val 8451"/>
            </a:avLst>
          </a:prstGeom>
          <a:solidFill>
            <a:schemeClr val="bg1"/>
          </a:solidFill>
          <a:ln w="12700">
            <a:solidFill>
              <a:srgbClr val="D9E0DA"/>
            </a:solidFill>
            <a:prstDash val="solid"/>
          </a:ln>
        </p:spPr>
      </p:sp>
      <p:pic>
        <p:nvPicPr>
          <p:cNvPr id="11" name="Image 1" descr="MAE is the mean absolute error; RMSE is the root mean squared error; MAPE is the mean absolute percentage error">    </p:cNvPr>
          <p:cNvPicPr>
            <a:picLocks noChangeAspect="1"/>
          </p:cNvPicPr>
          <p:nvPr/>
        </p:nvPicPr>
        <p:blipFill>
          <a:blip r:embed="rId2"/>
          <a:stretch>
            <a:fillRect/>
          </a:stretch>
        </p:blipFill>
        <p:spPr>
          <a:xfrm>
            <a:off x="4082796" y="3607193"/>
            <a:ext cx="6949440" cy="759183"/>
          </a:xfrm>
          <a:prstGeom prst="rect">
            <a:avLst/>
          </a:prstGeom>
        </p:spPr>
      </p:pic>
      <p:sp>
        <p:nvSpPr>
          <p:cNvPr id="12" name="Text 8"/>
          <p:cNvSpPr txBox="1"/>
          <p:nvPr/>
        </p:nvSpPr>
        <p:spPr>
          <a:xfrm>
            <a:off x="685800" y="4910328"/>
            <a:ext cx="2651760" cy="365760"/>
          </a:xfrm>
          <a:prstGeom prst="rect">
            <a:avLst/>
          </a:prstGeom>
          <a:noFill/>
          <a:ln/>
        </p:spPr>
        <p:txBody>
          <a:bodyPr wrap="square" lIns="0" tIns="0" rIns="0" bIns="0" rtlCol="0" anchor="t"/>
          <a:lstStyle/>
          <a:p>
            <a:pPr indent="0" marL="0">
              <a:buNone/>
            </a:pPr>
            <a:r>
              <a:rPr lang="en-US" sz="1800" b="1" dirty="0">
                <a:solidFill>
                  <a:schemeClr val="tx1"/>
                </a:solidFill>
              </a:rPr>
              <a:t>Top-k accuracy</a:t>
            </a:r>
            <a:endParaRPr lang="en-US" sz="1800" dirty="0"/>
          </a:p>
        </p:txBody>
      </p:sp>
      <p:sp>
        <p:nvSpPr>
          <p:cNvPr id="13" name="Text 9"/>
          <p:cNvSpPr txBox="1"/>
          <p:nvPr/>
        </p:nvSpPr>
        <p:spPr>
          <a:xfrm>
            <a:off x="685800" y="5303520"/>
            <a:ext cx="2651760" cy="731520"/>
          </a:xfrm>
          <a:prstGeom prst="rect">
            <a:avLst/>
          </a:prstGeom>
          <a:noFill/>
          <a:ln/>
        </p:spPr>
        <p:txBody>
          <a:bodyPr wrap="square" lIns="0" tIns="0" rIns="0" bIns="0" rtlCol="0" anchor="t"/>
          <a:lstStyle/>
          <a:p>
            <a:pPr indent="0" marL="0">
              <a:buNone/>
            </a:pPr>
            <a:r>
              <a:rPr lang="en-US" sz="1300" dirty="0">
                <a:solidFill>
                  <a:schemeClr val="tx2"/>
                </a:solidFill>
              </a:rPr>
              <a:t>meal recognition: is the true dish in the model’s k best guesses?</a:t>
            </a:r>
            <a:endParaRPr lang="en-US" sz="1300" dirty="0"/>
          </a:p>
        </p:txBody>
      </p:sp>
      <p:sp>
        <p:nvSpPr>
          <p:cNvPr id="14" name="Shape 10"/>
          <p:cNvSpPr/>
          <p:nvPr/>
        </p:nvSpPr>
        <p:spPr>
          <a:xfrm>
            <a:off x="3611880" y="4800600"/>
            <a:ext cx="7891272" cy="1298448"/>
          </a:xfrm>
          <a:prstGeom prst="roundRect">
            <a:avLst>
              <a:gd name="adj" fmla="val 8451"/>
            </a:avLst>
          </a:prstGeom>
          <a:solidFill>
            <a:schemeClr val="bg1"/>
          </a:solidFill>
          <a:ln w="12700">
            <a:solidFill>
              <a:srgbClr val="D9E0DA"/>
            </a:solidFill>
            <a:prstDash val="solid"/>
          </a:ln>
        </p:spPr>
      </p:sp>
      <p:pic>
        <p:nvPicPr>
          <p:cNvPr id="15" name="Image 2" descr="Top-k accuracy equals the share of photos whose true dish is among the model’s top k predictions">    </p:cNvPr>
          <p:cNvPicPr>
            <a:picLocks noChangeAspect="1"/>
          </p:cNvPicPr>
          <p:nvPr/>
        </p:nvPicPr>
        <p:blipFill>
          <a:blip r:embed="rId3"/>
          <a:stretch>
            <a:fillRect/>
          </a:stretch>
        </p:blipFill>
        <p:spPr>
          <a:xfrm>
            <a:off x="5591556" y="5100557"/>
            <a:ext cx="3931920" cy="698533"/>
          </a:xfrm>
          <a:prstGeom prst="rect">
            <a:avLst/>
          </a:prstGeom>
        </p:spPr>
      </p:pic>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PERFORMANCE TARGETS</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What “working” means for each part</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3108960"/>
                <a:gridCol w="4206240"/>
                <a:gridCol w="3502152"/>
              </a:tblGrid>
              <a:tr h="420624">
                <a:tc>
                  <a:txBody>
                    <a:bodyPr/>
                    <a:lstStyle/>
                    <a:p>
                      <a:pPr indent="0" marL="0">
                        <a:buNone/>
                      </a:pPr>
                      <a:r>
                        <a:rPr lang="en-US" sz="1500" b="1" dirty="0">
                          <a:solidFill>
                            <a:schemeClr val="tx1"/>
                          </a:solidFill>
                        </a:rPr>
                        <a:t>Part</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500" b="1" dirty="0">
                          <a:solidFill>
                            <a:schemeClr val="tx1"/>
                          </a:solidFill>
                        </a:rPr>
                        <a:t>Metric</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500" b="1" dirty="0">
                          <a:solidFill>
                            <a:schemeClr val="tx1"/>
                          </a:solidFill>
                        </a:rPr>
                        <a:t>Target</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420624">
                <a:tc>
                  <a:txBody>
                    <a:bodyPr/>
                    <a:lstStyle/>
                    <a:p>
                      <a:pPr indent="0" marL="0">
                        <a:buNone/>
                      </a:pPr>
                      <a:r>
                        <a:rPr lang="en-US" sz="1500" dirty="0">
                          <a:solidFill>
                            <a:schemeClr val="tx2"/>
                          </a:solidFill>
                        </a:rPr>
                        <a:t>Transport mode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Accuracy per trip</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At least 85%</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500" dirty="0">
                          <a:solidFill>
                            <a:schemeClr val="tx2"/>
                          </a:solidFill>
                        </a:rPr>
                        <a:t>Trip distance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Error vs. true distance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Below 10%</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500" dirty="0">
                          <a:solidFill>
                            <a:schemeClr val="tx2"/>
                          </a:solidFill>
                        </a:rPr>
                        <a:t>Meal recognition</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Top-1 / Top-3 accuracy</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At least 80% / 95%</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500" dirty="0">
                          <a:solidFill>
                            <a:schemeClr val="tx2"/>
                          </a:solidFill>
                        </a:rPr>
                        <a:t>Meal speed</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Time on a mid-range phone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Under 1 second</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500" dirty="0">
                          <a:solidFill>
                            <a:schemeClr val="tx2"/>
                          </a:solidFill>
                        </a:rPr>
                        <a:t>Floor monitor</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Weekly error vs. reference reading</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Below 10%</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500" dirty="0">
                          <a:solidFill>
                            <a:schemeClr val="tx2"/>
                          </a:solidFill>
                        </a:rPr>
                        <a:t>Floor forecast</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Daily MAPE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Below 15%, and beats last week</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500" dirty="0">
                          <a:solidFill>
                            <a:schemeClr val="tx2"/>
                          </a:solidFill>
                        </a:rPr>
                        <a:t>Waste detection</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Recall / precision on labeled events</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At least 90% / 80%</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500" dirty="0">
                          <a:solidFill>
                            <a:schemeClr val="tx2"/>
                          </a:solidFill>
                        </a:rPr>
                        <a:t>Battery</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App use per day</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Below 5%</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420624">
                <a:tc>
                  <a:txBody>
                    <a:bodyPr/>
                    <a:lstStyle/>
                    <a:p>
                      <a:pPr indent="0" marL="0">
                        <a:buNone/>
                      </a:pPr>
                      <a:r>
                        <a:rPr lang="en-US" sz="1500" dirty="0">
                          <a:solidFill>
                            <a:schemeClr val="tx2"/>
                          </a:solidFill>
                        </a:rPr>
                        <a:t>Real data</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dirty="0">
                          <a:solidFill>
                            <a:schemeClr val="tx2"/>
                          </a:solidFill>
                        </a:rPr>
                        <a:t>Volunteers and site</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500" b="1" dirty="0">
                          <a:solidFill>
                            <a:schemeClr val="tx1"/>
                          </a:solidFill>
                        </a:rPr>
                        <a:t>20 volunteers, 1 floor, 14 weeks</a:t>
                      </a:r>
                      <a:endParaRPr lang="en-US" sz="15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CURVES</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The four curves we will report</a:t>
            </a:r>
            <a:endParaRPr lang="en-US" sz="3000" dirty="0"/>
          </a:p>
        </p:txBody>
      </p:sp>
      <p:sp>
        <p:nvSpPr>
          <p:cNvPr id="4" name="Shape 2"/>
          <p:cNvSpPr/>
          <p:nvPr/>
        </p:nvSpPr>
        <p:spPr>
          <a:xfrm>
            <a:off x="685800" y="1874520"/>
            <a:ext cx="5271516" cy="2011680"/>
          </a:xfrm>
          <a:prstGeom prst="roundRect">
            <a:avLst>
              <a:gd name="adj" fmla="val 5455"/>
            </a:avLst>
          </a:prstGeom>
          <a:solidFill>
            <a:schemeClr val="bg1"/>
          </a:solidFill>
          <a:ln w="12700">
            <a:solidFill>
              <a:srgbClr val="D9E0DA"/>
            </a:solidFill>
            <a:prstDash val="solid"/>
          </a:ln>
        </p:spPr>
      </p:sp>
      <p:sp>
        <p:nvSpPr>
          <p:cNvPr id="5" name="Text 3"/>
          <p:cNvSpPr txBox="1"/>
          <p:nvPr/>
        </p:nvSpPr>
        <p:spPr>
          <a:xfrm>
            <a:off x="3749040" y="2148840"/>
            <a:ext cx="2025396" cy="548640"/>
          </a:xfrm>
          <a:prstGeom prst="rect">
            <a:avLst/>
          </a:prstGeom>
          <a:noFill/>
          <a:ln/>
        </p:spPr>
        <p:txBody>
          <a:bodyPr wrap="square" lIns="0" tIns="0" rIns="0" bIns="0" rtlCol="0" anchor="t"/>
          <a:lstStyle/>
          <a:p>
            <a:pPr indent="0" marL="0">
              <a:buNone/>
            </a:pPr>
            <a:r>
              <a:rPr lang="en-US" sz="1500" b="1" dirty="0">
                <a:solidFill>
                  <a:schemeClr val="tx1"/>
                </a:solidFill>
              </a:rPr>
              <a:t>Training vs. validation loss</a:t>
            </a:r>
            <a:endParaRPr lang="en-US" sz="1500" dirty="0"/>
          </a:p>
        </p:txBody>
      </p:sp>
      <p:sp>
        <p:nvSpPr>
          <p:cNvPr id="6" name="Text 4"/>
          <p:cNvSpPr txBox="1"/>
          <p:nvPr/>
        </p:nvSpPr>
        <p:spPr>
          <a:xfrm>
            <a:off x="3749040" y="2743200"/>
            <a:ext cx="2025396" cy="1005840"/>
          </a:xfrm>
          <a:prstGeom prst="rect">
            <a:avLst/>
          </a:prstGeom>
          <a:noFill/>
          <a:ln/>
        </p:spPr>
        <p:txBody>
          <a:bodyPr wrap="square" lIns="0" tIns="0" rIns="0" bIns="0" rtlCol="0" anchor="t"/>
          <a:lstStyle/>
          <a:p>
            <a:pPr indent="0" marL="0">
              <a:buNone/>
            </a:pPr>
            <a:r>
              <a:rPr lang="en-US" sz="1300" dirty="0">
                <a:solidFill>
                  <a:schemeClr val="tx2"/>
                </a:solidFill>
              </a:rPr>
              <a:t>Meal model, by epoch. A growing gap between the lines means overfitting.</a:t>
            </a:r>
            <a:endParaRPr lang="en-US" sz="1300" dirty="0"/>
          </a:p>
        </p:txBody>
      </p:sp>
      <p:sp>
        <p:nvSpPr>
          <p:cNvPr id="7" name="Shape 5"/>
          <p:cNvSpPr/>
          <p:nvPr/>
        </p:nvSpPr>
        <p:spPr>
          <a:xfrm>
            <a:off x="6231636" y="1874520"/>
            <a:ext cx="5271516" cy="2011680"/>
          </a:xfrm>
          <a:prstGeom prst="roundRect">
            <a:avLst>
              <a:gd name="adj" fmla="val 5455"/>
            </a:avLst>
          </a:prstGeom>
          <a:solidFill>
            <a:schemeClr val="bg1"/>
          </a:solidFill>
          <a:ln w="12700">
            <a:solidFill>
              <a:srgbClr val="D9E0DA"/>
            </a:solidFill>
            <a:prstDash val="solid"/>
          </a:ln>
        </p:spPr>
      </p:sp>
      <p:sp>
        <p:nvSpPr>
          <p:cNvPr id="8" name="Text 6"/>
          <p:cNvSpPr txBox="1"/>
          <p:nvPr/>
        </p:nvSpPr>
        <p:spPr>
          <a:xfrm>
            <a:off x="9294876" y="2148840"/>
            <a:ext cx="2025396" cy="548640"/>
          </a:xfrm>
          <a:prstGeom prst="rect">
            <a:avLst/>
          </a:prstGeom>
          <a:noFill/>
          <a:ln/>
        </p:spPr>
        <p:txBody>
          <a:bodyPr wrap="square" lIns="0" tIns="0" rIns="0" bIns="0" rtlCol="0" anchor="t"/>
          <a:lstStyle/>
          <a:p>
            <a:pPr indent="0" marL="0">
              <a:buNone/>
            </a:pPr>
            <a:r>
              <a:rPr lang="en-US" sz="1500" b="1" dirty="0">
                <a:solidFill>
                  <a:schemeClr val="tx1"/>
                </a:solidFill>
              </a:rPr>
              <a:t>Confusion matrix</a:t>
            </a:r>
            <a:endParaRPr lang="en-US" sz="1500" dirty="0"/>
          </a:p>
        </p:txBody>
      </p:sp>
      <p:sp>
        <p:nvSpPr>
          <p:cNvPr id="9" name="Text 7"/>
          <p:cNvSpPr txBox="1"/>
          <p:nvPr/>
        </p:nvSpPr>
        <p:spPr>
          <a:xfrm>
            <a:off x="9294876" y="2743200"/>
            <a:ext cx="2025396" cy="1005840"/>
          </a:xfrm>
          <a:prstGeom prst="rect">
            <a:avLst/>
          </a:prstGeom>
          <a:noFill/>
          <a:ln/>
        </p:spPr>
        <p:txBody>
          <a:bodyPr wrap="square" lIns="0" tIns="0" rIns="0" bIns="0" rtlCol="0" anchor="t"/>
          <a:lstStyle/>
          <a:p>
            <a:pPr indent="0" marL="0">
              <a:buNone/>
            </a:pPr>
            <a:r>
              <a:rPr lang="en-US" sz="1300" dirty="0">
                <a:solidFill>
                  <a:schemeClr val="tx2"/>
                </a:solidFill>
              </a:rPr>
              <a:t>Transport modes: walk, microbus, car, metro. Shows which modes get mixed up.</a:t>
            </a:r>
            <a:endParaRPr lang="en-US" sz="1300" dirty="0"/>
          </a:p>
        </p:txBody>
      </p:sp>
      <p:sp>
        <p:nvSpPr>
          <p:cNvPr id="10" name="Shape 8"/>
          <p:cNvSpPr/>
          <p:nvPr/>
        </p:nvSpPr>
        <p:spPr>
          <a:xfrm>
            <a:off x="685800" y="4114800"/>
            <a:ext cx="5271516" cy="2011680"/>
          </a:xfrm>
          <a:prstGeom prst="roundRect">
            <a:avLst>
              <a:gd name="adj" fmla="val 5455"/>
            </a:avLst>
          </a:prstGeom>
          <a:solidFill>
            <a:schemeClr val="bg1"/>
          </a:solidFill>
          <a:ln w="12700">
            <a:solidFill>
              <a:srgbClr val="D9E0DA"/>
            </a:solidFill>
            <a:prstDash val="solid"/>
          </a:ln>
        </p:spPr>
      </p:sp>
      <p:sp>
        <p:nvSpPr>
          <p:cNvPr id="11" name="Text 9"/>
          <p:cNvSpPr txBox="1"/>
          <p:nvPr/>
        </p:nvSpPr>
        <p:spPr>
          <a:xfrm>
            <a:off x="3749040" y="4389120"/>
            <a:ext cx="2025396" cy="548640"/>
          </a:xfrm>
          <a:prstGeom prst="rect">
            <a:avLst/>
          </a:prstGeom>
          <a:noFill/>
          <a:ln/>
        </p:spPr>
        <p:txBody>
          <a:bodyPr wrap="square" lIns="0" tIns="0" rIns="0" bIns="0" rtlCol="0" anchor="t"/>
          <a:lstStyle/>
          <a:p>
            <a:pPr indent="0" marL="0">
              <a:buNone/>
            </a:pPr>
            <a:r>
              <a:rPr lang="en-US" sz="1500" b="1" dirty="0">
                <a:solidFill>
                  <a:schemeClr val="tx1"/>
                </a:solidFill>
              </a:rPr>
              <a:t>Monitor vs. reference</a:t>
            </a:r>
            <a:endParaRPr lang="en-US" sz="1500" dirty="0"/>
          </a:p>
        </p:txBody>
      </p:sp>
      <p:sp>
        <p:nvSpPr>
          <p:cNvPr id="12" name="Text 10"/>
          <p:cNvSpPr txBox="1"/>
          <p:nvPr/>
        </p:nvSpPr>
        <p:spPr>
          <a:xfrm>
            <a:off x="3749040" y="4983480"/>
            <a:ext cx="2025396" cy="1005840"/>
          </a:xfrm>
          <a:prstGeom prst="rect">
            <a:avLst/>
          </a:prstGeom>
          <a:noFill/>
          <a:ln/>
        </p:spPr>
        <p:txBody>
          <a:bodyPr wrap="square" lIns="0" tIns="0" rIns="0" bIns="0" rtlCol="0" anchor="t"/>
          <a:lstStyle/>
          <a:p>
            <a:pPr indent="0" marL="0">
              <a:buNone/>
            </a:pPr>
            <a:r>
              <a:rPr lang="en-US" sz="1300" dirty="0">
                <a:solidFill>
                  <a:schemeClr val="tx2"/>
                </a:solidFill>
              </a:rPr>
              <a:t>Weekly floor kWh from our monitor beside the reference reading. The gap is the monitor error.</a:t>
            </a:r>
            <a:endParaRPr lang="en-US" sz="1300" dirty="0"/>
          </a:p>
        </p:txBody>
      </p:sp>
      <p:sp>
        <p:nvSpPr>
          <p:cNvPr id="13" name="Shape 11"/>
          <p:cNvSpPr/>
          <p:nvPr/>
        </p:nvSpPr>
        <p:spPr>
          <a:xfrm>
            <a:off x="6231636" y="4114800"/>
            <a:ext cx="5271516" cy="2011680"/>
          </a:xfrm>
          <a:prstGeom prst="roundRect">
            <a:avLst>
              <a:gd name="adj" fmla="val 5455"/>
            </a:avLst>
          </a:prstGeom>
          <a:solidFill>
            <a:schemeClr val="bg1"/>
          </a:solidFill>
          <a:ln w="12700">
            <a:solidFill>
              <a:srgbClr val="D9E0DA"/>
            </a:solidFill>
            <a:prstDash val="solid"/>
          </a:ln>
        </p:spPr>
      </p:sp>
      <p:sp>
        <p:nvSpPr>
          <p:cNvPr id="14" name="Text 12"/>
          <p:cNvSpPr txBox="1"/>
          <p:nvPr/>
        </p:nvSpPr>
        <p:spPr>
          <a:xfrm>
            <a:off x="9294876" y="4389120"/>
            <a:ext cx="2025396" cy="548640"/>
          </a:xfrm>
          <a:prstGeom prst="rect">
            <a:avLst/>
          </a:prstGeom>
          <a:noFill/>
          <a:ln/>
        </p:spPr>
        <p:txBody>
          <a:bodyPr wrap="square" lIns="0" tIns="0" rIns="0" bIns="0" rtlCol="0" anchor="t"/>
          <a:lstStyle/>
          <a:p>
            <a:pPr indent="0" marL="0">
              <a:buNone/>
            </a:pPr>
            <a:r>
              <a:rPr lang="en-US" sz="1500" b="1" dirty="0">
                <a:solidFill>
                  <a:schemeClr val="tx1"/>
                </a:solidFill>
              </a:rPr>
              <a:t>Predicted vs. actual kWh</a:t>
            </a:r>
            <a:endParaRPr lang="en-US" sz="1500" dirty="0"/>
          </a:p>
        </p:txBody>
      </p:sp>
      <p:sp>
        <p:nvSpPr>
          <p:cNvPr id="15" name="Text 13"/>
          <p:cNvSpPr txBox="1"/>
          <p:nvPr/>
        </p:nvSpPr>
        <p:spPr>
          <a:xfrm>
            <a:off x="9294876" y="4983480"/>
            <a:ext cx="2025396" cy="1005840"/>
          </a:xfrm>
          <a:prstGeom prst="rect">
            <a:avLst/>
          </a:prstGeom>
          <a:noFill/>
          <a:ln/>
        </p:spPr>
        <p:txBody>
          <a:bodyPr wrap="square" lIns="0" tIns="0" rIns="0" bIns="0" rtlCol="0" anchor="t"/>
          <a:lstStyle/>
          <a:p>
            <a:pPr indent="0" marL="0">
              <a:buNone/>
            </a:pPr>
            <a:r>
              <a:rPr lang="en-US" sz="1300" dirty="0">
                <a:solidFill>
                  <a:schemeClr val="tx2"/>
                </a:solidFill>
              </a:rPr>
              <a:t>One working day on the floor, hour by hour. The gap is what MAPE measures.</a:t>
            </a:r>
            <a:endParaRPr lang="en-US" sz="1300" dirty="0"/>
          </a:p>
        </p:txBody>
      </p:sp>
      <p:graphicFrame>
        <p:nvGraphicFramePr>
          <p:cNvPr id="16" name="Chart 0" descr=""/>
          <p:cNvGraphicFramePr/>
          <p:nvPr/>
        </p:nvGraphicFramePr>
        <p:xfrm>
          <a:off x="777240" y="1965960"/>
          <a:ext cx="2926080" cy="182880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60236" y="2011680"/>
          <a:ext cx="2304288" cy="914400"/>
        </p:xfrm>
        <a:graphic>
          <a:graphicData uri="http://schemas.openxmlformats.org/drawingml/2006/table">
            <a:tbl>
              <a:tblPr/>
              <a:tblGrid>
                <a:gridCol w="548640"/>
                <a:gridCol w="438912"/>
                <a:gridCol w="438912"/>
                <a:gridCol w="438912"/>
                <a:gridCol w="438912"/>
              </a:tblGrid>
              <a:tr h="274320">
                <a:tc>
                  <a:txBody>
                    <a:bodyPr/>
                    <a:lstStyle/>
                    <a:p>
                      <a:pPr indent="0" marL="0">
                        <a:buNone/>
                      </a:pPr>
                      <a:endParaRPr lang="en-US" sz="1200" dirty="0"/>
                    </a:p>
                  </a:txBody>
                  <a:tcPr marL="18288" marR="18288" marT="18288" marB="18288">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900" dirty="0">
                          <a:solidFill>
                            <a:schemeClr val="accent5"/>
                          </a:solidFill>
                        </a:rPr>
                        <a:t>Walk</a:t>
                      </a:r>
                      <a:endParaRPr lang="en-US" sz="900" dirty="0"/>
                    </a:p>
                  </a:txBody>
                  <a:tcPr marL="18288" marR="18288" marT="18288" marB="18288" anchor="b">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900" dirty="0">
                          <a:solidFill>
                            <a:schemeClr val="accent5"/>
                          </a:solidFill>
                        </a:rPr>
                        <a:t>Micro</a:t>
                      </a:r>
                      <a:endParaRPr lang="en-US" sz="900" dirty="0"/>
                    </a:p>
                  </a:txBody>
                  <a:tcPr marL="18288" marR="18288" marT="18288" marB="18288" anchor="b">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900" dirty="0">
                          <a:solidFill>
                            <a:schemeClr val="accent5"/>
                          </a:solidFill>
                        </a:rPr>
                        <a:t>Car</a:t>
                      </a:r>
                      <a:endParaRPr lang="en-US" sz="900" dirty="0"/>
                    </a:p>
                  </a:txBody>
                  <a:tcPr marL="18288" marR="18288" marT="18288" marB="18288" anchor="b">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900" dirty="0">
                          <a:solidFill>
                            <a:schemeClr val="accent5"/>
                          </a:solidFill>
                        </a:rPr>
                        <a:t>Metro</a:t>
                      </a:r>
                      <a:endParaRPr lang="en-US" sz="900" dirty="0"/>
                    </a:p>
                  </a:txBody>
                  <a:tcPr marL="18288" marR="18288" marT="18288" marB="18288" anchor="b">
                    <a:lnL w="0" cap="flat" cmpd="sng" algn="ctr">
                      <a:noFill/>
                    </a:lnL>
                    <a:lnR w="0" cap="flat" cmpd="sng" algn="ctr">
                      <a:noFill/>
                    </a:lnR>
                    <a:lnT w="0" cap="flat" cmpd="sng" algn="ctr">
                      <a:noFill/>
                    </a:lnT>
                    <a:lnB w="0" cap="flat" cmpd="sng" algn="ctr">
                      <a:noFill/>
                    </a:lnB>
                  </a:tcPr>
                </a:tc>
              </a:tr>
              <a:tr h="338328">
                <a:tc>
                  <a:txBody>
                    <a:bodyPr/>
                    <a:lstStyle/>
                    <a:p>
                      <a:pPr algn="r" indent="0" marL="0">
                        <a:buNone/>
                      </a:pPr>
                      <a:r>
                        <a:rPr lang="en-US" sz="900" dirty="0">
                          <a:solidFill>
                            <a:schemeClr val="accent5"/>
                          </a:solidFill>
                        </a:rPr>
                        <a:t>Walk</a:t>
                      </a:r>
                      <a:endParaRPr lang="en-US" sz="900" dirty="0"/>
                    </a:p>
                  </a:txBody>
                  <a:tcPr marL="18288" marR="18288"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7D5B"/>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5DB"/>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EDE6"/>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EDE6"/>
                    </a:solidFill>
                  </a:tcPr>
                </a:tc>
              </a:tr>
              <a:tr h="338328">
                <a:tc>
                  <a:txBody>
                    <a:bodyPr/>
                    <a:lstStyle/>
                    <a:p>
                      <a:pPr algn="r" indent="0" marL="0">
                        <a:buNone/>
                      </a:pPr>
                      <a:r>
                        <a:rPr lang="en-US" sz="900" dirty="0">
                          <a:solidFill>
                            <a:schemeClr val="accent5"/>
                          </a:solidFill>
                        </a:rPr>
                        <a:t>Micro</a:t>
                      </a:r>
                      <a:endParaRPr lang="en-US" sz="900" dirty="0"/>
                    </a:p>
                  </a:txBody>
                  <a:tcPr marL="18288" marR="18288"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BE3"/>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7D5B"/>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0CCBD"/>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EDE6"/>
                    </a:solidFill>
                  </a:tcPr>
                </a:tc>
              </a:tr>
              <a:tr h="338328">
                <a:tc>
                  <a:txBody>
                    <a:bodyPr/>
                    <a:lstStyle/>
                    <a:p>
                      <a:pPr algn="r" indent="0" marL="0">
                        <a:buNone/>
                      </a:pPr>
                      <a:r>
                        <a:rPr lang="en-US" sz="900" dirty="0">
                          <a:solidFill>
                            <a:schemeClr val="accent5"/>
                          </a:solidFill>
                        </a:rPr>
                        <a:t>Car</a:t>
                      </a:r>
                      <a:endParaRPr lang="en-US" sz="900" dirty="0"/>
                    </a:p>
                  </a:txBody>
                  <a:tcPr marL="18288" marR="18288"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EDE6"/>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AD2C5"/>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7D5B"/>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BE3"/>
                    </a:solidFill>
                  </a:tcPr>
                </a:tc>
              </a:tr>
              <a:tr h="338328">
                <a:tc>
                  <a:txBody>
                    <a:bodyPr/>
                    <a:lstStyle/>
                    <a:p>
                      <a:pPr algn="r" indent="0" marL="0">
                        <a:buNone/>
                      </a:pPr>
                      <a:r>
                        <a:rPr lang="en-US" sz="900" dirty="0">
                          <a:solidFill>
                            <a:schemeClr val="accent5"/>
                          </a:solidFill>
                        </a:rPr>
                        <a:t>Metro</a:t>
                      </a:r>
                      <a:endParaRPr lang="en-US" sz="900" dirty="0"/>
                    </a:p>
                  </a:txBody>
                  <a:tcPr marL="18288" marR="18288" marT="18288" marB="18288"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EDE6"/>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EDE6"/>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8E0"/>
                    </a:solidFill>
                  </a:tcPr>
                </a:tc>
                <a:tc>
                  <a:txBody>
                    <a:bodyPr/>
                    <a:lstStyle/>
                    <a:p>
                      <a:pPr indent="0" marL="0">
                        <a:buNone/>
                      </a:pPr>
                      <a:endParaRPr lang="en-US" sz="1200" dirty="0"/>
                    </a:p>
                  </a:txBody>
                  <a:tcPr marL="18288" marR="18288" marT="18288" marB="18288">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7D5B"/>
                    </a:solidFill>
                  </a:tcPr>
                </a:tc>
              </a:tr>
            </a:tbl>
          </a:graphicData>
        </a:graphic>
      </p:graphicFrame>
      <p:sp>
        <p:nvSpPr>
          <p:cNvPr id="18" name="Text 14"/>
          <p:cNvSpPr txBox="1"/>
          <p:nvPr/>
        </p:nvSpPr>
        <p:spPr>
          <a:xfrm>
            <a:off x="6460236" y="3657600"/>
            <a:ext cx="2743200" cy="228600"/>
          </a:xfrm>
          <a:prstGeom prst="rect">
            <a:avLst/>
          </a:prstGeom>
          <a:noFill/>
          <a:ln/>
        </p:spPr>
        <p:txBody>
          <a:bodyPr wrap="square" lIns="0" tIns="0" rIns="0" bIns="0" rtlCol="0" anchor="t"/>
          <a:lstStyle/>
          <a:p>
            <a:pPr indent="0" marL="0">
              <a:buNone/>
            </a:pPr>
            <a:r>
              <a:rPr lang="en-US" sz="900" dirty="0">
                <a:solidFill>
                  <a:schemeClr val="accent5"/>
                </a:solidFill>
              </a:rPr>
              <a:t>rows: true mode · columns: predicted</a:t>
            </a:r>
            <a:endParaRPr lang="en-US" sz="900" dirty="0"/>
          </a:p>
        </p:txBody>
      </p:sp>
      <p:graphicFrame>
        <p:nvGraphicFramePr>
          <p:cNvPr id="19" name="Chart 1" descr=""/>
          <p:cNvGraphicFramePr/>
          <p:nvPr/>
        </p:nvGraphicFramePr>
        <p:xfrm>
          <a:off x="777240" y="4206240"/>
          <a:ext cx="2926080" cy="1828800"/>
        </p:xfrm>
        <a:graphic xmlns:a="http://schemas.openxmlformats.org/drawingml/2006/main">
          <a:graphicData uri="http://schemas.openxmlformats.org/drawingml/2006/chart">
            <c:chart xmlns:c="http://schemas.openxmlformats.org/drawingml/2006/chart" r:id="rId2"/>
          </a:graphicData>
        </a:graphic>
      </p:graphicFrame>
      <p:graphicFrame>
        <p:nvGraphicFramePr>
          <p:cNvPr id="20" name="Chart 2" descr=""/>
          <p:cNvGraphicFramePr/>
          <p:nvPr/>
        </p:nvGraphicFramePr>
        <p:xfrm>
          <a:off x="6323076" y="4206240"/>
          <a:ext cx="2926080" cy="1828800"/>
        </p:xfrm>
        <a:graphic xmlns:a="http://schemas.openxmlformats.org/drawingml/2006/main">
          <a:graphicData uri="http://schemas.openxmlformats.org/drawingml/2006/chart">
            <c:chart xmlns:c="http://schemas.openxmlformats.org/drawingml/2006/chart" r:id="rId3"/>
          </a:graphicData>
        </a:graphic>
      </p:graphicFrame>
      <p:sp>
        <p:nvSpPr>
          <p:cNvPr id="21" name="Text 15"/>
          <p:cNvSpPr txBox="1"/>
          <p:nvPr/>
        </p:nvSpPr>
        <p:spPr>
          <a:xfrm>
            <a:off x="685800" y="6263640"/>
            <a:ext cx="9875520" cy="274320"/>
          </a:xfrm>
          <a:prstGeom prst="rect">
            <a:avLst/>
          </a:prstGeom>
          <a:noFill/>
          <a:ln/>
        </p:spPr>
        <p:txBody>
          <a:bodyPr wrap="square" lIns="0" tIns="0" rIns="0" bIns="0" rtlCol="0" anchor="t"/>
          <a:lstStyle/>
          <a:p>
            <a:pPr indent="0" marL="0">
              <a:buNone/>
            </a:pPr>
            <a:r>
              <a:rPr lang="en-US" sz="1100" i="1" dirty="0">
                <a:solidFill>
                  <a:schemeClr val="accent5"/>
                </a:solidFill>
              </a:rPr>
              <a:t>Illustrative shapes only, not results. The real curves come from our test data in weeks 10 and 18.</a:t>
            </a:r>
            <a:endParaRPr lang="en-US" sz="11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MEASURING AN EDUCATIONAL INSTITUTION</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Universities and schools measure their footprint in three scopes</a:t>
            </a:r>
            <a:endParaRPr lang="en-US" sz="3000" dirty="0"/>
          </a:p>
        </p:txBody>
      </p:sp>
      <p:sp>
        <p:nvSpPr>
          <p:cNvPr id="4" name="Shape 2"/>
          <p:cNvSpPr/>
          <p:nvPr/>
        </p:nvSpPr>
        <p:spPr>
          <a:xfrm>
            <a:off x="685800" y="1874520"/>
            <a:ext cx="3422904" cy="3246120"/>
          </a:xfrm>
          <a:prstGeom prst="roundRect">
            <a:avLst>
              <a:gd name="adj" fmla="val 3380"/>
            </a:avLst>
          </a:prstGeom>
          <a:solidFill>
            <a:schemeClr val="bg1"/>
          </a:solidFill>
          <a:ln w="12700">
            <a:solidFill>
              <a:srgbClr val="D9E0DA"/>
            </a:solidFill>
            <a:prstDash val="solid"/>
          </a:ln>
        </p:spPr>
      </p:sp>
      <p:sp>
        <p:nvSpPr>
          <p:cNvPr id="5" name="Text 3"/>
          <p:cNvSpPr txBox="1"/>
          <p:nvPr/>
        </p:nvSpPr>
        <p:spPr>
          <a:xfrm>
            <a:off x="960120" y="2103120"/>
            <a:ext cx="287426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SCOPE 1 · DIRECT</a:t>
            </a:r>
            <a:endParaRPr lang="en-US" sz="1200" dirty="0"/>
          </a:p>
        </p:txBody>
      </p:sp>
      <p:sp>
        <p:nvSpPr>
          <p:cNvPr id="6" name="Text 4"/>
          <p:cNvSpPr txBox="1"/>
          <p:nvPr/>
        </p:nvSpPr>
        <p:spPr>
          <a:xfrm>
            <a:off x="960120" y="2423160"/>
            <a:ext cx="2874264" cy="411480"/>
          </a:xfrm>
          <a:prstGeom prst="rect">
            <a:avLst/>
          </a:prstGeom>
          <a:noFill/>
          <a:ln/>
        </p:spPr>
        <p:txBody>
          <a:bodyPr wrap="square" lIns="0" tIns="0" rIns="0" bIns="0" rtlCol="0" anchor="t"/>
          <a:lstStyle/>
          <a:p>
            <a:pPr indent="0" marL="0">
              <a:buNone/>
            </a:pPr>
            <a:r>
              <a:rPr lang="en-US" sz="1900" b="1" dirty="0">
                <a:solidFill>
                  <a:schemeClr val="tx1"/>
                </a:solidFill>
              </a:rPr>
              <a:t>Fuel burned on site</a:t>
            </a:r>
            <a:endParaRPr lang="en-US" sz="1900" dirty="0"/>
          </a:p>
        </p:txBody>
      </p:sp>
      <p:sp>
        <p:nvSpPr>
          <p:cNvPr id="7" name="Text 5"/>
          <p:cNvSpPr txBox="1"/>
          <p:nvPr/>
        </p:nvSpPr>
        <p:spPr>
          <a:xfrm>
            <a:off x="960120" y="2898648"/>
            <a:ext cx="2874264" cy="1097280"/>
          </a:xfrm>
          <a:prstGeom prst="rect">
            <a:avLst/>
          </a:prstGeom>
          <a:noFill/>
          <a:ln/>
        </p:spPr>
        <p:txBody>
          <a:bodyPr wrap="square" lIns="0" tIns="0" rIns="0" bIns="0" rtlCol="0" anchor="t"/>
          <a:lstStyle/>
          <a:p>
            <a:pPr indent="0" marL="0">
              <a:buNone/>
            </a:pPr>
            <a:r>
              <a:rPr lang="en-US" sz="1500" dirty="0">
                <a:solidFill>
                  <a:schemeClr val="tx2"/>
                </a:solidFill>
              </a:rPr>
              <a:t>Gas for heating and kitchens, diesel generators, the institution’s buses, refrigerant leaks</a:t>
            </a:r>
            <a:endParaRPr lang="en-US" sz="1500" dirty="0"/>
          </a:p>
        </p:txBody>
      </p:sp>
      <p:sp>
        <p:nvSpPr>
          <p:cNvPr id="8" name="Shape 6"/>
          <p:cNvSpPr/>
          <p:nvPr/>
        </p:nvSpPr>
        <p:spPr>
          <a:xfrm>
            <a:off x="868680" y="4160520"/>
            <a:ext cx="3057144" cy="777240"/>
          </a:xfrm>
          <a:prstGeom prst="roundRect">
            <a:avLst>
              <a:gd name="adj" fmla="val 9412"/>
            </a:avLst>
          </a:prstGeom>
          <a:solidFill>
            <a:schemeClr val="bg2"/>
          </a:solidFill>
          <a:ln/>
        </p:spPr>
      </p:sp>
      <p:sp>
        <p:nvSpPr>
          <p:cNvPr id="9" name="Text 7"/>
          <p:cNvSpPr txBox="1"/>
          <p:nvPr/>
        </p:nvSpPr>
        <p:spPr>
          <a:xfrm>
            <a:off x="1005840" y="4160520"/>
            <a:ext cx="2782824" cy="777240"/>
          </a:xfrm>
          <a:prstGeom prst="rect">
            <a:avLst/>
          </a:prstGeom>
          <a:noFill/>
          <a:ln/>
        </p:spPr>
        <p:txBody>
          <a:bodyPr wrap="square" lIns="0" tIns="0" rIns="0" bIns="0" rtlCol="0" anchor="ctr"/>
          <a:lstStyle/>
          <a:p>
            <a:pPr indent="0" marL="0">
              <a:buNone/>
            </a:pPr>
            <a:r>
              <a:rPr lang="en-US" sz="1400" b="1" dirty="0">
                <a:solidFill>
                  <a:schemeClr val="accent1"/>
                </a:solidFill>
              </a:rPr>
              <a:t>Basmati: </a:t>
            </a:r>
            <a:pPr indent="0" marL="0">
              <a:buNone/>
            </a:pPr>
            <a:r>
              <a:rPr lang="en-US" sz="1400" dirty="0">
                <a:solidFill>
                  <a:schemeClr val="tx1"/>
                </a:solidFill>
              </a:rPr>
              <a:t>Optional manual entry</a:t>
            </a:r>
            <a:endParaRPr lang="en-US" sz="1400" dirty="0"/>
          </a:p>
        </p:txBody>
      </p:sp>
      <p:sp>
        <p:nvSpPr>
          <p:cNvPr id="10" name="Shape 8"/>
          <p:cNvSpPr/>
          <p:nvPr/>
        </p:nvSpPr>
        <p:spPr>
          <a:xfrm>
            <a:off x="4383024" y="1874520"/>
            <a:ext cx="3422904" cy="3246120"/>
          </a:xfrm>
          <a:prstGeom prst="roundRect">
            <a:avLst>
              <a:gd name="adj" fmla="val 3380"/>
            </a:avLst>
          </a:prstGeom>
          <a:solidFill>
            <a:schemeClr val="bg1"/>
          </a:solidFill>
          <a:ln w="12700">
            <a:solidFill>
              <a:srgbClr val="D9E0DA"/>
            </a:solidFill>
            <a:prstDash val="solid"/>
          </a:ln>
        </p:spPr>
      </p:sp>
      <p:sp>
        <p:nvSpPr>
          <p:cNvPr id="11" name="Text 9"/>
          <p:cNvSpPr txBox="1"/>
          <p:nvPr/>
        </p:nvSpPr>
        <p:spPr>
          <a:xfrm>
            <a:off x="4657344" y="2103120"/>
            <a:ext cx="287426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SCOPE 2 · ELECTRICITY</a:t>
            </a:r>
            <a:endParaRPr lang="en-US" sz="1200" dirty="0"/>
          </a:p>
        </p:txBody>
      </p:sp>
      <p:sp>
        <p:nvSpPr>
          <p:cNvPr id="12" name="Text 10"/>
          <p:cNvSpPr txBox="1"/>
          <p:nvPr/>
        </p:nvSpPr>
        <p:spPr>
          <a:xfrm>
            <a:off x="4657344" y="2423160"/>
            <a:ext cx="2874264" cy="411480"/>
          </a:xfrm>
          <a:prstGeom prst="rect">
            <a:avLst/>
          </a:prstGeom>
          <a:noFill/>
          <a:ln/>
        </p:spPr>
        <p:txBody>
          <a:bodyPr wrap="square" lIns="0" tIns="0" rIns="0" bIns="0" rtlCol="0" anchor="t"/>
          <a:lstStyle/>
          <a:p>
            <a:pPr indent="0" marL="0">
              <a:buNone/>
            </a:pPr>
            <a:r>
              <a:rPr lang="en-US" sz="1900" b="1" dirty="0">
                <a:solidFill>
                  <a:schemeClr val="tx1"/>
                </a:solidFill>
              </a:rPr>
              <a:t>Purchased electricity</a:t>
            </a:r>
            <a:endParaRPr lang="en-US" sz="1900" dirty="0"/>
          </a:p>
        </p:txBody>
      </p:sp>
      <p:sp>
        <p:nvSpPr>
          <p:cNvPr id="13" name="Text 11"/>
          <p:cNvSpPr txBox="1"/>
          <p:nvPr/>
        </p:nvSpPr>
        <p:spPr>
          <a:xfrm>
            <a:off x="4657344" y="2898648"/>
            <a:ext cx="2874264" cy="1097280"/>
          </a:xfrm>
          <a:prstGeom prst="rect">
            <a:avLst/>
          </a:prstGeom>
          <a:noFill/>
          <a:ln/>
        </p:spPr>
        <p:txBody>
          <a:bodyPr wrap="square" lIns="0" tIns="0" rIns="0" bIns="0" rtlCol="0" anchor="t"/>
          <a:lstStyle/>
          <a:p>
            <a:pPr indent="0" marL="0">
              <a:buNone/>
            </a:pPr>
            <a:r>
              <a:rPr lang="en-US" sz="1500" dirty="0">
                <a:solidFill>
                  <a:schemeClr val="tx2"/>
                </a:solidFill>
              </a:rPr>
              <a:t>Labs, PCs, air conditioning and lighting</a:t>
            </a:r>
            <a:endParaRPr lang="en-US" sz="1500" dirty="0"/>
          </a:p>
        </p:txBody>
      </p:sp>
      <p:sp>
        <p:nvSpPr>
          <p:cNvPr id="14" name="Shape 12"/>
          <p:cNvSpPr/>
          <p:nvPr/>
        </p:nvSpPr>
        <p:spPr>
          <a:xfrm>
            <a:off x="4565904" y="4160520"/>
            <a:ext cx="3057144" cy="777240"/>
          </a:xfrm>
          <a:prstGeom prst="roundRect">
            <a:avLst>
              <a:gd name="adj" fmla="val 9412"/>
            </a:avLst>
          </a:prstGeom>
          <a:solidFill>
            <a:srgbClr val="DCEFE3"/>
          </a:solidFill>
          <a:ln/>
        </p:spPr>
      </p:sp>
      <p:sp>
        <p:nvSpPr>
          <p:cNvPr id="15" name="Text 13"/>
          <p:cNvSpPr txBox="1"/>
          <p:nvPr/>
        </p:nvSpPr>
        <p:spPr>
          <a:xfrm>
            <a:off x="4703064" y="4160520"/>
            <a:ext cx="2782824" cy="777240"/>
          </a:xfrm>
          <a:prstGeom prst="rect">
            <a:avLst/>
          </a:prstGeom>
          <a:noFill/>
          <a:ln/>
        </p:spPr>
        <p:txBody>
          <a:bodyPr wrap="square" lIns="0" tIns="0" rIns="0" bIns="0" rtlCol="0" anchor="ctr"/>
          <a:lstStyle/>
          <a:p>
            <a:pPr indent="0" marL="0">
              <a:buNone/>
            </a:pPr>
            <a:r>
              <a:rPr lang="en-US" sz="1400" b="1" dirty="0">
                <a:solidFill>
                  <a:schemeClr val="accent1"/>
                </a:solidFill>
              </a:rPr>
              <a:t>Basmati: </a:t>
            </a:r>
            <a:pPr indent="0" marL="0">
              <a:buNone/>
            </a:pPr>
            <a:r>
              <a:rPr lang="en-US" sz="1400" dirty="0">
                <a:solidFill>
                  <a:schemeClr val="tx1"/>
                </a:solidFill>
              </a:rPr>
              <a:t>Measured every 10 s by the floor monitors</a:t>
            </a:r>
            <a:endParaRPr lang="en-US" sz="1400" dirty="0"/>
          </a:p>
        </p:txBody>
      </p:sp>
      <p:sp>
        <p:nvSpPr>
          <p:cNvPr id="16" name="Shape 14"/>
          <p:cNvSpPr/>
          <p:nvPr/>
        </p:nvSpPr>
        <p:spPr>
          <a:xfrm>
            <a:off x="8080248" y="1874520"/>
            <a:ext cx="3422904" cy="3246120"/>
          </a:xfrm>
          <a:prstGeom prst="roundRect">
            <a:avLst>
              <a:gd name="adj" fmla="val 3380"/>
            </a:avLst>
          </a:prstGeom>
          <a:solidFill>
            <a:schemeClr val="bg1"/>
          </a:solidFill>
          <a:ln w="12700">
            <a:solidFill>
              <a:srgbClr val="D9E0DA"/>
            </a:solidFill>
            <a:prstDash val="solid"/>
          </a:ln>
        </p:spPr>
      </p:sp>
      <p:sp>
        <p:nvSpPr>
          <p:cNvPr id="17" name="Text 15"/>
          <p:cNvSpPr txBox="1"/>
          <p:nvPr/>
        </p:nvSpPr>
        <p:spPr>
          <a:xfrm>
            <a:off x="8354568" y="2103120"/>
            <a:ext cx="287426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SCOPE 3 · VALUE CHAIN</a:t>
            </a:r>
            <a:endParaRPr lang="en-US" sz="1200" dirty="0"/>
          </a:p>
        </p:txBody>
      </p:sp>
      <p:sp>
        <p:nvSpPr>
          <p:cNvPr id="18" name="Text 16"/>
          <p:cNvSpPr txBox="1"/>
          <p:nvPr/>
        </p:nvSpPr>
        <p:spPr>
          <a:xfrm>
            <a:off x="8354568" y="2423160"/>
            <a:ext cx="2874264" cy="411480"/>
          </a:xfrm>
          <a:prstGeom prst="rect">
            <a:avLst/>
          </a:prstGeom>
          <a:noFill/>
          <a:ln/>
        </p:spPr>
        <p:txBody>
          <a:bodyPr wrap="square" lIns="0" tIns="0" rIns="0" bIns="0" rtlCol="0" anchor="t"/>
          <a:lstStyle/>
          <a:p>
            <a:pPr indent="0" marL="0">
              <a:buNone/>
            </a:pPr>
            <a:r>
              <a:rPr lang="en-US" sz="1900" b="1" dirty="0">
                <a:solidFill>
                  <a:schemeClr val="tx1"/>
                </a:solidFill>
              </a:rPr>
              <a:t>Everything else</a:t>
            </a:r>
            <a:endParaRPr lang="en-US" sz="1900" dirty="0"/>
          </a:p>
        </p:txBody>
      </p:sp>
      <p:sp>
        <p:nvSpPr>
          <p:cNvPr id="19" name="Text 17"/>
          <p:cNvSpPr txBox="1"/>
          <p:nvPr/>
        </p:nvSpPr>
        <p:spPr>
          <a:xfrm>
            <a:off x="8354568" y="2898648"/>
            <a:ext cx="2874264" cy="1097280"/>
          </a:xfrm>
          <a:prstGeom prst="rect">
            <a:avLst/>
          </a:prstGeom>
          <a:noFill/>
          <a:ln/>
        </p:spPr>
        <p:txBody>
          <a:bodyPr wrap="square" lIns="0" tIns="0" rIns="0" bIns="0" rtlCol="0" anchor="t"/>
          <a:lstStyle/>
          <a:p>
            <a:pPr indent="0" marL="0">
              <a:buNone/>
            </a:pPr>
            <a:r>
              <a:rPr lang="en-US" sz="1500" dirty="0">
                <a:solidFill>
                  <a:schemeClr val="tx2"/>
                </a:solidFill>
              </a:rPr>
              <a:t>Student and staff commuting, food, purchases, waste, water, business travel</a:t>
            </a:r>
            <a:endParaRPr lang="en-US" sz="1500" dirty="0"/>
          </a:p>
        </p:txBody>
      </p:sp>
      <p:sp>
        <p:nvSpPr>
          <p:cNvPr id="20" name="Shape 18"/>
          <p:cNvSpPr/>
          <p:nvPr/>
        </p:nvSpPr>
        <p:spPr>
          <a:xfrm>
            <a:off x="8263128" y="4160520"/>
            <a:ext cx="3057144" cy="777240"/>
          </a:xfrm>
          <a:prstGeom prst="roundRect">
            <a:avLst>
              <a:gd name="adj" fmla="val 9412"/>
            </a:avLst>
          </a:prstGeom>
          <a:solidFill>
            <a:srgbClr val="DCEFE3"/>
          </a:solidFill>
          <a:ln/>
        </p:spPr>
      </p:sp>
      <p:sp>
        <p:nvSpPr>
          <p:cNvPr id="21" name="Text 19"/>
          <p:cNvSpPr txBox="1"/>
          <p:nvPr/>
        </p:nvSpPr>
        <p:spPr>
          <a:xfrm>
            <a:off x="8400288" y="4160520"/>
            <a:ext cx="2782824" cy="777240"/>
          </a:xfrm>
          <a:prstGeom prst="rect">
            <a:avLst/>
          </a:prstGeom>
          <a:noFill/>
          <a:ln/>
        </p:spPr>
        <p:txBody>
          <a:bodyPr wrap="square" lIns="0" tIns="0" rIns="0" bIns="0" rtlCol="0" anchor="ctr"/>
          <a:lstStyle/>
          <a:p>
            <a:pPr indent="0" marL="0">
              <a:buNone/>
            </a:pPr>
            <a:r>
              <a:rPr lang="en-US" sz="1400" b="1" dirty="0">
                <a:solidFill>
                  <a:schemeClr val="accent1"/>
                </a:solidFill>
              </a:rPr>
              <a:t>Basmati: </a:t>
            </a:r>
            <a:pPr indent="0" marL="0">
              <a:buNone/>
            </a:pPr>
            <a:r>
              <a:rPr lang="en-US" sz="1400" dirty="0">
                <a:solidFill>
                  <a:schemeClr val="tx1"/>
                </a:solidFill>
              </a:rPr>
              <a:t>Commuting and meals per person, from the app</a:t>
            </a:r>
            <a:endParaRPr lang="en-US" sz="1400" dirty="0"/>
          </a:p>
        </p:txBody>
      </p:sp>
      <p:sp>
        <p:nvSpPr>
          <p:cNvPr id="22" name="Shape 20"/>
          <p:cNvSpPr/>
          <p:nvPr/>
        </p:nvSpPr>
        <p:spPr>
          <a:xfrm>
            <a:off x="685800" y="5349240"/>
            <a:ext cx="10817352" cy="777240"/>
          </a:xfrm>
          <a:prstGeom prst="roundRect">
            <a:avLst>
              <a:gd name="adj" fmla="val 14118"/>
            </a:avLst>
          </a:prstGeom>
          <a:solidFill>
            <a:schemeClr val="bg2"/>
          </a:solidFill>
          <a:ln/>
        </p:spPr>
      </p:sp>
      <p:sp>
        <p:nvSpPr>
          <p:cNvPr id="23" name="Text 21"/>
          <p:cNvSpPr txBox="1"/>
          <p:nvPr/>
        </p:nvSpPr>
        <p:spPr>
          <a:xfrm>
            <a:off x="1005840" y="5349240"/>
            <a:ext cx="10177272" cy="777240"/>
          </a:xfrm>
          <a:prstGeom prst="rect">
            <a:avLst/>
          </a:prstGeom>
          <a:noFill/>
          <a:ln/>
        </p:spPr>
        <p:txBody>
          <a:bodyPr wrap="square" lIns="0" tIns="0" rIns="0" bIns="0" rtlCol="0" anchor="ctr"/>
          <a:lstStyle/>
          <a:p>
            <a:pPr indent="0" marL="0">
              <a:buNone/>
            </a:pPr>
            <a:r>
              <a:rPr lang="en-US" sz="1500" b="1" dirty="0">
                <a:solidFill>
                  <a:schemeClr val="accent1"/>
                </a:solidFill>
              </a:rPr>
              <a:t>Standards: </a:t>
            </a:r>
            <a:pPr indent="0" marL="0">
              <a:buNone/>
            </a:pPr>
            <a:r>
              <a:rPr lang="en-US" sz="1500" dirty="0">
                <a:solidFill>
                  <a:schemeClr val="tx1"/>
                </a:solidFill>
              </a:rPr>
              <a:t>GHG Protocol Corporate and Scope 3 Standards; ISO 14064-1:2018; ISO/TR 14069. Emissions = activity × emission factor, then normalized per person or per m².</a:t>
            </a:r>
            <a:endParaRPr lang="en-US" sz="15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RELATED WORK 2020–2026 · 1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How to measure the footprint of a university</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5943600"/>
                <a:gridCol w="777240"/>
                <a:gridCol w="4096512"/>
              </a:tblGrid>
              <a:tr h="411480">
                <a:tc>
                  <a:txBody>
                    <a:bodyPr/>
                    <a:lstStyle/>
                    <a:p>
                      <a:pPr indent="0" marL="0">
                        <a:buNone/>
                      </a:pPr>
                      <a:r>
                        <a:rPr lang="en-US" sz="1400" b="1" dirty="0">
                          <a:solidFill>
                            <a:schemeClr val="tx1"/>
                          </a:solidFill>
                        </a:rPr>
                        <a:t>Paper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Year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What we take from it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566928">
                <a:tc>
                  <a:txBody>
                    <a:bodyPr/>
                    <a:lstStyle/>
                    <a:p>
                      <a:pPr indent="0" marL="0">
                        <a:buNone/>
                      </a:pPr>
                      <a:r>
                        <a:rPr lang="en-US" sz="1400" dirty="0">
                          <a:solidFill>
                            <a:schemeClr val="tx2"/>
                          </a:solidFill>
                        </a:rPr>
                        <a:t>[1] Valls-Val and Bovea — Carbon footprint in higher education institutions: a literature review</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Scopes, methods and sources used by universities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[3] Helmers, Chang and Dauwels — Carbon footprinting of universities worldwide, Part I</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 universities; standardized metrics needed to compare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[4] Valls-Val and Bovea — CO2UNV: a carbon footprint tool for universities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Scopes 1–3 per university or per building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[6] Herth and Blok — Universities’ direct and indirect emissions (TU Delft)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2023</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106 kt, 80% Scope 3; spending-based estimates are weak</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[7] Kiehle et al. — Carbon footprint of the University of Oulu</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2023</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Hybrid input-output and LCA; heating is the largest item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[9] Abdelbasier et al. — Monitoring and mitigation in higher education (Ain Shams Univ. journal)</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Egyptian review; electricity is a major share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Text 2"/>
          <p:cNvSpPr txBox="1"/>
          <p:nvPr/>
        </p:nvSpPr>
        <p:spPr>
          <a:xfrm>
            <a:off x="685800" y="6236208"/>
            <a:ext cx="9875520" cy="274320"/>
          </a:xfrm>
          <a:prstGeom prst="rect">
            <a:avLst/>
          </a:prstGeom>
          <a:noFill/>
          <a:ln/>
        </p:spPr>
        <p:txBody>
          <a:bodyPr wrap="square" lIns="0" tIns="0" rIns="0" bIns="0" rtlCol="0" anchor="t"/>
          <a:lstStyle/>
          <a:p>
            <a:pPr indent="0" marL="0">
              <a:buNone/>
            </a:pPr>
            <a:r>
              <a:rPr lang="en-US" sz="1100" i="1" dirty="0">
                <a:solidFill>
                  <a:schemeClr val="accent5"/>
                </a:solidFill>
              </a:rPr>
              <a:t>Numbers in brackets match the references at the end of the deck, with DOIs and links.</a:t>
            </a:r>
            <a:endParaRPr lang="en-US" sz="11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RELATED WORK 2020–2026 · 2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Measured campuses: commuting and buildings dominate</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3017520"/>
                <a:gridCol w="1234440"/>
                <a:gridCol w="914400"/>
                <a:gridCol w="1143000"/>
                <a:gridCol w="1051560"/>
                <a:gridCol w="2862072"/>
                <a:gridCol w="594360"/>
              </a:tblGrid>
              <a:tr h="393192">
                <a:tc>
                  <a:txBody>
                    <a:bodyPr/>
                    <a:lstStyle/>
                    <a:p>
                      <a:pPr indent="0" marL="0">
                        <a:buNone/>
                      </a:pPr>
                      <a:r>
                        <a:rPr lang="en-US" sz="1300" b="1" dirty="0">
                          <a:solidFill>
                            <a:schemeClr val="tx1"/>
                          </a:solidFill>
                        </a:rPr>
                        <a:t>Institution</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300" b="1" dirty="0">
                          <a:solidFill>
                            <a:schemeClr val="tx1"/>
                          </a:solidFill>
                        </a:rPr>
                        <a:t>Country</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300" b="1" dirty="0">
                          <a:solidFill>
                            <a:schemeClr val="tx1"/>
                          </a:solidFill>
                        </a:rPr>
                        <a:t>Year</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300" b="1" dirty="0">
                          <a:solidFill>
                            <a:schemeClr val="tx1"/>
                          </a:solidFill>
                        </a:rPr>
                        <a:t>t CO₂e</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300" b="1" dirty="0">
                          <a:solidFill>
                            <a:schemeClr val="tx1"/>
                          </a:solidFill>
                        </a:rPr>
                        <a:t>Per person</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300" b="1" dirty="0">
                          <a:solidFill>
                            <a:schemeClr val="tx1"/>
                          </a:solidFill>
                        </a:rPr>
                        <a:t>Largest source</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300" b="1" dirty="0">
                          <a:solidFill>
                            <a:schemeClr val="tx1"/>
                          </a:solidFill>
                        </a:rPr>
                        <a:t>Ref.</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393192">
                <a:tc>
                  <a:txBody>
                    <a:bodyPr/>
                    <a:lstStyle/>
                    <a:p>
                      <a:pPr indent="0" marL="0">
                        <a:buNone/>
                      </a:pPr>
                      <a:r>
                        <a:rPr lang="en-US" sz="1300" dirty="0">
                          <a:solidFill>
                            <a:schemeClr val="tx2"/>
                          </a:solidFill>
                        </a:rPr>
                        <a:t>Clemson University</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USA</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2014–17</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 95,400</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Electricity and Scope 3, ≈ 40% each</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[11]</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300" dirty="0">
                          <a:solidFill>
                            <a:schemeClr val="tx2"/>
                          </a:solidFill>
                        </a:rPr>
                        <a:t>Univ. Nacional de Colombia</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Colombia</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2019</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7,251</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0.43 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Transport 58.5%; Scope 3 83%</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[14]</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300" dirty="0">
                          <a:solidFill>
                            <a:schemeClr val="tx2"/>
                          </a:solidFill>
                        </a:rPr>
                        <a:t>NED University</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Pakistan</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2017</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 21,500</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1.79 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Scope 3 85.6%</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[13]</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300" dirty="0">
                          <a:solidFill>
                            <a:schemeClr val="tx2"/>
                          </a:solidFill>
                        </a:rPr>
                        <a:t>TU Delft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Netherlands</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2018</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 106,000</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Scope 3 ≈ 80% (purchases)</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[6]</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300" dirty="0">
                          <a:solidFill>
                            <a:schemeClr val="tx2"/>
                          </a:solidFill>
                        </a:rPr>
                        <a:t>University of Oulu</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Finland</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2019</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19,072</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District heating</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[7]</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300" dirty="0">
                          <a:solidFill>
                            <a:schemeClr val="tx2"/>
                          </a:solidFill>
                        </a:rPr>
                        <a:t>University of Bologna</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Italy</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2020</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16,467</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IT purchases ≈ 50% (transport 74% in 2018)</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[16]</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300" dirty="0">
                          <a:solidFill>
                            <a:schemeClr val="tx2"/>
                          </a:solidFill>
                        </a:rPr>
                        <a:t>TU Cluj-Napoca</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Romania</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2023</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7,229</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0.36 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Natural gas for heating</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[18]</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300" dirty="0">
                          <a:solidFill>
                            <a:schemeClr val="tx2"/>
                          </a:solidFill>
                        </a:rPr>
                        <a:t>Sichuan Univ. Jinjiang College</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China</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2023</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44,584</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1.89 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Electricity</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[19]</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393192">
                <a:tc>
                  <a:txBody>
                    <a:bodyPr/>
                    <a:lstStyle/>
                    <a:p>
                      <a:pPr indent="0" marL="0">
                        <a:buNone/>
                      </a:pPr>
                      <a:r>
                        <a:rPr lang="en-US" sz="1300" dirty="0">
                          <a:solidFill>
                            <a:schemeClr val="tx2"/>
                          </a:solidFill>
                        </a:rPr>
                        <a:t>Port Said University, Faculty of Science</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Egypt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2023–24</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Scope 3 (commuting) ≈ 97%</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300" dirty="0">
                          <a:solidFill>
                            <a:schemeClr val="tx2"/>
                          </a:solidFill>
                        </a:rPr>
                        <a:t>[22]</a:t>
                      </a:r>
                      <a:endParaRPr lang="en-US" sz="13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Text 2"/>
          <p:cNvSpPr txBox="1"/>
          <p:nvPr/>
        </p:nvSpPr>
        <p:spPr>
          <a:xfrm>
            <a:off x="685800" y="6035040"/>
            <a:ext cx="10058400" cy="274320"/>
          </a:xfrm>
          <a:prstGeom prst="rect">
            <a:avLst/>
          </a:prstGeom>
          <a:noFill/>
          <a:ln/>
        </p:spPr>
        <p:txBody>
          <a:bodyPr wrap="square" lIns="0" tIns="0" rIns="0" bIns="0" rtlCol="0" anchor="t"/>
          <a:lstStyle/>
          <a:p>
            <a:pPr indent="0" marL="0">
              <a:buNone/>
            </a:pPr>
            <a:r>
              <a:rPr lang="en-US" sz="1100" i="1" dirty="0">
                <a:solidFill>
                  <a:schemeClr val="accent5"/>
                </a:solidFill>
              </a:rPr>
              <a:t>Boundaries and years differ, so totals are not directly comparable; per-person figures are the fairer comparison.</a:t>
            </a:r>
            <a:endParaRPr lang="en-US" sz="11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RELATED WORK 2020–2026 · 3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Schools, Egypt and continuous measurement</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5943600"/>
                <a:gridCol w="777240"/>
                <a:gridCol w="4096512"/>
              </a:tblGrid>
              <a:tr h="411480">
                <a:tc>
                  <a:txBody>
                    <a:bodyPr/>
                    <a:lstStyle/>
                    <a:p>
                      <a:pPr indent="0" marL="0">
                        <a:buNone/>
                      </a:pPr>
                      <a:r>
                        <a:rPr lang="en-US" sz="1400" b="1" dirty="0">
                          <a:solidFill>
                            <a:schemeClr val="tx1"/>
                          </a:solidFill>
                        </a:rPr>
                        <a:t>Paper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Year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What we take from it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566928">
                <a:tc>
                  <a:txBody>
                    <a:bodyPr/>
                    <a:lstStyle/>
                    <a:p>
                      <a:pPr indent="0" marL="0">
                        <a:buNone/>
                      </a:pPr>
                      <a:r>
                        <a:rPr lang="en-US" sz="1400" dirty="0">
                          <a:solidFill>
                            <a:schemeClr val="tx2"/>
                          </a:solidFill>
                        </a:rPr>
                        <a:t>[20] Wagner et al. — Student-led carbon footprint assessment in schools (Schools4Future, Germany)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Students measure their school: mobility, heating, electricity, canteen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[21] Adhikari and Pokhrel — Carbon footprint of schools in Pokhara, Nepal</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2025</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8 schools, GHG Protocol; school buses are the largest item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731520">
                <a:tc>
                  <a:txBody>
                    <a:bodyPr/>
                    <a:lstStyle/>
                    <a:p>
                      <a:pPr indent="0" marL="0">
                        <a:buNone/>
                      </a:pPr>
                      <a:r>
                        <a:rPr lang="en-US" sz="1400" dirty="0">
                          <a:solidFill>
                            <a:schemeClr val="tx2"/>
                          </a:solidFill>
                        </a:rPr>
                        <a:t>[22] Badr, El Beheary and Hassan — Carbon footprint of Egyptian universities: Port Said University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2026</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Egyptian government university, per faculty; commuting ≈ 97%</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[23] Safwat et al. — Energy data for higher-education buildings in Egypt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2024</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Monthly data per building often missing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[24] Hamada, Hong and Raslan — Cairo’s public administrative buildings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2025</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About 40% cooling, 60% lighting and equipment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[25] García-Monge et al. — IoT monitoring on a smart campus in Spain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2023</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Continuous measurement; 40–70% HVAC savings possible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Text 2"/>
          <p:cNvSpPr txBox="1"/>
          <p:nvPr/>
        </p:nvSpPr>
        <p:spPr>
          <a:xfrm>
            <a:off x="685800" y="6236208"/>
            <a:ext cx="9875520" cy="274320"/>
          </a:xfrm>
          <a:prstGeom prst="rect">
            <a:avLst/>
          </a:prstGeom>
          <a:noFill/>
          <a:ln/>
        </p:spPr>
        <p:txBody>
          <a:bodyPr wrap="square" lIns="0" tIns="0" rIns="0" bIns="0" rtlCol="0" anchor="t"/>
          <a:lstStyle/>
          <a:p>
            <a:pPr indent="0" marL="0">
              <a:buNone/>
            </a:pPr>
            <a:r>
              <a:rPr lang="en-US" sz="1100" i="1" dirty="0">
                <a:solidFill>
                  <a:schemeClr val="accent5"/>
                </a:solidFill>
              </a:rPr>
              <a:t>Numbers in brackets match the references at the end of the deck, with DOIs and links.</a:t>
            </a:r>
            <a:endParaRPr lang="en-US" sz="11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RELATED WORK 2020–2026 · 4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Personal footprint apps, transport and food</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5943600"/>
                <a:gridCol w="777240"/>
                <a:gridCol w="4096512"/>
              </a:tblGrid>
              <a:tr h="411480">
                <a:tc>
                  <a:txBody>
                    <a:bodyPr/>
                    <a:lstStyle/>
                    <a:p>
                      <a:pPr indent="0" marL="0">
                        <a:buNone/>
                      </a:pPr>
                      <a:r>
                        <a:rPr lang="en-US" sz="1400" b="1" dirty="0">
                          <a:solidFill>
                            <a:schemeClr val="tx1"/>
                          </a:solidFill>
                        </a:rPr>
                        <a:t>Paper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Year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What we take from it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566928">
                <a:tc>
                  <a:txBody>
                    <a:bodyPr/>
                    <a:lstStyle/>
                    <a:p>
                      <a:pPr indent="0" marL="0">
                        <a:buNone/>
                      </a:pPr>
                      <a:r>
                        <a:rPr lang="en-US" sz="1400" dirty="0">
                          <a:solidFill>
                            <a:schemeClr val="tx2"/>
                          </a:solidFill>
                        </a:rPr>
                        <a:t>[28] Ajufo and Bekaroo — TCTracker: an automated personal carbon footprint calculator for transport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GPS + AI app; tested with 40 users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[29] Bekaroo et al. — Calculating carbon emissions from personal travelling: key calculators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10 calculators: inconsistent and opaque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[30] Zhang et al. — SpeedTransformer for transport mode, tested in the CarbonClever app</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2026</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348 users tracked for personal footprints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[31] Sadeghian, Håkansson and Zhao — Transport mode detection from GPS: a review</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Labeled trips are the bottleneck</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[33] Wang and Jiang — T2Trans: temporal convolutional network on phone sensors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Macro F1 86.42% on SHL, 8 modes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[34] Tahir and Loo — Survey of image-based food recognition and volume estimation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Deep CNN features; mobile food logging</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Text 2"/>
          <p:cNvSpPr txBox="1"/>
          <p:nvPr/>
        </p:nvSpPr>
        <p:spPr>
          <a:xfrm>
            <a:off x="685800" y="6236208"/>
            <a:ext cx="9875520" cy="274320"/>
          </a:xfrm>
          <a:prstGeom prst="rect">
            <a:avLst/>
          </a:prstGeom>
          <a:noFill/>
          <a:ln/>
        </p:spPr>
        <p:txBody>
          <a:bodyPr wrap="square" lIns="0" tIns="0" rIns="0" bIns="0" rtlCol="0" anchor="t"/>
          <a:lstStyle/>
          <a:p>
            <a:pPr indent="0" marL="0">
              <a:buNone/>
            </a:pPr>
            <a:r>
              <a:rPr lang="en-US" sz="1100" i="1" dirty="0">
                <a:solidFill>
                  <a:schemeClr val="accent5"/>
                </a:solidFill>
              </a:rPr>
              <a:t>Numbers in brackets match the references at the end of the deck, with DOIs and links.</a:t>
            </a:r>
            <a:endParaRPr lang="en-US" sz="11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RELATED WORK 2020–2026 · 5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Energy monitoring, forecasting and waste detection</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5943600"/>
                <a:gridCol w="777240"/>
                <a:gridCol w="4096512"/>
              </a:tblGrid>
              <a:tr h="411480">
                <a:tc>
                  <a:txBody>
                    <a:bodyPr/>
                    <a:lstStyle/>
                    <a:p>
                      <a:pPr indent="0" marL="0">
                        <a:buNone/>
                      </a:pPr>
                      <a:r>
                        <a:rPr lang="en-US" sz="1400" b="1" dirty="0">
                          <a:solidFill>
                            <a:schemeClr val="tx1"/>
                          </a:solidFill>
                        </a:rPr>
                        <a:t>Paper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Year</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What we take from it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566928">
                <a:tc>
                  <a:txBody>
                    <a:bodyPr/>
                    <a:lstStyle/>
                    <a:p>
                      <a:pPr indent="0" marL="0">
                        <a:buNone/>
                      </a:pPr>
                      <a:r>
                        <a:rPr lang="en-US" sz="1400" dirty="0">
                          <a:solidFill>
                            <a:schemeClr val="tx2"/>
                          </a:solidFill>
                        </a:rPr>
                        <a:t>[36] Ismail and Sahari — Real-time energy monitoring with ESP32 + SCT-013</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2024</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Worst-case error ≈ 12.4%, so we calibrate weekly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[37] Miller et al. — ASHRAE Great Energy Predictor III: overview and results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2020</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Gradient boosting (LightGBM) wins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[38] Anand et al. — Occupancy-based energy modelling for institutional buildings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Occupancy matters; gradient boosting is fast</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[39] Himeur et al. — AI-based anomaly detection of energy use in buildings: a review</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2021</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Methods for finding waste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[40] Azad, Rajabi and Estebsari — NILM with deep neural networks: a review</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2023</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Optional appliance breakdown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Text 2"/>
          <p:cNvSpPr txBox="1"/>
          <p:nvPr/>
        </p:nvSpPr>
        <p:spPr>
          <a:xfrm>
            <a:off x="685800" y="6236208"/>
            <a:ext cx="9875520" cy="274320"/>
          </a:xfrm>
          <a:prstGeom prst="rect">
            <a:avLst/>
          </a:prstGeom>
          <a:noFill/>
          <a:ln/>
        </p:spPr>
        <p:txBody>
          <a:bodyPr wrap="square" lIns="0" tIns="0" rIns="0" bIns="0" rtlCol="0" anchor="t"/>
          <a:lstStyle/>
          <a:p>
            <a:pPr indent="0" marL="0">
              <a:buNone/>
            </a:pPr>
            <a:r>
              <a:rPr lang="en-US" sz="1100" i="1" dirty="0">
                <a:solidFill>
                  <a:schemeClr val="accent5"/>
                </a:solidFill>
              </a:rPr>
              <a:t>Numbers in brackets match the references at the end of the deck, with DOIs and links.</a:t>
            </a:r>
            <a:endParaRPr lang="en-US" sz="11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17352" cy="292608"/>
          </a:xfrm>
          <a:prstGeom prst="rect">
            <a:avLst/>
          </a:prstGeom>
          <a:noFill/>
          <a:ln/>
        </p:spPr>
        <p:txBody>
          <a:bodyPr wrap="square" lIns="0" tIns="0" rIns="0" bIns="0" rtlCol="0" anchor="t"/>
          <a:lstStyle/>
          <a:p>
            <a:pPr indent="0" marL="0">
              <a:buNone/>
            </a:pPr>
            <a:r>
              <a:rPr lang="en-US" sz="1200" b="1" spc="200" kern="0" dirty="0">
                <a:solidFill>
                  <a:schemeClr val="accent2"/>
                </a:solidFill>
              </a:rPr>
              <a:t>RESEARCH GAP</a:t>
            </a:r>
            <a:endParaRPr lang="en-US" sz="1200" dirty="0"/>
          </a:p>
        </p:txBody>
      </p:sp>
      <p:sp>
        <p:nvSpPr>
          <p:cNvPr id="3" name="Text 0"/>
          <p:cNvSpPr/>
          <p:nvPr>
            <p:ph idx="101" type="title" hasCustomPrompt="1"/>
          </p:nvPr>
        </p:nvSpPr>
        <p:spPr>
          <a:xfrm>
            <a:off x="685800" y="914400"/>
            <a:ext cx="10817352" cy="1600200"/>
          </a:xfrm>
          <a:prstGeom prst="rect">
            <a:avLst/>
          </a:prstGeom>
          <a:noFill/>
          <a:ln/>
        </p:spPr>
        <p:txBody>
          <a:bodyPr wrap="square" lIns="0" tIns="0" rIns="0" bIns="0" rtlCol="0" anchor="t"/>
          <a:lstStyle/>
          <a:p>
            <a:pPr algn="l" indent="0" marL="0">
              <a:buNone/>
            </a:pPr>
            <a:r>
              <a:rPr lang="en-US" sz="3000" b="1" dirty="0">
                <a:solidFill>
                  <a:schemeClr val="bg1"/>
                </a:solidFill>
              </a:rPr>
              <a:t>Campuses measure their footprint once a year from bills and surveys; nothing measures a public building and its people every day.</a:t>
            </a:r>
            <a:endParaRPr lang="en-US" sz="3000" dirty="0"/>
          </a:p>
        </p:txBody>
      </p:sp>
      <p:sp>
        <p:nvSpPr>
          <p:cNvPr id="4" name="Shape 2"/>
          <p:cNvSpPr/>
          <p:nvPr/>
        </p:nvSpPr>
        <p:spPr>
          <a:xfrm>
            <a:off x="685800" y="3154680"/>
            <a:ext cx="603504" cy="603504"/>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842711" y="3311591"/>
            <a:ext cx="289682" cy="289682"/>
          </a:xfrm>
          <a:prstGeom prst="rect">
            <a:avLst/>
          </a:prstGeom>
        </p:spPr>
      </p:pic>
      <p:sp>
        <p:nvSpPr>
          <p:cNvPr id="6" name="Text 3"/>
          <p:cNvSpPr txBox="1"/>
          <p:nvPr/>
        </p:nvSpPr>
        <p:spPr>
          <a:xfrm>
            <a:off x="685800" y="3977640"/>
            <a:ext cx="3361944" cy="411480"/>
          </a:xfrm>
          <a:prstGeom prst="rect">
            <a:avLst/>
          </a:prstGeom>
          <a:noFill/>
          <a:ln/>
        </p:spPr>
        <p:txBody>
          <a:bodyPr wrap="square" lIns="0" tIns="0" rIns="0" bIns="0" rtlCol="0" anchor="t"/>
          <a:lstStyle/>
          <a:p>
            <a:pPr indent="0" marL="0">
              <a:buNone/>
            </a:pPr>
            <a:r>
              <a:rPr lang="en-US" sz="2000" b="1" dirty="0">
                <a:solidFill>
                  <a:schemeClr val="bg1"/>
                </a:solidFill>
              </a:rPr>
              <a:t>Daily, not yearly</a:t>
            </a:r>
            <a:endParaRPr lang="en-US" sz="2000" dirty="0"/>
          </a:p>
        </p:txBody>
      </p:sp>
      <p:sp>
        <p:nvSpPr>
          <p:cNvPr id="7" name="Text 4"/>
          <p:cNvSpPr txBox="1"/>
          <p:nvPr/>
        </p:nvSpPr>
        <p:spPr>
          <a:xfrm>
            <a:off x="685800" y="4462272"/>
            <a:ext cx="3361944" cy="1280160"/>
          </a:xfrm>
          <a:prstGeom prst="rect">
            <a:avLst/>
          </a:prstGeom>
          <a:noFill/>
          <a:ln/>
        </p:spPr>
        <p:txBody>
          <a:bodyPr wrap="square" lIns="0" tIns="0" rIns="0" bIns="0" rtlCol="0" anchor="t"/>
          <a:lstStyle/>
          <a:p>
            <a:pPr indent="0" marL="0">
              <a:buNone/>
            </a:pPr>
            <a:r>
              <a:rPr lang="en-US" sz="1600" dirty="0">
                <a:solidFill>
                  <a:srgbClr val="C9D8CF"/>
                </a:solidFill>
              </a:rPr>
              <a:t>Scope 2 measured every 10 s and commuting measured per trip, instead of one yearly inventory and a commuting survey.</a:t>
            </a:r>
            <a:endParaRPr lang="en-US" sz="1600" dirty="0"/>
          </a:p>
        </p:txBody>
      </p:sp>
      <p:sp>
        <p:nvSpPr>
          <p:cNvPr id="8" name="Shape 5"/>
          <p:cNvSpPr/>
          <p:nvPr/>
        </p:nvSpPr>
        <p:spPr>
          <a:xfrm>
            <a:off x="4413504" y="3154680"/>
            <a:ext cx="603504" cy="603504"/>
          </a:xfrm>
          <a:prstGeom prst="ellipse">
            <a:avLst/>
          </a:prstGeom>
          <a:solidFill>
            <a:schemeClr val="accent2"/>
          </a:solidFill>
          <a:ln/>
        </p:spPr>
      </p:sp>
      <p:pic>
        <p:nvPicPr>
          <p:cNvPr id="9" name="Image 1" descr="preencoded.png">    </p:cNvPr>
          <p:cNvPicPr>
            <a:picLocks noChangeAspect="1"/>
          </p:cNvPicPr>
          <p:nvPr/>
        </p:nvPicPr>
        <p:blipFill>
          <a:blip r:embed="rId2"/>
          <a:stretch>
            <a:fillRect/>
          </a:stretch>
        </p:blipFill>
        <p:spPr>
          <a:xfrm>
            <a:off x="4570415" y="3311591"/>
            <a:ext cx="289682" cy="289682"/>
          </a:xfrm>
          <a:prstGeom prst="rect">
            <a:avLst/>
          </a:prstGeom>
        </p:spPr>
      </p:pic>
      <p:sp>
        <p:nvSpPr>
          <p:cNvPr id="10" name="Text 6"/>
          <p:cNvSpPr txBox="1"/>
          <p:nvPr/>
        </p:nvSpPr>
        <p:spPr>
          <a:xfrm>
            <a:off x="4413504" y="3977640"/>
            <a:ext cx="3361944" cy="411480"/>
          </a:xfrm>
          <a:prstGeom prst="rect">
            <a:avLst/>
          </a:prstGeom>
          <a:noFill/>
          <a:ln/>
        </p:spPr>
        <p:txBody>
          <a:bodyPr wrap="square" lIns="0" tIns="0" rIns="0" bIns="0" rtlCol="0" anchor="t"/>
          <a:lstStyle/>
          <a:p>
            <a:pPr indent="0" marL="0">
              <a:buNone/>
            </a:pPr>
            <a:r>
              <a:rPr lang="en-US" sz="2000" b="1" dirty="0">
                <a:solidFill>
                  <a:schemeClr val="bg1"/>
                </a:solidFill>
              </a:rPr>
              <a:t>Local factors and data</a:t>
            </a:r>
            <a:endParaRPr lang="en-US" sz="2000" dirty="0"/>
          </a:p>
        </p:txBody>
      </p:sp>
      <p:sp>
        <p:nvSpPr>
          <p:cNvPr id="11" name="Text 7"/>
          <p:cNvSpPr txBox="1"/>
          <p:nvPr/>
        </p:nvSpPr>
        <p:spPr>
          <a:xfrm>
            <a:off x="4413504" y="4462272"/>
            <a:ext cx="3361944" cy="1280160"/>
          </a:xfrm>
          <a:prstGeom prst="rect">
            <a:avLst/>
          </a:prstGeom>
          <a:noFill/>
          <a:ln/>
        </p:spPr>
        <p:txBody>
          <a:bodyPr wrap="square" lIns="0" tIns="0" rIns="0" bIns="0" rtlCol="0" anchor="t"/>
          <a:lstStyle/>
          <a:p>
            <a:pPr indent="0" marL="0">
              <a:buNone/>
            </a:pPr>
            <a:r>
              <a:rPr lang="en-US" sz="1600" dirty="0">
                <a:solidFill>
                  <a:srgbClr val="C9D8CF"/>
                </a:solidFill>
              </a:rPr>
              <a:t>Microbus, metro, Egyptian dishes and the Egyptian grid, with data we collect ourselves.</a:t>
            </a:r>
            <a:endParaRPr lang="en-US" sz="1600" dirty="0"/>
          </a:p>
        </p:txBody>
      </p:sp>
      <p:sp>
        <p:nvSpPr>
          <p:cNvPr id="12" name="Shape 8"/>
          <p:cNvSpPr/>
          <p:nvPr/>
        </p:nvSpPr>
        <p:spPr>
          <a:xfrm>
            <a:off x="8141208" y="3154680"/>
            <a:ext cx="603504" cy="603504"/>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8298119" y="3311591"/>
            <a:ext cx="289682" cy="289682"/>
          </a:xfrm>
          <a:prstGeom prst="rect">
            <a:avLst/>
          </a:prstGeom>
        </p:spPr>
      </p:pic>
      <p:sp>
        <p:nvSpPr>
          <p:cNvPr id="14" name="Text 9"/>
          <p:cNvSpPr txBox="1"/>
          <p:nvPr/>
        </p:nvSpPr>
        <p:spPr>
          <a:xfrm>
            <a:off x="8141208" y="3977640"/>
            <a:ext cx="3361944" cy="411480"/>
          </a:xfrm>
          <a:prstGeom prst="rect">
            <a:avLst/>
          </a:prstGeom>
          <a:noFill/>
          <a:ln/>
        </p:spPr>
        <p:txBody>
          <a:bodyPr wrap="square" lIns="0" tIns="0" rIns="0" bIns="0" rtlCol="0" anchor="t"/>
          <a:lstStyle/>
          <a:p>
            <a:pPr indent="0" marL="0">
              <a:buNone/>
            </a:pPr>
            <a:r>
              <a:rPr lang="en-US" sz="2000" b="1" dirty="0">
                <a:solidFill>
                  <a:schemeClr val="bg1"/>
                </a:solidFill>
              </a:rPr>
              <a:t>Per person and per floor</a:t>
            </a:r>
            <a:endParaRPr lang="en-US" sz="2000" dirty="0"/>
          </a:p>
        </p:txBody>
      </p:sp>
      <p:sp>
        <p:nvSpPr>
          <p:cNvPr id="15" name="Text 10"/>
          <p:cNvSpPr txBox="1"/>
          <p:nvPr/>
        </p:nvSpPr>
        <p:spPr>
          <a:xfrm>
            <a:off x="8141208" y="4462272"/>
            <a:ext cx="3361944" cy="1280160"/>
          </a:xfrm>
          <a:prstGeom prst="rect">
            <a:avLst/>
          </a:prstGeom>
          <a:noFill/>
          <a:ln/>
        </p:spPr>
        <p:txBody>
          <a:bodyPr wrap="square" lIns="0" tIns="0" rIns="0" bIns="0" rtlCol="0" anchor="t"/>
          <a:lstStyle/>
          <a:p>
            <a:pPr indent="0" marL="0">
              <a:buNone/>
            </a:pPr>
            <a:r>
              <a:rPr lang="en-US" sz="1600" dirty="0">
                <a:solidFill>
                  <a:srgbClr val="C9D8CF"/>
                </a:solidFill>
              </a:rPr>
              <a:t>Each person’s real share of the floor, plus after-hours waste alerts for the department head.</a:t>
            </a:r>
            <a:endParaRPr lang="en-US" sz="16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C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TIMELINE · 20 WEEKS</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A full day computed automatically by week 10</a:t>
            </a:r>
            <a:endParaRPr lang="en-US" sz="3000" dirty="0"/>
          </a:p>
        </p:txBody>
      </p:sp>
      <p:sp>
        <p:nvSpPr>
          <p:cNvPr id="4" name="Shape 2"/>
          <p:cNvSpPr/>
          <p:nvPr/>
        </p:nvSpPr>
        <p:spPr>
          <a:xfrm>
            <a:off x="685800" y="1874520"/>
            <a:ext cx="2017166" cy="1737360"/>
          </a:xfrm>
          <a:prstGeom prst="roundRect">
            <a:avLst>
              <a:gd name="adj" fmla="val 6316"/>
            </a:avLst>
          </a:prstGeom>
          <a:solidFill>
            <a:schemeClr val="bg1"/>
          </a:solidFill>
          <a:ln w="12700">
            <a:solidFill>
              <a:srgbClr val="D9E0DA"/>
            </a:solidFill>
            <a:prstDash val="solid"/>
          </a:ln>
        </p:spPr>
      </p:sp>
      <p:sp>
        <p:nvSpPr>
          <p:cNvPr id="5" name="Text 3"/>
          <p:cNvSpPr txBox="1"/>
          <p:nvPr/>
        </p:nvSpPr>
        <p:spPr>
          <a:xfrm>
            <a:off x="868680" y="2029968"/>
            <a:ext cx="1651406" cy="274320"/>
          </a:xfrm>
          <a:prstGeom prst="rect">
            <a:avLst/>
          </a:prstGeom>
          <a:noFill/>
          <a:ln/>
        </p:spPr>
        <p:txBody>
          <a:bodyPr wrap="square" lIns="0" tIns="0" rIns="0" bIns="0" rtlCol="0" anchor="t"/>
          <a:lstStyle/>
          <a:p>
            <a:pPr indent="0" marL="0">
              <a:buNone/>
            </a:pPr>
            <a:r>
              <a:rPr lang="en-US" sz="1300" b="1" dirty="0">
                <a:solidFill>
                  <a:schemeClr val="accent1"/>
                </a:solidFill>
              </a:rPr>
              <a:t>Week 2</a:t>
            </a:r>
            <a:endParaRPr lang="en-US" sz="1300" dirty="0"/>
          </a:p>
        </p:txBody>
      </p:sp>
      <p:sp>
        <p:nvSpPr>
          <p:cNvPr id="6" name="Text 4"/>
          <p:cNvSpPr txBox="1"/>
          <p:nvPr/>
        </p:nvSpPr>
        <p:spPr>
          <a:xfrm>
            <a:off x="868680" y="2331720"/>
            <a:ext cx="1651406" cy="502920"/>
          </a:xfrm>
          <a:prstGeom prst="rect">
            <a:avLst/>
          </a:prstGeom>
          <a:noFill/>
          <a:ln/>
        </p:spPr>
        <p:txBody>
          <a:bodyPr wrap="square" lIns="0" tIns="0" rIns="0" bIns="0" rtlCol="0" anchor="t"/>
          <a:lstStyle/>
          <a:p>
            <a:pPr indent="0" marL="0">
              <a:buNone/>
            </a:pPr>
            <a:r>
              <a:rPr lang="en-US" sz="1500" b="1" dirty="0">
                <a:solidFill>
                  <a:schemeClr val="tx1"/>
                </a:solidFill>
              </a:rPr>
              <a:t>Interfaces and floor survey</a:t>
            </a:r>
            <a:endParaRPr lang="en-US" sz="1500" dirty="0"/>
          </a:p>
        </p:txBody>
      </p:sp>
      <p:sp>
        <p:nvSpPr>
          <p:cNvPr id="7" name="Text 5"/>
          <p:cNvSpPr txBox="1"/>
          <p:nvPr/>
        </p:nvSpPr>
        <p:spPr>
          <a:xfrm>
            <a:off x="868680" y="2852928"/>
            <a:ext cx="1651406" cy="713232"/>
          </a:xfrm>
          <a:prstGeom prst="rect">
            <a:avLst/>
          </a:prstGeom>
          <a:noFill/>
          <a:ln/>
        </p:spPr>
        <p:txBody>
          <a:bodyPr wrap="square" lIns="0" tIns="0" rIns="0" bIns="0" rtlCol="0" anchor="t"/>
          <a:lstStyle/>
          <a:p>
            <a:pPr indent="0" marL="0">
              <a:buNone/>
            </a:pPr>
            <a:r>
              <a:rPr lang="en-US" sz="1200" dirty="0">
                <a:solidFill>
                  <a:schemeClr val="tx2"/>
                </a:solidFill>
              </a:rPr>
              <a:t>MQTT, API, model inputs; rooms, labs, ACs and the board</a:t>
            </a:r>
            <a:endParaRPr lang="en-US" sz="1200" dirty="0"/>
          </a:p>
        </p:txBody>
      </p:sp>
      <p:sp>
        <p:nvSpPr>
          <p:cNvPr id="8" name="Shape 6"/>
          <p:cNvSpPr/>
          <p:nvPr/>
        </p:nvSpPr>
        <p:spPr>
          <a:xfrm>
            <a:off x="2885846" y="1874520"/>
            <a:ext cx="2017166" cy="1737360"/>
          </a:xfrm>
          <a:prstGeom prst="roundRect">
            <a:avLst>
              <a:gd name="adj" fmla="val 6316"/>
            </a:avLst>
          </a:prstGeom>
          <a:solidFill>
            <a:schemeClr val="bg1"/>
          </a:solidFill>
          <a:ln w="12700">
            <a:solidFill>
              <a:srgbClr val="D9E0DA"/>
            </a:solidFill>
            <a:prstDash val="solid"/>
          </a:ln>
        </p:spPr>
      </p:sp>
      <p:sp>
        <p:nvSpPr>
          <p:cNvPr id="9" name="Text 7"/>
          <p:cNvSpPr txBox="1"/>
          <p:nvPr/>
        </p:nvSpPr>
        <p:spPr>
          <a:xfrm>
            <a:off x="3068726" y="2029968"/>
            <a:ext cx="1651406" cy="274320"/>
          </a:xfrm>
          <a:prstGeom prst="rect">
            <a:avLst/>
          </a:prstGeom>
          <a:noFill/>
          <a:ln/>
        </p:spPr>
        <p:txBody>
          <a:bodyPr wrap="square" lIns="0" tIns="0" rIns="0" bIns="0" rtlCol="0" anchor="t"/>
          <a:lstStyle/>
          <a:p>
            <a:pPr indent="0" marL="0">
              <a:buNone/>
            </a:pPr>
            <a:r>
              <a:rPr lang="en-US" sz="1300" b="1" dirty="0">
                <a:solidFill>
                  <a:schemeClr val="accent1"/>
                </a:solidFill>
              </a:rPr>
              <a:t>Week 6</a:t>
            </a:r>
            <a:endParaRPr lang="en-US" sz="1300" dirty="0"/>
          </a:p>
        </p:txBody>
      </p:sp>
      <p:sp>
        <p:nvSpPr>
          <p:cNvPr id="10" name="Text 8"/>
          <p:cNvSpPr txBox="1"/>
          <p:nvPr/>
        </p:nvSpPr>
        <p:spPr>
          <a:xfrm>
            <a:off x="3068726" y="2331720"/>
            <a:ext cx="1651406" cy="502920"/>
          </a:xfrm>
          <a:prstGeom prst="rect">
            <a:avLst/>
          </a:prstGeom>
          <a:noFill/>
          <a:ln/>
        </p:spPr>
        <p:txBody>
          <a:bodyPr wrap="square" lIns="0" tIns="0" rIns="0" bIns="0" rtlCol="0" anchor="t"/>
          <a:lstStyle/>
          <a:p>
            <a:pPr indent="0" marL="0">
              <a:buNone/>
            </a:pPr>
            <a:r>
              <a:rPr lang="en-US" sz="1500" b="1" dirty="0">
                <a:solidFill>
                  <a:schemeClr val="tx1"/>
                </a:solidFill>
              </a:rPr>
              <a:t>Monitors and volunteers</a:t>
            </a:r>
            <a:endParaRPr lang="en-US" sz="1500" dirty="0"/>
          </a:p>
        </p:txBody>
      </p:sp>
      <p:sp>
        <p:nvSpPr>
          <p:cNvPr id="11" name="Text 9"/>
          <p:cNvSpPr txBox="1"/>
          <p:nvPr/>
        </p:nvSpPr>
        <p:spPr>
          <a:xfrm>
            <a:off x="3068726" y="2852928"/>
            <a:ext cx="1651406" cy="713232"/>
          </a:xfrm>
          <a:prstGeom prst="rect">
            <a:avLst/>
          </a:prstGeom>
          <a:noFill/>
          <a:ln/>
        </p:spPr>
        <p:txBody>
          <a:bodyPr wrap="square" lIns="0" tIns="0" rIns="0" bIns="0" rtlCol="0" anchor="t"/>
          <a:lstStyle/>
          <a:p>
            <a:pPr indent="0" marL="0">
              <a:buNone/>
            </a:pPr>
            <a:r>
              <a:rPr lang="en-US" sz="1200" dirty="0">
                <a:solidFill>
                  <a:schemeClr val="tx2"/>
                </a:solidFill>
              </a:rPr>
              <a:t>2 monitors on the floor board; volunteer app with 20 people</a:t>
            </a:r>
            <a:endParaRPr lang="en-US" sz="1200" dirty="0"/>
          </a:p>
        </p:txBody>
      </p:sp>
      <p:sp>
        <p:nvSpPr>
          <p:cNvPr id="12" name="Shape 10"/>
          <p:cNvSpPr/>
          <p:nvPr/>
        </p:nvSpPr>
        <p:spPr>
          <a:xfrm>
            <a:off x="5085893" y="1874520"/>
            <a:ext cx="2017166" cy="1737360"/>
          </a:xfrm>
          <a:prstGeom prst="roundRect">
            <a:avLst>
              <a:gd name="adj" fmla="val 6316"/>
            </a:avLst>
          </a:prstGeom>
          <a:solidFill>
            <a:schemeClr val="tx1"/>
          </a:solidFill>
          <a:ln/>
        </p:spPr>
      </p:sp>
      <p:sp>
        <p:nvSpPr>
          <p:cNvPr id="13" name="Text 11"/>
          <p:cNvSpPr txBox="1"/>
          <p:nvPr/>
        </p:nvSpPr>
        <p:spPr>
          <a:xfrm>
            <a:off x="5268773" y="2029968"/>
            <a:ext cx="1651406" cy="274320"/>
          </a:xfrm>
          <a:prstGeom prst="rect">
            <a:avLst/>
          </a:prstGeom>
          <a:noFill/>
          <a:ln/>
        </p:spPr>
        <p:txBody>
          <a:bodyPr wrap="square" lIns="0" tIns="0" rIns="0" bIns="0" rtlCol="0" anchor="t"/>
          <a:lstStyle/>
          <a:p>
            <a:pPr indent="0" marL="0">
              <a:buNone/>
            </a:pPr>
            <a:r>
              <a:rPr lang="en-US" sz="1300" b="1" dirty="0">
                <a:solidFill>
                  <a:schemeClr val="accent2"/>
                </a:solidFill>
              </a:rPr>
              <a:t>Week 10</a:t>
            </a:r>
            <a:endParaRPr lang="en-US" sz="1300" dirty="0"/>
          </a:p>
        </p:txBody>
      </p:sp>
      <p:sp>
        <p:nvSpPr>
          <p:cNvPr id="14" name="Text 12"/>
          <p:cNvSpPr txBox="1"/>
          <p:nvPr/>
        </p:nvSpPr>
        <p:spPr>
          <a:xfrm>
            <a:off x="5268773" y="2331720"/>
            <a:ext cx="1651406" cy="502920"/>
          </a:xfrm>
          <a:prstGeom prst="rect">
            <a:avLst/>
          </a:prstGeom>
          <a:noFill/>
          <a:ln/>
        </p:spPr>
        <p:txBody>
          <a:bodyPr wrap="square" lIns="0" tIns="0" rIns="0" bIns="0" rtlCol="0" anchor="t"/>
          <a:lstStyle/>
          <a:p>
            <a:pPr indent="0" marL="0">
              <a:buNone/>
            </a:pPr>
            <a:r>
              <a:rPr lang="en-US" sz="1500" b="1" dirty="0">
                <a:solidFill>
                  <a:schemeClr val="bg1"/>
                </a:solidFill>
              </a:rPr>
              <a:t>First full version</a:t>
            </a:r>
            <a:endParaRPr lang="en-US" sz="1500" dirty="0"/>
          </a:p>
        </p:txBody>
      </p:sp>
      <p:sp>
        <p:nvSpPr>
          <p:cNvPr id="15" name="Text 13"/>
          <p:cNvSpPr txBox="1"/>
          <p:nvPr/>
        </p:nvSpPr>
        <p:spPr>
          <a:xfrm>
            <a:off x="5268773" y="2852928"/>
            <a:ext cx="1651406" cy="713232"/>
          </a:xfrm>
          <a:prstGeom prst="rect">
            <a:avLst/>
          </a:prstGeom>
          <a:noFill/>
          <a:ln/>
        </p:spPr>
        <p:txBody>
          <a:bodyPr wrap="square" lIns="0" tIns="0" rIns="0" bIns="0" rtlCol="0" anchor="t"/>
          <a:lstStyle/>
          <a:p>
            <a:pPr indent="0" marL="0">
              <a:buNone/>
            </a:pPr>
            <a:r>
              <a:rPr lang="en-US" sz="1200" dirty="0">
                <a:solidFill>
                  <a:srgbClr val="C9D8CF"/>
                </a:solidFill>
              </a:rPr>
              <a:t>A whole day computed end to end with the first models</a:t>
            </a:r>
            <a:endParaRPr lang="en-US" sz="1200" dirty="0"/>
          </a:p>
        </p:txBody>
      </p:sp>
      <p:sp>
        <p:nvSpPr>
          <p:cNvPr id="16" name="Shape 14"/>
          <p:cNvSpPr/>
          <p:nvPr/>
        </p:nvSpPr>
        <p:spPr>
          <a:xfrm>
            <a:off x="7285939" y="1874520"/>
            <a:ext cx="2017166" cy="1737360"/>
          </a:xfrm>
          <a:prstGeom prst="roundRect">
            <a:avLst>
              <a:gd name="adj" fmla="val 6316"/>
            </a:avLst>
          </a:prstGeom>
          <a:solidFill>
            <a:schemeClr val="bg1"/>
          </a:solidFill>
          <a:ln w="12700">
            <a:solidFill>
              <a:srgbClr val="D9E0DA"/>
            </a:solidFill>
            <a:prstDash val="solid"/>
          </a:ln>
        </p:spPr>
      </p:sp>
      <p:sp>
        <p:nvSpPr>
          <p:cNvPr id="17" name="Text 15"/>
          <p:cNvSpPr txBox="1"/>
          <p:nvPr/>
        </p:nvSpPr>
        <p:spPr>
          <a:xfrm>
            <a:off x="7468819" y="2029968"/>
            <a:ext cx="1651406" cy="274320"/>
          </a:xfrm>
          <a:prstGeom prst="rect">
            <a:avLst/>
          </a:prstGeom>
          <a:noFill/>
          <a:ln/>
        </p:spPr>
        <p:txBody>
          <a:bodyPr wrap="square" lIns="0" tIns="0" rIns="0" bIns="0" rtlCol="0" anchor="t"/>
          <a:lstStyle/>
          <a:p>
            <a:pPr indent="0" marL="0">
              <a:buNone/>
            </a:pPr>
            <a:r>
              <a:rPr lang="en-US" sz="1300" b="1" dirty="0">
                <a:solidFill>
                  <a:schemeClr val="accent1"/>
                </a:solidFill>
              </a:rPr>
              <a:t>Week 16</a:t>
            </a:r>
            <a:endParaRPr lang="en-US" sz="1300" dirty="0"/>
          </a:p>
        </p:txBody>
      </p:sp>
      <p:sp>
        <p:nvSpPr>
          <p:cNvPr id="18" name="Text 16"/>
          <p:cNvSpPr txBox="1"/>
          <p:nvPr/>
        </p:nvSpPr>
        <p:spPr>
          <a:xfrm>
            <a:off x="7468819" y="2331720"/>
            <a:ext cx="1651406" cy="502920"/>
          </a:xfrm>
          <a:prstGeom prst="rect">
            <a:avLst/>
          </a:prstGeom>
          <a:noFill/>
          <a:ln/>
        </p:spPr>
        <p:txBody>
          <a:bodyPr wrap="square" lIns="0" tIns="0" rIns="0" bIns="0" rtlCol="0" anchor="t"/>
          <a:lstStyle/>
          <a:p>
            <a:pPr indent="0" marL="0">
              <a:buNone/>
            </a:pPr>
            <a:r>
              <a:rPr lang="en-US" sz="1500" b="1" dirty="0">
                <a:solidFill>
                  <a:schemeClr val="tx1"/>
                </a:solidFill>
              </a:rPr>
              <a:t>Feature freeze</a:t>
            </a:r>
            <a:endParaRPr lang="en-US" sz="1500" dirty="0"/>
          </a:p>
        </p:txBody>
      </p:sp>
      <p:sp>
        <p:nvSpPr>
          <p:cNvPr id="19" name="Text 17"/>
          <p:cNvSpPr txBox="1"/>
          <p:nvPr/>
        </p:nvSpPr>
        <p:spPr>
          <a:xfrm>
            <a:off x="7468819" y="2852928"/>
            <a:ext cx="1651406" cy="713232"/>
          </a:xfrm>
          <a:prstGeom prst="rect">
            <a:avLst/>
          </a:prstGeom>
          <a:noFill/>
          <a:ln/>
        </p:spPr>
        <p:txBody>
          <a:bodyPr wrap="square" lIns="0" tIns="0" rIns="0" bIns="0" rtlCol="0" anchor="t"/>
          <a:lstStyle/>
          <a:p>
            <a:pPr indent="0" marL="0">
              <a:buNone/>
            </a:pPr>
            <a:r>
              <a:rPr lang="en-US" sz="1200" dirty="0">
                <a:solidFill>
                  <a:schemeClr val="tx2"/>
                </a:solidFill>
              </a:rPr>
              <a:t>No new features; fixing and measuring only</a:t>
            </a:r>
            <a:endParaRPr lang="en-US" sz="1200" dirty="0"/>
          </a:p>
        </p:txBody>
      </p:sp>
      <p:sp>
        <p:nvSpPr>
          <p:cNvPr id="20" name="Shape 18"/>
          <p:cNvSpPr/>
          <p:nvPr/>
        </p:nvSpPr>
        <p:spPr>
          <a:xfrm>
            <a:off x="9485986" y="1874520"/>
            <a:ext cx="2017166" cy="1737360"/>
          </a:xfrm>
          <a:prstGeom prst="roundRect">
            <a:avLst>
              <a:gd name="adj" fmla="val 6316"/>
            </a:avLst>
          </a:prstGeom>
          <a:solidFill>
            <a:schemeClr val="bg1"/>
          </a:solidFill>
          <a:ln w="12700">
            <a:solidFill>
              <a:srgbClr val="D9E0DA"/>
            </a:solidFill>
            <a:prstDash val="solid"/>
          </a:ln>
        </p:spPr>
      </p:sp>
      <p:sp>
        <p:nvSpPr>
          <p:cNvPr id="21" name="Text 19"/>
          <p:cNvSpPr txBox="1"/>
          <p:nvPr/>
        </p:nvSpPr>
        <p:spPr>
          <a:xfrm>
            <a:off x="9668866" y="2029968"/>
            <a:ext cx="1651406" cy="274320"/>
          </a:xfrm>
          <a:prstGeom prst="rect">
            <a:avLst/>
          </a:prstGeom>
          <a:noFill/>
          <a:ln/>
        </p:spPr>
        <p:txBody>
          <a:bodyPr wrap="square" lIns="0" tIns="0" rIns="0" bIns="0" rtlCol="0" anchor="t"/>
          <a:lstStyle/>
          <a:p>
            <a:pPr indent="0" marL="0">
              <a:buNone/>
            </a:pPr>
            <a:r>
              <a:rPr lang="en-US" sz="1300" b="1" dirty="0">
                <a:solidFill>
                  <a:schemeClr val="accent1"/>
                </a:solidFill>
              </a:rPr>
              <a:t>Week 20</a:t>
            </a:r>
            <a:endParaRPr lang="en-US" sz="1300" dirty="0"/>
          </a:p>
        </p:txBody>
      </p:sp>
      <p:sp>
        <p:nvSpPr>
          <p:cNvPr id="22" name="Text 20"/>
          <p:cNvSpPr txBox="1"/>
          <p:nvPr/>
        </p:nvSpPr>
        <p:spPr>
          <a:xfrm>
            <a:off x="9668866" y="2331720"/>
            <a:ext cx="1651406" cy="502920"/>
          </a:xfrm>
          <a:prstGeom prst="rect">
            <a:avLst/>
          </a:prstGeom>
          <a:noFill/>
          <a:ln/>
        </p:spPr>
        <p:txBody>
          <a:bodyPr wrap="square" lIns="0" tIns="0" rIns="0" bIns="0" rtlCol="0" anchor="t"/>
          <a:lstStyle/>
          <a:p>
            <a:pPr indent="0" marL="0">
              <a:buNone/>
            </a:pPr>
            <a:r>
              <a:rPr lang="en-US" sz="1500" b="1" dirty="0">
                <a:solidFill>
                  <a:schemeClr val="tx1"/>
                </a:solidFill>
              </a:rPr>
              <a:t>Final delivery</a:t>
            </a:r>
            <a:endParaRPr lang="en-US" sz="1500" dirty="0"/>
          </a:p>
        </p:txBody>
      </p:sp>
      <p:sp>
        <p:nvSpPr>
          <p:cNvPr id="23" name="Text 21"/>
          <p:cNvSpPr txBox="1"/>
          <p:nvPr/>
        </p:nvSpPr>
        <p:spPr>
          <a:xfrm>
            <a:off x="9668866" y="2852928"/>
            <a:ext cx="1651406" cy="713232"/>
          </a:xfrm>
          <a:prstGeom prst="rect">
            <a:avLst/>
          </a:prstGeom>
          <a:noFill/>
          <a:ln/>
        </p:spPr>
        <p:txBody>
          <a:bodyPr wrap="square" lIns="0" tIns="0" rIns="0" bIns="0" rtlCol="0" anchor="t"/>
          <a:lstStyle/>
          <a:p>
            <a:pPr indent="0" marL="0">
              <a:buNone/>
            </a:pPr>
            <a:r>
              <a:rPr lang="en-US" sz="1200" dirty="0">
                <a:solidFill>
                  <a:schemeClr val="tx2"/>
                </a:solidFill>
              </a:rPr>
              <a:t>Final numbers, demo and report draft</a:t>
            </a:r>
            <a:endParaRPr lang="en-US" sz="1200" dirty="0"/>
          </a:p>
        </p:txBody>
      </p:sp>
      <p:sp>
        <p:nvSpPr>
          <p:cNvPr id="24" name="Text 22"/>
          <p:cNvSpPr txBox="1"/>
          <p:nvPr/>
        </p:nvSpPr>
        <p:spPr>
          <a:xfrm>
            <a:off x="685800" y="3840480"/>
            <a:ext cx="5212080" cy="365760"/>
          </a:xfrm>
          <a:prstGeom prst="rect">
            <a:avLst/>
          </a:prstGeom>
          <a:noFill/>
          <a:ln/>
        </p:spPr>
        <p:txBody>
          <a:bodyPr wrap="square" lIns="0" tIns="0" rIns="0" bIns="0" rtlCol="0" anchor="t"/>
          <a:lstStyle/>
          <a:p>
            <a:pPr indent="0" marL="0">
              <a:buNone/>
            </a:pPr>
            <a:r>
              <a:rPr lang="en-US" sz="1700" b="1" dirty="0">
                <a:solidFill>
                  <a:schemeClr val="tx1"/>
                </a:solidFill>
              </a:rPr>
              <a:t>Weeks 1–10 · build</a:t>
            </a:r>
            <a:endParaRPr lang="en-US" sz="1700" dirty="0"/>
          </a:p>
        </p:txBody>
      </p:sp>
      <p:sp>
        <p:nvSpPr>
          <p:cNvPr id="25" name="Text 23"/>
          <p:cNvSpPr txBox="1"/>
          <p:nvPr/>
        </p:nvSpPr>
        <p:spPr>
          <a:xfrm>
            <a:off x="685800" y="4279392"/>
            <a:ext cx="5212080" cy="16002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Interfaces, screens and database</a:t>
            </a:r>
            <a:endParaRPr lang="en-US" sz="1500" dirty="0"/>
          </a:p>
          <a:p>
            <a:pPr marL="342900" indent="-342900">
              <a:spcAft>
                <a:spcPts val="400"/>
              </a:spcAft>
              <a:buSzPct val="100000"/>
              <a:buChar char="•"/>
            </a:pPr>
            <a:r>
              <a:rPr lang="en-US" sz="1500" dirty="0">
                <a:solidFill>
                  <a:schemeClr val="tx2"/>
                </a:solidFill>
              </a:rPr>
              <a:t>Floor survey, official approval, installation in week 6</a:t>
            </a:r>
            <a:endParaRPr lang="en-US" sz="1500" dirty="0"/>
          </a:p>
          <a:p>
            <a:pPr marL="342900" indent="-342900">
              <a:spcAft>
                <a:spcPts val="400"/>
              </a:spcAft>
              <a:buSzPct val="100000"/>
              <a:buChar char="•"/>
            </a:pPr>
            <a:r>
              <a:rPr lang="en-US" sz="1500" dirty="0">
                <a:solidFill>
                  <a:schemeClr val="tx2"/>
                </a:solidFill>
              </a:rPr>
              <a:t>Trip tracking, food camera, daily screen</a:t>
            </a:r>
            <a:endParaRPr lang="en-US" sz="1500" dirty="0"/>
          </a:p>
          <a:p>
            <a:pPr marL="342900" indent="-342900">
              <a:spcAft>
                <a:spcPts val="400"/>
              </a:spcAft>
              <a:buSzPct val="100000"/>
              <a:buChar char="•"/>
            </a:pPr>
            <a:r>
              <a:rPr lang="en-US" sz="1500" dirty="0">
                <a:solidFill>
                  <a:schemeClr val="tx2"/>
                </a:solidFill>
              </a:rPr>
              <a:t>Volunteer mode and data collection</a:t>
            </a:r>
            <a:endParaRPr lang="en-US" sz="1500" dirty="0"/>
          </a:p>
        </p:txBody>
      </p:sp>
      <p:sp>
        <p:nvSpPr>
          <p:cNvPr id="26" name="Text 24"/>
          <p:cNvSpPr txBox="1"/>
          <p:nvPr/>
        </p:nvSpPr>
        <p:spPr>
          <a:xfrm>
            <a:off x="6263640" y="3840480"/>
            <a:ext cx="5212080" cy="365760"/>
          </a:xfrm>
          <a:prstGeom prst="rect">
            <a:avLst/>
          </a:prstGeom>
          <a:noFill/>
          <a:ln/>
        </p:spPr>
        <p:txBody>
          <a:bodyPr wrap="square" lIns="0" tIns="0" rIns="0" bIns="0" rtlCol="0" anchor="t"/>
          <a:lstStyle/>
          <a:p>
            <a:pPr indent="0" marL="0">
              <a:buNone/>
            </a:pPr>
            <a:r>
              <a:rPr lang="en-US" sz="1700" b="1" dirty="0">
                <a:solidFill>
                  <a:schemeClr val="tx1"/>
                </a:solidFill>
              </a:rPr>
              <a:t>Weeks 13–20 · improve and measure</a:t>
            </a:r>
            <a:endParaRPr lang="en-US" sz="1700" dirty="0"/>
          </a:p>
        </p:txBody>
      </p:sp>
      <p:sp>
        <p:nvSpPr>
          <p:cNvPr id="27" name="Text 25"/>
          <p:cNvSpPr txBox="1"/>
          <p:nvPr/>
        </p:nvSpPr>
        <p:spPr>
          <a:xfrm>
            <a:off x="6263640" y="4279392"/>
            <a:ext cx="5212080" cy="16002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Improve the models; run them on the phone</a:t>
            </a:r>
            <a:endParaRPr lang="en-US" sz="1500" dirty="0"/>
          </a:p>
          <a:p>
            <a:pPr marL="342900" indent="-342900">
              <a:spcAft>
                <a:spcPts val="400"/>
              </a:spcAft>
              <a:buSzPct val="100000"/>
              <a:buChar char="•"/>
            </a:pPr>
            <a:r>
              <a:rPr lang="en-US" sz="1500" dirty="0">
                <a:solidFill>
                  <a:schemeClr val="tx2"/>
                </a:solidFill>
              </a:rPr>
              <a:t>Floor forecast, waste alerts and dashboard</a:t>
            </a:r>
            <a:endParaRPr lang="en-US" sz="1500" dirty="0"/>
          </a:p>
          <a:p>
            <a:pPr marL="342900" indent="-342900">
              <a:spcAft>
                <a:spcPts val="400"/>
              </a:spcAft>
              <a:buSzPct val="100000"/>
              <a:buChar char="•"/>
            </a:pPr>
            <a:r>
              <a:rPr lang="en-US" sz="1500" dirty="0">
                <a:solidFill>
                  <a:schemeClr val="tx2"/>
                </a:solidFill>
              </a:rPr>
              <a:t>Battery tests and final evaluation</a:t>
            </a:r>
            <a:endParaRPr lang="en-US" sz="1500" dirty="0"/>
          </a:p>
          <a:p>
            <a:pPr marL="342900" indent="-342900">
              <a:spcAft>
                <a:spcPts val="400"/>
              </a:spcAft>
              <a:buSzPct val="100000"/>
              <a:buChar char="•"/>
            </a:pPr>
            <a:r>
              <a:rPr lang="en-US" sz="1500" dirty="0">
                <a:solidFill>
                  <a:schemeClr val="tx2"/>
                </a:solidFill>
              </a:rPr>
              <a:t>Report, demo and defense</a:t>
            </a:r>
            <a:endParaRPr lang="en-US" sz="1500" dirty="0"/>
          </a:p>
        </p:txBody>
      </p:sp>
      <p:sp>
        <p:nvSpPr>
          <p:cNvPr id="28" name="Text 26"/>
          <p:cNvSpPr txBox="1"/>
          <p:nvPr/>
        </p:nvSpPr>
        <p:spPr>
          <a:xfrm>
            <a:off x="685800" y="6035040"/>
            <a:ext cx="7315200" cy="274320"/>
          </a:xfrm>
          <a:prstGeom prst="rect">
            <a:avLst/>
          </a:prstGeom>
          <a:noFill/>
          <a:ln/>
        </p:spPr>
        <p:txBody>
          <a:bodyPr wrap="square" lIns="0" tIns="0" rIns="0" bIns="0" rtlCol="0" anchor="t"/>
          <a:lstStyle/>
          <a:p>
            <a:pPr indent="0" marL="0">
              <a:buNone/>
            </a:pPr>
            <a:r>
              <a:rPr lang="en-US" sz="1200" i="1" dirty="0">
                <a:solidFill>
                  <a:schemeClr val="accent5"/>
                </a:solidFill>
              </a:rPr>
              <a:t>Weeks 11–12 are kept light for mid-year exams.</a:t>
            </a:r>
            <a:endParaRPr lang="en-US" sz="12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TEAM AND BUDGET</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Nine students, four teams, about 8,100 EGP</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6400800" cy="914400"/>
        </p:xfrm>
        <a:graphic>
          <a:graphicData uri="http://schemas.openxmlformats.org/drawingml/2006/table">
            <a:tbl>
              <a:tblPr/>
              <a:tblGrid>
                <a:gridCol w="1508760"/>
                <a:gridCol w="868680"/>
                <a:gridCol w="4023360"/>
              </a:tblGrid>
              <a:tr h="411480">
                <a:tc>
                  <a:txBody>
                    <a:bodyPr/>
                    <a:lstStyle/>
                    <a:p>
                      <a:pPr indent="0" marL="0">
                        <a:buNone/>
                      </a:pPr>
                      <a:r>
                        <a:rPr lang="en-US" sz="1400" b="1" dirty="0">
                          <a:solidFill>
                            <a:schemeClr val="tx1"/>
                          </a:solidFill>
                        </a:rPr>
                        <a:t>Team</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People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c>
                  <a:txBody>
                    <a:bodyPr/>
                    <a:lstStyle/>
                    <a:p>
                      <a:pPr indent="0" marL="0">
                        <a:buNone/>
                      </a:pPr>
                      <a:r>
                        <a:rPr lang="en-US" sz="1400" b="1" dirty="0">
                          <a:solidFill>
                            <a:schemeClr val="tx1"/>
                          </a:solidFill>
                        </a:rPr>
                        <a:t>Owns</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EAF0EA"/>
                    </a:solidFill>
                  </a:tcPr>
                </a:tc>
              </a:tr>
              <a:tr h="731520">
                <a:tc>
                  <a:txBody>
                    <a:bodyPr/>
                    <a:lstStyle/>
                    <a:p>
                      <a:pPr indent="0" marL="0">
                        <a:buNone/>
                      </a:pPr>
                      <a:r>
                        <a:rPr lang="en-US" sz="1400" dirty="0">
                          <a:solidFill>
                            <a:schemeClr val="tx2"/>
                          </a:solidFill>
                        </a:rPr>
                        <a:t>Mobile app</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3</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Trip tracking; food camera and on-phone models; screens, check-in and volunteer mode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AI</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Meal model and dish database; transport model; waste detection</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566928">
                <a:tc>
                  <a:txBody>
                    <a:bodyPr/>
                    <a:lstStyle/>
                    <a:p>
                      <a:pPr indent="0" marL="0">
                        <a:buNone/>
                      </a:pPr>
                      <a:r>
                        <a:rPr lang="en-US" sz="1400" dirty="0">
                          <a:solidFill>
                            <a:schemeClr val="tx2"/>
                          </a:solidFill>
                        </a:rPr>
                        <a:t>Backend</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API, database, daily calculation, MQTT, forecast, dashboard</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r h="731520">
                <a:tc>
                  <a:txBody>
                    <a:bodyPr/>
                    <a:lstStyle/>
                    <a:p>
                      <a:pPr indent="0" marL="0">
                        <a:buNone/>
                      </a:pPr>
                      <a:r>
                        <a:rPr lang="en-US" sz="1400" dirty="0">
                          <a:solidFill>
                            <a:schemeClr val="tx2"/>
                          </a:solidFill>
                        </a:rPr>
                        <a:t>Hardware</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2</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c>
                  <a:txBody>
                    <a:bodyPr/>
                    <a:lstStyle/>
                    <a:p>
                      <a:pPr indent="0" marL="0">
                        <a:buNone/>
                      </a:pPr>
                      <a:r>
                        <a:rPr lang="en-US" sz="1400" dirty="0">
                          <a:solidFill>
                            <a:schemeClr val="tx2"/>
                          </a:solidFill>
                        </a:rPr>
                        <a:t>Circuits and enclosures; installation with the faculty electrician; calibration; entrance display</a:t>
                      </a:r>
                      <a:endParaRPr lang="en-US" sz="1400" dirty="0"/>
                    </a:p>
                  </a:txBody>
                  <a:tcPr marL="91440" marR="91440" marT="45720" marB="45720" anchor="ctr">
                    <a:lnL w="0" cap="flat" cmpd="sng" algn="ctr">
                      <a:noFill/>
                    </a:lnL>
                    <a:lnR w="0" cap="flat" cmpd="sng" algn="ctr">
                      <a:noFill/>
                    </a:lnR>
                    <a:lnT w="0" cap="flat" cmpd="sng" algn="ctr">
                      <a:noFill/>
                    </a:lnT>
                    <a:lnB w="12700" cap="flat" cmpd="sng" algn="ctr">
                      <a:solidFill>
                        <a:srgbClr val="D9E0DA"/>
                      </a:solidFill>
                      <a:prstDash val="solid"/>
                      <a:round/>
                      <a:headEnd type="none" w="med" len="med"/>
                      <a:tailEnd type="none" w="med" len="med"/>
                    </a:lnB>
                    <a:solidFill>
                      <a:srgbClr val="F6F7F2"/>
                    </a:solidFill>
                  </a:tcPr>
                </a:tc>
              </a:tr>
            </a:tbl>
          </a:graphicData>
        </a:graphic>
      </p:graphicFrame>
      <p:sp>
        <p:nvSpPr>
          <p:cNvPr id="5" name="Shape 2"/>
          <p:cNvSpPr/>
          <p:nvPr/>
        </p:nvSpPr>
        <p:spPr>
          <a:xfrm>
            <a:off x="685800" y="5349240"/>
            <a:ext cx="6400800" cy="731520"/>
          </a:xfrm>
          <a:prstGeom prst="roundRect">
            <a:avLst>
              <a:gd name="adj" fmla="val 15000"/>
            </a:avLst>
          </a:prstGeom>
          <a:solidFill>
            <a:schemeClr val="bg2"/>
          </a:solidFill>
          <a:ln/>
        </p:spPr>
      </p:sp>
      <p:sp>
        <p:nvSpPr>
          <p:cNvPr id="6" name="Text 3"/>
          <p:cNvSpPr txBox="1"/>
          <p:nvPr/>
        </p:nvSpPr>
        <p:spPr>
          <a:xfrm>
            <a:off x="960120" y="5349240"/>
            <a:ext cx="5852160" cy="731520"/>
          </a:xfrm>
          <a:prstGeom prst="rect">
            <a:avLst/>
          </a:prstGeom>
          <a:noFill/>
          <a:ln/>
        </p:spPr>
        <p:txBody>
          <a:bodyPr wrap="square" lIns="0" tIns="0" rIns="0" bIns="0" rtlCol="0" anchor="ctr"/>
          <a:lstStyle/>
          <a:p>
            <a:pPr indent="0" marL="0">
              <a:buNone/>
            </a:pPr>
            <a:r>
              <a:rPr lang="en-US" sz="1400" dirty="0">
                <a:solidFill>
                  <a:schemeClr val="tx1"/>
                </a:solidFill>
              </a:rPr>
              <a:t>Server on a faculty server or a free cloud tier (0 EGP). Prices are estimates at the time of writing.</a:t>
            </a:r>
            <a:endParaRPr lang="en-US" sz="1400" dirty="0"/>
          </a:p>
        </p:txBody>
      </p:sp>
      <p:sp>
        <p:nvSpPr>
          <p:cNvPr id="7" name="Shape 4"/>
          <p:cNvSpPr/>
          <p:nvPr/>
        </p:nvSpPr>
        <p:spPr>
          <a:xfrm>
            <a:off x="7360920" y="1874520"/>
            <a:ext cx="4142232" cy="4206240"/>
          </a:xfrm>
          <a:prstGeom prst="roundRect">
            <a:avLst>
              <a:gd name="adj" fmla="val 2649"/>
            </a:avLst>
          </a:prstGeom>
          <a:solidFill>
            <a:schemeClr val="bg1"/>
          </a:solidFill>
          <a:ln w="12700">
            <a:solidFill>
              <a:srgbClr val="D9E0DA"/>
            </a:solidFill>
            <a:prstDash val="solid"/>
          </a:ln>
        </p:spPr>
      </p:sp>
      <p:sp>
        <p:nvSpPr>
          <p:cNvPr id="8" name="Text 5"/>
          <p:cNvSpPr txBox="1"/>
          <p:nvPr/>
        </p:nvSpPr>
        <p:spPr>
          <a:xfrm>
            <a:off x="7589520" y="205740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ESTIMATED BUDGET</a:t>
            </a:r>
            <a:endParaRPr lang="en-US" sz="1200" dirty="0"/>
          </a:p>
        </p:txBody>
      </p:sp>
      <p:sp>
        <p:nvSpPr>
          <p:cNvPr id="9" name="Text 6"/>
          <p:cNvSpPr txBox="1"/>
          <p:nvPr/>
        </p:nvSpPr>
        <p:spPr>
          <a:xfrm>
            <a:off x="7589520" y="2331720"/>
            <a:ext cx="3657600" cy="54864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8,140 EGP</a:t>
            </a:r>
            <a:endParaRPr lang="en-US" sz="3000" dirty="0"/>
          </a:p>
        </p:txBody>
      </p:sp>
      <p:graphicFrame>
        <p:nvGraphicFramePr>
          <p:cNvPr id="10" name="Chart 0" descr=""/>
          <p:cNvGraphicFramePr/>
          <p:nvPr/>
        </p:nvGraphicFramePr>
        <p:xfrm>
          <a:off x="7498080" y="2926080"/>
          <a:ext cx="3886200" cy="30632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NEXT STEPS</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What we need to start week 1</a:t>
            </a:r>
            <a:endParaRPr lang="en-US" sz="3000" dirty="0"/>
          </a:p>
        </p:txBody>
      </p:sp>
      <p:sp>
        <p:nvSpPr>
          <p:cNvPr id="4" name="Shape 2"/>
          <p:cNvSpPr/>
          <p:nvPr/>
        </p:nvSpPr>
        <p:spPr>
          <a:xfrm>
            <a:off x="685800" y="1874520"/>
            <a:ext cx="5271516" cy="3840480"/>
          </a:xfrm>
          <a:prstGeom prst="roundRect">
            <a:avLst>
              <a:gd name="adj" fmla="val 2857"/>
            </a:avLst>
          </a:prstGeom>
          <a:solidFill>
            <a:schemeClr val="tx1"/>
          </a:solidFill>
          <a:ln/>
        </p:spPr>
      </p:sp>
      <p:sp>
        <p:nvSpPr>
          <p:cNvPr id="5" name="Text 3"/>
          <p:cNvSpPr txBox="1"/>
          <p:nvPr/>
        </p:nvSpPr>
        <p:spPr>
          <a:xfrm>
            <a:off x="1051560" y="2194560"/>
            <a:ext cx="4539996" cy="411480"/>
          </a:xfrm>
          <a:prstGeom prst="rect">
            <a:avLst/>
          </a:prstGeom>
          <a:noFill/>
          <a:ln/>
        </p:spPr>
        <p:txBody>
          <a:bodyPr wrap="square" lIns="0" tIns="0" rIns="0" bIns="0" rtlCol="0" anchor="t"/>
          <a:lstStyle/>
          <a:p>
            <a:pPr indent="0" marL="0">
              <a:buNone/>
            </a:pPr>
            <a:r>
              <a:rPr lang="en-US" sz="2000" b="1" dirty="0">
                <a:solidFill>
                  <a:schemeClr val="bg1"/>
                </a:solidFill>
              </a:rPr>
              <a:t>Decisions we need from you</a:t>
            </a:r>
            <a:endParaRPr lang="en-US" sz="2000" dirty="0"/>
          </a:p>
        </p:txBody>
      </p:sp>
      <p:sp>
        <p:nvSpPr>
          <p:cNvPr id="6" name="Text 4"/>
          <p:cNvSpPr txBox="1"/>
          <p:nvPr/>
        </p:nvSpPr>
        <p:spPr>
          <a:xfrm>
            <a:off x="1051560" y="2788920"/>
            <a:ext cx="4539996" cy="26517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C9D8CF"/>
                </a:solidFill>
              </a:rPr>
              <a:t>Approval of the idea and the pilot on the CS floor</a:t>
            </a:r>
            <a:endParaRPr lang="en-US" sz="1700" dirty="0"/>
          </a:p>
          <a:p>
            <a:pPr marL="342900" indent="-342900">
              <a:spcAft>
                <a:spcPts val="800"/>
              </a:spcAft>
              <a:buSzPct val="100000"/>
              <a:buChar char="•"/>
            </a:pPr>
            <a:r>
              <a:rPr lang="en-US" sz="1700" dirty="0">
                <a:solidFill>
                  <a:srgbClr val="C9D8CF"/>
                </a:solidFill>
              </a:rPr>
              <a:t>An official letter to the faculty administration for installation</a:t>
            </a:r>
            <a:endParaRPr lang="en-US" sz="1700" dirty="0"/>
          </a:p>
          <a:p>
            <a:pPr marL="342900" indent="-342900">
              <a:spcAft>
                <a:spcPts val="800"/>
              </a:spcAft>
              <a:buSzPct val="100000"/>
              <a:buChar char="•"/>
            </a:pPr>
            <a:r>
              <a:rPr lang="en-US" sz="1700" dirty="0">
                <a:solidFill>
                  <a:srgbClr val="C9D8CF"/>
                </a:solidFill>
              </a:rPr>
              <a:t>Access to the timetable and past electricity bills</a:t>
            </a:r>
            <a:endParaRPr lang="en-US" sz="1700" dirty="0"/>
          </a:p>
          <a:p>
            <a:pPr marL="342900" indent="-342900">
              <a:spcAft>
                <a:spcPts val="800"/>
              </a:spcAft>
              <a:buSzPct val="100000"/>
              <a:buChar char="•"/>
            </a:pPr>
            <a:r>
              <a:rPr lang="en-US" sz="1700" dirty="0">
                <a:solidFill>
                  <a:srgbClr val="C9D8CF"/>
                </a:solidFill>
              </a:rPr>
              <a:t>Consent form for 20 volunteers</a:t>
            </a:r>
            <a:endParaRPr lang="en-US" sz="1700" dirty="0"/>
          </a:p>
          <a:p>
            <a:pPr marL="342900" indent="-342900">
              <a:spcAft>
                <a:spcPts val="800"/>
              </a:spcAft>
              <a:buSzPct val="100000"/>
              <a:buChar char="•"/>
            </a:pPr>
            <a:r>
              <a:rPr lang="en-US" sz="1700" dirty="0">
                <a:solidFill>
                  <a:srgbClr val="C9D8CF"/>
                </a:solidFill>
              </a:rPr>
              <a:t>Final team names and roles</a:t>
            </a:r>
            <a:endParaRPr lang="en-US" sz="1700" dirty="0"/>
          </a:p>
        </p:txBody>
      </p:sp>
      <p:sp>
        <p:nvSpPr>
          <p:cNvPr id="7" name="Shape 5"/>
          <p:cNvSpPr/>
          <p:nvPr/>
        </p:nvSpPr>
        <p:spPr>
          <a:xfrm>
            <a:off x="6231636" y="1874520"/>
            <a:ext cx="5271516" cy="3840480"/>
          </a:xfrm>
          <a:prstGeom prst="roundRect">
            <a:avLst>
              <a:gd name="adj" fmla="val 2857"/>
            </a:avLst>
          </a:prstGeom>
          <a:solidFill>
            <a:schemeClr val="bg1"/>
          </a:solidFill>
          <a:ln w="12700">
            <a:solidFill>
              <a:srgbClr val="D9E0DA"/>
            </a:solidFill>
            <a:prstDash val="solid"/>
          </a:ln>
        </p:spPr>
      </p:sp>
      <p:sp>
        <p:nvSpPr>
          <p:cNvPr id="8" name="Text 6"/>
          <p:cNvSpPr txBox="1"/>
          <p:nvPr/>
        </p:nvSpPr>
        <p:spPr>
          <a:xfrm>
            <a:off x="6597396" y="2194560"/>
            <a:ext cx="4539996" cy="411480"/>
          </a:xfrm>
          <a:prstGeom prst="rect">
            <a:avLst/>
          </a:prstGeom>
          <a:noFill/>
          <a:ln/>
        </p:spPr>
        <p:txBody>
          <a:bodyPr wrap="square" lIns="0" tIns="0" rIns="0" bIns="0" rtlCol="0" anchor="t"/>
          <a:lstStyle/>
          <a:p>
            <a:pPr indent="0" marL="0">
              <a:buNone/>
            </a:pPr>
            <a:r>
              <a:rPr lang="en-US" sz="2000" b="1" dirty="0">
                <a:solidFill>
                  <a:schemeClr val="tx1"/>
                </a:solidFill>
              </a:rPr>
              <a:t>Our next two weeks</a:t>
            </a:r>
            <a:endParaRPr lang="en-US" sz="2000" dirty="0"/>
          </a:p>
        </p:txBody>
      </p:sp>
      <p:sp>
        <p:nvSpPr>
          <p:cNvPr id="9" name="Text 7"/>
          <p:cNvSpPr txBox="1"/>
          <p:nvPr/>
        </p:nvSpPr>
        <p:spPr>
          <a:xfrm>
            <a:off x="6597396" y="2788920"/>
            <a:ext cx="4539996" cy="26517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2"/>
                </a:solidFill>
              </a:rPr>
              <a:t>Interfaces: MQTT, API and model inputs</a:t>
            </a:r>
            <a:endParaRPr lang="en-US" sz="1700" dirty="0"/>
          </a:p>
          <a:p>
            <a:pPr marL="342900" indent="-342900">
              <a:spcAft>
                <a:spcPts val="800"/>
              </a:spcAft>
              <a:buSzPct val="100000"/>
              <a:buChar char="•"/>
            </a:pPr>
            <a:r>
              <a:rPr lang="en-US" sz="1700" dirty="0">
                <a:solidFill>
                  <a:schemeClr val="tx2"/>
                </a:solidFill>
              </a:rPr>
              <a:t>Floor survey: rooms, labs, ACs, PCs and the board</a:t>
            </a:r>
            <a:endParaRPr lang="en-US" sz="1700" dirty="0"/>
          </a:p>
          <a:p>
            <a:pPr marL="342900" indent="-342900">
              <a:spcAft>
                <a:spcPts val="800"/>
              </a:spcAft>
              <a:buSzPct val="100000"/>
              <a:buChar char="•"/>
            </a:pPr>
            <a:r>
              <a:rPr lang="en-US" sz="1700" dirty="0">
                <a:solidFill>
                  <a:schemeClr val="tx2"/>
                </a:solidFill>
              </a:rPr>
              <a:t>Order parts; test one clamp on a kettle in the lab</a:t>
            </a:r>
            <a:endParaRPr lang="en-US" sz="1700" dirty="0"/>
          </a:p>
          <a:p>
            <a:pPr marL="342900" indent="-342900">
              <a:spcAft>
                <a:spcPts val="800"/>
              </a:spcAft>
              <a:buSzPct val="100000"/>
              <a:buChar char="•"/>
            </a:pPr>
            <a:r>
              <a:rPr lang="en-US" sz="1700" dirty="0">
                <a:solidFill>
                  <a:schemeClr val="tx2"/>
                </a:solidFill>
              </a:rPr>
              <a:t>Dish list with the cafeteria menu; consent form</a:t>
            </a:r>
            <a:endParaRPr lang="en-US" sz="17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REFERENCES · 1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Measuring universities: reviews, methods and tools</a:t>
            </a:r>
            <a:endParaRPr lang="en-US" sz="3000" dirty="0"/>
          </a:p>
        </p:txBody>
      </p:sp>
      <p:sp>
        <p:nvSpPr>
          <p:cNvPr id="4" name="Text 2"/>
          <p:cNvSpPr txBox="1"/>
          <p:nvPr/>
        </p:nvSpPr>
        <p:spPr>
          <a:xfrm>
            <a:off x="685800" y="1828800"/>
            <a:ext cx="10817352" cy="452628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[1] Valls-Val, K., &amp; Bovea, M. D. (2021). Carbon footprint in higher education institutions: a literature review and prospects for future research. Clean Technologies and Environmental Policy, 23, 2523–2542. doi:10.1007/s10098-021-02180-2</a:t>
            </a:r>
            <a:endParaRPr lang="en-US" sz="1200" dirty="0"/>
          </a:p>
          <a:p>
            <a:pPr indent="0" marL="0">
              <a:spcAft>
                <a:spcPts val="600"/>
              </a:spcAft>
              <a:buNone/>
            </a:pPr>
            <a:r>
              <a:rPr lang="en-US" sz="1200" dirty="0">
                <a:solidFill>
                  <a:schemeClr val="tx2"/>
                </a:solidFill>
              </a:rPr>
              <a:t>[2] Li, Z., Chen, Z., Yang, N., Wei, K., Ling, Z., Liu, Q., Chen, G., &amp; Ye, B. H. (2021). Trends in research on the carbon footprint of higher education: a bibliometric analysis (2010–2019). Journal of Cleaner Production, 289, 125642. doi:10.1016/j.jclepro.2020.125642</a:t>
            </a:r>
            <a:endParaRPr lang="en-US" sz="1200" dirty="0"/>
          </a:p>
          <a:p>
            <a:pPr indent="0" marL="0">
              <a:spcAft>
                <a:spcPts val="600"/>
              </a:spcAft>
              <a:buNone/>
            </a:pPr>
            <a:r>
              <a:rPr lang="en-US" sz="1200" dirty="0">
                <a:solidFill>
                  <a:schemeClr val="tx2"/>
                </a:solidFill>
              </a:rPr>
              <a:t>[3] Helmers, E., Chang, C. C., &amp; Dauwels, J. (2021). Carbon footprinting of universities worldwide: Part I—objective comparison by standardized metrics. Environmental Sciences Europe, 33, 30. doi:10.1186/s12302-021-00454-6</a:t>
            </a:r>
            <a:endParaRPr lang="en-US" sz="1200" dirty="0"/>
          </a:p>
          <a:p>
            <a:pPr indent="0" marL="0">
              <a:spcAft>
                <a:spcPts val="600"/>
              </a:spcAft>
              <a:buNone/>
            </a:pPr>
            <a:r>
              <a:rPr lang="en-US" sz="1200" dirty="0">
                <a:solidFill>
                  <a:schemeClr val="tx2"/>
                </a:solidFill>
              </a:rPr>
              <a:t>[4] Valls-Val, K., &amp; Bovea, M. D. (2022). Carbon footprint assessment tool for universities: CO2UNV. Sustainable Production and Consumption, 29, 791–804. doi:10.1016/j.spc.2021.11.020</a:t>
            </a:r>
            <a:endParaRPr lang="en-US" sz="1200" dirty="0"/>
          </a:p>
          <a:p>
            <a:pPr indent="0" marL="0">
              <a:spcAft>
                <a:spcPts val="600"/>
              </a:spcAft>
              <a:buNone/>
            </a:pPr>
            <a:r>
              <a:rPr lang="en-US" sz="1200" dirty="0">
                <a:solidFill>
                  <a:schemeClr val="tx2"/>
                </a:solidFill>
              </a:rPr>
              <a:t>[5] Guerrero-Lucendo, A., García-Orenes, F., Navarro-Pedreño, J., &amp; Alba-Hidalgo, D. (2022). General mapping of the environmental performance in climate change mitigation of Spanish universities through a standardized carbon footprint calculation tool. International Journal of Environmental Research and Public Health, 19(17), 10964. doi:10.3390/ijerph191710964</a:t>
            </a:r>
            <a:endParaRPr lang="en-US" sz="1200" dirty="0"/>
          </a:p>
          <a:p>
            <a:pPr indent="0" marL="0">
              <a:spcAft>
                <a:spcPts val="600"/>
              </a:spcAft>
              <a:buNone/>
            </a:pPr>
            <a:r>
              <a:rPr lang="en-US" sz="1200" dirty="0">
                <a:solidFill>
                  <a:schemeClr val="tx2"/>
                </a:solidFill>
              </a:rPr>
              <a:t>[6] Herth, A., &amp; Blok, K. (2023). Quantifying universities’ direct and indirect carbon emissions: the case of Delft University of Technology. International Journal of Sustainability in Higher Education, 24(9). doi:10.1108/IJSHE-04-2022-0121</a:t>
            </a:r>
            <a:endParaRPr lang="en-US" sz="1200" dirty="0"/>
          </a:p>
          <a:p>
            <a:pPr indent="0" marL="0">
              <a:spcAft>
                <a:spcPts val="600"/>
              </a:spcAft>
              <a:buNone/>
            </a:pPr>
            <a:r>
              <a:rPr lang="en-US" sz="1200" dirty="0">
                <a:solidFill>
                  <a:schemeClr val="tx2"/>
                </a:solidFill>
              </a:rPr>
              <a:t>[7] Kiehle, J., Kopsakangas-Savolainen, M., Hilli, M., &amp; Pongrácz, E. (2023). Carbon footprint at institutions of higher education: the case of the University of Oulu. Journal of Environmental Management, 329, 117056. doi:10.1016/j.jenvman.2022.117056</a:t>
            </a:r>
            <a:endParaRPr lang="en-US" sz="1200" dirty="0"/>
          </a:p>
          <a:p>
            <a:pPr indent="0" marL="0">
              <a:spcAft>
                <a:spcPts val="600"/>
              </a:spcAft>
              <a:buNone/>
            </a:pPr>
            <a:r>
              <a:rPr lang="en-US" sz="1200" dirty="0">
                <a:solidFill>
                  <a:schemeClr val="tx2"/>
                </a:solidFill>
              </a:rPr>
              <a:t>[8] Deda, D., Gervásio, H., &amp; Quina, M. J. (2025). Advancing carbon footprint in higher education: an integrated assessment model. The International Journal of Life Cycle Assessment. doi:10.1007/s11367-025-02514-y</a:t>
            </a:r>
            <a:endParaRPr lang="en-US" sz="12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REFERENCES · 2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Methods and measured universities</a:t>
            </a:r>
            <a:endParaRPr lang="en-US" sz="3000" dirty="0"/>
          </a:p>
        </p:txBody>
      </p:sp>
      <p:sp>
        <p:nvSpPr>
          <p:cNvPr id="4" name="Text 2"/>
          <p:cNvSpPr txBox="1"/>
          <p:nvPr/>
        </p:nvSpPr>
        <p:spPr>
          <a:xfrm>
            <a:off x="685800" y="1828800"/>
            <a:ext cx="10817352" cy="452628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[9] Abdelbasier, A. M., Kamel, M. M., Donia, N. S., &amp; Nawar, H. A. (2022). Carbon footprint monitoring and mitigation in higher education: a meta-analysis review. Journal of Environmental Sciences (Ain Shams University), 51(11).</a:t>
            </a:r>
            <a:endParaRPr lang="en-US" sz="1200" dirty="0"/>
          </a:p>
          <a:p>
            <a:pPr indent="0" marL="0">
              <a:spcAft>
                <a:spcPts val="600"/>
              </a:spcAft>
              <a:buNone/>
            </a:pPr>
            <a:r>
              <a:rPr lang="en-US" sz="1200" dirty="0">
                <a:solidFill>
                  <a:schemeClr val="tx2"/>
                </a:solidFill>
              </a:rPr>
              <a:t>[10] Yañez, P., Sinha, A., &amp; Vásquez, M. (2020). Carbon footprint estimation in a university campus: evaluation and insights. Sustainability, 12(1), 181. doi:10.3390/su12010181</a:t>
            </a:r>
            <a:endParaRPr lang="en-US" sz="1200" dirty="0"/>
          </a:p>
          <a:p>
            <a:pPr indent="0" marL="0">
              <a:spcAft>
                <a:spcPts val="600"/>
              </a:spcAft>
              <a:buNone/>
            </a:pPr>
            <a:r>
              <a:rPr lang="en-US" sz="1200" dirty="0">
                <a:solidFill>
                  <a:schemeClr val="tx2"/>
                </a:solidFill>
              </a:rPr>
              <a:t>[11] Clabeaux, R., Carbajales-Dale, M., Ladner, D., &amp; Walker, T. (2020). Assessing the carbon footprint of a university campus using a life cycle assessment approach. Journal of Cleaner Production, 273, 122600. doi:10.1016/j.jclepro.2020.122600</a:t>
            </a:r>
            <a:endParaRPr lang="en-US" sz="1200" dirty="0"/>
          </a:p>
          <a:p>
            <a:pPr indent="0" marL="0">
              <a:spcAft>
                <a:spcPts val="600"/>
              </a:spcAft>
              <a:buNone/>
            </a:pPr>
            <a:r>
              <a:rPr lang="en-US" sz="1200" dirty="0">
                <a:solidFill>
                  <a:schemeClr val="tx2"/>
                </a:solidFill>
              </a:rPr>
              <a:t>[12] Filimonau, V., Archer, D., Bellamy, L., Smith, N., &amp; Wintrip, R. (2021). The carbon footprint of a UK University during the COVID-19 lockdown. Science of the Total Environment, 756, 143964. doi:10.1016/j.scitotenv.2020.143964</a:t>
            </a:r>
            <a:endParaRPr lang="en-US" sz="1200" dirty="0"/>
          </a:p>
          <a:p>
            <a:pPr indent="0" marL="0">
              <a:spcAft>
                <a:spcPts val="600"/>
              </a:spcAft>
              <a:buNone/>
            </a:pPr>
            <a:r>
              <a:rPr lang="en-US" sz="1200" dirty="0">
                <a:solidFill>
                  <a:schemeClr val="tx2"/>
                </a:solidFill>
              </a:rPr>
              <a:t>[13] Mustafa, A., Kazmi, M., Khan, H. R., Qazi, S. A., &amp; Lodi, S. H. (2022). Towards a carbon neutral and sustainable campus: case study of NED University of Engineering and Technology. Sustainability, 14(2), 794. doi:10.3390/su14020794</a:t>
            </a:r>
            <a:endParaRPr lang="en-US" sz="1200" dirty="0"/>
          </a:p>
          <a:p>
            <a:pPr indent="0" marL="0">
              <a:spcAft>
                <a:spcPts val="600"/>
              </a:spcAft>
              <a:buNone/>
            </a:pPr>
            <a:r>
              <a:rPr lang="en-US" sz="1200" dirty="0">
                <a:solidFill>
                  <a:schemeClr val="tx2"/>
                </a:solidFill>
              </a:rPr>
              <a:t>[14] Cano, N., Berrio, L., Carvajal, E., &amp; Arango, S. (2022). Assessing the carbon footprint of a Colombian university campus using the UNE-ISO 14064–1 and WRI/WBCSD GHG Protocol Corporate Standard. Environmental Science and Pollution Research. doi:10.1007/s11356-022-22119-4</a:t>
            </a:r>
            <a:endParaRPr lang="en-US" sz="1200" dirty="0"/>
          </a:p>
          <a:p>
            <a:pPr indent="0" marL="0">
              <a:spcAft>
                <a:spcPts val="600"/>
              </a:spcAft>
              <a:buNone/>
            </a:pPr>
            <a:r>
              <a:rPr lang="en-US" sz="1200" dirty="0">
                <a:solidFill>
                  <a:schemeClr val="tx2"/>
                </a:solidFill>
              </a:rPr>
              <a:t>[15] Osorio, A. M., Úsuga, L. F., Vásquez, R. E., Nieto-Londoño, C., Rinaudo, M. E., Martínez, J. A., &amp; Leal Filho, W. (2022). Towards carbon neutrality in higher education institutions: case of two private universities in Colombia. Sustainability, 14(3), 1774. doi:10.3390/su14031774</a:t>
            </a:r>
            <a:endParaRPr lang="en-US" sz="1200" dirty="0"/>
          </a:p>
          <a:p>
            <a:pPr indent="0" marL="0">
              <a:spcAft>
                <a:spcPts val="600"/>
              </a:spcAft>
              <a:buNone/>
            </a:pPr>
            <a:r>
              <a:rPr lang="en-US" sz="1200" dirty="0">
                <a:solidFill>
                  <a:schemeClr val="tx2"/>
                </a:solidFill>
              </a:rPr>
              <a:t>[16] Battistini, R., Passarini, F., Marrollo, R., Lantieri, C., Simone, A., &amp; Vignali, V. (2023). How to assess the carbon footprint of a large university? The case study of University of Bologna’s multicampus organization. Energies, 16(1), 166. doi:10.3390/en16010166</a:t>
            </a:r>
            <a:endParaRPr lang="en-US" sz="12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REFERENCES · 3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Universities, schools and Egypt</a:t>
            </a:r>
            <a:endParaRPr lang="en-US" sz="3000" dirty="0"/>
          </a:p>
        </p:txBody>
      </p:sp>
      <p:sp>
        <p:nvSpPr>
          <p:cNvPr id="4" name="Text 2"/>
          <p:cNvSpPr txBox="1"/>
          <p:nvPr/>
        </p:nvSpPr>
        <p:spPr>
          <a:xfrm>
            <a:off x="685800" y="1828800"/>
            <a:ext cx="10817352" cy="452628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[17] Ahonen, V. L., Woszczek, A., Baumeister, S., Helimo, U. T., Jackson, A. K., Kopsakangas-Savolainen, M., Kääriä, J., Lehtonen, T., Luoranen, M., Pongrácz, E., Soukka, R., Vainio, V., &amp; El Geneidy, S. (2024). Carbon neutral higher education institutions: a reality check, challenges and solutions. International Journal of Sustainability in Higher Education, 25(9), 293–315. doi:10.1108/IJSHE-11-2023-0515</a:t>
            </a:r>
            <a:endParaRPr lang="en-US" sz="1200" dirty="0"/>
          </a:p>
          <a:p>
            <a:pPr indent="0" marL="0">
              <a:spcAft>
                <a:spcPts val="600"/>
              </a:spcAft>
              <a:buNone/>
            </a:pPr>
            <a:r>
              <a:rPr lang="en-US" sz="1200" dirty="0">
                <a:solidFill>
                  <a:schemeClr val="tx2"/>
                </a:solidFill>
              </a:rPr>
              <a:t>[18] Rus, T., Moldovan, R.-P., Beu, D., Pop, M., &amp; Ceclan, A. (2025). Towards a climate-neutral campus: carbon footprint assessment in higher education institutions. Applied Sciences, 15(7), 3695. doi:10.3390/app15073695</a:t>
            </a:r>
            <a:endParaRPr lang="en-US" sz="1200" dirty="0"/>
          </a:p>
          <a:p>
            <a:pPr indent="0" marL="0">
              <a:spcAft>
                <a:spcPts val="600"/>
              </a:spcAft>
              <a:buNone/>
            </a:pPr>
            <a:r>
              <a:rPr lang="en-US" sz="1200" dirty="0">
                <a:solidFill>
                  <a:schemeClr val="tx2"/>
                </a:solidFill>
              </a:rPr>
              <a:t>[19] Yang, C., Yao, T., Dong, S., &amp; Jiang, W. (2025). Carbon emissions accounting and uncertainty analysis in campus settings: a case study of a university in Sichuan, China. PLOS ONE. doi:10.1371/journal.pone.0321216</a:t>
            </a:r>
            <a:endParaRPr lang="en-US" sz="1200" dirty="0"/>
          </a:p>
          <a:p>
            <a:pPr indent="0" marL="0">
              <a:spcAft>
                <a:spcPts val="600"/>
              </a:spcAft>
              <a:buNone/>
            </a:pPr>
            <a:r>
              <a:rPr lang="en-US" sz="1200" dirty="0">
                <a:solidFill>
                  <a:schemeClr val="tx2"/>
                </a:solidFill>
              </a:rPr>
              <a:t>[20] Wagner, O., Tholen, L., Nawothnig, L., &amp; Albert-Seifried, S. (2021). Making school-based GHG-emissions tangible by student-led carbon footprint assessment program. Energies, 14(24), 8558. doi:10.3390/en14248558</a:t>
            </a:r>
            <a:endParaRPr lang="en-US" sz="1200" dirty="0"/>
          </a:p>
          <a:p>
            <a:pPr indent="0" marL="0">
              <a:spcAft>
                <a:spcPts val="600"/>
              </a:spcAft>
              <a:buNone/>
            </a:pPr>
            <a:r>
              <a:rPr lang="en-US" sz="1200" dirty="0">
                <a:solidFill>
                  <a:schemeClr val="tx2"/>
                </a:solidFill>
              </a:rPr>
              <a:t>[21] Adhikari and Pokhrel (2025). Study on the carbon footprint of schools in Pokhara, Nepal. Himalayan Journal of Applied Science and Engineering, 5(2), 173–183. doi:10.3126/hijase.v5i2.74787</a:t>
            </a:r>
            <a:endParaRPr lang="en-US" sz="1200" dirty="0"/>
          </a:p>
          <a:p>
            <a:pPr indent="0" marL="0">
              <a:spcAft>
                <a:spcPts val="600"/>
              </a:spcAft>
              <a:buNone/>
            </a:pPr>
            <a:r>
              <a:rPr lang="en-US" sz="1200" dirty="0">
                <a:solidFill>
                  <a:schemeClr val="tx2"/>
                </a:solidFill>
              </a:rPr>
              <a:t>[22] Badr, M. K., El Beheary, M., &amp; Hassan, I. A. (2026). The importance of calculating the carbon footprint of Egyptian universities and their role in sustainable development: Port Said University as case study. Annals of the Academy of Romanian Scientists, Series on Biological Sciences. doi:10.56082/annalsarscibio.2026.1.191</a:t>
            </a:r>
            <a:endParaRPr lang="en-US" sz="1200" dirty="0"/>
          </a:p>
          <a:p>
            <a:pPr indent="0" marL="0">
              <a:spcAft>
                <a:spcPts val="600"/>
              </a:spcAft>
              <a:buNone/>
            </a:pPr>
            <a:r>
              <a:rPr lang="en-US" sz="1200" dirty="0">
                <a:solidFill>
                  <a:schemeClr val="tx2"/>
                </a:solidFill>
              </a:rPr>
              <a:t>[23] Safwat, H., Abdel-Rehim, A. A., El-Mahallawi, I., Hussein, A. A., Amer, A. M., Elshazly, E., &amp; Elshamy, A. I. (2024). Guidelines for data collection on energy performance of higher-education buildings in Egypt: a case study. HBRC Journal, 20(1), 615–642. doi:10.1080/16874048.2024.2345553</a:t>
            </a:r>
            <a:endParaRPr lang="en-US" sz="1200" dirty="0"/>
          </a:p>
          <a:p>
            <a:pPr indent="0" marL="0">
              <a:spcAft>
                <a:spcPts val="600"/>
              </a:spcAft>
              <a:buNone/>
            </a:pPr>
            <a:r>
              <a:rPr lang="en-US" sz="1200" dirty="0">
                <a:solidFill>
                  <a:schemeClr val="tx2"/>
                </a:solidFill>
              </a:rPr>
              <a:t>[24] Hamada, A. A., Hong, S.-M., &amp; Raslan, R. (2025). Evaluating the operational performance in Cairo’s public administrative buildings: stock characterisation and typical energy use. Energy and Buildings, 346, 116065. doi:10.1016/j.enbuild.2025.116065</a:t>
            </a:r>
            <a:endParaRPr lang="en-US" sz="12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REFERENCES · 4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Monitoring, targets, apps and transport</a:t>
            </a:r>
            <a:endParaRPr lang="en-US" sz="3000" dirty="0"/>
          </a:p>
        </p:txBody>
      </p:sp>
      <p:sp>
        <p:nvSpPr>
          <p:cNvPr id="4" name="Text 2"/>
          <p:cNvSpPr txBox="1"/>
          <p:nvPr/>
        </p:nvSpPr>
        <p:spPr>
          <a:xfrm>
            <a:off x="685800" y="1828800"/>
            <a:ext cx="10817352" cy="452628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[25] García-Monge, M., Zalba, B., Casas, R., Cano, E., Guillén-Lambea, S., López-Mesa, B., &amp; Martínez, I. (2023). Is IoT monitoring key to improve building energy efficiency? Case study of a smart campus in Spain. Energy and Buildings, 285, 112882. doi:10.1016/j.enbuild.2023.112882</a:t>
            </a:r>
            <a:endParaRPr lang="en-US" sz="1200" dirty="0"/>
          </a:p>
          <a:p>
            <a:pPr indent="0" marL="0">
              <a:spcAft>
                <a:spcPts val="600"/>
              </a:spcAft>
              <a:buNone/>
            </a:pPr>
            <a:r>
              <a:rPr lang="en-US" sz="1200" dirty="0">
                <a:solidFill>
                  <a:schemeClr val="tx2"/>
                </a:solidFill>
              </a:rPr>
              <a:t>[26] Akenji, L., Bengtsson, M., Toivio, V., Lettenmeier, M., et al. (2021). 1.5-Degree Lifestyles: Towards a fair consumption space for all. Hot or Cool Institute, Berlin.</a:t>
            </a:r>
            <a:endParaRPr lang="en-US" sz="1200" dirty="0"/>
          </a:p>
          <a:p>
            <a:pPr indent="0" marL="0">
              <a:spcAft>
                <a:spcPts val="600"/>
              </a:spcAft>
              <a:buNone/>
            </a:pPr>
            <a:r>
              <a:rPr lang="en-US" sz="1200" dirty="0">
                <a:solidFill>
                  <a:schemeClr val="tx2"/>
                </a:solidFill>
              </a:rPr>
              <a:t>[27] Crippa, M., Guizzardi, D., Pagani, F., et al. (2024). GHG emissions of all world countries: 2024 report. Publications Office of the European Union, Luxembourg. JRC138862. doi:10.2760/4002897</a:t>
            </a:r>
            <a:endParaRPr lang="en-US" sz="1200" dirty="0"/>
          </a:p>
          <a:p>
            <a:pPr indent="0" marL="0">
              <a:spcAft>
                <a:spcPts val="600"/>
              </a:spcAft>
              <a:buNone/>
            </a:pPr>
            <a:r>
              <a:rPr lang="en-US" sz="1200" dirty="0">
                <a:solidFill>
                  <a:schemeClr val="tx2"/>
                </a:solidFill>
              </a:rPr>
              <a:t>[28] Ajufo, C., &amp; Bekaroo, G. (2021). An automated personal carbon footprint calculator for estimating carbon emissions from transportation use. In Proceedings of the International Conference on Artificial Intelligence and its Applications (icARTi ’21). ACM. doi:10.1145/3487923.3487935</a:t>
            </a:r>
            <a:endParaRPr lang="en-US" sz="1200" dirty="0"/>
          </a:p>
          <a:p>
            <a:pPr indent="0" marL="0">
              <a:spcAft>
                <a:spcPts val="600"/>
              </a:spcAft>
              <a:buNone/>
            </a:pPr>
            <a:r>
              <a:rPr lang="en-US" sz="1200" dirty="0">
                <a:solidFill>
                  <a:schemeClr val="tx2"/>
                </a:solidFill>
              </a:rPr>
              <a:t>[29] Bekaroo, G., Roopowa, D., Zakari, A., &amp; Niemeier, D. (2021). Calculating carbon emissions from personal travelling: insights from a top-down analysis of key calculators. Environmental Science and Pollution Research, 28(7), 8853–8872. doi:10.1007/s11356-020-11179-z</a:t>
            </a:r>
            <a:endParaRPr lang="en-US" sz="1200" dirty="0"/>
          </a:p>
          <a:p>
            <a:pPr indent="0" marL="0">
              <a:spcAft>
                <a:spcPts val="600"/>
              </a:spcAft>
              <a:buNone/>
            </a:pPr>
            <a:r>
              <a:rPr lang="en-US" sz="1200" dirty="0">
                <a:solidFill>
                  <a:schemeClr val="tx2"/>
                </a:solidFill>
              </a:rPr>
              <a:t>[30] Zhang, Y., Echchabi, O., Feng, T., Zhang, W., Liao, H.-K., &amp; Chang, C. (2026). Detecting transportation mode using dense smartphone GPS trajectories and Transformer models. International Journal of Geographical Information Science. arXiv:2603.00340</a:t>
            </a:r>
            <a:endParaRPr lang="en-US" sz="1200" dirty="0"/>
          </a:p>
          <a:p>
            <a:pPr indent="0" marL="0">
              <a:spcAft>
                <a:spcPts val="600"/>
              </a:spcAft>
              <a:buNone/>
            </a:pPr>
            <a:r>
              <a:rPr lang="en-US" sz="1200" dirty="0">
                <a:solidFill>
                  <a:schemeClr val="tx2"/>
                </a:solidFill>
              </a:rPr>
              <a:t>[31] Sadeghian, P., Håkansson, J., &amp; Zhao, X. (2021). Review and evaluation of methods in transport mode detection based on GPS tracking data. Journal of Traffic and Transportation Engineering (English Edition), 8(4), 467–482.</a:t>
            </a:r>
            <a:endParaRPr lang="en-US" sz="1200" dirty="0"/>
          </a:p>
          <a:p>
            <a:pPr indent="0" marL="0">
              <a:spcAft>
                <a:spcPts val="600"/>
              </a:spcAft>
              <a:buNone/>
            </a:pPr>
            <a:r>
              <a:rPr lang="en-US" sz="1200" dirty="0">
                <a:solidFill>
                  <a:schemeClr val="tx2"/>
                </a:solidFill>
              </a:rPr>
              <a:t>[32] Wang, L., Gjoreski, H., Ciliberto, M., Lago, P., Murao, K., Okita, T., &amp; Roggen, D. (2021). Three-year review of the 2018–2020 SHL challenge on transportation and locomotion mode recognition from mobile sensors. Frontiers in Computer Science, 3, 713719. doi:10.3389/fcomp.2021.713719</a:t>
            </a:r>
            <a:endParaRPr lang="en-US" sz="12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17352"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REFERENCES · 5 OF 5</a:t>
            </a:r>
            <a:endParaRPr lang="en-US" sz="1200" dirty="0"/>
          </a:p>
        </p:txBody>
      </p:sp>
      <p:sp>
        <p:nvSpPr>
          <p:cNvPr id="3" name="Text 0"/>
          <p:cNvSpPr/>
          <p:nvPr>
            <p:ph idx="101" type="title" hasCustomPrompt="1"/>
          </p:nvPr>
        </p:nvSpPr>
        <p:spPr>
          <a:xfrm>
            <a:off x="685800" y="768096"/>
            <a:ext cx="10817352" cy="987552"/>
          </a:xfrm>
          <a:prstGeom prst="rect">
            <a:avLst/>
          </a:prstGeom>
          <a:noFill/>
          <a:ln/>
        </p:spPr>
        <p:txBody>
          <a:bodyPr wrap="square" lIns="0" tIns="0" rIns="0" bIns="0" rtlCol="0" anchor="t"/>
          <a:lstStyle/>
          <a:p>
            <a:pPr algn="l" indent="0" marL="0">
              <a:buNone/>
            </a:pPr>
            <a:r>
              <a:rPr lang="en-US" sz="3000" b="1" dirty="0">
                <a:solidFill>
                  <a:schemeClr val="tx1"/>
                </a:solidFill>
              </a:rPr>
              <a:t>Food, energy, forecasting and data</a:t>
            </a:r>
            <a:endParaRPr lang="en-US" sz="3000" dirty="0"/>
          </a:p>
        </p:txBody>
      </p:sp>
      <p:sp>
        <p:nvSpPr>
          <p:cNvPr id="4" name="Text 2"/>
          <p:cNvSpPr txBox="1"/>
          <p:nvPr/>
        </p:nvSpPr>
        <p:spPr>
          <a:xfrm>
            <a:off x="685800" y="1828800"/>
            <a:ext cx="10817352" cy="4526280"/>
          </a:xfrm>
          <a:prstGeom prst="rect">
            <a:avLst/>
          </a:prstGeom>
          <a:noFill/>
          <a:ln/>
        </p:spPr>
        <p:txBody>
          <a:bodyPr wrap="square" lIns="0" tIns="0" rIns="0" bIns="0" rtlCol="0" anchor="t"/>
          <a:lstStyle/>
          <a:p>
            <a:pPr indent="0" marL="0">
              <a:spcAft>
                <a:spcPts val="600"/>
              </a:spcAft>
              <a:buNone/>
            </a:pPr>
            <a:r>
              <a:rPr lang="en-US" sz="1200" dirty="0">
                <a:solidFill>
                  <a:schemeClr val="tx2"/>
                </a:solidFill>
              </a:rPr>
              <a:t>[33] Wang, P., &amp; Jiang, Y. (2022). Transportation mode detection using temporal convolutional networks based on sensors integrated into smartphones. Sensors, 22(17), 6712. doi:10.3390/s22176712</a:t>
            </a:r>
            <a:endParaRPr lang="en-US" sz="1200" dirty="0"/>
          </a:p>
          <a:p>
            <a:pPr indent="0" marL="0">
              <a:spcAft>
                <a:spcPts val="600"/>
              </a:spcAft>
              <a:buNone/>
            </a:pPr>
            <a:r>
              <a:rPr lang="en-US" sz="1200" dirty="0">
                <a:solidFill>
                  <a:schemeClr val="tx2"/>
                </a:solidFill>
              </a:rPr>
              <a:t>[34] Tahir, G. A., &amp; Loo, C. K. (2021). A comprehensive survey of image-based food recognition and volume estimation methods for dietary assessment. Healthcare, 9(12), 1676. doi:10.3390/healthcare9121676</a:t>
            </a:r>
            <a:endParaRPr lang="en-US" sz="1200" dirty="0"/>
          </a:p>
          <a:p>
            <a:pPr indent="0" marL="0">
              <a:spcAft>
                <a:spcPts val="600"/>
              </a:spcAft>
              <a:buNone/>
            </a:pPr>
            <a:r>
              <a:rPr lang="en-US" sz="1200" dirty="0">
                <a:solidFill>
                  <a:schemeClr val="tx2"/>
                </a:solidFill>
              </a:rPr>
              <a:t>[35] Dalakleidi, K. V., Papadelli, M., Kapolos, I., &amp; Papadimitriou, K. (2022). Applying image-based food-recognition systems on dietary assessment: a systematic review. Advances in Nutrition, 13(6), 2590–2619. doi:10.1093/advances/nmac078</a:t>
            </a:r>
            <a:endParaRPr lang="en-US" sz="1200" dirty="0"/>
          </a:p>
          <a:p>
            <a:pPr indent="0" marL="0">
              <a:spcAft>
                <a:spcPts val="600"/>
              </a:spcAft>
              <a:buNone/>
            </a:pPr>
            <a:r>
              <a:rPr lang="en-US" sz="1200" dirty="0">
                <a:solidFill>
                  <a:schemeClr val="tx2"/>
                </a:solidFill>
              </a:rPr>
              <a:t>[36] Ismail, M. L., &amp; Sahari, N. (2024). Real time energy monitoring &amp; current spikes detection system for enhanced energy conservation in residential area. Progress in Engineering Application and Technology, 5(1), 79–87. doi:10.30880/peat.2024.05.01.008</a:t>
            </a:r>
            <a:endParaRPr lang="en-US" sz="1200" dirty="0"/>
          </a:p>
          <a:p>
            <a:pPr indent="0" marL="0">
              <a:spcAft>
                <a:spcPts val="600"/>
              </a:spcAft>
              <a:buNone/>
            </a:pPr>
            <a:r>
              <a:rPr lang="en-US" sz="1200" dirty="0">
                <a:solidFill>
                  <a:schemeClr val="tx2"/>
                </a:solidFill>
              </a:rPr>
              <a:t>[37] Miller, C., et al. (2020). The ASHRAE Great Energy Predictor III competition: overview and results. Science and Technology for the Built Environment, 26(10). doi:10.1080/23744731.2020.1795514</a:t>
            </a:r>
            <a:endParaRPr lang="en-US" sz="1200" dirty="0"/>
          </a:p>
          <a:p>
            <a:pPr indent="0" marL="0">
              <a:spcAft>
                <a:spcPts val="600"/>
              </a:spcAft>
              <a:buNone/>
            </a:pPr>
            <a:r>
              <a:rPr lang="en-US" sz="1200" dirty="0">
                <a:solidFill>
                  <a:schemeClr val="tx2"/>
                </a:solidFill>
              </a:rPr>
              <a:t>[38] Anand, P., Deb, C., Yang, K., Yang, J., Cheong, D., &amp; Sekhar, C. (2021). Occupancy-based energy consumption modelling using machine learning algorithms for institutional buildings. Energy and Buildings, 111478. doi:10.1016/j.enbuild.2021.111478</a:t>
            </a:r>
            <a:endParaRPr lang="en-US" sz="1200" dirty="0"/>
          </a:p>
          <a:p>
            <a:pPr indent="0" marL="0">
              <a:spcAft>
                <a:spcPts val="600"/>
              </a:spcAft>
              <a:buNone/>
            </a:pPr>
            <a:r>
              <a:rPr lang="en-US" sz="1200" dirty="0">
                <a:solidFill>
                  <a:schemeClr val="tx2"/>
                </a:solidFill>
              </a:rPr>
              <a:t>[39] Himeur, Y., Ghanem, K., Alsalemi, A., Bensaali, F., &amp; Amira, A. (2021). Artificial intelligence based anomaly detection of energy consumption in buildings: a review, current trends and new perspectives. Applied Energy, 287, 116601. doi:10.1016/j.apenergy.2021.116601</a:t>
            </a:r>
            <a:endParaRPr lang="en-US" sz="1200" dirty="0"/>
          </a:p>
          <a:p>
            <a:pPr indent="0" marL="0">
              <a:spcAft>
                <a:spcPts val="600"/>
              </a:spcAft>
              <a:buNone/>
            </a:pPr>
            <a:r>
              <a:rPr lang="en-US" sz="1200" dirty="0">
                <a:solidFill>
                  <a:schemeClr val="tx2"/>
                </a:solidFill>
              </a:rPr>
              <a:t>[40] Azad, Rajabi and Estebsari (2023). Non-intrusive load monitoring (NILM) using deep neural networks: a review. arXiv:2306.05017</a:t>
            </a:r>
            <a:endParaRPr lang="en-US" sz="1200" dirty="0"/>
          </a:p>
          <a:p>
            <a:pPr indent="0" marL="0">
              <a:spcAft>
                <a:spcPts val="600"/>
              </a:spcAft>
              <a:buNone/>
            </a:pPr>
            <a:r>
              <a:rPr lang="en-US" sz="1200" dirty="0">
                <a:solidFill>
                  <a:schemeClr val="accent5"/>
                </a:solidFill>
              </a:rPr>
              <a:t>Data: Miller et al. (2020), Building Data Genome 2, Scientific Data 7:368; Kelly &amp; Knottenbelt (2015), UK-DALE, Scientific Data 2:150007; Bossard et al. (2014), Food-101, ECCV. Factors: Poore &amp; Nemecek (2018), Science 360:987–992; Low-Carbon Power, Egypt (2024); UK DESNZ (2024).</a:t>
            </a:r>
            <a:endParaRPr lang="en-US" sz="1200" dirty="0"/>
          </a:p>
        </p:txBody>
      </p:sp>
      <p:sp>
        <p:nvSpPr>
          <p:cNvPr id="25" name="Slide Number Placeholder 0"/>
          <p:cNvSpPr>
            <a:spLocks noGrp="1"/>
          </p:cNvSpPr>
          <p:nvPr>
            <p:ph type="sldNum" sz="quarter" idx="4294967295"/>
          </p:nvPr>
        </p:nvSpPr>
        <p:spPr>
          <a:xfrm>
            <a:off x="1104595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E68"/>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822960" y="822960"/>
            <a:ext cx="6949440" cy="329184"/>
          </a:xfrm>
          <a:prstGeom prst="rect">
            <a:avLst/>
          </a:prstGeom>
          <a:noFill/>
          <a:ln/>
        </p:spPr>
        <p:txBody>
          <a:bodyPr wrap="square" lIns="0" tIns="0" rIns="0" bIns="0" rtlCol="0" anchor="t"/>
          <a:lstStyle/>
          <a:p>
            <a:pPr indent="0" marL="0">
              <a:buNone/>
            </a:pPr>
            <a:r>
              <a:rPr lang="en-US" sz="1400" b="1" spc="300" kern="0" dirty="0">
                <a:solidFill>
                  <a:schemeClr val="accent2"/>
                </a:solidFill>
              </a:rPr>
              <a:t>BASMATI · </a:t>
            </a:r>
            <a:pPr indent="0" marL="0">
              <a:buNone/>
            </a:pPr>
            <a:r>
              <a:rPr lang="ar-EG" altLang="en-US" sz="1400" b="1" spc="300" kern="0" dirty="0">
                <a:solidFill>
                  <a:schemeClr val="accent2"/>
                </a:solidFill>
                <a:latin typeface="Arial" pitchFamily="34" charset="0"/>
                <a:ea typeface="Arial" pitchFamily="34" charset="-122"/>
                <a:cs typeface="Arial" pitchFamily="34" charset="-120"/>
              </a:rPr>
              <a:t>بصمتي</a:t>
            </a:r>
            <a:endParaRPr lang="en-US" sz="1400" dirty="0"/>
          </a:p>
        </p:txBody>
      </p:sp>
      <p:sp>
        <p:nvSpPr>
          <p:cNvPr id="3" name="Text 0"/>
          <p:cNvSpPr/>
          <p:nvPr>
            <p:ph idx="101" type="title" hasCustomPrompt="1"/>
          </p:nvPr>
        </p:nvSpPr>
        <p:spPr>
          <a:xfrm>
            <a:off x="822960" y="1325880"/>
            <a:ext cx="7315200" cy="1234440"/>
          </a:xfrm>
          <a:prstGeom prst="rect">
            <a:avLst/>
          </a:prstGeom>
          <a:noFill/>
          <a:ln/>
        </p:spPr>
        <p:txBody>
          <a:bodyPr wrap="square" lIns="0" tIns="0" rIns="0" bIns="0" rtlCol="0" anchor="t"/>
          <a:lstStyle/>
          <a:p>
            <a:pPr algn="l" indent="0" marL="0">
              <a:buNone/>
            </a:pPr>
            <a:r>
              <a:rPr lang="en-US" sz="5400" b="1" dirty="0">
                <a:solidFill>
                  <a:schemeClr val="bg1"/>
                </a:solidFill>
              </a:rPr>
              <a:t>Thank you</a:t>
            </a:r>
            <a:endParaRPr lang="en-US" sz="5400" dirty="0"/>
          </a:p>
        </p:txBody>
      </p:sp>
      <p:sp>
        <p:nvSpPr>
          <p:cNvPr id="4" name="Text 0"/>
          <p:cNvSpPr/>
          <p:nvPr>
            <p:ph idx="102" type="body" hasCustomPrompt="1"/>
          </p:nvPr>
        </p:nvSpPr>
        <p:spPr>
          <a:xfrm>
            <a:off x="822960" y="2697480"/>
            <a:ext cx="6583680" cy="1005840"/>
          </a:xfrm>
          <a:prstGeom prst="rect">
            <a:avLst/>
          </a:prstGeom>
          <a:noFill/>
          <a:ln/>
        </p:spPr>
        <p:txBody>
          <a:bodyPr wrap="square" lIns="0" tIns="0" rIns="0" bIns="0" rtlCol="0" anchor="t"/>
          <a:lstStyle/>
          <a:p>
            <a:pPr indent="0" marL="0">
              <a:buNone/>
            </a:pPr>
            <a:r>
              <a:rPr lang="en-US" sz="2000" dirty="0">
                <a:solidFill>
                  <a:srgbClr val="C9D8CF"/>
                </a:solidFill>
              </a:rPr>
              <a:t>Questions and feedback</a:t>
            </a:r>
            <a:endParaRPr lang="en-US" sz="2000" dirty="0"/>
          </a:p>
        </p:txBody>
      </p:sp>
      <p:sp>
        <p:nvSpPr>
          <p:cNvPr id="5" name="Shape 3"/>
          <p:cNvSpPr/>
          <p:nvPr/>
        </p:nvSpPr>
        <p:spPr>
          <a:xfrm>
            <a:off x="9454896" y="1225296"/>
            <a:ext cx="384048" cy="384048"/>
          </a:xfrm>
          <a:prstGeom prst="ellipse">
            <a:avLst/>
          </a:prstGeom>
          <a:solidFill>
            <a:schemeClr val="accent2"/>
          </a:solidFill>
          <a:ln/>
        </p:spPr>
      </p:sp>
      <p:sp>
        <p:nvSpPr>
          <p:cNvPr id="6" name="Shape 4"/>
          <p:cNvSpPr/>
          <p:nvPr/>
        </p:nvSpPr>
        <p:spPr>
          <a:xfrm>
            <a:off x="10163556" y="1415181"/>
            <a:ext cx="384048" cy="384048"/>
          </a:xfrm>
          <a:prstGeom prst="ellipse">
            <a:avLst/>
          </a:prstGeom>
          <a:solidFill>
            <a:schemeClr val="accent2"/>
          </a:solidFill>
          <a:ln/>
        </p:spPr>
      </p:sp>
      <p:sp>
        <p:nvSpPr>
          <p:cNvPr id="7" name="Shape 5"/>
          <p:cNvSpPr/>
          <p:nvPr/>
        </p:nvSpPr>
        <p:spPr>
          <a:xfrm>
            <a:off x="10682331" y="1933956"/>
            <a:ext cx="384048" cy="384048"/>
          </a:xfrm>
          <a:prstGeom prst="ellipse">
            <a:avLst/>
          </a:prstGeom>
          <a:solidFill>
            <a:schemeClr val="accent2"/>
          </a:solidFill>
          <a:ln/>
        </p:spPr>
      </p:sp>
      <p:sp>
        <p:nvSpPr>
          <p:cNvPr id="8" name="Shape 6"/>
          <p:cNvSpPr/>
          <p:nvPr/>
        </p:nvSpPr>
        <p:spPr>
          <a:xfrm>
            <a:off x="10872216" y="2642616"/>
            <a:ext cx="384048" cy="384048"/>
          </a:xfrm>
          <a:prstGeom prst="ellipse">
            <a:avLst/>
          </a:prstGeom>
          <a:solidFill>
            <a:schemeClr val="accent2"/>
          </a:solidFill>
          <a:ln/>
        </p:spPr>
      </p:sp>
      <p:sp>
        <p:nvSpPr>
          <p:cNvPr id="9" name="Shape 7"/>
          <p:cNvSpPr/>
          <p:nvPr/>
        </p:nvSpPr>
        <p:spPr>
          <a:xfrm>
            <a:off x="10682331" y="3351276"/>
            <a:ext cx="384048" cy="384048"/>
          </a:xfrm>
          <a:prstGeom prst="ellipse">
            <a:avLst/>
          </a:prstGeom>
          <a:solidFill>
            <a:schemeClr val="accent2"/>
          </a:solidFill>
          <a:ln/>
        </p:spPr>
      </p:sp>
      <p:sp>
        <p:nvSpPr>
          <p:cNvPr id="10" name="Shape 8"/>
          <p:cNvSpPr/>
          <p:nvPr/>
        </p:nvSpPr>
        <p:spPr>
          <a:xfrm>
            <a:off x="10163556" y="3870051"/>
            <a:ext cx="384048" cy="384048"/>
          </a:xfrm>
          <a:prstGeom prst="ellipse">
            <a:avLst/>
          </a:prstGeom>
          <a:solidFill>
            <a:schemeClr val="accent2"/>
          </a:solidFill>
          <a:ln/>
        </p:spPr>
      </p:sp>
      <p:sp>
        <p:nvSpPr>
          <p:cNvPr id="11" name="Shape 9"/>
          <p:cNvSpPr/>
          <p:nvPr/>
        </p:nvSpPr>
        <p:spPr>
          <a:xfrm>
            <a:off x="9454896" y="4059936"/>
            <a:ext cx="384048" cy="384048"/>
          </a:xfrm>
          <a:prstGeom prst="ellipse">
            <a:avLst/>
          </a:prstGeom>
          <a:solidFill>
            <a:schemeClr val="accent2"/>
          </a:solidFill>
          <a:ln/>
        </p:spPr>
      </p:sp>
      <p:sp>
        <p:nvSpPr>
          <p:cNvPr id="12" name="Shape 10"/>
          <p:cNvSpPr/>
          <p:nvPr/>
        </p:nvSpPr>
        <p:spPr>
          <a:xfrm>
            <a:off x="8746236" y="3870051"/>
            <a:ext cx="384048" cy="384048"/>
          </a:xfrm>
          <a:prstGeom prst="ellipse">
            <a:avLst/>
          </a:prstGeom>
          <a:solidFill>
            <a:schemeClr val="accent2"/>
          </a:solidFill>
          <a:ln/>
        </p:spPr>
      </p:sp>
      <p:sp>
        <p:nvSpPr>
          <p:cNvPr id="13" name="Shape 11"/>
          <p:cNvSpPr/>
          <p:nvPr/>
        </p:nvSpPr>
        <p:spPr>
          <a:xfrm>
            <a:off x="8227461" y="3351276"/>
            <a:ext cx="384048" cy="384048"/>
          </a:xfrm>
          <a:prstGeom prst="ellipse">
            <a:avLst/>
          </a:prstGeom>
          <a:solidFill>
            <a:schemeClr val="accent4"/>
          </a:solidFill>
          <a:ln/>
        </p:spPr>
      </p:sp>
      <p:sp>
        <p:nvSpPr>
          <p:cNvPr id="14" name="Shape 12"/>
          <p:cNvSpPr/>
          <p:nvPr/>
        </p:nvSpPr>
        <p:spPr>
          <a:xfrm>
            <a:off x="8037576" y="2642616"/>
            <a:ext cx="384048" cy="384048"/>
          </a:xfrm>
          <a:prstGeom prst="ellipse">
            <a:avLst/>
          </a:prstGeom>
          <a:solidFill>
            <a:schemeClr val="accent4"/>
          </a:solidFill>
          <a:ln/>
        </p:spPr>
      </p:sp>
      <p:sp>
        <p:nvSpPr>
          <p:cNvPr id="15" name="Shape 13"/>
          <p:cNvSpPr/>
          <p:nvPr/>
        </p:nvSpPr>
        <p:spPr>
          <a:xfrm>
            <a:off x="8227461" y="1933956"/>
            <a:ext cx="384048" cy="384048"/>
          </a:xfrm>
          <a:prstGeom prst="ellipse">
            <a:avLst/>
          </a:prstGeom>
          <a:solidFill>
            <a:schemeClr val="accent3"/>
          </a:solidFill>
          <a:ln/>
        </p:spPr>
      </p:sp>
      <p:sp>
        <p:nvSpPr>
          <p:cNvPr id="16" name="Shape 14"/>
          <p:cNvSpPr/>
          <p:nvPr/>
        </p:nvSpPr>
        <p:spPr>
          <a:xfrm>
            <a:off x="8746236" y="1415181"/>
            <a:ext cx="384048" cy="384048"/>
          </a:xfrm>
          <a:prstGeom prst="ellipse">
            <a:avLst/>
          </a:prstGeom>
          <a:solidFill>
            <a:schemeClr val="accent3"/>
          </a:solidFill>
          <a:ln/>
        </p:spPr>
      </p:sp>
    </p:spTree>
  </p:cSld>
  <p:clrMapOvr>
    <a:masterClrMapping/>
  </p:clrMapOvr>
</p:sld>
</file>

<file path=ppt/theme/theme1.xml><?xml version="1.0" encoding="utf-8"?>
<a:theme xmlns:a="http://schemas.openxmlformats.org/drawingml/2006/main" name="Basmati">
  <a:themeElements>
    <a:clrScheme name="Basmati">
      <a:dk1>
        <a:srgbClr val="14302A"/>
      </a:dk1>
      <a:lt1>
        <a:srgbClr val="FFFFFF"/>
      </a:lt1>
      <a:dk2>
        <a:srgbClr val="3B4A44"/>
      </a:dk2>
      <a:lt2>
        <a:srgbClr val="EAF0EA"/>
      </a:lt2>
      <a:accent1>
        <a:srgbClr val="2F7D5B"/>
      </a:accent1>
      <a:accent2>
        <a:srgbClr val="8FD3A8"/>
      </a:accent2>
      <a:accent3>
        <a:srgbClr val="C2611A"/>
      </a:accent3>
      <a:accent4>
        <a:srgbClr val="E8B04B"/>
      </a:accent4>
      <a:accent5>
        <a:srgbClr val="5F6E68"/>
      </a:accent5>
      <a:accent6>
        <a:srgbClr val="D9E0DA"/>
      </a:accent6>
      <a:hlink>
        <a:srgbClr val="2F7D5B"/>
      </a:hlink>
      <a:folHlink>
        <a:srgbClr val="5F6E68"/>
      </a:folHlink>
    </a:clrScheme>
    <a:fontScheme name="Basmat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Basmati: daily personal carbon footprint</dc:title>
  <dc:subject>Graduation project proposal</dc:subject>
  <dc:creator>Basmati team</dc:creator>
  <cp:lastModifiedBy>Basmati team</cp:lastModifiedBy>
  <cp:revision>1</cp:revision>
  <dcterms:created xsi:type="dcterms:W3CDTF">2026-10-26T19:05:27Z</dcterms:created>
  <dcterms:modified xsi:type="dcterms:W3CDTF">2026-10-26T19:05:27Z</dcterms:modified>
</cp:coreProperties>
</file>