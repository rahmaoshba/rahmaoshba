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25a7558-1375-2f86-0c98-0e754d436208}">
          <p14:sldIdLst>
            <p14:sldId id="256"/>
            <p14:sldId id="257"/>
          </p14:sldIdLst>
        </p14:section>
        <p14:section name="Steps 1 to 3" id="{398a89fc-1be6-c619-dd89-bc4965c9e911}">
          <p14:sldIdLst>
            <p14:sldId id="258"/>
            <p14:sldId id="259"/>
            <p14:sldId id="260"/>
          </p14:sldIdLst>
        </p14:section>
        <p14:section name="Steps 4 to 6" id="{6da91d95-7696-21e6-03b0-abc5538db8d4}">
          <p14:sldIdLst>
            <p14:sldId id="261"/>
            <p14:sldId id="262"/>
            <p14:sldId id="263"/>
          </p14:sldIdLst>
        </p14:section>
        <p14:section name="Step 7 and Summary" id="{eb320af7-94d6-26ac-f65d-2ccbe8e0a282}">
          <p14:sldIdLst>
            <p14:sldId id="264"/>
            <p14:sldId id="265"/>
          </p14:sldIdLst>
        </p14:section>
        <p14:section name="Closing" id="{ec9870cd-011f-2b1b-2606-0c6f426dd54d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Rahma Khaled
"Good morning. We are Pulse Marketing: Rahma, Aya, Mahmoud and Abader.
Today we show you our plan for the first month with The Daily Cup."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Rahma Khaled
Our plan has 7 steps.
We set goals, list the tasks, set a timeline, and give every task an owner.
Then we get the resources, check the results, and fix what doesn't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Rahma Khaled
Step 1 is our goals. They are SMART: clear, measurable and with a deadline.
In month one we want:
- 40,000 people to see the café.
- 500 new followers.
- 100 messages and calls.
- 10 more customers every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Aya Reda
Step 2 is the tasks. We have 11 tasks in 4 groups:
- Prepare: study the market, know our customers, and check the café's pages.
- Create: make a content plan, take photos and videos, and design posts and reels.
- Launch: start the ads, post and reply, and start the offers.
- Measure: a weekly report and a final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Aya Reda
Step 3 is the timeline. The plan takes 4 weeks:
- Week 1: we study the market and check the pages.
- Week 2: we make the content and prepare the ads.
- Week 3: the campaign starts.
- Week 4: we improve the ads and do the final review.
Every week has a clear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Mahmoud Ibrahim
Step 4 is who does what. Every task has one owner:
- Rahma is the account manager. She does the market study and the final review.
- Aya does social media: the content plan, posting and the offers.
- Mahmoud does the ads and the weekly report.
- Abader takes the photos and videos and designs the posts.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Mahmoud Ibrahim
Step 5 is what we need.
- Money: 13,000 EGP a month.
- Tools: Meta for posts and ads, Canva and CapCut for design, and Google Sheets for reports.
- From the café: access to the pages, the menu and prices, time for photos, and the weekly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Mahmoud Ibrahim
Step 6 is checking progress. We watch 5 numbers: reach, followers, messages, cost per message, and new customers.
Every day we check the ads and comments. Every Sunday we send the owner a report. In week 4 we do the final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Abader Zarif
Step 7 is review and fix. We don't wait for the end of the month:
- If few people see us, we put more money in the best ad.
- If we get few likes, we post more reels.
- If people watch but don't send messages, we add a clear offer.
- If few new customers come, we make the offer better.
At the end of the month, we meet the owner and plan month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Abader Zarif
This is the whole plan on one page: every task, who does it, and when. Each colour is one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Abader Zarif
So: 4 goals, 11 tasks, 4 weeks, and one team.
Say yes today, and we start in week 1. Thank you! Any questions?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4389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25880"/>
            <a:ext cx="43891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4206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Pulse Marketing  |  Action Plan for The Daily Cup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PRESENTED BY PULSE MARKETING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258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Our first month with The Daily Cup</a:t>
            </a:r>
            <a:endParaRPr lang="en-US" sz="1500" dirty="0"/>
          </a:p>
        </p:txBody>
      </p:sp>
      <p:sp>
        <p:nvSpPr>
          <p:cNvPr id="5" name="Team label"/>
          <p:cNvSpPr txBox="1"/>
          <p:nvPr/>
        </p:nvSpPr>
        <p:spPr>
          <a:xfrm>
            <a:off x="548640" y="3429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OUR TEAM</a:t>
            </a:r>
            <a:endParaRPr lang="en-US" sz="1100" dirty="0"/>
          </a:p>
        </p:txBody>
      </p:sp>
      <p:sp>
        <p:nvSpPr>
          <p:cNvPr id="6" name="Team member 1"/>
          <p:cNvSpPr txBox="1"/>
          <p:nvPr/>
        </p:nvSpPr>
        <p:spPr>
          <a:xfrm>
            <a:off x="54864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Rahma Khaled</a:t>
            </a:r>
            <a:endParaRPr lang="en-US" sz="1400" dirty="0"/>
          </a:p>
        </p:txBody>
      </p:sp>
      <p:sp>
        <p:nvSpPr>
          <p:cNvPr id="7" name="Team member 2"/>
          <p:cNvSpPr txBox="1"/>
          <p:nvPr/>
        </p:nvSpPr>
        <p:spPr>
          <a:xfrm>
            <a:off x="274320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Aya Reda</a:t>
            </a:r>
            <a:endParaRPr lang="en-US" sz="1400" dirty="0"/>
          </a:p>
        </p:txBody>
      </p:sp>
      <p:sp>
        <p:nvSpPr>
          <p:cNvPr id="8" name="Team member 3"/>
          <p:cNvSpPr txBox="1"/>
          <p:nvPr/>
        </p:nvSpPr>
        <p:spPr>
          <a:xfrm>
            <a:off x="54864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Mahmoud Ibrahim</a:t>
            </a:r>
            <a:endParaRPr lang="en-US" sz="1400" dirty="0"/>
          </a:p>
        </p:txBody>
      </p:sp>
      <p:sp>
        <p:nvSpPr>
          <p:cNvPr id="9" name="Team member 4"/>
          <p:cNvSpPr txBox="1"/>
          <p:nvPr/>
        </p:nvSpPr>
        <p:spPr>
          <a:xfrm>
            <a:off x="274320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Abader Zarif</a:t>
            </a:r>
            <a:endParaRPr lang="en-US" sz="1400" dirty="0"/>
          </a:p>
        </p:txBody>
      </p:sp>
      <p:pic>
        <p:nvPicPr>
          <p:cNvPr id="10" name="Action plan illustration" descr="Action plan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594360"/>
            <a:ext cx="35204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Plan in 7 Steps</a:t>
            </a:r>
            <a:endParaRPr lang="en-US" sz="3200" dirty="0"/>
          </a:p>
        </p:txBody>
      </p:sp>
      <p:sp>
        <p:nvSpPr>
          <p:cNvPr id="4" name="Step dot 1"/>
          <p:cNvSpPr/>
          <p:nvPr/>
        </p:nvSpPr>
        <p:spPr>
          <a:xfrm>
            <a:off x="457200" y="1298448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Step no 1"/>
          <p:cNvSpPr txBox="1"/>
          <p:nvPr/>
        </p:nvSpPr>
        <p:spPr>
          <a:xfrm>
            <a:off x="457200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pill 1"/>
          <p:cNvSpPr/>
          <p:nvPr/>
        </p:nvSpPr>
        <p:spPr>
          <a:xfrm>
            <a:off x="960120" y="1298448"/>
            <a:ext cx="260604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7" name="Step name 1"/>
          <p:cNvSpPr txBox="1"/>
          <p:nvPr/>
        </p:nvSpPr>
        <p:spPr>
          <a:xfrm>
            <a:off x="1097280" y="129844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Define your goals</a:t>
            </a:r>
            <a:endParaRPr lang="en-US" sz="1400" dirty="0"/>
          </a:p>
        </p:txBody>
      </p:sp>
      <p:sp>
        <p:nvSpPr>
          <p:cNvPr id="8" name="Step answer box 1"/>
          <p:cNvSpPr/>
          <p:nvPr/>
        </p:nvSpPr>
        <p:spPr>
          <a:xfrm>
            <a:off x="3703320" y="1298448"/>
            <a:ext cx="4983480" cy="402336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9" name="Step answer 1"/>
          <p:cNvSpPr txBox="1"/>
          <p:nvPr/>
        </p:nvSpPr>
        <p:spPr>
          <a:xfrm>
            <a:off x="3840480" y="129844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clear goals for month one</a:t>
            </a:r>
            <a:endParaRPr lang="en-US" sz="1400" dirty="0"/>
          </a:p>
        </p:txBody>
      </p:sp>
      <p:sp>
        <p:nvSpPr>
          <p:cNvPr id="10" name="Step dot 2"/>
          <p:cNvSpPr/>
          <p:nvPr/>
        </p:nvSpPr>
        <p:spPr>
          <a:xfrm>
            <a:off x="457200" y="1773936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Step no 2"/>
          <p:cNvSpPr txBox="1"/>
          <p:nvPr/>
        </p:nvSpPr>
        <p:spPr>
          <a:xfrm>
            <a:off x="457200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tep pill 2"/>
          <p:cNvSpPr/>
          <p:nvPr/>
        </p:nvSpPr>
        <p:spPr>
          <a:xfrm>
            <a:off x="960120" y="1773936"/>
            <a:ext cx="2606040" cy="402336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13" name="Step name 2"/>
          <p:cNvSpPr txBox="1"/>
          <p:nvPr/>
        </p:nvSpPr>
        <p:spPr>
          <a:xfrm>
            <a:off x="1097280" y="177393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List the tasks</a:t>
            </a:r>
            <a:endParaRPr lang="en-US" sz="1400" dirty="0"/>
          </a:p>
        </p:txBody>
      </p:sp>
      <p:sp>
        <p:nvSpPr>
          <p:cNvPr id="14" name="Step answer box 2"/>
          <p:cNvSpPr/>
          <p:nvPr/>
        </p:nvSpPr>
        <p:spPr>
          <a:xfrm>
            <a:off x="3703320" y="1773936"/>
            <a:ext cx="4983480" cy="402336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15" name="Step answer 2"/>
          <p:cNvSpPr txBox="1"/>
          <p:nvPr/>
        </p:nvSpPr>
        <p:spPr>
          <a:xfrm>
            <a:off x="3840480" y="177393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 tasks</a:t>
            </a:r>
            <a:endParaRPr lang="en-US" sz="1400" dirty="0"/>
          </a:p>
        </p:txBody>
      </p:sp>
      <p:sp>
        <p:nvSpPr>
          <p:cNvPr id="16" name="Step dot 3"/>
          <p:cNvSpPr/>
          <p:nvPr/>
        </p:nvSpPr>
        <p:spPr>
          <a:xfrm>
            <a:off x="457200" y="2249424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Step no 3"/>
          <p:cNvSpPr txBox="1"/>
          <p:nvPr/>
        </p:nvSpPr>
        <p:spPr>
          <a:xfrm>
            <a:off x="457200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tep pill 3"/>
          <p:cNvSpPr/>
          <p:nvPr/>
        </p:nvSpPr>
        <p:spPr>
          <a:xfrm>
            <a:off x="960120" y="2249424"/>
            <a:ext cx="260604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9" name="Step name 3"/>
          <p:cNvSpPr txBox="1"/>
          <p:nvPr/>
        </p:nvSpPr>
        <p:spPr>
          <a:xfrm>
            <a:off x="1097280" y="224942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Set a timeline</a:t>
            </a:r>
            <a:endParaRPr lang="en-US" sz="1400" dirty="0"/>
          </a:p>
        </p:txBody>
      </p:sp>
      <p:sp>
        <p:nvSpPr>
          <p:cNvPr id="20" name="Step answer box 3"/>
          <p:cNvSpPr/>
          <p:nvPr/>
        </p:nvSpPr>
        <p:spPr>
          <a:xfrm>
            <a:off x="3703320" y="2249424"/>
            <a:ext cx="4983480" cy="402336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21" name="Step answer 3"/>
          <p:cNvSpPr txBox="1"/>
          <p:nvPr/>
        </p:nvSpPr>
        <p:spPr>
          <a:xfrm>
            <a:off x="3840480" y="224942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weeks</a:t>
            </a:r>
            <a:endParaRPr lang="en-US" sz="1400" dirty="0"/>
          </a:p>
        </p:txBody>
      </p:sp>
      <p:sp>
        <p:nvSpPr>
          <p:cNvPr id="22" name="Step dot 4"/>
          <p:cNvSpPr/>
          <p:nvPr/>
        </p:nvSpPr>
        <p:spPr>
          <a:xfrm>
            <a:off x="457200" y="2724912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Step no 4"/>
          <p:cNvSpPr txBox="1"/>
          <p:nvPr/>
        </p:nvSpPr>
        <p:spPr>
          <a:xfrm>
            <a:off x="45720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tep pill 4"/>
          <p:cNvSpPr/>
          <p:nvPr/>
        </p:nvSpPr>
        <p:spPr>
          <a:xfrm>
            <a:off x="960120" y="2724912"/>
            <a:ext cx="2606040" cy="402336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5" name="Step name 4"/>
          <p:cNvSpPr txBox="1"/>
          <p:nvPr/>
        </p:nvSpPr>
        <p:spPr>
          <a:xfrm>
            <a:off x="1097280" y="272491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Assign responsibilities</a:t>
            </a:r>
            <a:endParaRPr lang="en-US" sz="1400" dirty="0"/>
          </a:p>
        </p:txBody>
      </p:sp>
      <p:sp>
        <p:nvSpPr>
          <p:cNvPr id="26" name="Step answer box 4"/>
          <p:cNvSpPr/>
          <p:nvPr/>
        </p:nvSpPr>
        <p:spPr>
          <a:xfrm>
            <a:off x="3703320" y="2724912"/>
            <a:ext cx="4983480" cy="402336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27" name="Step answer 4"/>
          <p:cNvSpPr txBox="1"/>
          <p:nvPr/>
        </p:nvSpPr>
        <p:spPr>
          <a:xfrm>
            <a:off x="3840480" y="272491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task has one owner</a:t>
            </a:r>
            <a:endParaRPr lang="en-US" sz="1400" dirty="0"/>
          </a:p>
        </p:txBody>
      </p:sp>
      <p:sp>
        <p:nvSpPr>
          <p:cNvPr id="28" name="Step dot 5"/>
          <p:cNvSpPr/>
          <p:nvPr/>
        </p:nvSpPr>
        <p:spPr>
          <a:xfrm>
            <a:off x="457200" y="3200400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Step no 5"/>
          <p:cNvSpPr txBox="1"/>
          <p:nvPr/>
        </p:nvSpPr>
        <p:spPr>
          <a:xfrm>
            <a:off x="45720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Step pill 5"/>
          <p:cNvSpPr/>
          <p:nvPr/>
        </p:nvSpPr>
        <p:spPr>
          <a:xfrm>
            <a:off x="960120" y="3200400"/>
            <a:ext cx="260604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1" name="Step name 5"/>
          <p:cNvSpPr txBox="1"/>
          <p:nvPr/>
        </p:nvSpPr>
        <p:spPr>
          <a:xfrm>
            <a:off x="1097280" y="320040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Identify resources</a:t>
            </a:r>
            <a:endParaRPr lang="en-US" sz="1400" dirty="0"/>
          </a:p>
        </p:txBody>
      </p:sp>
      <p:sp>
        <p:nvSpPr>
          <p:cNvPr id="32" name="Step answer box 5"/>
          <p:cNvSpPr/>
          <p:nvPr/>
        </p:nvSpPr>
        <p:spPr>
          <a:xfrm>
            <a:off x="3703320" y="3200400"/>
            <a:ext cx="4983480" cy="402336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33" name="Step answer 5"/>
          <p:cNvSpPr txBox="1"/>
          <p:nvPr/>
        </p:nvSpPr>
        <p:spPr>
          <a:xfrm>
            <a:off x="3840480" y="320040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Money, tools and the café's help</a:t>
            </a:r>
            <a:endParaRPr lang="en-US" sz="1400" dirty="0"/>
          </a:p>
        </p:txBody>
      </p:sp>
      <p:sp>
        <p:nvSpPr>
          <p:cNvPr id="34" name="Step dot 6"/>
          <p:cNvSpPr/>
          <p:nvPr/>
        </p:nvSpPr>
        <p:spPr>
          <a:xfrm>
            <a:off x="457200" y="3675888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Step no 6"/>
          <p:cNvSpPr txBox="1"/>
          <p:nvPr/>
        </p:nvSpPr>
        <p:spPr>
          <a:xfrm>
            <a:off x="457200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Step pill 6"/>
          <p:cNvSpPr/>
          <p:nvPr/>
        </p:nvSpPr>
        <p:spPr>
          <a:xfrm>
            <a:off x="960120" y="3675888"/>
            <a:ext cx="2606040" cy="402336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37" name="Step name 6"/>
          <p:cNvSpPr txBox="1"/>
          <p:nvPr/>
        </p:nvSpPr>
        <p:spPr>
          <a:xfrm>
            <a:off x="1097280" y="367588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 and assess progress</a:t>
            </a:r>
            <a:endParaRPr lang="en-US" sz="1400" dirty="0"/>
          </a:p>
        </p:txBody>
      </p:sp>
      <p:sp>
        <p:nvSpPr>
          <p:cNvPr id="38" name="Step answer box 6"/>
          <p:cNvSpPr/>
          <p:nvPr/>
        </p:nvSpPr>
        <p:spPr>
          <a:xfrm>
            <a:off x="3703320" y="3675888"/>
            <a:ext cx="4983480" cy="402336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39" name="Step answer 6"/>
          <p:cNvSpPr txBox="1"/>
          <p:nvPr/>
        </p:nvSpPr>
        <p:spPr>
          <a:xfrm>
            <a:off x="3840480" y="36758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 check the results every week</a:t>
            </a:r>
            <a:endParaRPr lang="en-US" sz="1400" dirty="0"/>
          </a:p>
        </p:txBody>
      </p:sp>
      <p:sp>
        <p:nvSpPr>
          <p:cNvPr id="40" name="Step dot 7"/>
          <p:cNvSpPr/>
          <p:nvPr/>
        </p:nvSpPr>
        <p:spPr>
          <a:xfrm>
            <a:off x="457200" y="4151376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1" name="Step no 7"/>
          <p:cNvSpPr txBox="1"/>
          <p:nvPr/>
        </p:nvSpPr>
        <p:spPr>
          <a:xfrm>
            <a:off x="457200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Step pill 7"/>
          <p:cNvSpPr/>
          <p:nvPr/>
        </p:nvSpPr>
        <p:spPr>
          <a:xfrm>
            <a:off x="960120" y="4151376"/>
            <a:ext cx="260604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43" name="Step name 7"/>
          <p:cNvSpPr txBox="1"/>
          <p:nvPr/>
        </p:nvSpPr>
        <p:spPr>
          <a:xfrm>
            <a:off x="1097280" y="415137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Review and adjust</a:t>
            </a:r>
            <a:endParaRPr lang="en-US" sz="1400" dirty="0"/>
          </a:p>
        </p:txBody>
      </p:sp>
      <p:sp>
        <p:nvSpPr>
          <p:cNvPr id="44" name="Step answer box 7"/>
          <p:cNvSpPr/>
          <p:nvPr/>
        </p:nvSpPr>
        <p:spPr>
          <a:xfrm>
            <a:off x="3703320" y="4151376"/>
            <a:ext cx="4983480" cy="402336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45" name="Step answer 7"/>
          <p:cNvSpPr txBox="1"/>
          <p:nvPr/>
        </p:nvSpPr>
        <p:spPr>
          <a:xfrm>
            <a:off x="3840480" y="415137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 fix what doesn't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1  ·  DEFINE YOUR GOALS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Goals for Month One</a:t>
            </a:r>
            <a:endParaRPr lang="en-US" sz="3200" dirty="0"/>
          </a:p>
        </p:txBody>
      </p:sp>
      <p:sp>
        <p:nvSpPr>
          <p:cNvPr id="4" name="SMART S"/>
          <p:cNvSpPr/>
          <p:nvPr/>
        </p:nvSpPr>
        <p:spPr>
          <a:xfrm>
            <a:off x="457200" y="1298448"/>
            <a:ext cx="1536192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5" name="SMART dot S"/>
          <p:cNvSpPr/>
          <p:nvPr/>
        </p:nvSpPr>
        <p:spPr>
          <a:xfrm>
            <a:off x="530352" y="135331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MART letter S"/>
          <p:cNvSpPr txBox="1"/>
          <p:nvPr/>
        </p:nvSpPr>
        <p:spPr>
          <a:xfrm>
            <a:off x="530352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</a:t>
            </a:r>
            <a:endParaRPr lang="en-US" sz="1400" dirty="0"/>
          </a:p>
        </p:txBody>
      </p:sp>
      <p:sp>
        <p:nvSpPr>
          <p:cNvPr id="7" name="SMART word S"/>
          <p:cNvSpPr txBox="1"/>
          <p:nvPr/>
        </p:nvSpPr>
        <p:spPr>
          <a:xfrm>
            <a:off x="960120" y="1298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Specific</a:t>
            </a:r>
            <a:endParaRPr lang="en-US" sz="1300" dirty="0"/>
          </a:p>
        </p:txBody>
      </p:sp>
      <p:sp>
        <p:nvSpPr>
          <p:cNvPr id="8" name="SMART M"/>
          <p:cNvSpPr/>
          <p:nvPr/>
        </p:nvSpPr>
        <p:spPr>
          <a:xfrm>
            <a:off x="2130552" y="1298448"/>
            <a:ext cx="1536192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9" name="SMART dot M"/>
          <p:cNvSpPr/>
          <p:nvPr/>
        </p:nvSpPr>
        <p:spPr>
          <a:xfrm>
            <a:off x="2203704" y="1353312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SMART letter M"/>
          <p:cNvSpPr txBox="1"/>
          <p:nvPr/>
        </p:nvSpPr>
        <p:spPr>
          <a:xfrm>
            <a:off x="2203704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</a:t>
            </a:r>
            <a:endParaRPr lang="en-US" sz="1400" dirty="0"/>
          </a:p>
        </p:txBody>
      </p:sp>
      <p:sp>
        <p:nvSpPr>
          <p:cNvPr id="11" name="SMART word M"/>
          <p:cNvSpPr txBox="1"/>
          <p:nvPr/>
        </p:nvSpPr>
        <p:spPr>
          <a:xfrm>
            <a:off x="2633472" y="1298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Measurable</a:t>
            </a:r>
            <a:endParaRPr lang="en-US" sz="1300" dirty="0"/>
          </a:p>
        </p:txBody>
      </p:sp>
      <p:sp>
        <p:nvSpPr>
          <p:cNvPr id="12" name="SMART A"/>
          <p:cNvSpPr/>
          <p:nvPr/>
        </p:nvSpPr>
        <p:spPr>
          <a:xfrm>
            <a:off x="3803904" y="1298448"/>
            <a:ext cx="1536192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3" name="SMART dot A"/>
          <p:cNvSpPr/>
          <p:nvPr/>
        </p:nvSpPr>
        <p:spPr>
          <a:xfrm>
            <a:off x="3877056" y="135331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MART letter A"/>
          <p:cNvSpPr txBox="1"/>
          <p:nvPr/>
        </p:nvSpPr>
        <p:spPr>
          <a:xfrm>
            <a:off x="3877056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15" name="SMART word A"/>
          <p:cNvSpPr txBox="1"/>
          <p:nvPr/>
        </p:nvSpPr>
        <p:spPr>
          <a:xfrm>
            <a:off x="4306824" y="1298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Achievable</a:t>
            </a:r>
            <a:endParaRPr lang="en-US" sz="1300" dirty="0"/>
          </a:p>
        </p:txBody>
      </p:sp>
      <p:sp>
        <p:nvSpPr>
          <p:cNvPr id="16" name="SMART R"/>
          <p:cNvSpPr/>
          <p:nvPr/>
        </p:nvSpPr>
        <p:spPr>
          <a:xfrm>
            <a:off x="5477256" y="1298448"/>
            <a:ext cx="1536192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7" name="SMART dot R"/>
          <p:cNvSpPr/>
          <p:nvPr/>
        </p:nvSpPr>
        <p:spPr>
          <a:xfrm>
            <a:off x="5550408" y="1353312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SMART letter R"/>
          <p:cNvSpPr txBox="1"/>
          <p:nvPr/>
        </p:nvSpPr>
        <p:spPr>
          <a:xfrm>
            <a:off x="5550408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</a:t>
            </a:r>
            <a:endParaRPr lang="en-US" sz="1400" dirty="0"/>
          </a:p>
        </p:txBody>
      </p:sp>
      <p:sp>
        <p:nvSpPr>
          <p:cNvPr id="19" name="SMART word R"/>
          <p:cNvSpPr txBox="1"/>
          <p:nvPr/>
        </p:nvSpPr>
        <p:spPr>
          <a:xfrm>
            <a:off x="5980176" y="1298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Relevant</a:t>
            </a:r>
            <a:endParaRPr lang="en-US" sz="1300" dirty="0"/>
          </a:p>
        </p:txBody>
      </p:sp>
      <p:sp>
        <p:nvSpPr>
          <p:cNvPr id="20" name="SMART T"/>
          <p:cNvSpPr/>
          <p:nvPr/>
        </p:nvSpPr>
        <p:spPr>
          <a:xfrm>
            <a:off x="7150608" y="1298448"/>
            <a:ext cx="1536192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1" name="SMART dot T"/>
          <p:cNvSpPr/>
          <p:nvPr/>
        </p:nvSpPr>
        <p:spPr>
          <a:xfrm>
            <a:off x="7223760" y="135331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MART letter T"/>
          <p:cNvSpPr txBox="1"/>
          <p:nvPr/>
        </p:nvSpPr>
        <p:spPr>
          <a:xfrm>
            <a:off x="722376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</a:t>
            </a:r>
            <a:endParaRPr lang="en-US" sz="1400" dirty="0"/>
          </a:p>
        </p:txBody>
      </p:sp>
      <p:sp>
        <p:nvSpPr>
          <p:cNvPr id="23" name="SMART word T"/>
          <p:cNvSpPr txBox="1"/>
          <p:nvPr/>
        </p:nvSpPr>
        <p:spPr>
          <a:xfrm>
            <a:off x="7653528" y="1298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Time-bound</a:t>
            </a:r>
            <a:endParaRPr lang="en-US" sz="1300" dirty="0"/>
          </a:p>
        </p:txBody>
      </p:sp>
      <p:sp>
        <p:nvSpPr>
          <p:cNvPr id="24" name="Goal card 1"/>
          <p:cNvSpPr/>
          <p:nvPr/>
        </p:nvSpPr>
        <p:spPr>
          <a:xfrm>
            <a:off x="457200" y="1965960"/>
            <a:ext cx="1920240" cy="22402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5" name="Reach circle"/>
          <p:cNvSpPr/>
          <p:nvPr/>
        </p:nvSpPr>
        <p:spPr>
          <a:xfrm>
            <a:off x="640080" y="212140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Reach icon" descr="Rea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244852"/>
            <a:ext cx="210312" cy="210312"/>
          </a:xfrm>
          <a:prstGeom prst="rect">
            <a:avLst/>
          </a:prstGeom>
        </p:spPr>
      </p:pic>
      <p:sp>
        <p:nvSpPr>
          <p:cNvPr id="27" name="Goal label 1"/>
          <p:cNvSpPr txBox="1"/>
          <p:nvPr/>
        </p:nvSpPr>
        <p:spPr>
          <a:xfrm>
            <a:off x="1207008" y="2121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REACH</a:t>
            </a:r>
            <a:endParaRPr lang="en-US" sz="1100" dirty="0"/>
          </a:p>
        </p:txBody>
      </p:sp>
      <p:sp>
        <p:nvSpPr>
          <p:cNvPr id="28" name="Goal value 1"/>
          <p:cNvSpPr txBox="1"/>
          <p:nvPr/>
        </p:nvSpPr>
        <p:spPr>
          <a:xfrm>
            <a:off x="640080" y="272491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40K+</a:t>
            </a:r>
            <a:endParaRPr lang="en-US" sz="3400" dirty="0"/>
          </a:p>
        </p:txBody>
      </p:sp>
      <p:sp>
        <p:nvSpPr>
          <p:cNvPr id="29" name="Goal text 1"/>
          <p:cNvSpPr txBox="1"/>
          <p:nvPr/>
        </p:nvSpPr>
        <p:spPr>
          <a:xfrm>
            <a:off x="640080" y="3383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people see the café</a:t>
            </a:r>
            <a:endParaRPr lang="en-US" sz="1400" dirty="0"/>
          </a:p>
        </p:txBody>
      </p:sp>
      <p:sp>
        <p:nvSpPr>
          <p:cNvPr id="30" name="Goal card 2"/>
          <p:cNvSpPr/>
          <p:nvPr/>
        </p:nvSpPr>
        <p:spPr>
          <a:xfrm>
            <a:off x="2560320" y="1965960"/>
            <a:ext cx="1920240" cy="22402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1" name="Followers circle"/>
          <p:cNvSpPr/>
          <p:nvPr/>
        </p:nvSpPr>
        <p:spPr>
          <a:xfrm>
            <a:off x="2743200" y="212140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2" name="Followers icon" descr="Follow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44" y="2244852"/>
            <a:ext cx="210312" cy="210312"/>
          </a:xfrm>
          <a:prstGeom prst="rect">
            <a:avLst/>
          </a:prstGeom>
        </p:spPr>
      </p:pic>
      <p:sp>
        <p:nvSpPr>
          <p:cNvPr id="33" name="Goal label 2"/>
          <p:cNvSpPr txBox="1"/>
          <p:nvPr/>
        </p:nvSpPr>
        <p:spPr>
          <a:xfrm>
            <a:off x="3310128" y="2121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FOLLOWERS</a:t>
            </a:r>
            <a:endParaRPr lang="en-US" sz="1100" dirty="0"/>
          </a:p>
        </p:txBody>
      </p:sp>
      <p:sp>
        <p:nvSpPr>
          <p:cNvPr id="34" name="Goal value 2"/>
          <p:cNvSpPr txBox="1"/>
          <p:nvPr/>
        </p:nvSpPr>
        <p:spPr>
          <a:xfrm>
            <a:off x="2743200" y="272491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+500</a:t>
            </a:r>
            <a:endParaRPr lang="en-US" sz="3400" dirty="0"/>
          </a:p>
        </p:txBody>
      </p:sp>
      <p:sp>
        <p:nvSpPr>
          <p:cNvPr id="35" name="Goal text 2"/>
          <p:cNvSpPr txBox="1"/>
          <p:nvPr/>
        </p:nvSpPr>
        <p:spPr>
          <a:xfrm>
            <a:off x="2743200" y="3383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followers</a:t>
            </a:r>
            <a:endParaRPr lang="en-US" sz="1400" dirty="0"/>
          </a:p>
        </p:txBody>
      </p:sp>
      <p:sp>
        <p:nvSpPr>
          <p:cNvPr id="36" name="Goal card 3"/>
          <p:cNvSpPr/>
          <p:nvPr/>
        </p:nvSpPr>
        <p:spPr>
          <a:xfrm>
            <a:off x="4663440" y="1965960"/>
            <a:ext cx="1920240" cy="22402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7" name="Messages circle"/>
          <p:cNvSpPr/>
          <p:nvPr/>
        </p:nvSpPr>
        <p:spPr>
          <a:xfrm>
            <a:off x="4846320" y="212140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8" name="Messages icon" descr="Messag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2244852"/>
            <a:ext cx="210312" cy="210312"/>
          </a:xfrm>
          <a:prstGeom prst="rect">
            <a:avLst/>
          </a:prstGeom>
        </p:spPr>
      </p:pic>
      <p:sp>
        <p:nvSpPr>
          <p:cNvPr id="39" name="Goal label 3"/>
          <p:cNvSpPr txBox="1"/>
          <p:nvPr/>
        </p:nvSpPr>
        <p:spPr>
          <a:xfrm>
            <a:off x="5413248" y="2121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MESSAGES</a:t>
            </a:r>
            <a:endParaRPr lang="en-US" sz="1100" dirty="0"/>
          </a:p>
        </p:txBody>
      </p:sp>
      <p:sp>
        <p:nvSpPr>
          <p:cNvPr id="40" name="Goal value 3"/>
          <p:cNvSpPr txBox="1"/>
          <p:nvPr/>
        </p:nvSpPr>
        <p:spPr>
          <a:xfrm>
            <a:off x="4846320" y="272491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3400" dirty="0"/>
          </a:p>
        </p:txBody>
      </p:sp>
      <p:sp>
        <p:nvSpPr>
          <p:cNvPr id="41" name="Goal text 3"/>
          <p:cNvSpPr txBox="1"/>
          <p:nvPr/>
        </p:nvSpPr>
        <p:spPr>
          <a:xfrm>
            <a:off x="4846320" y="3383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messages and calls</a:t>
            </a:r>
            <a:endParaRPr lang="en-US" sz="1400" dirty="0"/>
          </a:p>
        </p:txBody>
      </p:sp>
      <p:sp>
        <p:nvSpPr>
          <p:cNvPr id="42" name="Goal card 4"/>
          <p:cNvSpPr/>
          <p:nvPr/>
        </p:nvSpPr>
        <p:spPr>
          <a:xfrm>
            <a:off x="6766560" y="1965960"/>
            <a:ext cx="1920240" cy="224028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</p:sp>
      <p:sp>
        <p:nvSpPr>
          <p:cNvPr id="43" name="Customers circle"/>
          <p:cNvSpPr/>
          <p:nvPr/>
        </p:nvSpPr>
        <p:spPr>
          <a:xfrm>
            <a:off x="6949440" y="2121408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4" name="Customers icon" descr="Custom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884" y="2244852"/>
            <a:ext cx="210312" cy="210312"/>
          </a:xfrm>
          <a:prstGeom prst="rect">
            <a:avLst/>
          </a:prstGeom>
        </p:spPr>
      </p:pic>
      <p:sp>
        <p:nvSpPr>
          <p:cNvPr id="45" name="Goal label 4"/>
          <p:cNvSpPr txBox="1"/>
          <p:nvPr/>
        </p:nvSpPr>
        <p:spPr>
          <a:xfrm>
            <a:off x="7516368" y="2121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CUSTOMERS</a:t>
            </a:r>
            <a:endParaRPr lang="en-US" sz="1100" dirty="0"/>
          </a:p>
        </p:txBody>
      </p:sp>
      <p:sp>
        <p:nvSpPr>
          <p:cNvPr id="46" name="Goal value 4"/>
          <p:cNvSpPr txBox="1"/>
          <p:nvPr/>
        </p:nvSpPr>
        <p:spPr>
          <a:xfrm>
            <a:off x="6949440" y="272491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</a:t>
            </a:r>
            <a:endParaRPr lang="en-US" sz="3400" dirty="0"/>
          </a:p>
        </p:txBody>
      </p:sp>
      <p:sp>
        <p:nvSpPr>
          <p:cNvPr id="47" name="Goal text 4"/>
          <p:cNvSpPr txBox="1"/>
          <p:nvPr/>
        </p:nvSpPr>
        <p:spPr>
          <a:xfrm>
            <a:off x="6949440" y="3383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more customers a day</a:t>
            </a:r>
            <a:endParaRPr lang="en-US" sz="1400" dirty="0"/>
          </a:p>
        </p:txBody>
      </p:sp>
      <p:sp>
        <p:nvSpPr>
          <p:cNvPr id="48" name="Goals note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We check these goals every week.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2  ·  LIST THE TASKS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Tasks in 4 Groups</a:t>
            </a:r>
            <a:endParaRPr lang="en-US" sz="3200" dirty="0"/>
          </a:p>
        </p:txBody>
      </p:sp>
      <p:sp>
        <p:nvSpPr>
          <p:cNvPr id="4" name="Group header 1"/>
          <p:cNvSpPr/>
          <p:nvPr/>
        </p:nvSpPr>
        <p:spPr>
          <a:xfrm>
            <a:off x="457200" y="1325880"/>
            <a:ext cx="192024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5" name="Prepa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74320" cy="274320"/>
          </a:xfrm>
          <a:prstGeom prst="rect">
            <a:avLst/>
          </a:prstGeom>
        </p:spPr>
      </p:pic>
      <p:sp>
        <p:nvSpPr>
          <p:cNvPr id="6" name="Group title 1"/>
          <p:cNvSpPr txBox="1"/>
          <p:nvPr/>
        </p:nvSpPr>
        <p:spPr>
          <a:xfrm>
            <a:off x="1051560" y="13258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Prepare</a:t>
            </a:r>
            <a:endParaRPr lang="en-US" sz="1600" dirty="0"/>
          </a:p>
        </p:txBody>
      </p:sp>
      <p:sp>
        <p:nvSpPr>
          <p:cNvPr id="7" name="Task card 1"/>
          <p:cNvSpPr/>
          <p:nvPr/>
        </p:nvSpPr>
        <p:spPr>
          <a:xfrm>
            <a:off x="457200" y="2011680"/>
            <a:ext cx="19202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8" name="Task no 1"/>
          <p:cNvSpPr txBox="1"/>
          <p:nvPr/>
        </p:nvSpPr>
        <p:spPr>
          <a:xfrm>
            <a:off x="566928" y="201168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ask text 1"/>
          <p:cNvSpPr txBox="1"/>
          <p:nvPr/>
        </p:nvSpPr>
        <p:spPr>
          <a:xfrm>
            <a:off x="914400" y="201168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Study the market</a:t>
            </a:r>
            <a:endParaRPr lang="en-US" sz="1300" dirty="0"/>
          </a:p>
        </p:txBody>
      </p:sp>
      <p:sp>
        <p:nvSpPr>
          <p:cNvPr id="10" name="Task card 2"/>
          <p:cNvSpPr/>
          <p:nvPr/>
        </p:nvSpPr>
        <p:spPr>
          <a:xfrm>
            <a:off x="457200" y="2834640"/>
            <a:ext cx="19202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1" name="Task no 2"/>
          <p:cNvSpPr txBox="1"/>
          <p:nvPr/>
        </p:nvSpPr>
        <p:spPr>
          <a:xfrm>
            <a:off x="566928" y="283464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ask text 2"/>
          <p:cNvSpPr txBox="1"/>
          <p:nvPr/>
        </p:nvSpPr>
        <p:spPr>
          <a:xfrm>
            <a:off x="914400" y="28346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Know our customers</a:t>
            </a:r>
            <a:endParaRPr lang="en-US" sz="1300" dirty="0"/>
          </a:p>
        </p:txBody>
      </p:sp>
      <p:sp>
        <p:nvSpPr>
          <p:cNvPr id="13" name="Task card 3"/>
          <p:cNvSpPr/>
          <p:nvPr/>
        </p:nvSpPr>
        <p:spPr>
          <a:xfrm>
            <a:off x="457200" y="3657600"/>
            <a:ext cx="19202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4" name="Task no 3"/>
          <p:cNvSpPr txBox="1"/>
          <p:nvPr/>
        </p:nvSpPr>
        <p:spPr>
          <a:xfrm>
            <a:off x="566928" y="365760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ask text 3"/>
          <p:cNvSpPr txBox="1"/>
          <p:nvPr/>
        </p:nvSpPr>
        <p:spPr>
          <a:xfrm>
            <a:off x="914400" y="36576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 the café's pages</a:t>
            </a:r>
            <a:endParaRPr lang="en-US" sz="1300" dirty="0"/>
          </a:p>
        </p:txBody>
      </p:sp>
      <p:sp>
        <p:nvSpPr>
          <p:cNvPr id="16" name="Group header 2"/>
          <p:cNvSpPr/>
          <p:nvPr/>
        </p:nvSpPr>
        <p:spPr>
          <a:xfrm>
            <a:off x="2560320" y="1325880"/>
            <a:ext cx="192024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pic>
        <p:nvPicPr>
          <p:cNvPr id="17" name="Creat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63040"/>
            <a:ext cx="274320" cy="274320"/>
          </a:xfrm>
          <a:prstGeom prst="rect">
            <a:avLst/>
          </a:prstGeom>
        </p:spPr>
      </p:pic>
      <p:sp>
        <p:nvSpPr>
          <p:cNvPr id="18" name="Group title 2"/>
          <p:cNvSpPr txBox="1"/>
          <p:nvPr/>
        </p:nvSpPr>
        <p:spPr>
          <a:xfrm>
            <a:off x="3154680" y="13258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Create</a:t>
            </a:r>
            <a:endParaRPr lang="en-US" sz="1600" dirty="0"/>
          </a:p>
        </p:txBody>
      </p:sp>
      <p:sp>
        <p:nvSpPr>
          <p:cNvPr id="19" name="Task card 4"/>
          <p:cNvSpPr/>
          <p:nvPr/>
        </p:nvSpPr>
        <p:spPr>
          <a:xfrm>
            <a:off x="2560320" y="2011680"/>
            <a:ext cx="19202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0" name="Task no 4"/>
          <p:cNvSpPr txBox="1"/>
          <p:nvPr/>
        </p:nvSpPr>
        <p:spPr>
          <a:xfrm>
            <a:off x="2670048" y="201168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ask text 4"/>
          <p:cNvSpPr txBox="1"/>
          <p:nvPr/>
        </p:nvSpPr>
        <p:spPr>
          <a:xfrm>
            <a:off x="3017520" y="201168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Make a content plan</a:t>
            </a:r>
            <a:endParaRPr lang="en-US" sz="1300" dirty="0"/>
          </a:p>
        </p:txBody>
      </p:sp>
      <p:sp>
        <p:nvSpPr>
          <p:cNvPr id="22" name="Task card 5"/>
          <p:cNvSpPr/>
          <p:nvPr/>
        </p:nvSpPr>
        <p:spPr>
          <a:xfrm>
            <a:off x="2560320" y="2834640"/>
            <a:ext cx="19202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3" name="Task no 5"/>
          <p:cNvSpPr txBox="1"/>
          <p:nvPr/>
        </p:nvSpPr>
        <p:spPr>
          <a:xfrm>
            <a:off x="2670048" y="283464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ask text 5"/>
          <p:cNvSpPr txBox="1"/>
          <p:nvPr/>
        </p:nvSpPr>
        <p:spPr>
          <a:xfrm>
            <a:off x="3017520" y="28346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Take photos and videos</a:t>
            </a:r>
            <a:endParaRPr lang="en-US" sz="1300" dirty="0"/>
          </a:p>
        </p:txBody>
      </p:sp>
      <p:sp>
        <p:nvSpPr>
          <p:cNvPr id="25" name="Task card 6"/>
          <p:cNvSpPr/>
          <p:nvPr/>
        </p:nvSpPr>
        <p:spPr>
          <a:xfrm>
            <a:off x="2560320" y="3657600"/>
            <a:ext cx="19202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6" name="Task no 6"/>
          <p:cNvSpPr txBox="1"/>
          <p:nvPr/>
        </p:nvSpPr>
        <p:spPr>
          <a:xfrm>
            <a:off x="2670048" y="365760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ask text 6"/>
          <p:cNvSpPr txBox="1"/>
          <p:nvPr/>
        </p:nvSpPr>
        <p:spPr>
          <a:xfrm>
            <a:off x="3017520" y="36576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Design posts and reels</a:t>
            </a:r>
            <a:endParaRPr lang="en-US" sz="1300" dirty="0"/>
          </a:p>
        </p:txBody>
      </p:sp>
      <p:sp>
        <p:nvSpPr>
          <p:cNvPr id="28" name="Group header 3"/>
          <p:cNvSpPr/>
          <p:nvPr/>
        </p:nvSpPr>
        <p:spPr>
          <a:xfrm>
            <a:off x="4663440" y="1325880"/>
            <a:ext cx="192024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29" name="Launch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63040"/>
            <a:ext cx="274320" cy="274320"/>
          </a:xfrm>
          <a:prstGeom prst="rect">
            <a:avLst/>
          </a:prstGeom>
        </p:spPr>
      </p:pic>
      <p:sp>
        <p:nvSpPr>
          <p:cNvPr id="30" name="Group title 3"/>
          <p:cNvSpPr txBox="1"/>
          <p:nvPr/>
        </p:nvSpPr>
        <p:spPr>
          <a:xfrm>
            <a:off x="5257800" y="13258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Launch</a:t>
            </a:r>
            <a:endParaRPr lang="en-US" sz="1600" dirty="0"/>
          </a:p>
        </p:txBody>
      </p:sp>
      <p:sp>
        <p:nvSpPr>
          <p:cNvPr id="31" name="Task card 7"/>
          <p:cNvSpPr/>
          <p:nvPr/>
        </p:nvSpPr>
        <p:spPr>
          <a:xfrm>
            <a:off x="4663440" y="2011680"/>
            <a:ext cx="19202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32" name="Task no 7"/>
          <p:cNvSpPr txBox="1"/>
          <p:nvPr/>
        </p:nvSpPr>
        <p:spPr>
          <a:xfrm>
            <a:off x="4773168" y="201168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ask text 7"/>
          <p:cNvSpPr txBox="1"/>
          <p:nvPr/>
        </p:nvSpPr>
        <p:spPr>
          <a:xfrm>
            <a:off x="5120640" y="201168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Start the ads</a:t>
            </a:r>
            <a:endParaRPr lang="en-US" sz="1300" dirty="0"/>
          </a:p>
        </p:txBody>
      </p:sp>
      <p:sp>
        <p:nvSpPr>
          <p:cNvPr id="34" name="Task card 8"/>
          <p:cNvSpPr/>
          <p:nvPr/>
        </p:nvSpPr>
        <p:spPr>
          <a:xfrm>
            <a:off x="4663440" y="2834640"/>
            <a:ext cx="19202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35" name="Task no 8"/>
          <p:cNvSpPr txBox="1"/>
          <p:nvPr/>
        </p:nvSpPr>
        <p:spPr>
          <a:xfrm>
            <a:off x="4773168" y="283464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ask text 8"/>
          <p:cNvSpPr txBox="1"/>
          <p:nvPr/>
        </p:nvSpPr>
        <p:spPr>
          <a:xfrm>
            <a:off x="5120640" y="28346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and reply</a:t>
            </a:r>
            <a:endParaRPr lang="en-US" sz="1300" dirty="0"/>
          </a:p>
        </p:txBody>
      </p:sp>
      <p:sp>
        <p:nvSpPr>
          <p:cNvPr id="37" name="Task card 9"/>
          <p:cNvSpPr/>
          <p:nvPr/>
        </p:nvSpPr>
        <p:spPr>
          <a:xfrm>
            <a:off x="4663440" y="3657600"/>
            <a:ext cx="19202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38" name="Task no 9"/>
          <p:cNvSpPr txBox="1"/>
          <p:nvPr/>
        </p:nvSpPr>
        <p:spPr>
          <a:xfrm>
            <a:off x="4773168" y="365760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ask text 9"/>
          <p:cNvSpPr txBox="1"/>
          <p:nvPr/>
        </p:nvSpPr>
        <p:spPr>
          <a:xfrm>
            <a:off x="5120640" y="36576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Start the offers</a:t>
            </a:r>
            <a:endParaRPr lang="en-US" sz="1300" dirty="0"/>
          </a:p>
        </p:txBody>
      </p:sp>
      <p:sp>
        <p:nvSpPr>
          <p:cNvPr id="40" name="Group header 4"/>
          <p:cNvSpPr/>
          <p:nvPr/>
        </p:nvSpPr>
        <p:spPr>
          <a:xfrm>
            <a:off x="6766560" y="1325880"/>
            <a:ext cx="192024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pic>
        <p:nvPicPr>
          <p:cNvPr id="41" name="Measur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463040"/>
            <a:ext cx="274320" cy="274320"/>
          </a:xfrm>
          <a:prstGeom prst="rect">
            <a:avLst/>
          </a:prstGeom>
        </p:spPr>
      </p:pic>
      <p:sp>
        <p:nvSpPr>
          <p:cNvPr id="42" name="Group title 4"/>
          <p:cNvSpPr txBox="1"/>
          <p:nvPr/>
        </p:nvSpPr>
        <p:spPr>
          <a:xfrm>
            <a:off x="7360920" y="13258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Measure</a:t>
            </a:r>
            <a:endParaRPr lang="en-US" sz="1600" dirty="0"/>
          </a:p>
        </p:txBody>
      </p:sp>
      <p:sp>
        <p:nvSpPr>
          <p:cNvPr id="43" name="Task card 10"/>
          <p:cNvSpPr/>
          <p:nvPr/>
        </p:nvSpPr>
        <p:spPr>
          <a:xfrm>
            <a:off x="6766560" y="2011680"/>
            <a:ext cx="19202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44" name="Task no 10"/>
          <p:cNvSpPr txBox="1"/>
          <p:nvPr/>
        </p:nvSpPr>
        <p:spPr>
          <a:xfrm>
            <a:off x="6876288" y="201168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5" name="Task text 10"/>
          <p:cNvSpPr txBox="1"/>
          <p:nvPr/>
        </p:nvSpPr>
        <p:spPr>
          <a:xfrm>
            <a:off x="7223760" y="201168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Weekly report</a:t>
            </a:r>
            <a:endParaRPr lang="en-US" sz="1300" dirty="0"/>
          </a:p>
        </p:txBody>
      </p:sp>
      <p:sp>
        <p:nvSpPr>
          <p:cNvPr id="46" name="Task card 11"/>
          <p:cNvSpPr/>
          <p:nvPr/>
        </p:nvSpPr>
        <p:spPr>
          <a:xfrm>
            <a:off x="6766560" y="2834640"/>
            <a:ext cx="19202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47" name="Task no 11"/>
          <p:cNvSpPr txBox="1"/>
          <p:nvPr/>
        </p:nvSpPr>
        <p:spPr>
          <a:xfrm>
            <a:off x="6876288" y="2834640"/>
            <a:ext cx="320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48" name="Task text 11"/>
          <p:cNvSpPr txBox="1"/>
          <p:nvPr/>
        </p:nvSpPr>
        <p:spPr>
          <a:xfrm>
            <a:off x="7223760" y="28346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Final review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 ·  SET A TIMELINE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Weeks, Clear Deadlines</a:t>
            </a:r>
            <a:endParaRPr lang="en-US" sz="3200" dirty="0"/>
          </a:p>
        </p:txBody>
      </p:sp>
      <p:sp>
        <p:nvSpPr>
          <p:cNvPr id="4" name="Week card 1"/>
          <p:cNvSpPr/>
          <p:nvPr/>
        </p:nvSpPr>
        <p:spPr>
          <a:xfrm>
            <a:off x="45720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Week pill 1"/>
          <p:cNvSpPr/>
          <p:nvPr/>
        </p:nvSpPr>
        <p:spPr>
          <a:xfrm>
            <a:off x="594360" y="146304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Week label 1"/>
          <p:cNvSpPr txBox="1"/>
          <p:nvPr/>
        </p:nvSpPr>
        <p:spPr>
          <a:xfrm>
            <a:off x="594360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WEEK 1</a:t>
            </a:r>
            <a:endParaRPr lang="en-US" sz="1100" dirty="0"/>
          </a:p>
        </p:txBody>
      </p:sp>
      <p:sp>
        <p:nvSpPr>
          <p:cNvPr id="7" name="Week tasks 1"/>
          <p:cNvSpPr txBox="1"/>
          <p:nvPr/>
        </p:nvSpPr>
        <p:spPr>
          <a:xfrm>
            <a:off x="594360" y="2011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Study the market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Know our customers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the pages</a:t>
            </a:r>
            <a:endParaRPr lang="en-US" sz="1400" dirty="0"/>
          </a:p>
        </p:txBody>
      </p:sp>
      <p:sp>
        <p:nvSpPr>
          <p:cNvPr id="8" name="Deadline box 1"/>
          <p:cNvSpPr/>
          <p:nvPr/>
        </p:nvSpPr>
        <p:spPr>
          <a:xfrm>
            <a:off x="566928" y="3703320"/>
            <a:ext cx="1700784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9" name="Deadline text 1"/>
          <p:cNvSpPr txBox="1"/>
          <p:nvPr/>
        </p:nvSpPr>
        <p:spPr>
          <a:xfrm>
            <a:off x="685800" y="3703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DEADLINE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Research done</a:t>
            </a:r>
            <a:endParaRPr lang="en-US" sz="1000" dirty="0"/>
          </a:p>
        </p:txBody>
      </p:sp>
      <p:sp>
        <p:nvSpPr>
          <p:cNvPr id="10" name="Week card 2"/>
          <p:cNvSpPr/>
          <p:nvPr/>
        </p:nvSpPr>
        <p:spPr>
          <a:xfrm>
            <a:off x="256032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Week pill 2"/>
          <p:cNvSpPr/>
          <p:nvPr/>
        </p:nvSpPr>
        <p:spPr>
          <a:xfrm>
            <a:off x="2697480" y="146304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2" name="Week label 2"/>
          <p:cNvSpPr txBox="1"/>
          <p:nvPr/>
        </p:nvSpPr>
        <p:spPr>
          <a:xfrm>
            <a:off x="2697480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WEEK 2</a:t>
            </a:r>
            <a:endParaRPr lang="en-US" sz="1100" dirty="0"/>
          </a:p>
        </p:txBody>
      </p:sp>
      <p:sp>
        <p:nvSpPr>
          <p:cNvPr id="13" name="Week tasks 2"/>
          <p:cNvSpPr txBox="1"/>
          <p:nvPr/>
        </p:nvSpPr>
        <p:spPr>
          <a:xfrm>
            <a:off x="2697480" y="2011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Content plan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Photos and videos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Prepare the ads</a:t>
            </a:r>
            <a:endParaRPr lang="en-US" sz="1400" dirty="0"/>
          </a:p>
        </p:txBody>
      </p:sp>
      <p:sp>
        <p:nvSpPr>
          <p:cNvPr id="14" name="Deadline box 2"/>
          <p:cNvSpPr/>
          <p:nvPr/>
        </p:nvSpPr>
        <p:spPr>
          <a:xfrm>
            <a:off x="2670048" y="3703320"/>
            <a:ext cx="1700784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5" name="Deadline text 2"/>
          <p:cNvSpPr txBox="1"/>
          <p:nvPr/>
        </p:nvSpPr>
        <p:spPr>
          <a:xfrm>
            <a:off x="2788920" y="3703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DEADLINE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Content ready</a:t>
            </a:r>
            <a:endParaRPr lang="en-US" sz="1000" dirty="0"/>
          </a:p>
        </p:txBody>
      </p:sp>
      <p:sp>
        <p:nvSpPr>
          <p:cNvPr id="16" name="Week card 3"/>
          <p:cNvSpPr/>
          <p:nvPr/>
        </p:nvSpPr>
        <p:spPr>
          <a:xfrm>
            <a:off x="466344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Week pill 3"/>
          <p:cNvSpPr/>
          <p:nvPr/>
        </p:nvSpPr>
        <p:spPr>
          <a:xfrm>
            <a:off x="4800600" y="146304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Week label 3"/>
          <p:cNvSpPr txBox="1"/>
          <p:nvPr/>
        </p:nvSpPr>
        <p:spPr>
          <a:xfrm>
            <a:off x="4800600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WEEK 3</a:t>
            </a:r>
            <a:endParaRPr lang="en-US" sz="1100" dirty="0"/>
          </a:p>
        </p:txBody>
      </p:sp>
      <p:sp>
        <p:nvSpPr>
          <p:cNvPr id="19" name="Week tasks 3"/>
          <p:cNvSpPr txBox="1"/>
          <p:nvPr/>
        </p:nvSpPr>
        <p:spPr>
          <a:xfrm>
            <a:off x="4800600" y="2011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 the 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 and reply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 the offers</a:t>
            </a:r>
            <a:endParaRPr lang="en-US" sz="1400" dirty="0"/>
          </a:p>
        </p:txBody>
      </p:sp>
      <p:sp>
        <p:nvSpPr>
          <p:cNvPr id="20" name="Deadline box 3"/>
          <p:cNvSpPr/>
          <p:nvPr/>
        </p:nvSpPr>
        <p:spPr>
          <a:xfrm>
            <a:off x="4773168" y="3703320"/>
            <a:ext cx="1700784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1" name="Deadline text 3"/>
          <p:cNvSpPr txBox="1"/>
          <p:nvPr/>
        </p:nvSpPr>
        <p:spPr>
          <a:xfrm>
            <a:off x="4892040" y="3703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DEADLINE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Campaign live</a:t>
            </a:r>
            <a:endParaRPr lang="en-US" sz="1000" dirty="0"/>
          </a:p>
        </p:txBody>
      </p:sp>
      <p:sp>
        <p:nvSpPr>
          <p:cNvPr id="22" name="Week card 4"/>
          <p:cNvSpPr/>
          <p:nvPr/>
        </p:nvSpPr>
        <p:spPr>
          <a:xfrm>
            <a:off x="676656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3" name="Week pill 4"/>
          <p:cNvSpPr/>
          <p:nvPr/>
        </p:nvSpPr>
        <p:spPr>
          <a:xfrm>
            <a:off x="6903720" y="146304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4" name="Week label 4"/>
          <p:cNvSpPr txBox="1"/>
          <p:nvPr/>
        </p:nvSpPr>
        <p:spPr>
          <a:xfrm>
            <a:off x="6903720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WEEK 4</a:t>
            </a:r>
            <a:endParaRPr lang="en-US" sz="1100" dirty="0"/>
          </a:p>
        </p:txBody>
      </p:sp>
      <p:sp>
        <p:nvSpPr>
          <p:cNvPr id="25" name="Week tasks 4"/>
          <p:cNvSpPr txBox="1"/>
          <p:nvPr/>
        </p:nvSpPr>
        <p:spPr>
          <a:xfrm>
            <a:off x="6903720" y="2011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posting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Improve the 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 review</a:t>
            </a:r>
            <a:endParaRPr lang="en-US" sz="1400" dirty="0"/>
          </a:p>
        </p:txBody>
      </p:sp>
      <p:sp>
        <p:nvSpPr>
          <p:cNvPr id="26" name="Deadline box 4"/>
          <p:cNvSpPr/>
          <p:nvPr/>
        </p:nvSpPr>
        <p:spPr>
          <a:xfrm>
            <a:off x="6876288" y="3703320"/>
            <a:ext cx="1700784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7" name="Deadline text 4"/>
          <p:cNvSpPr txBox="1"/>
          <p:nvPr/>
        </p:nvSpPr>
        <p:spPr>
          <a:xfrm>
            <a:off x="6995160" y="3703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DEADLINE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Review done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4  ·  ASSIGN RESPONSIBILITIES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3200" dirty="0"/>
          </a:p>
        </p:txBody>
      </p:sp>
      <p:sp>
        <p:nvSpPr>
          <p:cNvPr id="4" name="Person card 1"/>
          <p:cNvSpPr/>
          <p:nvPr/>
        </p:nvSpPr>
        <p:spPr>
          <a:xfrm>
            <a:off x="45720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Rahma Khaled circle"/>
          <p:cNvSpPr/>
          <p:nvPr/>
        </p:nvSpPr>
        <p:spPr>
          <a:xfrm>
            <a:off x="640080" y="1481328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Rahma Khaled icon" descr="Rahma Kha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51" y="1634399"/>
            <a:ext cx="260787" cy="260787"/>
          </a:xfrm>
          <a:prstGeom prst="rect">
            <a:avLst/>
          </a:prstGeom>
        </p:spPr>
      </p:pic>
      <p:sp>
        <p:nvSpPr>
          <p:cNvPr id="7" name="Person name 1"/>
          <p:cNvSpPr txBox="1"/>
          <p:nvPr/>
        </p:nvSpPr>
        <p:spPr>
          <a:xfrm>
            <a:off x="640080" y="21762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Rahma Khaled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Account manager</a:t>
            </a:r>
            <a:endParaRPr lang="en-US" sz="1500" dirty="0"/>
          </a:p>
        </p:txBody>
      </p:sp>
      <p:sp>
        <p:nvSpPr>
          <p:cNvPr id="8" name="Tasks label 1"/>
          <p:cNvSpPr txBox="1"/>
          <p:nvPr/>
        </p:nvSpPr>
        <p:spPr>
          <a:xfrm>
            <a:off x="64008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TASKS</a:t>
            </a:r>
            <a:endParaRPr lang="en-US" sz="1000" dirty="0"/>
          </a:p>
        </p:txBody>
      </p:sp>
      <p:sp>
        <p:nvSpPr>
          <p:cNvPr id="9" name="Person tasks 1"/>
          <p:cNvSpPr txBox="1"/>
          <p:nvPr/>
        </p:nvSpPr>
        <p:spPr>
          <a:xfrm>
            <a:off x="640080" y="3127248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Market study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 research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 review</a:t>
            </a:r>
            <a:endParaRPr lang="en-US" sz="1400" dirty="0"/>
          </a:p>
        </p:txBody>
      </p:sp>
      <p:sp>
        <p:nvSpPr>
          <p:cNvPr id="10" name="Person card 2"/>
          <p:cNvSpPr/>
          <p:nvPr/>
        </p:nvSpPr>
        <p:spPr>
          <a:xfrm>
            <a:off x="256032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Aya Reda circle"/>
          <p:cNvSpPr/>
          <p:nvPr/>
        </p:nvSpPr>
        <p:spPr>
          <a:xfrm>
            <a:off x="2743200" y="14813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ya Reda icon" descr="Aya Re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271" y="1634399"/>
            <a:ext cx="260787" cy="260787"/>
          </a:xfrm>
          <a:prstGeom prst="rect">
            <a:avLst/>
          </a:prstGeom>
        </p:spPr>
      </p:pic>
      <p:sp>
        <p:nvSpPr>
          <p:cNvPr id="13" name="Person name 2"/>
          <p:cNvSpPr txBox="1"/>
          <p:nvPr/>
        </p:nvSpPr>
        <p:spPr>
          <a:xfrm>
            <a:off x="2743200" y="21762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Aya Reda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Social media</a:t>
            </a:r>
            <a:endParaRPr lang="en-US" sz="1500" dirty="0"/>
          </a:p>
        </p:txBody>
      </p:sp>
      <p:sp>
        <p:nvSpPr>
          <p:cNvPr id="14" name="Tasks label 2"/>
          <p:cNvSpPr txBox="1"/>
          <p:nvPr/>
        </p:nvSpPr>
        <p:spPr>
          <a:xfrm>
            <a:off x="274320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TASKS</a:t>
            </a:r>
            <a:endParaRPr lang="en-US" sz="1000" dirty="0"/>
          </a:p>
        </p:txBody>
      </p:sp>
      <p:sp>
        <p:nvSpPr>
          <p:cNvPr id="15" name="Person tasks 2"/>
          <p:cNvSpPr txBox="1"/>
          <p:nvPr/>
        </p:nvSpPr>
        <p:spPr>
          <a:xfrm>
            <a:off x="2743200" y="3127248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Content plan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Posting and replies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Offers</a:t>
            </a:r>
            <a:endParaRPr lang="en-US" sz="1400" dirty="0"/>
          </a:p>
        </p:txBody>
      </p:sp>
      <p:sp>
        <p:nvSpPr>
          <p:cNvPr id="16" name="Person card 3"/>
          <p:cNvSpPr/>
          <p:nvPr/>
        </p:nvSpPr>
        <p:spPr>
          <a:xfrm>
            <a:off x="466344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Mahmoud Ibrahim circle"/>
          <p:cNvSpPr/>
          <p:nvPr/>
        </p:nvSpPr>
        <p:spPr>
          <a:xfrm>
            <a:off x="4846320" y="1481328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Mahmoud Ibrahim icon" descr="Mahmoud Ibrahi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391" y="1634399"/>
            <a:ext cx="260787" cy="260787"/>
          </a:xfrm>
          <a:prstGeom prst="rect">
            <a:avLst/>
          </a:prstGeom>
        </p:spPr>
      </p:pic>
      <p:sp>
        <p:nvSpPr>
          <p:cNvPr id="19" name="Person name 3"/>
          <p:cNvSpPr txBox="1"/>
          <p:nvPr/>
        </p:nvSpPr>
        <p:spPr>
          <a:xfrm>
            <a:off x="4846320" y="21762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Mahmoud Ibrahim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Ads and reports</a:t>
            </a:r>
            <a:endParaRPr lang="en-US" sz="1500" dirty="0"/>
          </a:p>
        </p:txBody>
      </p:sp>
      <p:sp>
        <p:nvSpPr>
          <p:cNvPr id="20" name="Tasks label 3"/>
          <p:cNvSpPr txBox="1"/>
          <p:nvPr/>
        </p:nvSpPr>
        <p:spPr>
          <a:xfrm>
            <a:off x="484632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TASKS</a:t>
            </a:r>
            <a:endParaRPr lang="en-US" sz="1000" dirty="0"/>
          </a:p>
        </p:txBody>
      </p:sp>
      <p:sp>
        <p:nvSpPr>
          <p:cNvPr id="21" name="Person tasks 3"/>
          <p:cNvSpPr txBox="1"/>
          <p:nvPr/>
        </p:nvSpPr>
        <p:spPr>
          <a:xfrm>
            <a:off x="4846320" y="3127248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 check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Weekly report</a:t>
            </a:r>
            <a:endParaRPr lang="en-US" sz="1400" dirty="0"/>
          </a:p>
        </p:txBody>
      </p:sp>
      <p:sp>
        <p:nvSpPr>
          <p:cNvPr id="22" name="Person card 4"/>
          <p:cNvSpPr/>
          <p:nvPr/>
        </p:nvSpPr>
        <p:spPr>
          <a:xfrm>
            <a:off x="676656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3" name="Abader Zarif circle"/>
          <p:cNvSpPr/>
          <p:nvPr/>
        </p:nvSpPr>
        <p:spPr>
          <a:xfrm>
            <a:off x="6949440" y="1481328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Abader Zarif icon" descr="Abader Zar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511" y="1634399"/>
            <a:ext cx="260787" cy="260787"/>
          </a:xfrm>
          <a:prstGeom prst="rect">
            <a:avLst/>
          </a:prstGeom>
        </p:spPr>
      </p:pic>
      <p:sp>
        <p:nvSpPr>
          <p:cNvPr id="25" name="Person name 4"/>
          <p:cNvSpPr txBox="1"/>
          <p:nvPr/>
        </p:nvSpPr>
        <p:spPr>
          <a:xfrm>
            <a:off x="6949440" y="21762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Abader Zarif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Design and photos</a:t>
            </a:r>
            <a:endParaRPr lang="en-US" sz="1500" dirty="0"/>
          </a:p>
        </p:txBody>
      </p:sp>
      <p:sp>
        <p:nvSpPr>
          <p:cNvPr id="26" name="Tasks label 4"/>
          <p:cNvSpPr txBox="1"/>
          <p:nvPr/>
        </p:nvSpPr>
        <p:spPr>
          <a:xfrm>
            <a:off x="694944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TASKS</a:t>
            </a:r>
            <a:endParaRPr lang="en-US" sz="1000" dirty="0"/>
          </a:p>
        </p:txBody>
      </p:sp>
      <p:sp>
        <p:nvSpPr>
          <p:cNvPr id="27" name="Person tasks 4"/>
          <p:cNvSpPr txBox="1"/>
          <p:nvPr/>
        </p:nvSpPr>
        <p:spPr>
          <a:xfrm>
            <a:off x="6949440" y="3127248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Photos and videos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 design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5  ·  IDENTIFY RESOURCES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3200" dirty="0"/>
          </a:p>
        </p:txBody>
      </p:sp>
      <p:sp>
        <p:nvSpPr>
          <p:cNvPr id="4" name="Resource card 1"/>
          <p:cNvSpPr/>
          <p:nvPr/>
        </p:nvSpPr>
        <p:spPr>
          <a:xfrm>
            <a:off x="457200" y="132588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pic>
        <p:nvPicPr>
          <p:cNvPr id="5" name="Budget: 13,000 EGP illustration" descr="Budget: 13,000 EGP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423160" cy="1097280"/>
          </a:xfrm>
          <a:prstGeom prst="rect">
            <a:avLst/>
          </a:prstGeom>
        </p:spPr>
      </p:pic>
      <p:sp>
        <p:nvSpPr>
          <p:cNvPr id="6" name="Resource title 1"/>
          <p:cNvSpPr txBox="1"/>
          <p:nvPr/>
        </p:nvSpPr>
        <p:spPr>
          <a:xfrm>
            <a:off x="64008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Budget: 13,000 EGP</a:t>
            </a:r>
            <a:endParaRPr lang="en-US" sz="1500" dirty="0"/>
          </a:p>
        </p:txBody>
      </p:sp>
      <p:sp>
        <p:nvSpPr>
          <p:cNvPr id="7" name="Resource list 1"/>
          <p:cNvSpPr txBox="1"/>
          <p:nvPr/>
        </p:nvSpPr>
        <p:spPr>
          <a:xfrm>
            <a:off x="640080" y="31089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Social media: 5,000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Ads: 4,000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Content: 3,000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Reports: 1,000</a:t>
            </a:r>
            <a:endParaRPr lang="en-US" sz="1400" dirty="0"/>
          </a:p>
        </p:txBody>
      </p:sp>
      <p:sp>
        <p:nvSpPr>
          <p:cNvPr id="8" name="Resource card 2"/>
          <p:cNvSpPr/>
          <p:nvPr/>
        </p:nvSpPr>
        <p:spPr>
          <a:xfrm>
            <a:off x="3268980" y="132588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pic>
        <p:nvPicPr>
          <p:cNvPr id="9" name="Tools illustration" descr="Tools 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417320"/>
            <a:ext cx="2423160" cy="1097280"/>
          </a:xfrm>
          <a:prstGeom prst="rect">
            <a:avLst/>
          </a:prstGeom>
        </p:spPr>
      </p:pic>
      <p:sp>
        <p:nvSpPr>
          <p:cNvPr id="10" name="Resource title 2"/>
          <p:cNvSpPr txBox="1"/>
          <p:nvPr/>
        </p:nvSpPr>
        <p:spPr>
          <a:xfrm>
            <a:off x="345186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Tools</a:t>
            </a:r>
            <a:endParaRPr lang="en-US" sz="1500" dirty="0"/>
          </a:p>
        </p:txBody>
      </p:sp>
      <p:sp>
        <p:nvSpPr>
          <p:cNvPr id="11" name="Resource list 2"/>
          <p:cNvSpPr txBox="1"/>
          <p:nvPr/>
        </p:nvSpPr>
        <p:spPr>
          <a:xfrm>
            <a:off x="3451860" y="31089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Meta Business Suite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Meta Ads Manager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Canva and CapCut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Google Sheets</a:t>
            </a:r>
            <a:endParaRPr lang="en-US" sz="1400" dirty="0"/>
          </a:p>
        </p:txBody>
      </p:sp>
      <p:sp>
        <p:nvSpPr>
          <p:cNvPr id="12" name="Resource card 3"/>
          <p:cNvSpPr/>
          <p:nvPr/>
        </p:nvSpPr>
        <p:spPr>
          <a:xfrm>
            <a:off x="6080760" y="132588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pic>
        <p:nvPicPr>
          <p:cNvPr id="13" name="From the café illustration" descr="From the café illust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2423160" cy="1097280"/>
          </a:xfrm>
          <a:prstGeom prst="rect">
            <a:avLst/>
          </a:prstGeom>
        </p:spPr>
      </p:pic>
      <p:sp>
        <p:nvSpPr>
          <p:cNvPr id="14" name="Resource title 3"/>
          <p:cNvSpPr txBox="1"/>
          <p:nvPr/>
        </p:nvSpPr>
        <p:spPr>
          <a:xfrm>
            <a:off x="626364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From the café</a:t>
            </a:r>
            <a:endParaRPr lang="en-US" sz="1500" dirty="0"/>
          </a:p>
        </p:txBody>
      </p:sp>
      <p:sp>
        <p:nvSpPr>
          <p:cNvPr id="15" name="Resource list 3"/>
          <p:cNvSpPr txBox="1"/>
          <p:nvPr/>
        </p:nvSpPr>
        <p:spPr>
          <a:xfrm>
            <a:off x="6263640" y="31089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 access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Menu and prices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 for photos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Weekly sales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6  ·  MONITOR AND ASSESS PROGRESS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Check Progress</a:t>
            </a:r>
            <a:endParaRPr lang="en-US" sz="3200" dirty="0"/>
          </a:p>
        </p:txBody>
      </p:sp>
      <p:graphicFrame>
        <p:nvGraphicFramePr>
          <p:cNvPr id="9" name="KPI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31089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we check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Where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Reach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40K+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Meta Ads Manager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Followers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+500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Instagram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Messages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100+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Inbox and calls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Cost per message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Under 40 EGP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Meta Ads Manager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Customers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+10 a day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Café sales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Rhythm card 1"/>
          <p:cNvSpPr/>
          <p:nvPr/>
        </p:nvSpPr>
        <p:spPr>
          <a:xfrm>
            <a:off x="457200" y="361188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Every day circle"/>
          <p:cNvSpPr/>
          <p:nvPr/>
        </p:nvSpPr>
        <p:spPr>
          <a:xfrm>
            <a:off x="621792" y="381304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Every day icon" descr="Every d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49" y="3951305"/>
            <a:ext cx="235549" cy="235549"/>
          </a:xfrm>
          <a:prstGeom prst="rect">
            <a:avLst/>
          </a:prstGeom>
        </p:spPr>
      </p:pic>
      <p:sp>
        <p:nvSpPr>
          <p:cNvPr id="8" name="Rhythm text 1"/>
          <p:cNvSpPr txBox="1"/>
          <p:nvPr/>
        </p:nvSpPr>
        <p:spPr>
          <a:xfrm>
            <a:off x="1280160" y="36118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Every day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 ads and comments</a:t>
            </a:r>
            <a:endParaRPr lang="en-US" sz="1400" dirty="0"/>
          </a:p>
        </p:txBody>
      </p:sp>
      <p:sp>
        <p:nvSpPr>
          <p:cNvPr id="9" name="Rhythm card 2"/>
          <p:cNvSpPr/>
          <p:nvPr/>
        </p:nvSpPr>
        <p:spPr>
          <a:xfrm>
            <a:off x="3268980" y="361188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Every Sunday circle"/>
          <p:cNvSpPr/>
          <p:nvPr/>
        </p:nvSpPr>
        <p:spPr>
          <a:xfrm>
            <a:off x="3433572" y="3813048"/>
            <a:ext cx="512064" cy="51206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Every Sunday icon" descr="Every Sund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29" y="3951305"/>
            <a:ext cx="235549" cy="235549"/>
          </a:xfrm>
          <a:prstGeom prst="rect">
            <a:avLst/>
          </a:prstGeom>
        </p:spPr>
      </p:pic>
      <p:sp>
        <p:nvSpPr>
          <p:cNvPr id="12" name="Rhythm text 2"/>
          <p:cNvSpPr txBox="1"/>
          <p:nvPr/>
        </p:nvSpPr>
        <p:spPr>
          <a:xfrm>
            <a:off x="4091940" y="36118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Every Sunday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Report to the owner</a:t>
            </a:r>
            <a:endParaRPr lang="en-US" sz="1400" dirty="0"/>
          </a:p>
        </p:txBody>
      </p:sp>
      <p:sp>
        <p:nvSpPr>
          <p:cNvPr id="13" name="Rhythm card 3"/>
          <p:cNvSpPr/>
          <p:nvPr/>
        </p:nvSpPr>
        <p:spPr>
          <a:xfrm>
            <a:off x="6080760" y="361188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Week 4 circle"/>
          <p:cNvSpPr/>
          <p:nvPr/>
        </p:nvSpPr>
        <p:spPr>
          <a:xfrm>
            <a:off x="6245352" y="3813048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Week 4 icon" descr="Week 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609" y="3951305"/>
            <a:ext cx="235549" cy="235549"/>
          </a:xfrm>
          <a:prstGeom prst="rect">
            <a:avLst/>
          </a:prstGeom>
        </p:spPr>
      </p:pic>
      <p:sp>
        <p:nvSpPr>
          <p:cNvPr id="16" name="Rhythm text 3"/>
          <p:cNvSpPr txBox="1"/>
          <p:nvPr/>
        </p:nvSpPr>
        <p:spPr>
          <a:xfrm>
            <a:off x="6903720" y="36118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Week 4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Final review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7  ·  REVIEW AND ADJUST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Something Is Weak, We Fix It</a:t>
            </a:r>
            <a:endParaRPr lang="en-US" sz="3200" dirty="0"/>
          </a:p>
        </p:txBody>
      </p:sp>
      <p:sp>
        <p:nvSpPr>
          <p:cNvPr id="4" name="Rule card 1"/>
          <p:cNvSpPr/>
          <p:nvPr/>
        </p:nvSpPr>
        <p:spPr>
          <a:xfrm>
            <a:off x="457200" y="132588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5" name="Few people see us circle"/>
          <p:cNvSpPr/>
          <p:nvPr/>
        </p:nvSpPr>
        <p:spPr>
          <a:xfrm>
            <a:off x="640080" y="1591056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Few people see us icon" descr="Few people see 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337" y="1729313"/>
            <a:ext cx="235549" cy="235549"/>
          </a:xfrm>
          <a:prstGeom prst="rect">
            <a:avLst/>
          </a:prstGeom>
        </p:spPr>
      </p:pic>
      <p:sp>
        <p:nvSpPr>
          <p:cNvPr id="7" name="Rule text 1"/>
          <p:cNvSpPr txBox="1"/>
          <p:nvPr/>
        </p:nvSpPr>
        <p:spPr>
          <a:xfrm>
            <a:off x="1325880" y="13258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</a:rPr>
              <a:t>IF 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Few people see us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THEN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Put more money in the best ad</a:t>
            </a:r>
            <a:endParaRPr lang="en-US" sz="1100" dirty="0"/>
          </a:p>
        </p:txBody>
      </p:sp>
      <p:sp>
        <p:nvSpPr>
          <p:cNvPr id="8" name="Rule card 2"/>
          <p:cNvSpPr/>
          <p:nvPr/>
        </p:nvSpPr>
        <p:spPr>
          <a:xfrm>
            <a:off x="4663440" y="132588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9" name="Few likes circle"/>
          <p:cNvSpPr/>
          <p:nvPr/>
        </p:nvSpPr>
        <p:spPr>
          <a:xfrm>
            <a:off x="4846320" y="1591056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Few likes icon" descr="Few lik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577" y="1729313"/>
            <a:ext cx="235549" cy="235549"/>
          </a:xfrm>
          <a:prstGeom prst="rect">
            <a:avLst/>
          </a:prstGeom>
        </p:spPr>
      </p:pic>
      <p:sp>
        <p:nvSpPr>
          <p:cNvPr id="11" name="Rule text 2"/>
          <p:cNvSpPr txBox="1"/>
          <p:nvPr/>
        </p:nvSpPr>
        <p:spPr>
          <a:xfrm>
            <a:off x="5532120" y="13258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</a:rPr>
              <a:t>IF 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Few likes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THEN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More reels, new post times</a:t>
            </a:r>
            <a:endParaRPr lang="en-US" sz="1100" dirty="0"/>
          </a:p>
        </p:txBody>
      </p:sp>
      <p:sp>
        <p:nvSpPr>
          <p:cNvPr id="12" name="Rule card 3"/>
          <p:cNvSpPr/>
          <p:nvPr/>
        </p:nvSpPr>
        <p:spPr>
          <a:xfrm>
            <a:off x="457200" y="251460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3" name="Views but no messages circle"/>
          <p:cNvSpPr/>
          <p:nvPr/>
        </p:nvSpPr>
        <p:spPr>
          <a:xfrm>
            <a:off x="640080" y="2779776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4" name="Views but no messages icon" descr="Views but no messag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" y="2918033"/>
            <a:ext cx="235549" cy="235549"/>
          </a:xfrm>
          <a:prstGeom prst="rect">
            <a:avLst/>
          </a:prstGeom>
        </p:spPr>
      </p:pic>
      <p:sp>
        <p:nvSpPr>
          <p:cNvPr id="15" name="Rule text 3"/>
          <p:cNvSpPr txBox="1"/>
          <p:nvPr/>
        </p:nvSpPr>
        <p:spPr>
          <a:xfrm>
            <a:off x="132588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</a:rPr>
              <a:t>IF 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Views but no messages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THEN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Add a clear offer</a:t>
            </a:r>
            <a:endParaRPr lang="en-US" sz="1100" dirty="0"/>
          </a:p>
        </p:txBody>
      </p:sp>
      <p:sp>
        <p:nvSpPr>
          <p:cNvPr id="16" name="Rule card 4"/>
          <p:cNvSpPr/>
          <p:nvPr/>
        </p:nvSpPr>
        <p:spPr>
          <a:xfrm>
            <a:off x="4663440" y="251460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7" name="Few new customers circle"/>
          <p:cNvSpPr/>
          <p:nvPr/>
        </p:nvSpPr>
        <p:spPr>
          <a:xfrm>
            <a:off x="4846320" y="2779776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Few new customers icon" descr="Few new custom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577" y="2918033"/>
            <a:ext cx="235549" cy="235549"/>
          </a:xfrm>
          <a:prstGeom prst="rect">
            <a:avLst/>
          </a:prstGeom>
        </p:spPr>
      </p:pic>
      <p:sp>
        <p:nvSpPr>
          <p:cNvPr id="19" name="Rule text 4"/>
          <p:cNvSpPr txBox="1"/>
          <p:nvPr/>
        </p:nvSpPr>
        <p:spPr>
          <a:xfrm>
            <a:off x="553212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</a:rPr>
              <a:t>IF 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Few new customers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THEN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Better offer, target nearby people</a:t>
            </a:r>
            <a:endParaRPr lang="en-US" sz="1100" dirty="0"/>
          </a:p>
        </p:txBody>
      </p:sp>
      <p:sp>
        <p:nvSpPr>
          <p:cNvPr id="20" name="Month review bar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1" name="Monthly review circle"/>
          <p:cNvSpPr/>
          <p:nvPr/>
        </p:nvSpPr>
        <p:spPr>
          <a:xfrm>
            <a:off x="658368" y="3867912"/>
            <a:ext cx="530352" cy="53035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Monthly review icon" descr="Monthly revie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563" y="4011107"/>
            <a:ext cx="243962" cy="243962"/>
          </a:xfrm>
          <a:prstGeom prst="rect">
            <a:avLst/>
          </a:prstGeom>
        </p:spPr>
      </p:pic>
      <p:sp>
        <p:nvSpPr>
          <p:cNvPr id="23" name="Month review text"/>
          <p:cNvSpPr txBox="1"/>
          <p:nvPr/>
        </p:nvSpPr>
        <p:spPr>
          <a:xfrm>
            <a:off x="1371600" y="3749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End of month: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we meet the owner and plan month two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Plan on One Page</a:t>
            </a:r>
            <a:endParaRPr lang="en-US" sz="3200" dirty="0"/>
          </a:p>
        </p:txBody>
      </p:sp>
      <p:graphicFrame>
        <p:nvGraphicFramePr>
          <p:cNvPr id="11" name="Action pla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463040"/>
                <a:gridCol w="822960"/>
                <a:gridCol w="822960"/>
                <a:gridCol w="822960"/>
                <a:gridCol w="82296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Week 1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Week 2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Week 3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Week 4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Study the market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Rahma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Know our customers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Rahma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Check the café's pages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Mahmoud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Make a content plan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Aya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Take photos and videos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Abader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Design posts and reels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Abader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Prepare and start the ads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Mahmoud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 and reply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Aya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Start the offers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Aya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Weekly report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Mahmoud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Final review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Rahma</a:t>
                      </a: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18288" marB="1828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NEXT STEP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258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Make It Happen!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Say yes today, and we start in week 1.</a:t>
            </a:r>
            <a:endParaRPr lang="en-US" sz="1500" dirty="0"/>
          </a:p>
        </p:txBody>
      </p:sp>
      <p:sp>
        <p:nvSpPr>
          <p:cNvPr id="5" name="Agency name"/>
          <p:cNvSpPr txBox="1"/>
          <p:nvPr/>
        </p:nvSpPr>
        <p:spPr>
          <a:xfrm>
            <a:off x="54864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Pulse Marketing</a:t>
            </a:r>
            <a:endParaRPr lang="en-US" sz="1300" dirty="0"/>
          </a:p>
        </p:txBody>
      </p:sp>
      <p:pic>
        <p:nvPicPr>
          <p:cNvPr id="6" name="Plan summary illustration" descr="Plan summar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594360"/>
            <a:ext cx="3520440" cy="3931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spresso">
  <a:themeElements>
    <a:clrScheme name="Espresso">
      <a:dk1>
        <a:srgbClr val="231B16"/>
      </a:dk1>
      <a:lt1>
        <a:srgbClr val="FFFFFF"/>
      </a:lt1>
      <a:dk2>
        <a:srgbClr val="2E1F17"/>
      </a:dk2>
      <a:lt2>
        <a:srgbClr val="F4ECE5"/>
      </a:lt2>
      <a:accent1>
        <a:srgbClr val="C27A3A"/>
      </a:accent1>
      <a:accent2>
        <a:srgbClr val="E8C9A6"/>
      </a:accent2>
      <a:accent3>
        <a:srgbClr val="6F4E37"/>
      </a:accent3>
      <a:accent4>
        <a:srgbClr val="5B7F5E"/>
      </a:accent4>
      <a:accent5>
        <a:srgbClr val="8C7F76"/>
      </a:accent5>
      <a:accent6>
        <a:srgbClr val="A6513A"/>
      </a:accent6>
      <a:hlink>
        <a:srgbClr val="C27A3A"/>
      </a:hlink>
      <a:folHlink>
        <a:srgbClr val="6F4E37"/>
      </a:folHlink>
    </a:clrScheme>
    <a:fontScheme name="Espress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Plan - The Daily Cup</dc:title>
  <dc:subject>PptxGenJS Presentation</dc:subject>
  <dc:creator>Pulse Marketing</dc:creator>
  <cp:lastModifiedBy>Pulse Marketing</cp:lastModifiedBy>
  <cp:revision>1</cp:revision>
  <dcterms:created xsi:type="dcterms:W3CDTF">2026-10-20T12:16:51Z</dcterms:created>
  <dcterms:modified xsi:type="dcterms:W3CDTF">2026-10-20T12:16:51Z</dcterms:modified>
</cp:coreProperties>
</file>