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27f7443-f15a-0814-c817-fc6ab9acd587}">
          <p14:sldIdLst>
            <p14:sldId id="256"/>
            <p14:sldId id="257"/>
          </p14:sldIdLst>
        </p14:section>
        <p14:section name="Steps 1 to 3" id="{c88da4eb-595a-2a45-4370-0a795f8254b2}">
          <p14:sldIdLst>
            <p14:sldId id="258"/>
            <p14:sldId id="259"/>
            <p14:sldId id="260"/>
          </p14:sldIdLst>
        </p14:section>
        <p14:section name="Steps 4 to 6" id="{fd6bdfd6-f8e4-05e4-7014-c39dc7b6ee93}">
          <p14:sldIdLst>
            <p14:sldId id="261"/>
            <p14:sldId id="262"/>
            <p14:sldId id="263"/>
          </p14:sldIdLst>
        </p14:section>
        <p14:section name="Step 7 and Summary" id="{5e0b7e1d-af14-d093-efa7-66d6f6ef266c}">
          <p14:sldIdLst>
            <p14:sldId id="264"/>
            <p14:sldId id="265"/>
          </p14:sldIdLst>
        </p14:section>
        <p14:section name="Closing" id="{969d480e-d0bd-b497-7c2b-369e5f180c12}">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"Good morning. We are the team from Pulse Marketing: Rahma Khaled, Aya Reda, Mahmoud Ibrahim and Abader Zarif.
In our proposal we showed what we will do for The Daily Cup. Today we show exactly how we will make it happen: our action plan for the first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Our action plan follows 7 steps. Each of the next slides explains one step:
1. Define our goals. 2. List the tasks. 3. Set a timeline. 4. Assign responsibilities.
5. Identify the resources. 6. Monitor and assess progress. 7. Review and adjust.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Step 1: define the goals. Our goals are SMART: specific, measurable, achievable, relevant and time-bound.
By the end of month one we want:
- Awareness: 40,000+ people near the café see The Daily Cup.
- Community: 500 new Instagram followers.
- Inquiries: 100+ messages, calls and direction requests.
- Sales: 10 extra customers every day by week 4.
We measure every goal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Step 2: list the tasks. We have 11 tasks in 4 groups:
- Prepare: market and competitor research, define the target audience, and a free audit of the café's pages.
- Create: the monthly content plan, a photo and video shoot at the café, and designing posts, reels and stories.
- Launch: set up and launch the Facebook and Instagram ads, publish content and reply to comments, and launch the special offers.
- Measure: track the KPIs with a weekly report, and the month-one review with the plan for next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Step 3: set a timeline. The whole plan takes 4 weeks, and each week ends with a clear deadline:
- Week 1: market research, target audience, free page audit, and we start the content plan. Deadline: research done.
- Week 2: finish the content plan, the photo and video shoot, design the content and set up the ads. Deadline: content and ads ready.
- Week 3: launch the ads, publish and reply, launch the offers. Deadline: the campaign is live.
- Week 4: keep publishing, adjust the ads, write the final report and do the month-one review. Deadline: review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Step 4: assign responsibilities. Every task has one clear owner:
- Rahma Khaled, account manager: market research, target audience, the month-one review, and she is the main contact for the owner.
- Aya Reda, social media and content: the content plan, publishing and replying, and the special offers.
- Mahmoud Ibrahim, ads and analytics: the free page audit, the Facebook and Instagram ads, and the KPIs with the weekly report.
- Abader Zarif, design and photography: the photo and video shoot, and designing the posts, reels and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Step 5: identify the resources.
- Budget: 13,000 EGP a month: 5,000 for social media, 4,000 for paid ads, 3,000 for content and 1,000 for reports.
- Tools: Meta Business Suite to post, Meta Ads Manager for the ads, Canva and CapCut for designs and videos, and Google Sheets for the reports.
- From The Daily Cup we only need: access to the pages, the menu, prices and offers, a time for the photo shoot, and the weekly sales numbers so we can measure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Step 6: monitor and assess progress. We track 5 KPIs, each with a target and a tool:
- Reach: 40,000+, from Meta Ads Manager.
- New followers: +500, from Instagram Insights.
- Inquiries: 100+, from the messages and calls log.
- Cost per inquiry: under 40 EGP, from Meta Ads Manager.
- Daily customers: +10, from the café's sales records.
Our rhythm: every day we check the ads, comments and messages; every Sunday the owner gets a progress report; and at the end of week 4 we do a full results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Step 7: review and adjust. We don't wait until the end of the month to fix problems:
- If reach is below target, we move the budget to the best-performing ad.
- If there are few likes and comments, we post more reels and test new posting times.
- If many people see the posts but few send messages, we add a clearer offer and call to action.
- If there are few new visits, we make the offer stronger and target people closer to the café.
At the end of the month, we review everything with the owner and plan month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This table puts the whole plan on one page: every task, who owns it, and in which weeks it happens. Each colour is one team member.
Week 1 is research and the audit, week 2 is creating the content and setting up the ads, week 3 is the launch, and week 4 is publishing, adjusting and the final review. The weekly report runs all 4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To sum up: we have 4 clear goals, 11 tasks, a 4-week timeline, one owner for every task, the resources we need, and a weekly system to track and improve the results.
Approve the plan today, and the work starts in week 1. Let's make it happen! Thank you. We're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rtlCol="0"/>
          <a:lstStyle>
            <a:lvl1pPr indent="0" marL="0">
              <a:buNone/>
              <a:defRPr lang="en-US" sz="1200" b="1" spc="3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rtlCol="0"/>
          <a:lstStyle>
            <a:lvl1pPr algn="l" indent="0" marL="0">
              <a:buNone/>
              <a:defRPr lang="en-US" sz="1500" dirty="0">
                <a:solidFill>
                  <a:schemeClr val="accent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Pulse Marketing  |  Action Plan for The Daily Cup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PRESENTED BY PULSE MARKETING</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Action Plan</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Month-one campaign for The Daily Cup Café</a:t>
            </a:r>
            <a:endParaRPr lang="en-US" sz="1500" dirty="0"/>
          </a:p>
        </p:txBody>
      </p:sp>
      <p:sp>
        <p:nvSpPr>
          <p:cNvPr id="5" name="Team label"/>
          <p:cNvSpPr txBox="1"/>
          <p:nvPr/>
        </p:nvSpPr>
        <p:spPr>
          <a:xfrm>
            <a:off x="548640" y="3429000"/>
            <a:ext cx="4389120" cy="274320"/>
          </a:xfrm>
          <a:prstGeom prst="rect">
            <a:avLst/>
          </a:prstGeom>
          <a:noFill/>
          <a:ln/>
        </p:spPr>
        <p:txBody>
          <a:bodyPr wrap="square" lIns="0" tIns="0" rIns="0" bIns="0" rtlCol="0" anchor="ctr"/>
          <a:lstStyle/>
          <a:p>
            <a:pPr indent="0" marL="0">
              <a:buNone/>
            </a:pPr>
            <a:r>
              <a:rPr lang="en-US" sz="1100" b="1" spc="300" kern="0" dirty="0">
                <a:solidFill>
                  <a:schemeClr val="accent2"/>
                </a:solidFill>
              </a:rPr>
              <a:t>OUR TEAM</a:t>
            </a:r>
            <a:endParaRPr lang="en-US" sz="1100" dirty="0"/>
          </a:p>
        </p:txBody>
      </p:sp>
      <p:sp>
        <p:nvSpPr>
          <p:cNvPr id="6" name="Team member 1"/>
          <p:cNvSpPr txBox="1"/>
          <p:nvPr/>
        </p:nvSpPr>
        <p:spPr>
          <a:xfrm>
            <a:off x="54864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Rahma Khaled</a:t>
            </a:r>
            <a:endParaRPr lang="en-US" sz="1400" dirty="0"/>
          </a:p>
        </p:txBody>
      </p:sp>
      <p:sp>
        <p:nvSpPr>
          <p:cNvPr id="7" name="Team member 2"/>
          <p:cNvSpPr txBox="1"/>
          <p:nvPr/>
        </p:nvSpPr>
        <p:spPr>
          <a:xfrm>
            <a:off x="274320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Aya Reda</a:t>
            </a:r>
            <a:endParaRPr lang="en-US" sz="1400" dirty="0"/>
          </a:p>
        </p:txBody>
      </p:sp>
      <p:sp>
        <p:nvSpPr>
          <p:cNvPr id="8" name="Team member 3"/>
          <p:cNvSpPr txBox="1"/>
          <p:nvPr/>
        </p:nvSpPr>
        <p:spPr>
          <a:xfrm>
            <a:off x="54864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Mahmoud Ibrahim</a:t>
            </a:r>
            <a:endParaRPr lang="en-US" sz="1400" dirty="0"/>
          </a:p>
        </p:txBody>
      </p:sp>
      <p:sp>
        <p:nvSpPr>
          <p:cNvPr id="9" name="Team member 4"/>
          <p:cNvSpPr txBox="1"/>
          <p:nvPr/>
        </p:nvSpPr>
        <p:spPr>
          <a:xfrm>
            <a:off x="274320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Abader Zarif</a:t>
            </a:r>
            <a:endParaRPr lang="en-US" sz="1400" dirty="0"/>
          </a:p>
        </p:txBody>
      </p:sp>
      <p:pic>
        <p:nvPicPr>
          <p:cNvPr id="10" name="Action plan illustration" descr="Action plan illustration">    </p:cNvPr>
          <p:cNvPicPr>
            <a:picLocks noChangeAspect="1"/>
          </p:cNvPicPr>
          <p:nvPr/>
        </p:nvPicPr>
        <p:blipFill>
          <a:blip r:embed="rId1"/>
          <a:stretch>
            <a:fillRect/>
          </a:stretch>
        </p:blipFill>
        <p:spPr>
          <a:xfrm>
            <a:off x="5166360" y="594360"/>
            <a:ext cx="352044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OVERVIEW</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7 Steps to Make the Plan Happen</a:t>
            </a:r>
            <a:endParaRPr lang="en-US" sz="3200" dirty="0"/>
          </a:p>
        </p:txBody>
      </p:sp>
      <p:sp>
        <p:nvSpPr>
          <p:cNvPr id="4" name="Step dot 1"/>
          <p:cNvSpPr/>
          <p:nvPr/>
        </p:nvSpPr>
        <p:spPr>
          <a:xfrm>
            <a:off x="457200" y="1298448"/>
            <a:ext cx="402336" cy="402336"/>
          </a:xfrm>
          <a:prstGeom prst="ellipse">
            <a:avLst/>
          </a:prstGeom>
          <a:solidFill>
            <a:schemeClr val="tx2"/>
          </a:solidFill>
          <a:ln/>
        </p:spPr>
      </p:sp>
      <p:sp>
        <p:nvSpPr>
          <p:cNvPr id="5" name="Step no 1"/>
          <p:cNvSpPr txBox="1"/>
          <p:nvPr/>
        </p:nvSpPr>
        <p:spPr>
          <a:xfrm>
            <a:off x="457200" y="12984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pill 1"/>
          <p:cNvSpPr/>
          <p:nvPr/>
        </p:nvSpPr>
        <p:spPr>
          <a:xfrm>
            <a:off x="960120" y="1298448"/>
            <a:ext cx="2606040" cy="402336"/>
          </a:xfrm>
          <a:prstGeom prst="roundRect">
            <a:avLst>
              <a:gd name="adj" fmla="val 18182"/>
            </a:avLst>
          </a:prstGeom>
          <a:solidFill>
            <a:schemeClr val="accent1"/>
          </a:solidFill>
          <a:ln/>
        </p:spPr>
      </p:sp>
      <p:sp>
        <p:nvSpPr>
          <p:cNvPr id="7" name="Step name 1"/>
          <p:cNvSpPr txBox="1"/>
          <p:nvPr/>
        </p:nvSpPr>
        <p:spPr>
          <a:xfrm>
            <a:off x="1097280" y="1298448"/>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Define your goals</a:t>
            </a:r>
            <a:endParaRPr lang="en-US" sz="1400" dirty="0"/>
          </a:p>
        </p:txBody>
      </p:sp>
      <p:sp>
        <p:nvSpPr>
          <p:cNvPr id="8" name="Step answer box 1"/>
          <p:cNvSpPr/>
          <p:nvPr/>
        </p:nvSpPr>
        <p:spPr>
          <a:xfrm>
            <a:off x="3703320" y="1298448"/>
            <a:ext cx="4983480" cy="402336"/>
          </a:xfrm>
          <a:prstGeom prst="roundRect">
            <a:avLst>
              <a:gd name="adj" fmla="val 27273"/>
            </a:avLst>
          </a:prstGeom>
          <a:solidFill>
            <a:schemeClr val="bg2"/>
          </a:solidFill>
          <a:ln/>
        </p:spPr>
      </p:sp>
      <p:sp>
        <p:nvSpPr>
          <p:cNvPr id="9" name="Step answer 1"/>
          <p:cNvSpPr txBox="1"/>
          <p:nvPr/>
        </p:nvSpPr>
        <p:spPr>
          <a:xfrm>
            <a:off x="3840480" y="1298448"/>
            <a:ext cx="4754880" cy="402336"/>
          </a:xfrm>
          <a:prstGeom prst="rect">
            <a:avLst/>
          </a:prstGeom>
          <a:noFill/>
          <a:ln/>
        </p:spPr>
        <p:txBody>
          <a:bodyPr wrap="square" lIns="0" tIns="0" rIns="0" bIns="0" rtlCol="0" anchor="ctr"/>
          <a:lstStyle/>
          <a:p>
            <a:pPr indent="0" marL="0">
              <a:buNone/>
            </a:pPr>
            <a:r>
              <a:rPr lang="en-US" sz="1300" dirty="0">
                <a:solidFill>
                  <a:schemeClr val="tx1"/>
                </a:solidFill>
              </a:rPr>
              <a:t>40K reach, +500 followers, 100+ inquiries, +10 customers a day</a:t>
            </a:r>
            <a:endParaRPr lang="en-US" sz="1300" dirty="0"/>
          </a:p>
        </p:txBody>
      </p:sp>
      <p:sp>
        <p:nvSpPr>
          <p:cNvPr id="10" name="Step dot 2"/>
          <p:cNvSpPr/>
          <p:nvPr/>
        </p:nvSpPr>
        <p:spPr>
          <a:xfrm>
            <a:off x="457200" y="1773936"/>
            <a:ext cx="402336" cy="402336"/>
          </a:xfrm>
          <a:prstGeom prst="ellipse">
            <a:avLst/>
          </a:prstGeom>
          <a:solidFill>
            <a:schemeClr val="tx2"/>
          </a:solidFill>
          <a:ln/>
        </p:spPr>
      </p:sp>
      <p:sp>
        <p:nvSpPr>
          <p:cNvPr id="11" name="Step no 2"/>
          <p:cNvSpPr txBox="1"/>
          <p:nvPr/>
        </p:nvSpPr>
        <p:spPr>
          <a:xfrm>
            <a:off x="457200" y="177393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tep pill 2"/>
          <p:cNvSpPr/>
          <p:nvPr/>
        </p:nvSpPr>
        <p:spPr>
          <a:xfrm>
            <a:off x="960120" y="1773936"/>
            <a:ext cx="2606040" cy="402336"/>
          </a:xfrm>
          <a:prstGeom prst="roundRect">
            <a:avLst>
              <a:gd name="adj" fmla="val 18182"/>
            </a:avLst>
          </a:prstGeom>
          <a:solidFill>
            <a:schemeClr val="accent4"/>
          </a:solidFill>
          <a:ln/>
        </p:spPr>
      </p:sp>
      <p:sp>
        <p:nvSpPr>
          <p:cNvPr id="13" name="Step name 2"/>
          <p:cNvSpPr txBox="1"/>
          <p:nvPr/>
        </p:nvSpPr>
        <p:spPr>
          <a:xfrm>
            <a:off x="1097280" y="1773936"/>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List the tasks</a:t>
            </a:r>
            <a:endParaRPr lang="en-US" sz="1400" dirty="0"/>
          </a:p>
        </p:txBody>
      </p:sp>
      <p:sp>
        <p:nvSpPr>
          <p:cNvPr id="14" name="Step answer box 2"/>
          <p:cNvSpPr/>
          <p:nvPr/>
        </p:nvSpPr>
        <p:spPr>
          <a:xfrm>
            <a:off x="3703320" y="1773936"/>
            <a:ext cx="4983480" cy="402336"/>
          </a:xfrm>
          <a:prstGeom prst="roundRect">
            <a:avLst>
              <a:gd name="adj" fmla="val 27273"/>
            </a:avLst>
          </a:prstGeom>
          <a:solidFill>
            <a:schemeClr val="bg2"/>
          </a:solidFill>
          <a:ln/>
        </p:spPr>
      </p:sp>
      <p:sp>
        <p:nvSpPr>
          <p:cNvPr id="15" name="Step answer 2"/>
          <p:cNvSpPr txBox="1"/>
          <p:nvPr/>
        </p:nvSpPr>
        <p:spPr>
          <a:xfrm>
            <a:off x="3840480" y="1773936"/>
            <a:ext cx="4754880" cy="402336"/>
          </a:xfrm>
          <a:prstGeom prst="rect">
            <a:avLst/>
          </a:prstGeom>
          <a:noFill/>
          <a:ln/>
        </p:spPr>
        <p:txBody>
          <a:bodyPr wrap="square" lIns="0" tIns="0" rIns="0" bIns="0" rtlCol="0" anchor="ctr"/>
          <a:lstStyle/>
          <a:p>
            <a:pPr indent="0" marL="0">
              <a:buNone/>
            </a:pPr>
            <a:r>
              <a:rPr lang="en-US" sz="1300" dirty="0">
                <a:solidFill>
                  <a:schemeClr val="tx1"/>
                </a:solidFill>
              </a:rPr>
              <a:t>11 key tasks, from market research to the final review</a:t>
            </a:r>
            <a:endParaRPr lang="en-US" sz="1300" dirty="0"/>
          </a:p>
        </p:txBody>
      </p:sp>
      <p:sp>
        <p:nvSpPr>
          <p:cNvPr id="16" name="Step dot 3"/>
          <p:cNvSpPr/>
          <p:nvPr/>
        </p:nvSpPr>
        <p:spPr>
          <a:xfrm>
            <a:off x="457200" y="2249424"/>
            <a:ext cx="402336" cy="402336"/>
          </a:xfrm>
          <a:prstGeom prst="ellipse">
            <a:avLst/>
          </a:prstGeom>
          <a:solidFill>
            <a:schemeClr val="tx2"/>
          </a:solidFill>
          <a:ln/>
        </p:spPr>
      </p:sp>
      <p:sp>
        <p:nvSpPr>
          <p:cNvPr id="17" name="Step no 3"/>
          <p:cNvSpPr txBox="1"/>
          <p:nvPr/>
        </p:nvSpPr>
        <p:spPr>
          <a:xfrm>
            <a:off x="457200" y="224942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Step pill 3"/>
          <p:cNvSpPr/>
          <p:nvPr/>
        </p:nvSpPr>
        <p:spPr>
          <a:xfrm>
            <a:off x="960120" y="2249424"/>
            <a:ext cx="2606040" cy="402336"/>
          </a:xfrm>
          <a:prstGeom prst="roundRect">
            <a:avLst>
              <a:gd name="adj" fmla="val 18182"/>
            </a:avLst>
          </a:prstGeom>
          <a:solidFill>
            <a:schemeClr val="accent1"/>
          </a:solidFill>
          <a:ln/>
        </p:spPr>
      </p:sp>
      <p:sp>
        <p:nvSpPr>
          <p:cNvPr id="19" name="Step name 3"/>
          <p:cNvSpPr txBox="1"/>
          <p:nvPr/>
        </p:nvSpPr>
        <p:spPr>
          <a:xfrm>
            <a:off x="1097280" y="2249424"/>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Set a timeline</a:t>
            </a:r>
            <a:endParaRPr lang="en-US" sz="1400" dirty="0"/>
          </a:p>
        </p:txBody>
      </p:sp>
      <p:sp>
        <p:nvSpPr>
          <p:cNvPr id="20" name="Step answer box 3"/>
          <p:cNvSpPr/>
          <p:nvPr/>
        </p:nvSpPr>
        <p:spPr>
          <a:xfrm>
            <a:off x="3703320" y="2249424"/>
            <a:ext cx="4983480" cy="402336"/>
          </a:xfrm>
          <a:prstGeom prst="roundRect">
            <a:avLst>
              <a:gd name="adj" fmla="val 27273"/>
            </a:avLst>
          </a:prstGeom>
          <a:solidFill>
            <a:schemeClr val="bg2"/>
          </a:solidFill>
          <a:ln/>
        </p:spPr>
      </p:sp>
      <p:sp>
        <p:nvSpPr>
          <p:cNvPr id="21" name="Step answer 3"/>
          <p:cNvSpPr txBox="1"/>
          <p:nvPr/>
        </p:nvSpPr>
        <p:spPr>
          <a:xfrm>
            <a:off x="3840480" y="2249424"/>
            <a:ext cx="4754880" cy="402336"/>
          </a:xfrm>
          <a:prstGeom prst="rect">
            <a:avLst/>
          </a:prstGeom>
          <a:noFill/>
          <a:ln/>
        </p:spPr>
        <p:txBody>
          <a:bodyPr wrap="square" lIns="0" tIns="0" rIns="0" bIns="0" rtlCol="0" anchor="ctr"/>
          <a:lstStyle/>
          <a:p>
            <a:pPr indent="0" marL="0">
              <a:buNone/>
            </a:pPr>
            <a:r>
              <a:rPr lang="en-US" sz="1300" dirty="0">
                <a:solidFill>
                  <a:schemeClr val="tx1"/>
                </a:solidFill>
              </a:rPr>
              <a:t>4 weeks, with a clear deadline for every week</a:t>
            </a:r>
            <a:endParaRPr lang="en-US" sz="1300" dirty="0"/>
          </a:p>
        </p:txBody>
      </p:sp>
      <p:sp>
        <p:nvSpPr>
          <p:cNvPr id="22" name="Step dot 4"/>
          <p:cNvSpPr/>
          <p:nvPr/>
        </p:nvSpPr>
        <p:spPr>
          <a:xfrm>
            <a:off x="457200" y="2724912"/>
            <a:ext cx="402336" cy="402336"/>
          </a:xfrm>
          <a:prstGeom prst="ellipse">
            <a:avLst/>
          </a:prstGeom>
          <a:solidFill>
            <a:schemeClr val="tx2"/>
          </a:solidFill>
          <a:ln/>
        </p:spPr>
      </p:sp>
      <p:sp>
        <p:nvSpPr>
          <p:cNvPr id="23" name="Step no 4"/>
          <p:cNvSpPr txBox="1"/>
          <p:nvPr/>
        </p:nvSpPr>
        <p:spPr>
          <a:xfrm>
            <a:off x="457200" y="27249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Step pill 4"/>
          <p:cNvSpPr/>
          <p:nvPr/>
        </p:nvSpPr>
        <p:spPr>
          <a:xfrm>
            <a:off x="960120" y="2724912"/>
            <a:ext cx="2606040" cy="402336"/>
          </a:xfrm>
          <a:prstGeom prst="roundRect">
            <a:avLst>
              <a:gd name="adj" fmla="val 18182"/>
            </a:avLst>
          </a:prstGeom>
          <a:solidFill>
            <a:schemeClr val="accent4"/>
          </a:solidFill>
          <a:ln/>
        </p:spPr>
      </p:sp>
      <p:sp>
        <p:nvSpPr>
          <p:cNvPr id="25" name="Step name 4"/>
          <p:cNvSpPr txBox="1"/>
          <p:nvPr/>
        </p:nvSpPr>
        <p:spPr>
          <a:xfrm>
            <a:off x="1097280" y="2724912"/>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Assign responsibilities</a:t>
            </a:r>
            <a:endParaRPr lang="en-US" sz="1400" dirty="0"/>
          </a:p>
        </p:txBody>
      </p:sp>
      <p:sp>
        <p:nvSpPr>
          <p:cNvPr id="26" name="Step answer box 4"/>
          <p:cNvSpPr/>
          <p:nvPr/>
        </p:nvSpPr>
        <p:spPr>
          <a:xfrm>
            <a:off x="3703320" y="2724912"/>
            <a:ext cx="4983480" cy="402336"/>
          </a:xfrm>
          <a:prstGeom prst="roundRect">
            <a:avLst>
              <a:gd name="adj" fmla="val 27273"/>
            </a:avLst>
          </a:prstGeom>
          <a:solidFill>
            <a:schemeClr val="bg2"/>
          </a:solidFill>
          <a:ln/>
        </p:spPr>
      </p:sp>
      <p:sp>
        <p:nvSpPr>
          <p:cNvPr id="27" name="Step answer 4"/>
          <p:cNvSpPr txBox="1"/>
          <p:nvPr/>
        </p:nvSpPr>
        <p:spPr>
          <a:xfrm>
            <a:off x="3840480" y="2724912"/>
            <a:ext cx="4754880" cy="402336"/>
          </a:xfrm>
          <a:prstGeom prst="rect">
            <a:avLst/>
          </a:prstGeom>
          <a:noFill/>
          <a:ln/>
        </p:spPr>
        <p:txBody>
          <a:bodyPr wrap="square" lIns="0" tIns="0" rIns="0" bIns="0" rtlCol="0" anchor="ctr"/>
          <a:lstStyle/>
          <a:p>
            <a:pPr indent="0" marL="0">
              <a:buNone/>
            </a:pPr>
            <a:r>
              <a:rPr lang="en-US" sz="1300" dirty="0">
                <a:solidFill>
                  <a:schemeClr val="tx1"/>
                </a:solidFill>
              </a:rPr>
              <a:t>Every task has one owner from our team</a:t>
            </a:r>
            <a:endParaRPr lang="en-US" sz="1300" dirty="0"/>
          </a:p>
        </p:txBody>
      </p:sp>
      <p:sp>
        <p:nvSpPr>
          <p:cNvPr id="28" name="Step dot 5"/>
          <p:cNvSpPr/>
          <p:nvPr/>
        </p:nvSpPr>
        <p:spPr>
          <a:xfrm>
            <a:off x="457200" y="3200400"/>
            <a:ext cx="402336" cy="402336"/>
          </a:xfrm>
          <a:prstGeom prst="ellipse">
            <a:avLst/>
          </a:prstGeom>
          <a:solidFill>
            <a:schemeClr val="tx2"/>
          </a:solidFill>
          <a:ln/>
        </p:spPr>
      </p:sp>
      <p:sp>
        <p:nvSpPr>
          <p:cNvPr id="29" name="Step no 5"/>
          <p:cNvSpPr txBox="1"/>
          <p:nvPr/>
        </p:nvSpPr>
        <p:spPr>
          <a:xfrm>
            <a:off x="457200" y="32004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Step pill 5"/>
          <p:cNvSpPr/>
          <p:nvPr/>
        </p:nvSpPr>
        <p:spPr>
          <a:xfrm>
            <a:off x="960120" y="3200400"/>
            <a:ext cx="2606040" cy="402336"/>
          </a:xfrm>
          <a:prstGeom prst="roundRect">
            <a:avLst>
              <a:gd name="adj" fmla="val 18182"/>
            </a:avLst>
          </a:prstGeom>
          <a:solidFill>
            <a:schemeClr val="accent1"/>
          </a:solidFill>
          <a:ln/>
        </p:spPr>
      </p:sp>
      <p:sp>
        <p:nvSpPr>
          <p:cNvPr id="31" name="Step name 5"/>
          <p:cNvSpPr txBox="1"/>
          <p:nvPr/>
        </p:nvSpPr>
        <p:spPr>
          <a:xfrm>
            <a:off x="1097280" y="3200400"/>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Identify resources</a:t>
            </a:r>
            <a:endParaRPr lang="en-US" sz="1400" dirty="0"/>
          </a:p>
        </p:txBody>
      </p:sp>
      <p:sp>
        <p:nvSpPr>
          <p:cNvPr id="32" name="Step answer box 5"/>
          <p:cNvSpPr/>
          <p:nvPr/>
        </p:nvSpPr>
        <p:spPr>
          <a:xfrm>
            <a:off x="3703320" y="3200400"/>
            <a:ext cx="4983480" cy="402336"/>
          </a:xfrm>
          <a:prstGeom prst="roundRect">
            <a:avLst>
              <a:gd name="adj" fmla="val 27273"/>
            </a:avLst>
          </a:prstGeom>
          <a:solidFill>
            <a:schemeClr val="bg2"/>
          </a:solidFill>
          <a:ln/>
        </p:spPr>
      </p:sp>
      <p:sp>
        <p:nvSpPr>
          <p:cNvPr id="33" name="Step answer 5"/>
          <p:cNvSpPr txBox="1"/>
          <p:nvPr/>
        </p:nvSpPr>
        <p:spPr>
          <a:xfrm>
            <a:off x="3840480" y="3200400"/>
            <a:ext cx="4754880" cy="402336"/>
          </a:xfrm>
          <a:prstGeom prst="rect">
            <a:avLst/>
          </a:prstGeom>
          <a:noFill/>
          <a:ln/>
        </p:spPr>
        <p:txBody>
          <a:bodyPr wrap="square" lIns="0" tIns="0" rIns="0" bIns="0" rtlCol="0" anchor="ctr"/>
          <a:lstStyle/>
          <a:p>
            <a:pPr indent="0" marL="0">
              <a:buNone/>
            </a:pPr>
            <a:r>
              <a:rPr lang="en-US" sz="1300" dirty="0">
                <a:solidFill>
                  <a:schemeClr val="tx1"/>
                </a:solidFill>
              </a:rPr>
              <a:t>13,000 EGP budget, the right tools and the café's support</a:t>
            </a:r>
            <a:endParaRPr lang="en-US" sz="1300" dirty="0"/>
          </a:p>
        </p:txBody>
      </p:sp>
      <p:sp>
        <p:nvSpPr>
          <p:cNvPr id="34" name="Step dot 6"/>
          <p:cNvSpPr/>
          <p:nvPr/>
        </p:nvSpPr>
        <p:spPr>
          <a:xfrm>
            <a:off x="457200" y="3675888"/>
            <a:ext cx="402336" cy="402336"/>
          </a:xfrm>
          <a:prstGeom prst="ellipse">
            <a:avLst/>
          </a:prstGeom>
          <a:solidFill>
            <a:schemeClr val="tx2"/>
          </a:solidFill>
          <a:ln/>
        </p:spPr>
      </p:sp>
      <p:sp>
        <p:nvSpPr>
          <p:cNvPr id="35" name="Step no 6"/>
          <p:cNvSpPr txBox="1"/>
          <p:nvPr/>
        </p:nvSpPr>
        <p:spPr>
          <a:xfrm>
            <a:off x="457200" y="36758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Step pill 6"/>
          <p:cNvSpPr/>
          <p:nvPr/>
        </p:nvSpPr>
        <p:spPr>
          <a:xfrm>
            <a:off x="960120" y="3675888"/>
            <a:ext cx="2606040" cy="402336"/>
          </a:xfrm>
          <a:prstGeom prst="roundRect">
            <a:avLst>
              <a:gd name="adj" fmla="val 18182"/>
            </a:avLst>
          </a:prstGeom>
          <a:solidFill>
            <a:schemeClr val="accent4"/>
          </a:solidFill>
          <a:ln/>
        </p:spPr>
      </p:sp>
      <p:sp>
        <p:nvSpPr>
          <p:cNvPr id="37" name="Step name 6"/>
          <p:cNvSpPr txBox="1"/>
          <p:nvPr/>
        </p:nvSpPr>
        <p:spPr>
          <a:xfrm>
            <a:off x="1097280" y="3675888"/>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Monitor and assess progress</a:t>
            </a:r>
            <a:endParaRPr lang="en-US" sz="1400" dirty="0"/>
          </a:p>
        </p:txBody>
      </p:sp>
      <p:sp>
        <p:nvSpPr>
          <p:cNvPr id="38" name="Step answer box 6"/>
          <p:cNvSpPr/>
          <p:nvPr/>
        </p:nvSpPr>
        <p:spPr>
          <a:xfrm>
            <a:off x="3703320" y="3675888"/>
            <a:ext cx="4983480" cy="402336"/>
          </a:xfrm>
          <a:prstGeom prst="roundRect">
            <a:avLst>
              <a:gd name="adj" fmla="val 27273"/>
            </a:avLst>
          </a:prstGeom>
          <a:solidFill>
            <a:schemeClr val="bg2"/>
          </a:solidFill>
          <a:ln/>
        </p:spPr>
      </p:sp>
      <p:sp>
        <p:nvSpPr>
          <p:cNvPr id="39" name="Step answer 6"/>
          <p:cNvSpPr txBox="1"/>
          <p:nvPr/>
        </p:nvSpPr>
        <p:spPr>
          <a:xfrm>
            <a:off x="3840480" y="3675888"/>
            <a:ext cx="4754880" cy="402336"/>
          </a:xfrm>
          <a:prstGeom prst="rect">
            <a:avLst/>
          </a:prstGeom>
          <a:noFill/>
          <a:ln/>
        </p:spPr>
        <p:txBody>
          <a:bodyPr wrap="square" lIns="0" tIns="0" rIns="0" bIns="0" rtlCol="0" anchor="ctr"/>
          <a:lstStyle/>
          <a:p>
            <a:pPr indent="0" marL="0">
              <a:buNone/>
            </a:pPr>
            <a:r>
              <a:rPr lang="en-US" sz="1300" dirty="0">
                <a:solidFill>
                  <a:schemeClr val="tx1"/>
                </a:solidFill>
              </a:rPr>
              <a:t>We track 5 KPIs and send a report every Sunday</a:t>
            </a:r>
            <a:endParaRPr lang="en-US" sz="1300" dirty="0"/>
          </a:p>
        </p:txBody>
      </p:sp>
      <p:sp>
        <p:nvSpPr>
          <p:cNvPr id="40" name="Step dot 7"/>
          <p:cNvSpPr/>
          <p:nvPr/>
        </p:nvSpPr>
        <p:spPr>
          <a:xfrm>
            <a:off x="457200" y="4151376"/>
            <a:ext cx="402336" cy="402336"/>
          </a:xfrm>
          <a:prstGeom prst="ellipse">
            <a:avLst/>
          </a:prstGeom>
          <a:solidFill>
            <a:schemeClr val="tx2"/>
          </a:solidFill>
          <a:ln/>
        </p:spPr>
      </p:sp>
      <p:sp>
        <p:nvSpPr>
          <p:cNvPr id="41" name="Step no 7"/>
          <p:cNvSpPr txBox="1"/>
          <p:nvPr/>
        </p:nvSpPr>
        <p:spPr>
          <a:xfrm>
            <a:off x="457200" y="415137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2" name="Step pill 7"/>
          <p:cNvSpPr/>
          <p:nvPr/>
        </p:nvSpPr>
        <p:spPr>
          <a:xfrm>
            <a:off x="960120" y="4151376"/>
            <a:ext cx="2606040" cy="402336"/>
          </a:xfrm>
          <a:prstGeom prst="roundRect">
            <a:avLst>
              <a:gd name="adj" fmla="val 18182"/>
            </a:avLst>
          </a:prstGeom>
          <a:solidFill>
            <a:schemeClr val="accent1"/>
          </a:solidFill>
          <a:ln/>
        </p:spPr>
      </p:sp>
      <p:sp>
        <p:nvSpPr>
          <p:cNvPr id="43" name="Step name 7"/>
          <p:cNvSpPr txBox="1"/>
          <p:nvPr/>
        </p:nvSpPr>
        <p:spPr>
          <a:xfrm>
            <a:off x="1097280" y="4151376"/>
            <a:ext cx="2423160" cy="402336"/>
          </a:xfrm>
          <a:prstGeom prst="rect">
            <a:avLst/>
          </a:prstGeom>
          <a:noFill/>
          <a:ln/>
        </p:spPr>
        <p:txBody>
          <a:bodyPr wrap="square" lIns="0" tIns="0" rIns="0" bIns="0" rtlCol="0" anchor="ctr"/>
          <a:lstStyle/>
          <a:p>
            <a:pPr indent="0" marL="0">
              <a:buNone/>
            </a:pPr>
            <a:r>
              <a:rPr lang="en-US" sz="1400" b="1" dirty="0">
                <a:solidFill>
                  <a:schemeClr val="bg1"/>
                </a:solidFill>
              </a:rPr>
              <a:t>Review and adjust</a:t>
            </a:r>
            <a:endParaRPr lang="en-US" sz="1400" dirty="0"/>
          </a:p>
        </p:txBody>
      </p:sp>
      <p:sp>
        <p:nvSpPr>
          <p:cNvPr id="44" name="Step answer box 7"/>
          <p:cNvSpPr/>
          <p:nvPr/>
        </p:nvSpPr>
        <p:spPr>
          <a:xfrm>
            <a:off x="3703320" y="4151376"/>
            <a:ext cx="4983480" cy="402336"/>
          </a:xfrm>
          <a:prstGeom prst="roundRect">
            <a:avLst>
              <a:gd name="adj" fmla="val 27273"/>
            </a:avLst>
          </a:prstGeom>
          <a:solidFill>
            <a:schemeClr val="bg2"/>
          </a:solidFill>
          <a:ln/>
        </p:spPr>
      </p:sp>
      <p:sp>
        <p:nvSpPr>
          <p:cNvPr id="45" name="Step answer 7"/>
          <p:cNvSpPr txBox="1"/>
          <p:nvPr/>
        </p:nvSpPr>
        <p:spPr>
          <a:xfrm>
            <a:off x="3840480" y="4151376"/>
            <a:ext cx="4754880" cy="402336"/>
          </a:xfrm>
          <a:prstGeom prst="rect">
            <a:avLst/>
          </a:prstGeom>
          <a:noFill/>
          <a:ln/>
        </p:spPr>
        <p:txBody>
          <a:bodyPr wrap="square" lIns="0" tIns="0" rIns="0" bIns="0" rtlCol="0" anchor="ctr"/>
          <a:lstStyle/>
          <a:p>
            <a:pPr indent="0" marL="0">
              <a:buNone/>
            </a:pPr>
            <a:r>
              <a:rPr lang="en-US" sz="1300" dirty="0">
                <a:solidFill>
                  <a:schemeClr val="tx1"/>
                </a:solidFill>
              </a:rPr>
              <a:t>Fix what's weak every week, full review at month end</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1  ·  DEFINE YOUR GOALS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SMART Goals for Month One</a:t>
            </a:r>
            <a:endParaRPr lang="en-US" sz="3200" dirty="0"/>
          </a:p>
        </p:txBody>
      </p:sp>
      <p:sp>
        <p:nvSpPr>
          <p:cNvPr id="4" name="SMART S"/>
          <p:cNvSpPr/>
          <p:nvPr/>
        </p:nvSpPr>
        <p:spPr>
          <a:xfrm>
            <a:off x="457200" y="1298448"/>
            <a:ext cx="1536192" cy="457200"/>
          </a:xfrm>
          <a:prstGeom prst="roundRect">
            <a:avLst>
              <a:gd name="adj" fmla="val 24000"/>
            </a:avLst>
          </a:prstGeom>
          <a:solidFill>
            <a:schemeClr val="bg2"/>
          </a:solidFill>
          <a:ln/>
        </p:spPr>
      </p:sp>
      <p:sp>
        <p:nvSpPr>
          <p:cNvPr id="5" name="SMART dot S"/>
          <p:cNvSpPr/>
          <p:nvPr/>
        </p:nvSpPr>
        <p:spPr>
          <a:xfrm>
            <a:off x="530352" y="1353312"/>
            <a:ext cx="347472" cy="347472"/>
          </a:xfrm>
          <a:prstGeom prst="ellipse">
            <a:avLst/>
          </a:prstGeom>
          <a:solidFill>
            <a:schemeClr val="accent1"/>
          </a:solidFill>
          <a:ln/>
        </p:spPr>
      </p:sp>
      <p:sp>
        <p:nvSpPr>
          <p:cNvPr id="6" name="SMART letter S"/>
          <p:cNvSpPr txBox="1"/>
          <p:nvPr/>
        </p:nvSpPr>
        <p:spPr>
          <a:xfrm>
            <a:off x="530352" y="1353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S</a:t>
            </a:r>
            <a:endParaRPr lang="en-US" sz="1400" dirty="0"/>
          </a:p>
        </p:txBody>
      </p:sp>
      <p:sp>
        <p:nvSpPr>
          <p:cNvPr id="7" name="SMART word S"/>
          <p:cNvSpPr txBox="1"/>
          <p:nvPr/>
        </p:nvSpPr>
        <p:spPr>
          <a:xfrm>
            <a:off x="960120" y="1298448"/>
            <a:ext cx="1005840" cy="457200"/>
          </a:xfrm>
          <a:prstGeom prst="rect">
            <a:avLst/>
          </a:prstGeom>
          <a:noFill/>
          <a:ln/>
        </p:spPr>
        <p:txBody>
          <a:bodyPr wrap="square" lIns="0" tIns="0" rIns="0" bIns="0" rtlCol="0" anchor="ctr"/>
          <a:lstStyle/>
          <a:p>
            <a:pPr indent="0" marL="0">
              <a:buNone/>
            </a:pPr>
            <a:r>
              <a:rPr lang="en-US" sz="1300" b="1" dirty="0">
                <a:solidFill>
                  <a:schemeClr val="tx2"/>
                </a:solidFill>
              </a:rPr>
              <a:t>Specific</a:t>
            </a:r>
            <a:endParaRPr lang="en-US" sz="1300" dirty="0"/>
          </a:p>
        </p:txBody>
      </p:sp>
      <p:sp>
        <p:nvSpPr>
          <p:cNvPr id="8" name="SMART M"/>
          <p:cNvSpPr/>
          <p:nvPr/>
        </p:nvSpPr>
        <p:spPr>
          <a:xfrm>
            <a:off x="2130552" y="1298448"/>
            <a:ext cx="1536192" cy="457200"/>
          </a:xfrm>
          <a:prstGeom prst="roundRect">
            <a:avLst>
              <a:gd name="adj" fmla="val 24000"/>
            </a:avLst>
          </a:prstGeom>
          <a:solidFill>
            <a:schemeClr val="bg2"/>
          </a:solidFill>
          <a:ln/>
        </p:spPr>
      </p:sp>
      <p:sp>
        <p:nvSpPr>
          <p:cNvPr id="9" name="SMART dot M"/>
          <p:cNvSpPr/>
          <p:nvPr/>
        </p:nvSpPr>
        <p:spPr>
          <a:xfrm>
            <a:off x="2203704" y="1353312"/>
            <a:ext cx="347472" cy="347472"/>
          </a:xfrm>
          <a:prstGeom prst="ellipse">
            <a:avLst/>
          </a:prstGeom>
          <a:solidFill>
            <a:schemeClr val="accent4"/>
          </a:solidFill>
          <a:ln/>
        </p:spPr>
      </p:sp>
      <p:sp>
        <p:nvSpPr>
          <p:cNvPr id="10" name="SMART letter M"/>
          <p:cNvSpPr txBox="1"/>
          <p:nvPr/>
        </p:nvSpPr>
        <p:spPr>
          <a:xfrm>
            <a:off x="2203704" y="1353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M</a:t>
            </a:r>
            <a:endParaRPr lang="en-US" sz="1400" dirty="0"/>
          </a:p>
        </p:txBody>
      </p:sp>
      <p:sp>
        <p:nvSpPr>
          <p:cNvPr id="11" name="SMART word M"/>
          <p:cNvSpPr txBox="1"/>
          <p:nvPr/>
        </p:nvSpPr>
        <p:spPr>
          <a:xfrm>
            <a:off x="2633472" y="1298448"/>
            <a:ext cx="1005840" cy="457200"/>
          </a:xfrm>
          <a:prstGeom prst="rect">
            <a:avLst/>
          </a:prstGeom>
          <a:noFill/>
          <a:ln/>
        </p:spPr>
        <p:txBody>
          <a:bodyPr wrap="square" lIns="0" tIns="0" rIns="0" bIns="0" rtlCol="0" anchor="ctr"/>
          <a:lstStyle/>
          <a:p>
            <a:pPr indent="0" marL="0">
              <a:buNone/>
            </a:pPr>
            <a:r>
              <a:rPr lang="en-US" sz="1300" b="1" dirty="0">
                <a:solidFill>
                  <a:schemeClr val="tx2"/>
                </a:solidFill>
              </a:rPr>
              <a:t>Measurable</a:t>
            </a:r>
            <a:endParaRPr lang="en-US" sz="1300" dirty="0"/>
          </a:p>
        </p:txBody>
      </p:sp>
      <p:sp>
        <p:nvSpPr>
          <p:cNvPr id="12" name="SMART A"/>
          <p:cNvSpPr/>
          <p:nvPr/>
        </p:nvSpPr>
        <p:spPr>
          <a:xfrm>
            <a:off x="3803904" y="1298448"/>
            <a:ext cx="1536192" cy="457200"/>
          </a:xfrm>
          <a:prstGeom prst="roundRect">
            <a:avLst>
              <a:gd name="adj" fmla="val 24000"/>
            </a:avLst>
          </a:prstGeom>
          <a:solidFill>
            <a:schemeClr val="bg2"/>
          </a:solidFill>
          <a:ln/>
        </p:spPr>
      </p:sp>
      <p:sp>
        <p:nvSpPr>
          <p:cNvPr id="13" name="SMART dot A"/>
          <p:cNvSpPr/>
          <p:nvPr/>
        </p:nvSpPr>
        <p:spPr>
          <a:xfrm>
            <a:off x="3877056" y="1353312"/>
            <a:ext cx="347472" cy="347472"/>
          </a:xfrm>
          <a:prstGeom prst="ellipse">
            <a:avLst/>
          </a:prstGeom>
          <a:solidFill>
            <a:schemeClr val="accent1"/>
          </a:solidFill>
          <a:ln/>
        </p:spPr>
      </p:sp>
      <p:sp>
        <p:nvSpPr>
          <p:cNvPr id="14" name="SMART letter A"/>
          <p:cNvSpPr txBox="1"/>
          <p:nvPr/>
        </p:nvSpPr>
        <p:spPr>
          <a:xfrm>
            <a:off x="3877056" y="1353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5" name="SMART word A"/>
          <p:cNvSpPr txBox="1"/>
          <p:nvPr/>
        </p:nvSpPr>
        <p:spPr>
          <a:xfrm>
            <a:off x="4306824" y="1298448"/>
            <a:ext cx="1005840" cy="457200"/>
          </a:xfrm>
          <a:prstGeom prst="rect">
            <a:avLst/>
          </a:prstGeom>
          <a:noFill/>
          <a:ln/>
        </p:spPr>
        <p:txBody>
          <a:bodyPr wrap="square" lIns="0" tIns="0" rIns="0" bIns="0" rtlCol="0" anchor="ctr"/>
          <a:lstStyle/>
          <a:p>
            <a:pPr indent="0" marL="0">
              <a:buNone/>
            </a:pPr>
            <a:r>
              <a:rPr lang="en-US" sz="1300" b="1" dirty="0">
                <a:solidFill>
                  <a:schemeClr val="tx2"/>
                </a:solidFill>
              </a:rPr>
              <a:t>Achievable</a:t>
            </a:r>
            <a:endParaRPr lang="en-US" sz="1300" dirty="0"/>
          </a:p>
        </p:txBody>
      </p:sp>
      <p:sp>
        <p:nvSpPr>
          <p:cNvPr id="16" name="SMART R"/>
          <p:cNvSpPr/>
          <p:nvPr/>
        </p:nvSpPr>
        <p:spPr>
          <a:xfrm>
            <a:off x="5477256" y="1298448"/>
            <a:ext cx="1536192" cy="457200"/>
          </a:xfrm>
          <a:prstGeom prst="roundRect">
            <a:avLst>
              <a:gd name="adj" fmla="val 24000"/>
            </a:avLst>
          </a:prstGeom>
          <a:solidFill>
            <a:schemeClr val="bg2"/>
          </a:solidFill>
          <a:ln/>
        </p:spPr>
      </p:sp>
      <p:sp>
        <p:nvSpPr>
          <p:cNvPr id="17" name="SMART dot R"/>
          <p:cNvSpPr/>
          <p:nvPr/>
        </p:nvSpPr>
        <p:spPr>
          <a:xfrm>
            <a:off x="5550408" y="1353312"/>
            <a:ext cx="347472" cy="347472"/>
          </a:xfrm>
          <a:prstGeom prst="ellipse">
            <a:avLst/>
          </a:prstGeom>
          <a:solidFill>
            <a:schemeClr val="accent4"/>
          </a:solidFill>
          <a:ln/>
        </p:spPr>
      </p:sp>
      <p:sp>
        <p:nvSpPr>
          <p:cNvPr id="18" name="SMART letter R"/>
          <p:cNvSpPr txBox="1"/>
          <p:nvPr/>
        </p:nvSpPr>
        <p:spPr>
          <a:xfrm>
            <a:off x="5550408" y="1353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R</a:t>
            </a:r>
            <a:endParaRPr lang="en-US" sz="1400" dirty="0"/>
          </a:p>
        </p:txBody>
      </p:sp>
      <p:sp>
        <p:nvSpPr>
          <p:cNvPr id="19" name="SMART word R"/>
          <p:cNvSpPr txBox="1"/>
          <p:nvPr/>
        </p:nvSpPr>
        <p:spPr>
          <a:xfrm>
            <a:off x="5980176" y="1298448"/>
            <a:ext cx="1005840" cy="457200"/>
          </a:xfrm>
          <a:prstGeom prst="rect">
            <a:avLst/>
          </a:prstGeom>
          <a:noFill/>
          <a:ln/>
        </p:spPr>
        <p:txBody>
          <a:bodyPr wrap="square" lIns="0" tIns="0" rIns="0" bIns="0" rtlCol="0" anchor="ctr"/>
          <a:lstStyle/>
          <a:p>
            <a:pPr indent="0" marL="0">
              <a:buNone/>
            </a:pPr>
            <a:r>
              <a:rPr lang="en-US" sz="1300" b="1" dirty="0">
                <a:solidFill>
                  <a:schemeClr val="tx2"/>
                </a:solidFill>
              </a:rPr>
              <a:t>Relevant</a:t>
            </a:r>
            <a:endParaRPr lang="en-US" sz="1300" dirty="0"/>
          </a:p>
        </p:txBody>
      </p:sp>
      <p:sp>
        <p:nvSpPr>
          <p:cNvPr id="20" name="SMART T"/>
          <p:cNvSpPr/>
          <p:nvPr/>
        </p:nvSpPr>
        <p:spPr>
          <a:xfrm>
            <a:off x="7150608" y="1298448"/>
            <a:ext cx="1536192" cy="457200"/>
          </a:xfrm>
          <a:prstGeom prst="roundRect">
            <a:avLst>
              <a:gd name="adj" fmla="val 24000"/>
            </a:avLst>
          </a:prstGeom>
          <a:solidFill>
            <a:schemeClr val="bg2"/>
          </a:solidFill>
          <a:ln/>
        </p:spPr>
      </p:sp>
      <p:sp>
        <p:nvSpPr>
          <p:cNvPr id="21" name="SMART dot T"/>
          <p:cNvSpPr/>
          <p:nvPr/>
        </p:nvSpPr>
        <p:spPr>
          <a:xfrm>
            <a:off x="7223760" y="1353312"/>
            <a:ext cx="347472" cy="347472"/>
          </a:xfrm>
          <a:prstGeom prst="ellipse">
            <a:avLst/>
          </a:prstGeom>
          <a:solidFill>
            <a:schemeClr val="accent1"/>
          </a:solidFill>
          <a:ln/>
        </p:spPr>
      </p:sp>
      <p:sp>
        <p:nvSpPr>
          <p:cNvPr id="22" name="SMART letter T"/>
          <p:cNvSpPr txBox="1"/>
          <p:nvPr/>
        </p:nvSpPr>
        <p:spPr>
          <a:xfrm>
            <a:off x="7223760" y="1353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T</a:t>
            </a:r>
            <a:endParaRPr lang="en-US" sz="1400" dirty="0"/>
          </a:p>
        </p:txBody>
      </p:sp>
      <p:sp>
        <p:nvSpPr>
          <p:cNvPr id="23" name="SMART word T"/>
          <p:cNvSpPr txBox="1"/>
          <p:nvPr/>
        </p:nvSpPr>
        <p:spPr>
          <a:xfrm>
            <a:off x="7653528" y="1298448"/>
            <a:ext cx="1005840" cy="457200"/>
          </a:xfrm>
          <a:prstGeom prst="rect">
            <a:avLst/>
          </a:prstGeom>
          <a:noFill/>
          <a:ln/>
        </p:spPr>
        <p:txBody>
          <a:bodyPr wrap="square" lIns="0" tIns="0" rIns="0" bIns="0" rtlCol="0" anchor="ctr"/>
          <a:lstStyle/>
          <a:p>
            <a:pPr indent="0" marL="0">
              <a:buNone/>
            </a:pPr>
            <a:r>
              <a:rPr lang="en-US" sz="1300" b="1" dirty="0">
                <a:solidFill>
                  <a:schemeClr val="tx2"/>
                </a:solidFill>
              </a:rPr>
              <a:t>Time-bound</a:t>
            </a:r>
            <a:endParaRPr lang="en-US" sz="1300" dirty="0"/>
          </a:p>
        </p:txBody>
      </p:sp>
      <p:sp>
        <p:nvSpPr>
          <p:cNvPr id="24" name="Goal card 1"/>
          <p:cNvSpPr/>
          <p:nvPr/>
        </p:nvSpPr>
        <p:spPr>
          <a:xfrm>
            <a:off x="457200" y="1965960"/>
            <a:ext cx="1920240" cy="2331720"/>
          </a:xfrm>
          <a:prstGeom prst="roundRect">
            <a:avLst>
              <a:gd name="adj" fmla="val 5714"/>
            </a:avLst>
          </a:prstGeom>
          <a:solidFill>
            <a:schemeClr val="bg2"/>
          </a:solidFill>
          <a:ln/>
        </p:spPr>
      </p:sp>
      <p:sp>
        <p:nvSpPr>
          <p:cNvPr id="25" name="Awareness circle"/>
          <p:cNvSpPr/>
          <p:nvPr/>
        </p:nvSpPr>
        <p:spPr>
          <a:xfrm>
            <a:off x="640080" y="2121408"/>
            <a:ext cx="457200" cy="457200"/>
          </a:xfrm>
          <a:prstGeom prst="ellipse">
            <a:avLst/>
          </a:prstGeom>
          <a:solidFill>
            <a:schemeClr val="tx2"/>
          </a:solidFill>
          <a:ln/>
        </p:spPr>
      </p:sp>
      <p:pic>
        <p:nvPicPr>
          <p:cNvPr id="26" name="Awareness icon" descr="Awareness">    </p:cNvPr>
          <p:cNvPicPr>
            <a:picLocks noChangeAspect="1"/>
          </p:cNvPicPr>
          <p:nvPr/>
        </p:nvPicPr>
        <p:blipFill>
          <a:blip r:embed="rId1"/>
          <a:stretch>
            <a:fillRect/>
          </a:stretch>
        </p:blipFill>
        <p:spPr>
          <a:xfrm>
            <a:off x="763524" y="2244852"/>
            <a:ext cx="210312" cy="210312"/>
          </a:xfrm>
          <a:prstGeom prst="rect">
            <a:avLst/>
          </a:prstGeom>
        </p:spPr>
      </p:pic>
      <p:sp>
        <p:nvSpPr>
          <p:cNvPr id="27" name="Goal label 1"/>
          <p:cNvSpPr txBox="1"/>
          <p:nvPr/>
        </p:nvSpPr>
        <p:spPr>
          <a:xfrm>
            <a:off x="1207008" y="2121408"/>
            <a:ext cx="1097280" cy="457200"/>
          </a:xfrm>
          <a:prstGeom prst="rect">
            <a:avLst/>
          </a:prstGeom>
          <a:noFill/>
          <a:ln/>
        </p:spPr>
        <p:txBody>
          <a:bodyPr wrap="square" lIns="0" tIns="0" rIns="0" bIns="0" rtlCol="0" anchor="ctr"/>
          <a:lstStyle/>
          <a:p>
            <a:pPr indent="0" marL="0">
              <a:buNone/>
            </a:pPr>
            <a:r>
              <a:rPr lang="en-US" sz="1100" b="1" spc="100" kern="0" dirty="0">
                <a:solidFill>
                  <a:schemeClr val="accent1"/>
                </a:solidFill>
              </a:rPr>
              <a:t>AWARENESS</a:t>
            </a:r>
            <a:endParaRPr lang="en-US" sz="1100" dirty="0"/>
          </a:p>
        </p:txBody>
      </p:sp>
      <p:sp>
        <p:nvSpPr>
          <p:cNvPr id="28" name="Goal value 1"/>
          <p:cNvSpPr txBox="1"/>
          <p:nvPr/>
        </p:nvSpPr>
        <p:spPr>
          <a:xfrm>
            <a:off x="640080" y="2724912"/>
            <a:ext cx="1600200" cy="5943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40K+</a:t>
            </a:r>
            <a:endParaRPr lang="en-US" sz="3400" dirty="0"/>
          </a:p>
        </p:txBody>
      </p:sp>
      <p:sp>
        <p:nvSpPr>
          <p:cNvPr id="29" name="Goal text 1"/>
          <p:cNvSpPr txBox="1"/>
          <p:nvPr/>
        </p:nvSpPr>
        <p:spPr>
          <a:xfrm>
            <a:off x="640080" y="3383280"/>
            <a:ext cx="1600200" cy="777240"/>
          </a:xfrm>
          <a:prstGeom prst="rect">
            <a:avLst/>
          </a:prstGeom>
          <a:noFill/>
          <a:ln/>
        </p:spPr>
        <p:txBody>
          <a:bodyPr wrap="square" lIns="0" tIns="0" rIns="0" bIns="0" rtlCol="0" anchor="t"/>
          <a:lstStyle/>
          <a:p>
            <a:pPr indent="0" marL="0">
              <a:buNone/>
            </a:pPr>
            <a:r>
              <a:rPr lang="en-US" sz="1300" dirty="0">
                <a:solidFill>
                  <a:schemeClr val="tx1"/>
                </a:solidFill>
              </a:rPr>
              <a:t>people nearby see The Daily Cup</a:t>
            </a:r>
            <a:endParaRPr lang="en-US" sz="1300" dirty="0"/>
          </a:p>
        </p:txBody>
      </p:sp>
      <p:sp>
        <p:nvSpPr>
          <p:cNvPr id="30" name="Goal card 2"/>
          <p:cNvSpPr/>
          <p:nvPr/>
        </p:nvSpPr>
        <p:spPr>
          <a:xfrm>
            <a:off x="2560320" y="1965960"/>
            <a:ext cx="1920240" cy="2331720"/>
          </a:xfrm>
          <a:prstGeom prst="roundRect">
            <a:avLst>
              <a:gd name="adj" fmla="val 5714"/>
            </a:avLst>
          </a:prstGeom>
          <a:solidFill>
            <a:schemeClr val="bg2"/>
          </a:solidFill>
          <a:ln/>
        </p:spPr>
      </p:sp>
      <p:sp>
        <p:nvSpPr>
          <p:cNvPr id="31" name="Community circle"/>
          <p:cNvSpPr/>
          <p:nvPr/>
        </p:nvSpPr>
        <p:spPr>
          <a:xfrm>
            <a:off x="2743200" y="2121408"/>
            <a:ext cx="457200" cy="457200"/>
          </a:xfrm>
          <a:prstGeom prst="ellipse">
            <a:avLst/>
          </a:prstGeom>
          <a:solidFill>
            <a:schemeClr val="tx2"/>
          </a:solidFill>
          <a:ln/>
        </p:spPr>
      </p:sp>
      <p:pic>
        <p:nvPicPr>
          <p:cNvPr id="32" name="Community icon" descr="Community">    </p:cNvPr>
          <p:cNvPicPr>
            <a:picLocks noChangeAspect="1"/>
          </p:cNvPicPr>
          <p:nvPr/>
        </p:nvPicPr>
        <p:blipFill>
          <a:blip r:embed="rId2"/>
          <a:stretch>
            <a:fillRect/>
          </a:stretch>
        </p:blipFill>
        <p:spPr>
          <a:xfrm>
            <a:off x="2866644" y="2244852"/>
            <a:ext cx="210312" cy="210312"/>
          </a:xfrm>
          <a:prstGeom prst="rect">
            <a:avLst/>
          </a:prstGeom>
        </p:spPr>
      </p:pic>
      <p:sp>
        <p:nvSpPr>
          <p:cNvPr id="33" name="Goal label 2"/>
          <p:cNvSpPr txBox="1"/>
          <p:nvPr/>
        </p:nvSpPr>
        <p:spPr>
          <a:xfrm>
            <a:off x="3310128" y="2121408"/>
            <a:ext cx="1097280" cy="457200"/>
          </a:xfrm>
          <a:prstGeom prst="rect">
            <a:avLst/>
          </a:prstGeom>
          <a:noFill/>
          <a:ln/>
        </p:spPr>
        <p:txBody>
          <a:bodyPr wrap="square" lIns="0" tIns="0" rIns="0" bIns="0" rtlCol="0" anchor="ctr"/>
          <a:lstStyle/>
          <a:p>
            <a:pPr indent="0" marL="0">
              <a:buNone/>
            </a:pPr>
            <a:r>
              <a:rPr lang="en-US" sz="1100" b="1" spc="100" kern="0" dirty="0">
                <a:solidFill>
                  <a:schemeClr val="accent1"/>
                </a:solidFill>
              </a:rPr>
              <a:t>COMMUNITY</a:t>
            </a:r>
            <a:endParaRPr lang="en-US" sz="1100" dirty="0"/>
          </a:p>
        </p:txBody>
      </p:sp>
      <p:sp>
        <p:nvSpPr>
          <p:cNvPr id="34" name="Goal value 2"/>
          <p:cNvSpPr txBox="1"/>
          <p:nvPr/>
        </p:nvSpPr>
        <p:spPr>
          <a:xfrm>
            <a:off x="2743200" y="2724912"/>
            <a:ext cx="1600200" cy="5943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+500</a:t>
            </a:r>
            <a:endParaRPr lang="en-US" sz="3400" dirty="0"/>
          </a:p>
        </p:txBody>
      </p:sp>
      <p:sp>
        <p:nvSpPr>
          <p:cNvPr id="35" name="Goal text 2"/>
          <p:cNvSpPr txBox="1"/>
          <p:nvPr/>
        </p:nvSpPr>
        <p:spPr>
          <a:xfrm>
            <a:off x="2743200" y="3383280"/>
            <a:ext cx="1600200" cy="777240"/>
          </a:xfrm>
          <a:prstGeom prst="rect">
            <a:avLst/>
          </a:prstGeom>
          <a:noFill/>
          <a:ln/>
        </p:spPr>
        <p:txBody>
          <a:bodyPr wrap="square" lIns="0" tIns="0" rIns="0" bIns="0" rtlCol="0" anchor="t"/>
          <a:lstStyle/>
          <a:p>
            <a:pPr indent="0" marL="0">
              <a:buNone/>
            </a:pPr>
            <a:r>
              <a:rPr lang="en-US" sz="1300" dirty="0">
                <a:solidFill>
                  <a:schemeClr val="tx1"/>
                </a:solidFill>
              </a:rPr>
              <a:t>new Instagram followers</a:t>
            </a:r>
            <a:endParaRPr lang="en-US" sz="1300" dirty="0"/>
          </a:p>
        </p:txBody>
      </p:sp>
      <p:sp>
        <p:nvSpPr>
          <p:cNvPr id="36" name="Goal card 3"/>
          <p:cNvSpPr/>
          <p:nvPr/>
        </p:nvSpPr>
        <p:spPr>
          <a:xfrm>
            <a:off x="4663440" y="1965960"/>
            <a:ext cx="1920240" cy="2331720"/>
          </a:xfrm>
          <a:prstGeom prst="roundRect">
            <a:avLst>
              <a:gd name="adj" fmla="val 5714"/>
            </a:avLst>
          </a:prstGeom>
          <a:solidFill>
            <a:schemeClr val="bg2"/>
          </a:solidFill>
          <a:ln/>
        </p:spPr>
      </p:sp>
      <p:sp>
        <p:nvSpPr>
          <p:cNvPr id="37" name="Inquiries circle"/>
          <p:cNvSpPr/>
          <p:nvPr/>
        </p:nvSpPr>
        <p:spPr>
          <a:xfrm>
            <a:off x="4846320" y="2121408"/>
            <a:ext cx="457200" cy="457200"/>
          </a:xfrm>
          <a:prstGeom prst="ellipse">
            <a:avLst/>
          </a:prstGeom>
          <a:solidFill>
            <a:schemeClr val="tx2"/>
          </a:solidFill>
          <a:ln/>
        </p:spPr>
      </p:sp>
      <p:pic>
        <p:nvPicPr>
          <p:cNvPr id="38" name="Inquiries icon" descr="Inquiries">    </p:cNvPr>
          <p:cNvPicPr>
            <a:picLocks noChangeAspect="1"/>
          </p:cNvPicPr>
          <p:nvPr/>
        </p:nvPicPr>
        <p:blipFill>
          <a:blip r:embed="rId3"/>
          <a:stretch>
            <a:fillRect/>
          </a:stretch>
        </p:blipFill>
        <p:spPr>
          <a:xfrm>
            <a:off x="4969764" y="2244852"/>
            <a:ext cx="210312" cy="210312"/>
          </a:xfrm>
          <a:prstGeom prst="rect">
            <a:avLst/>
          </a:prstGeom>
        </p:spPr>
      </p:pic>
      <p:sp>
        <p:nvSpPr>
          <p:cNvPr id="39" name="Goal label 3"/>
          <p:cNvSpPr txBox="1"/>
          <p:nvPr/>
        </p:nvSpPr>
        <p:spPr>
          <a:xfrm>
            <a:off x="5413248" y="2121408"/>
            <a:ext cx="1097280" cy="457200"/>
          </a:xfrm>
          <a:prstGeom prst="rect">
            <a:avLst/>
          </a:prstGeom>
          <a:noFill/>
          <a:ln/>
        </p:spPr>
        <p:txBody>
          <a:bodyPr wrap="square" lIns="0" tIns="0" rIns="0" bIns="0" rtlCol="0" anchor="ctr"/>
          <a:lstStyle/>
          <a:p>
            <a:pPr indent="0" marL="0">
              <a:buNone/>
            </a:pPr>
            <a:r>
              <a:rPr lang="en-US" sz="1100" b="1" spc="100" kern="0" dirty="0">
                <a:solidFill>
                  <a:schemeClr val="accent1"/>
                </a:solidFill>
              </a:rPr>
              <a:t>INQUIRIES</a:t>
            </a:r>
            <a:endParaRPr lang="en-US" sz="1100" dirty="0"/>
          </a:p>
        </p:txBody>
      </p:sp>
      <p:sp>
        <p:nvSpPr>
          <p:cNvPr id="40" name="Goal value 3"/>
          <p:cNvSpPr txBox="1"/>
          <p:nvPr/>
        </p:nvSpPr>
        <p:spPr>
          <a:xfrm>
            <a:off x="4846320" y="2724912"/>
            <a:ext cx="1600200" cy="5943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100+</a:t>
            </a:r>
            <a:endParaRPr lang="en-US" sz="3400" dirty="0"/>
          </a:p>
        </p:txBody>
      </p:sp>
      <p:sp>
        <p:nvSpPr>
          <p:cNvPr id="41" name="Goal text 3"/>
          <p:cNvSpPr txBox="1"/>
          <p:nvPr/>
        </p:nvSpPr>
        <p:spPr>
          <a:xfrm>
            <a:off x="4846320" y="3383280"/>
            <a:ext cx="1600200" cy="777240"/>
          </a:xfrm>
          <a:prstGeom prst="rect">
            <a:avLst/>
          </a:prstGeom>
          <a:noFill/>
          <a:ln/>
        </p:spPr>
        <p:txBody>
          <a:bodyPr wrap="square" lIns="0" tIns="0" rIns="0" bIns="0" rtlCol="0" anchor="t"/>
          <a:lstStyle/>
          <a:p>
            <a:pPr indent="0" marL="0">
              <a:buNone/>
            </a:pPr>
            <a:r>
              <a:rPr lang="en-US" sz="1300" dirty="0">
                <a:solidFill>
                  <a:schemeClr val="tx1"/>
                </a:solidFill>
              </a:rPr>
              <a:t>messages, calls and direction requests</a:t>
            </a:r>
            <a:endParaRPr lang="en-US" sz="1300" dirty="0"/>
          </a:p>
        </p:txBody>
      </p:sp>
      <p:sp>
        <p:nvSpPr>
          <p:cNvPr id="42" name="Goal card 4"/>
          <p:cNvSpPr/>
          <p:nvPr/>
        </p:nvSpPr>
        <p:spPr>
          <a:xfrm>
            <a:off x="6766560" y="1965960"/>
            <a:ext cx="1920240" cy="2331720"/>
          </a:xfrm>
          <a:prstGeom prst="roundRect">
            <a:avLst>
              <a:gd name="adj" fmla="val 5714"/>
            </a:avLst>
          </a:prstGeom>
          <a:solidFill>
            <a:schemeClr val="accent4"/>
          </a:solidFill>
          <a:ln/>
        </p:spPr>
      </p:sp>
      <p:sp>
        <p:nvSpPr>
          <p:cNvPr id="43" name="Sales circle"/>
          <p:cNvSpPr/>
          <p:nvPr/>
        </p:nvSpPr>
        <p:spPr>
          <a:xfrm>
            <a:off x="6949440" y="2121408"/>
            <a:ext cx="457200" cy="457200"/>
          </a:xfrm>
          <a:prstGeom prst="ellipse">
            <a:avLst/>
          </a:prstGeom>
          <a:solidFill>
            <a:schemeClr val="bg1"/>
          </a:solidFill>
          <a:ln/>
        </p:spPr>
      </p:sp>
      <p:pic>
        <p:nvPicPr>
          <p:cNvPr id="44" name="Sales icon" descr="Sales">    </p:cNvPr>
          <p:cNvPicPr>
            <a:picLocks noChangeAspect="1"/>
          </p:cNvPicPr>
          <p:nvPr/>
        </p:nvPicPr>
        <p:blipFill>
          <a:blip r:embed="rId4"/>
          <a:stretch>
            <a:fillRect/>
          </a:stretch>
        </p:blipFill>
        <p:spPr>
          <a:xfrm>
            <a:off x="7072884" y="2244852"/>
            <a:ext cx="210312" cy="210312"/>
          </a:xfrm>
          <a:prstGeom prst="rect">
            <a:avLst/>
          </a:prstGeom>
        </p:spPr>
      </p:pic>
      <p:sp>
        <p:nvSpPr>
          <p:cNvPr id="45" name="Goal label 4"/>
          <p:cNvSpPr txBox="1"/>
          <p:nvPr/>
        </p:nvSpPr>
        <p:spPr>
          <a:xfrm>
            <a:off x="7516368" y="2121408"/>
            <a:ext cx="1097280" cy="457200"/>
          </a:xfrm>
          <a:prstGeom prst="rect">
            <a:avLst/>
          </a:prstGeom>
          <a:noFill/>
          <a:ln/>
        </p:spPr>
        <p:txBody>
          <a:bodyPr wrap="square" lIns="0" tIns="0" rIns="0" bIns="0" rtlCol="0" anchor="ctr"/>
          <a:lstStyle/>
          <a:p>
            <a:pPr indent="0" marL="0">
              <a:buNone/>
            </a:pPr>
            <a:r>
              <a:rPr lang="en-US" sz="1100" b="1" spc="100" kern="0" dirty="0">
                <a:solidFill>
                  <a:schemeClr val="bg1"/>
                </a:solidFill>
              </a:rPr>
              <a:t>SALES</a:t>
            </a:r>
            <a:endParaRPr lang="en-US" sz="1100" dirty="0"/>
          </a:p>
        </p:txBody>
      </p:sp>
      <p:sp>
        <p:nvSpPr>
          <p:cNvPr id="46" name="Goal value 4"/>
          <p:cNvSpPr txBox="1"/>
          <p:nvPr/>
        </p:nvSpPr>
        <p:spPr>
          <a:xfrm>
            <a:off x="6949440" y="2724912"/>
            <a:ext cx="1600200" cy="59436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+10</a:t>
            </a:r>
            <a:endParaRPr lang="en-US" sz="3400" dirty="0"/>
          </a:p>
        </p:txBody>
      </p:sp>
      <p:sp>
        <p:nvSpPr>
          <p:cNvPr id="47" name="Goal text 4"/>
          <p:cNvSpPr txBox="1"/>
          <p:nvPr/>
        </p:nvSpPr>
        <p:spPr>
          <a:xfrm>
            <a:off x="6949440" y="3383280"/>
            <a:ext cx="1600200" cy="777240"/>
          </a:xfrm>
          <a:prstGeom prst="rect">
            <a:avLst/>
          </a:prstGeom>
          <a:noFill/>
          <a:ln/>
        </p:spPr>
        <p:txBody>
          <a:bodyPr wrap="square" lIns="0" tIns="0" rIns="0" bIns="0" rtlCol="0" anchor="t"/>
          <a:lstStyle/>
          <a:p>
            <a:pPr indent="0" marL="0">
              <a:buNone/>
            </a:pPr>
            <a:r>
              <a:rPr lang="en-US" sz="1300" dirty="0">
                <a:solidFill>
                  <a:schemeClr val="bg1"/>
                </a:solidFill>
              </a:rPr>
              <a:t>extra customers a day by week 4</a:t>
            </a:r>
            <a:endParaRPr lang="en-US" sz="1300" dirty="0"/>
          </a:p>
        </p:txBody>
      </p:sp>
      <p:sp>
        <p:nvSpPr>
          <p:cNvPr id="48" name="Goals note"/>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100" i="1" dirty="0">
                <a:solidFill>
                  <a:schemeClr val="accent5"/>
                </a:solidFill>
              </a:rPr>
              <a:t>All goals are measured every week and due by the end of week 4.</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2  ·  LIST THE TASKS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11 Tasks in 4 Groups</a:t>
            </a:r>
            <a:endParaRPr lang="en-US" sz="3200" dirty="0"/>
          </a:p>
        </p:txBody>
      </p:sp>
      <p:sp>
        <p:nvSpPr>
          <p:cNvPr id="4" name="Group header 1"/>
          <p:cNvSpPr/>
          <p:nvPr/>
        </p:nvSpPr>
        <p:spPr>
          <a:xfrm>
            <a:off x="457200" y="1325880"/>
            <a:ext cx="1920240" cy="548640"/>
          </a:xfrm>
          <a:prstGeom prst="roundRect">
            <a:avLst>
              <a:gd name="adj" fmla="val 20000"/>
            </a:avLst>
          </a:prstGeom>
          <a:solidFill>
            <a:schemeClr val="tx2"/>
          </a:solidFill>
          <a:ln/>
        </p:spPr>
      </p:sp>
      <p:pic>
        <p:nvPicPr>
          <p:cNvPr id="5" name="Prepare icon" descr="preencoded.png">    </p:cNvPr>
          <p:cNvPicPr>
            <a:picLocks noChangeAspect="1"/>
          </p:cNvPicPr>
          <p:nvPr/>
        </p:nvPicPr>
        <p:blipFill>
          <a:blip r:embed="rId1"/>
          <a:stretch>
            <a:fillRect/>
          </a:stretch>
        </p:blipFill>
        <p:spPr>
          <a:xfrm>
            <a:off x="640080" y="1463040"/>
            <a:ext cx="274320" cy="274320"/>
          </a:xfrm>
          <a:prstGeom prst="rect">
            <a:avLst/>
          </a:prstGeom>
        </p:spPr>
      </p:pic>
      <p:sp>
        <p:nvSpPr>
          <p:cNvPr id="6" name="Group title 1"/>
          <p:cNvSpPr txBox="1"/>
          <p:nvPr/>
        </p:nvSpPr>
        <p:spPr>
          <a:xfrm>
            <a:off x="1051560" y="1325880"/>
            <a:ext cx="1234440" cy="548640"/>
          </a:xfrm>
          <a:prstGeom prst="rect">
            <a:avLst/>
          </a:prstGeom>
          <a:noFill/>
          <a:ln/>
        </p:spPr>
        <p:txBody>
          <a:bodyPr wrap="square" lIns="0" tIns="0" rIns="0" bIns="0" rtlCol="0" anchor="ctr"/>
          <a:lstStyle/>
          <a:p>
            <a:pPr indent="0" marL="0">
              <a:buNone/>
            </a:pPr>
            <a:r>
              <a:rPr lang="en-US" sz="1600" b="1" dirty="0">
                <a:solidFill>
                  <a:schemeClr val="bg1"/>
                </a:solidFill>
              </a:rPr>
              <a:t>Prepare</a:t>
            </a:r>
            <a:endParaRPr lang="en-US" sz="1600" dirty="0"/>
          </a:p>
        </p:txBody>
      </p:sp>
      <p:sp>
        <p:nvSpPr>
          <p:cNvPr id="7" name="Task card 1"/>
          <p:cNvSpPr/>
          <p:nvPr/>
        </p:nvSpPr>
        <p:spPr>
          <a:xfrm>
            <a:off x="457200" y="2011680"/>
            <a:ext cx="1920240" cy="713232"/>
          </a:xfrm>
          <a:prstGeom prst="roundRect">
            <a:avLst>
              <a:gd name="adj" fmla="val 15385"/>
            </a:avLst>
          </a:prstGeom>
          <a:solidFill>
            <a:schemeClr val="bg2"/>
          </a:solidFill>
          <a:ln/>
        </p:spPr>
      </p:sp>
      <p:sp>
        <p:nvSpPr>
          <p:cNvPr id="8" name="Task no 1"/>
          <p:cNvSpPr txBox="1"/>
          <p:nvPr/>
        </p:nvSpPr>
        <p:spPr>
          <a:xfrm>
            <a:off x="566928" y="201168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1</a:t>
            </a:r>
            <a:endParaRPr lang="en-US" sz="1800" dirty="0"/>
          </a:p>
        </p:txBody>
      </p:sp>
      <p:sp>
        <p:nvSpPr>
          <p:cNvPr id="9" name="Task text 1"/>
          <p:cNvSpPr txBox="1"/>
          <p:nvPr/>
        </p:nvSpPr>
        <p:spPr>
          <a:xfrm>
            <a:off x="914400" y="2011680"/>
            <a:ext cx="1371600" cy="713232"/>
          </a:xfrm>
          <a:prstGeom prst="rect">
            <a:avLst/>
          </a:prstGeom>
          <a:noFill/>
          <a:ln/>
        </p:spPr>
        <p:txBody>
          <a:bodyPr wrap="square" lIns="0" tIns="0" rIns="0" bIns="0" rtlCol="0" anchor="ctr"/>
          <a:lstStyle/>
          <a:p>
            <a:pPr indent="0" marL="0">
              <a:buNone/>
            </a:pPr>
            <a:r>
              <a:rPr lang="en-US" sz="1200" dirty="0">
                <a:solidFill>
                  <a:schemeClr val="tx1"/>
                </a:solidFill>
              </a:rPr>
              <a:t>Market and competitor research</a:t>
            </a:r>
            <a:endParaRPr lang="en-US" sz="1200" dirty="0"/>
          </a:p>
        </p:txBody>
      </p:sp>
      <p:sp>
        <p:nvSpPr>
          <p:cNvPr id="10" name="Task card 2"/>
          <p:cNvSpPr/>
          <p:nvPr/>
        </p:nvSpPr>
        <p:spPr>
          <a:xfrm>
            <a:off x="457200" y="2834640"/>
            <a:ext cx="1920240" cy="713232"/>
          </a:xfrm>
          <a:prstGeom prst="roundRect">
            <a:avLst>
              <a:gd name="adj" fmla="val 15385"/>
            </a:avLst>
          </a:prstGeom>
          <a:solidFill>
            <a:schemeClr val="bg2"/>
          </a:solidFill>
          <a:ln/>
        </p:spPr>
      </p:sp>
      <p:sp>
        <p:nvSpPr>
          <p:cNvPr id="11" name="Task no 2"/>
          <p:cNvSpPr txBox="1"/>
          <p:nvPr/>
        </p:nvSpPr>
        <p:spPr>
          <a:xfrm>
            <a:off x="566928" y="283464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2</a:t>
            </a:r>
            <a:endParaRPr lang="en-US" sz="1800" dirty="0"/>
          </a:p>
        </p:txBody>
      </p:sp>
      <p:sp>
        <p:nvSpPr>
          <p:cNvPr id="12" name="Task text 2"/>
          <p:cNvSpPr txBox="1"/>
          <p:nvPr/>
        </p:nvSpPr>
        <p:spPr>
          <a:xfrm>
            <a:off x="914400" y="2834640"/>
            <a:ext cx="1371600" cy="713232"/>
          </a:xfrm>
          <a:prstGeom prst="rect">
            <a:avLst/>
          </a:prstGeom>
          <a:noFill/>
          <a:ln/>
        </p:spPr>
        <p:txBody>
          <a:bodyPr wrap="square" lIns="0" tIns="0" rIns="0" bIns="0" rtlCol="0" anchor="ctr"/>
          <a:lstStyle/>
          <a:p>
            <a:pPr indent="0" marL="0">
              <a:buNone/>
            </a:pPr>
            <a:r>
              <a:rPr lang="en-US" sz="1200" dirty="0">
                <a:solidFill>
                  <a:schemeClr val="tx1"/>
                </a:solidFill>
              </a:rPr>
              <a:t>Define the target audience</a:t>
            </a:r>
            <a:endParaRPr lang="en-US" sz="1200" dirty="0"/>
          </a:p>
        </p:txBody>
      </p:sp>
      <p:sp>
        <p:nvSpPr>
          <p:cNvPr id="13" name="Task card 3"/>
          <p:cNvSpPr/>
          <p:nvPr/>
        </p:nvSpPr>
        <p:spPr>
          <a:xfrm>
            <a:off x="457200" y="3657600"/>
            <a:ext cx="1920240" cy="713232"/>
          </a:xfrm>
          <a:prstGeom prst="roundRect">
            <a:avLst>
              <a:gd name="adj" fmla="val 15385"/>
            </a:avLst>
          </a:prstGeom>
          <a:solidFill>
            <a:schemeClr val="bg2"/>
          </a:solidFill>
          <a:ln/>
        </p:spPr>
      </p:sp>
      <p:sp>
        <p:nvSpPr>
          <p:cNvPr id="14" name="Task no 3"/>
          <p:cNvSpPr txBox="1"/>
          <p:nvPr/>
        </p:nvSpPr>
        <p:spPr>
          <a:xfrm>
            <a:off x="566928" y="365760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3</a:t>
            </a:r>
            <a:endParaRPr lang="en-US" sz="1800" dirty="0"/>
          </a:p>
        </p:txBody>
      </p:sp>
      <p:sp>
        <p:nvSpPr>
          <p:cNvPr id="15" name="Task text 3"/>
          <p:cNvSpPr txBox="1"/>
          <p:nvPr/>
        </p:nvSpPr>
        <p:spPr>
          <a:xfrm>
            <a:off x="914400" y="3657600"/>
            <a:ext cx="1371600" cy="713232"/>
          </a:xfrm>
          <a:prstGeom prst="rect">
            <a:avLst/>
          </a:prstGeom>
          <a:noFill/>
          <a:ln/>
        </p:spPr>
        <p:txBody>
          <a:bodyPr wrap="square" lIns="0" tIns="0" rIns="0" bIns="0" rtlCol="0" anchor="ctr"/>
          <a:lstStyle/>
          <a:p>
            <a:pPr indent="0" marL="0">
              <a:buNone/>
            </a:pPr>
            <a:r>
              <a:rPr lang="en-US" sz="1200" dirty="0">
                <a:solidFill>
                  <a:schemeClr val="tx1"/>
                </a:solidFill>
              </a:rPr>
              <a:t>Free audit of the café's pages</a:t>
            </a:r>
            <a:endParaRPr lang="en-US" sz="1200" dirty="0"/>
          </a:p>
        </p:txBody>
      </p:sp>
      <p:sp>
        <p:nvSpPr>
          <p:cNvPr id="16" name="Group header 2"/>
          <p:cNvSpPr/>
          <p:nvPr/>
        </p:nvSpPr>
        <p:spPr>
          <a:xfrm>
            <a:off x="2560320" y="1325880"/>
            <a:ext cx="1920240" cy="548640"/>
          </a:xfrm>
          <a:prstGeom prst="roundRect">
            <a:avLst>
              <a:gd name="adj" fmla="val 20000"/>
            </a:avLst>
          </a:prstGeom>
          <a:solidFill>
            <a:schemeClr val="accent3"/>
          </a:solidFill>
          <a:ln/>
        </p:spPr>
      </p:sp>
      <p:pic>
        <p:nvPicPr>
          <p:cNvPr id="17" name="Create icon" descr="preencoded.png">    </p:cNvPr>
          <p:cNvPicPr>
            <a:picLocks noChangeAspect="1"/>
          </p:cNvPicPr>
          <p:nvPr/>
        </p:nvPicPr>
        <p:blipFill>
          <a:blip r:embed="rId2"/>
          <a:stretch>
            <a:fillRect/>
          </a:stretch>
        </p:blipFill>
        <p:spPr>
          <a:xfrm>
            <a:off x="2743200" y="1463040"/>
            <a:ext cx="274320" cy="274320"/>
          </a:xfrm>
          <a:prstGeom prst="rect">
            <a:avLst/>
          </a:prstGeom>
        </p:spPr>
      </p:pic>
      <p:sp>
        <p:nvSpPr>
          <p:cNvPr id="18" name="Group title 2"/>
          <p:cNvSpPr txBox="1"/>
          <p:nvPr/>
        </p:nvSpPr>
        <p:spPr>
          <a:xfrm>
            <a:off x="3154680" y="1325880"/>
            <a:ext cx="1234440" cy="548640"/>
          </a:xfrm>
          <a:prstGeom prst="rect">
            <a:avLst/>
          </a:prstGeom>
          <a:noFill/>
          <a:ln/>
        </p:spPr>
        <p:txBody>
          <a:bodyPr wrap="square" lIns="0" tIns="0" rIns="0" bIns="0" rtlCol="0" anchor="ctr"/>
          <a:lstStyle/>
          <a:p>
            <a:pPr indent="0" marL="0">
              <a:buNone/>
            </a:pPr>
            <a:r>
              <a:rPr lang="en-US" sz="1600" b="1" dirty="0">
                <a:solidFill>
                  <a:schemeClr val="bg1"/>
                </a:solidFill>
              </a:rPr>
              <a:t>Create</a:t>
            </a:r>
            <a:endParaRPr lang="en-US" sz="1600" dirty="0"/>
          </a:p>
        </p:txBody>
      </p:sp>
      <p:sp>
        <p:nvSpPr>
          <p:cNvPr id="19" name="Task card 4"/>
          <p:cNvSpPr/>
          <p:nvPr/>
        </p:nvSpPr>
        <p:spPr>
          <a:xfrm>
            <a:off x="2560320" y="2011680"/>
            <a:ext cx="1920240" cy="713232"/>
          </a:xfrm>
          <a:prstGeom prst="roundRect">
            <a:avLst>
              <a:gd name="adj" fmla="val 15385"/>
            </a:avLst>
          </a:prstGeom>
          <a:solidFill>
            <a:schemeClr val="bg2"/>
          </a:solidFill>
          <a:ln/>
        </p:spPr>
      </p:sp>
      <p:sp>
        <p:nvSpPr>
          <p:cNvPr id="20" name="Task no 4"/>
          <p:cNvSpPr txBox="1"/>
          <p:nvPr/>
        </p:nvSpPr>
        <p:spPr>
          <a:xfrm>
            <a:off x="2670048" y="201168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21" name="Task text 4"/>
          <p:cNvSpPr txBox="1"/>
          <p:nvPr/>
        </p:nvSpPr>
        <p:spPr>
          <a:xfrm>
            <a:off x="3017520" y="2011680"/>
            <a:ext cx="1371600" cy="713232"/>
          </a:xfrm>
          <a:prstGeom prst="rect">
            <a:avLst/>
          </a:prstGeom>
          <a:noFill/>
          <a:ln/>
        </p:spPr>
        <p:txBody>
          <a:bodyPr wrap="square" lIns="0" tIns="0" rIns="0" bIns="0" rtlCol="0" anchor="ctr"/>
          <a:lstStyle/>
          <a:p>
            <a:pPr indent="0" marL="0">
              <a:buNone/>
            </a:pPr>
            <a:r>
              <a:rPr lang="en-US" sz="1200" dirty="0">
                <a:solidFill>
                  <a:schemeClr val="tx1"/>
                </a:solidFill>
              </a:rPr>
              <a:t>Monthly content plan</a:t>
            </a:r>
            <a:endParaRPr lang="en-US" sz="1200" dirty="0"/>
          </a:p>
        </p:txBody>
      </p:sp>
      <p:sp>
        <p:nvSpPr>
          <p:cNvPr id="22" name="Task card 5"/>
          <p:cNvSpPr/>
          <p:nvPr/>
        </p:nvSpPr>
        <p:spPr>
          <a:xfrm>
            <a:off x="2560320" y="2834640"/>
            <a:ext cx="1920240" cy="713232"/>
          </a:xfrm>
          <a:prstGeom prst="roundRect">
            <a:avLst>
              <a:gd name="adj" fmla="val 15385"/>
            </a:avLst>
          </a:prstGeom>
          <a:solidFill>
            <a:schemeClr val="bg2"/>
          </a:solidFill>
          <a:ln/>
        </p:spPr>
      </p:sp>
      <p:sp>
        <p:nvSpPr>
          <p:cNvPr id="23" name="Task no 5"/>
          <p:cNvSpPr txBox="1"/>
          <p:nvPr/>
        </p:nvSpPr>
        <p:spPr>
          <a:xfrm>
            <a:off x="2670048" y="283464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5</a:t>
            </a:r>
            <a:endParaRPr lang="en-US" sz="1800" dirty="0"/>
          </a:p>
        </p:txBody>
      </p:sp>
      <p:sp>
        <p:nvSpPr>
          <p:cNvPr id="24" name="Task text 5"/>
          <p:cNvSpPr txBox="1"/>
          <p:nvPr/>
        </p:nvSpPr>
        <p:spPr>
          <a:xfrm>
            <a:off x="3017520" y="2834640"/>
            <a:ext cx="1371600" cy="713232"/>
          </a:xfrm>
          <a:prstGeom prst="rect">
            <a:avLst/>
          </a:prstGeom>
          <a:noFill/>
          <a:ln/>
        </p:spPr>
        <p:txBody>
          <a:bodyPr wrap="square" lIns="0" tIns="0" rIns="0" bIns="0" rtlCol="0" anchor="ctr"/>
          <a:lstStyle/>
          <a:p>
            <a:pPr indent="0" marL="0">
              <a:buNone/>
            </a:pPr>
            <a:r>
              <a:rPr lang="en-US" sz="1200" dirty="0">
                <a:solidFill>
                  <a:schemeClr val="tx1"/>
                </a:solidFill>
              </a:rPr>
              <a:t>Photo and video shoot</a:t>
            </a:r>
            <a:endParaRPr lang="en-US" sz="1200" dirty="0"/>
          </a:p>
        </p:txBody>
      </p:sp>
      <p:sp>
        <p:nvSpPr>
          <p:cNvPr id="25" name="Task card 6"/>
          <p:cNvSpPr/>
          <p:nvPr/>
        </p:nvSpPr>
        <p:spPr>
          <a:xfrm>
            <a:off x="2560320" y="3657600"/>
            <a:ext cx="1920240" cy="713232"/>
          </a:xfrm>
          <a:prstGeom prst="roundRect">
            <a:avLst>
              <a:gd name="adj" fmla="val 15385"/>
            </a:avLst>
          </a:prstGeom>
          <a:solidFill>
            <a:schemeClr val="bg2"/>
          </a:solidFill>
          <a:ln/>
        </p:spPr>
      </p:sp>
      <p:sp>
        <p:nvSpPr>
          <p:cNvPr id="26" name="Task no 6"/>
          <p:cNvSpPr txBox="1"/>
          <p:nvPr/>
        </p:nvSpPr>
        <p:spPr>
          <a:xfrm>
            <a:off x="2670048" y="365760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6</a:t>
            </a:r>
            <a:endParaRPr lang="en-US" sz="1800" dirty="0"/>
          </a:p>
        </p:txBody>
      </p:sp>
      <p:sp>
        <p:nvSpPr>
          <p:cNvPr id="27" name="Task text 6"/>
          <p:cNvSpPr txBox="1"/>
          <p:nvPr/>
        </p:nvSpPr>
        <p:spPr>
          <a:xfrm>
            <a:off x="3017520" y="3657600"/>
            <a:ext cx="1371600" cy="713232"/>
          </a:xfrm>
          <a:prstGeom prst="rect">
            <a:avLst/>
          </a:prstGeom>
          <a:noFill/>
          <a:ln/>
        </p:spPr>
        <p:txBody>
          <a:bodyPr wrap="square" lIns="0" tIns="0" rIns="0" bIns="0" rtlCol="0" anchor="ctr"/>
          <a:lstStyle/>
          <a:p>
            <a:pPr indent="0" marL="0">
              <a:buNone/>
            </a:pPr>
            <a:r>
              <a:rPr lang="en-US" sz="1200" dirty="0">
                <a:solidFill>
                  <a:schemeClr val="tx1"/>
                </a:solidFill>
              </a:rPr>
              <a:t>Design posts, reels and stories</a:t>
            </a:r>
            <a:endParaRPr lang="en-US" sz="1200" dirty="0"/>
          </a:p>
        </p:txBody>
      </p:sp>
      <p:sp>
        <p:nvSpPr>
          <p:cNvPr id="28" name="Group header 3"/>
          <p:cNvSpPr/>
          <p:nvPr/>
        </p:nvSpPr>
        <p:spPr>
          <a:xfrm>
            <a:off x="4663440" y="1325880"/>
            <a:ext cx="1920240" cy="548640"/>
          </a:xfrm>
          <a:prstGeom prst="roundRect">
            <a:avLst>
              <a:gd name="adj" fmla="val 20000"/>
            </a:avLst>
          </a:prstGeom>
          <a:solidFill>
            <a:schemeClr val="accent1"/>
          </a:solidFill>
          <a:ln/>
        </p:spPr>
      </p:sp>
      <p:pic>
        <p:nvPicPr>
          <p:cNvPr id="29" name="Launch icon" descr="preencoded.png">    </p:cNvPr>
          <p:cNvPicPr>
            <a:picLocks noChangeAspect="1"/>
          </p:cNvPicPr>
          <p:nvPr/>
        </p:nvPicPr>
        <p:blipFill>
          <a:blip r:embed="rId3"/>
          <a:stretch>
            <a:fillRect/>
          </a:stretch>
        </p:blipFill>
        <p:spPr>
          <a:xfrm>
            <a:off x="4846320" y="1463040"/>
            <a:ext cx="274320" cy="274320"/>
          </a:xfrm>
          <a:prstGeom prst="rect">
            <a:avLst/>
          </a:prstGeom>
        </p:spPr>
      </p:pic>
      <p:sp>
        <p:nvSpPr>
          <p:cNvPr id="30" name="Group title 3"/>
          <p:cNvSpPr txBox="1"/>
          <p:nvPr/>
        </p:nvSpPr>
        <p:spPr>
          <a:xfrm>
            <a:off x="5257800" y="1325880"/>
            <a:ext cx="1234440" cy="548640"/>
          </a:xfrm>
          <a:prstGeom prst="rect">
            <a:avLst/>
          </a:prstGeom>
          <a:noFill/>
          <a:ln/>
        </p:spPr>
        <p:txBody>
          <a:bodyPr wrap="square" lIns="0" tIns="0" rIns="0" bIns="0" rtlCol="0" anchor="ctr"/>
          <a:lstStyle/>
          <a:p>
            <a:pPr indent="0" marL="0">
              <a:buNone/>
            </a:pPr>
            <a:r>
              <a:rPr lang="en-US" sz="1600" b="1" dirty="0">
                <a:solidFill>
                  <a:schemeClr val="bg1"/>
                </a:solidFill>
              </a:rPr>
              <a:t>Launch</a:t>
            </a:r>
            <a:endParaRPr lang="en-US" sz="1600" dirty="0"/>
          </a:p>
        </p:txBody>
      </p:sp>
      <p:sp>
        <p:nvSpPr>
          <p:cNvPr id="31" name="Task card 7"/>
          <p:cNvSpPr/>
          <p:nvPr/>
        </p:nvSpPr>
        <p:spPr>
          <a:xfrm>
            <a:off x="4663440" y="2011680"/>
            <a:ext cx="1920240" cy="713232"/>
          </a:xfrm>
          <a:prstGeom prst="roundRect">
            <a:avLst>
              <a:gd name="adj" fmla="val 15385"/>
            </a:avLst>
          </a:prstGeom>
          <a:solidFill>
            <a:schemeClr val="bg2"/>
          </a:solidFill>
          <a:ln/>
        </p:spPr>
      </p:sp>
      <p:sp>
        <p:nvSpPr>
          <p:cNvPr id="32" name="Task no 7"/>
          <p:cNvSpPr txBox="1"/>
          <p:nvPr/>
        </p:nvSpPr>
        <p:spPr>
          <a:xfrm>
            <a:off x="4773168" y="201168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7</a:t>
            </a:r>
            <a:endParaRPr lang="en-US" sz="1800" dirty="0"/>
          </a:p>
        </p:txBody>
      </p:sp>
      <p:sp>
        <p:nvSpPr>
          <p:cNvPr id="33" name="Task text 7"/>
          <p:cNvSpPr txBox="1"/>
          <p:nvPr/>
        </p:nvSpPr>
        <p:spPr>
          <a:xfrm>
            <a:off x="5120640" y="2011680"/>
            <a:ext cx="1371600" cy="713232"/>
          </a:xfrm>
          <a:prstGeom prst="rect">
            <a:avLst/>
          </a:prstGeom>
          <a:noFill/>
          <a:ln/>
        </p:spPr>
        <p:txBody>
          <a:bodyPr wrap="square" lIns="0" tIns="0" rIns="0" bIns="0" rtlCol="0" anchor="ctr"/>
          <a:lstStyle/>
          <a:p>
            <a:pPr indent="0" marL="0">
              <a:buNone/>
            </a:pPr>
            <a:r>
              <a:rPr lang="en-US" sz="1200" dirty="0">
                <a:solidFill>
                  <a:schemeClr val="tx1"/>
                </a:solidFill>
              </a:rPr>
              <a:t>Set up and launch the ads</a:t>
            </a:r>
            <a:endParaRPr lang="en-US" sz="1200" dirty="0"/>
          </a:p>
        </p:txBody>
      </p:sp>
      <p:sp>
        <p:nvSpPr>
          <p:cNvPr id="34" name="Task card 8"/>
          <p:cNvSpPr/>
          <p:nvPr/>
        </p:nvSpPr>
        <p:spPr>
          <a:xfrm>
            <a:off x="4663440" y="2834640"/>
            <a:ext cx="1920240" cy="713232"/>
          </a:xfrm>
          <a:prstGeom prst="roundRect">
            <a:avLst>
              <a:gd name="adj" fmla="val 15385"/>
            </a:avLst>
          </a:prstGeom>
          <a:solidFill>
            <a:schemeClr val="bg2"/>
          </a:solidFill>
          <a:ln/>
        </p:spPr>
      </p:sp>
      <p:sp>
        <p:nvSpPr>
          <p:cNvPr id="35" name="Task no 8"/>
          <p:cNvSpPr txBox="1"/>
          <p:nvPr/>
        </p:nvSpPr>
        <p:spPr>
          <a:xfrm>
            <a:off x="4773168" y="283464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8</a:t>
            </a:r>
            <a:endParaRPr lang="en-US" sz="1800" dirty="0"/>
          </a:p>
        </p:txBody>
      </p:sp>
      <p:sp>
        <p:nvSpPr>
          <p:cNvPr id="36" name="Task text 8"/>
          <p:cNvSpPr txBox="1"/>
          <p:nvPr/>
        </p:nvSpPr>
        <p:spPr>
          <a:xfrm>
            <a:off x="5120640" y="2834640"/>
            <a:ext cx="1371600" cy="713232"/>
          </a:xfrm>
          <a:prstGeom prst="rect">
            <a:avLst/>
          </a:prstGeom>
          <a:noFill/>
          <a:ln/>
        </p:spPr>
        <p:txBody>
          <a:bodyPr wrap="square" lIns="0" tIns="0" rIns="0" bIns="0" rtlCol="0" anchor="ctr"/>
          <a:lstStyle/>
          <a:p>
            <a:pPr indent="0" marL="0">
              <a:buNone/>
            </a:pPr>
            <a:r>
              <a:rPr lang="en-US" sz="1200" dirty="0">
                <a:solidFill>
                  <a:schemeClr val="tx1"/>
                </a:solidFill>
              </a:rPr>
              <a:t>Publish content and reply</a:t>
            </a:r>
            <a:endParaRPr lang="en-US" sz="1200" dirty="0"/>
          </a:p>
        </p:txBody>
      </p:sp>
      <p:sp>
        <p:nvSpPr>
          <p:cNvPr id="37" name="Task card 9"/>
          <p:cNvSpPr/>
          <p:nvPr/>
        </p:nvSpPr>
        <p:spPr>
          <a:xfrm>
            <a:off x="4663440" y="3657600"/>
            <a:ext cx="1920240" cy="713232"/>
          </a:xfrm>
          <a:prstGeom prst="roundRect">
            <a:avLst>
              <a:gd name="adj" fmla="val 15385"/>
            </a:avLst>
          </a:prstGeom>
          <a:solidFill>
            <a:schemeClr val="bg2"/>
          </a:solidFill>
          <a:ln/>
        </p:spPr>
      </p:sp>
      <p:sp>
        <p:nvSpPr>
          <p:cNvPr id="38" name="Task no 9"/>
          <p:cNvSpPr txBox="1"/>
          <p:nvPr/>
        </p:nvSpPr>
        <p:spPr>
          <a:xfrm>
            <a:off x="4773168" y="365760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9</a:t>
            </a:r>
            <a:endParaRPr lang="en-US" sz="1800" dirty="0"/>
          </a:p>
        </p:txBody>
      </p:sp>
      <p:sp>
        <p:nvSpPr>
          <p:cNvPr id="39" name="Task text 9"/>
          <p:cNvSpPr txBox="1"/>
          <p:nvPr/>
        </p:nvSpPr>
        <p:spPr>
          <a:xfrm>
            <a:off x="5120640" y="3657600"/>
            <a:ext cx="1371600" cy="713232"/>
          </a:xfrm>
          <a:prstGeom prst="rect">
            <a:avLst/>
          </a:prstGeom>
          <a:noFill/>
          <a:ln/>
        </p:spPr>
        <p:txBody>
          <a:bodyPr wrap="square" lIns="0" tIns="0" rIns="0" bIns="0" rtlCol="0" anchor="ctr"/>
          <a:lstStyle/>
          <a:p>
            <a:pPr indent="0" marL="0">
              <a:buNone/>
            </a:pPr>
            <a:r>
              <a:rPr lang="en-US" sz="1200" dirty="0">
                <a:solidFill>
                  <a:schemeClr val="tx1"/>
                </a:solidFill>
              </a:rPr>
              <a:t>Launch the special offers</a:t>
            </a:r>
            <a:endParaRPr lang="en-US" sz="1200" dirty="0"/>
          </a:p>
        </p:txBody>
      </p:sp>
      <p:sp>
        <p:nvSpPr>
          <p:cNvPr id="40" name="Group header 4"/>
          <p:cNvSpPr/>
          <p:nvPr/>
        </p:nvSpPr>
        <p:spPr>
          <a:xfrm>
            <a:off x="6766560" y="1325880"/>
            <a:ext cx="1920240" cy="548640"/>
          </a:xfrm>
          <a:prstGeom prst="roundRect">
            <a:avLst>
              <a:gd name="adj" fmla="val 20000"/>
            </a:avLst>
          </a:prstGeom>
          <a:solidFill>
            <a:schemeClr val="accent4"/>
          </a:solidFill>
          <a:ln/>
        </p:spPr>
      </p:sp>
      <p:pic>
        <p:nvPicPr>
          <p:cNvPr id="41" name="Measure icon" descr="preencoded.png">    </p:cNvPr>
          <p:cNvPicPr>
            <a:picLocks noChangeAspect="1"/>
          </p:cNvPicPr>
          <p:nvPr/>
        </p:nvPicPr>
        <p:blipFill>
          <a:blip r:embed="rId4"/>
          <a:stretch>
            <a:fillRect/>
          </a:stretch>
        </p:blipFill>
        <p:spPr>
          <a:xfrm>
            <a:off x="6949440" y="1463040"/>
            <a:ext cx="274320" cy="274320"/>
          </a:xfrm>
          <a:prstGeom prst="rect">
            <a:avLst/>
          </a:prstGeom>
        </p:spPr>
      </p:pic>
      <p:sp>
        <p:nvSpPr>
          <p:cNvPr id="42" name="Group title 4"/>
          <p:cNvSpPr txBox="1"/>
          <p:nvPr/>
        </p:nvSpPr>
        <p:spPr>
          <a:xfrm>
            <a:off x="7360920" y="1325880"/>
            <a:ext cx="1234440" cy="548640"/>
          </a:xfrm>
          <a:prstGeom prst="rect">
            <a:avLst/>
          </a:prstGeom>
          <a:noFill/>
          <a:ln/>
        </p:spPr>
        <p:txBody>
          <a:bodyPr wrap="square" lIns="0" tIns="0" rIns="0" bIns="0" rtlCol="0" anchor="ctr"/>
          <a:lstStyle/>
          <a:p>
            <a:pPr indent="0" marL="0">
              <a:buNone/>
            </a:pPr>
            <a:r>
              <a:rPr lang="en-US" sz="1600" b="1" dirty="0">
                <a:solidFill>
                  <a:schemeClr val="bg1"/>
                </a:solidFill>
              </a:rPr>
              <a:t>Measure</a:t>
            </a:r>
            <a:endParaRPr lang="en-US" sz="1600" dirty="0"/>
          </a:p>
        </p:txBody>
      </p:sp>
      <p:sp>
        <p:nvSpPr>
          <p:cNvPr id="43" name="Task card 10"/>
          <p:cNvSpPr/>
          <p:nvPr/>
        </p:nvSpPr>
        <p:spPr>
          <a:xfrm>
            <a:off x="6766560" y="2011680"/>
            <a:ext cx="1920240" cy="713232"/>
          </a:xfrm>
          <a:prstGeom prst="roundRect">
            <a:avLst>
              <a:gd name="adj" fmla="val 15385"/>
            </a:avLst>
          </a:prstGeom>
          <a:solidFill>
            <a:schemeClr val="bg2"/>
          </a:solidFill>
          <a:ln/>
        </p:spPr>
      </p:sp>
      <p:sp>
        <p:nvSpPr>
          <p:cNvPr id="44" name="Task no 10"/>
          <p:cNvSpPr txBox="1"/>
          <p:nvPr/>
        </p:nvSpPr>
        <p:spPr>
          <a:xfrm>
            <a:off x="6876288" y="201168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10</a:t>
            </a:r>
            <a:endParaRPr lang="en-US" sz="1800" dirty="0"/>
          </a:p>
        </p:txBody>
      </p:sp>
      <p:sp>
        <p:nvSpPr>
          <p:cNvPr id="45" name="Task text 10"/>
          <p:cNvSpPr txBox="1"/>
          <p:nvPr/>
        </p:nvSpPr>
        <p:spPr>
          <a:xfrm>
            <a:off x="7223760" y="2011680"/>
            <a:ext cx="1371600" cy="713232"/>
          </a:xfrm>
          <a:prstGeom prst="rect">
            <a:avLst/>
          </a:prstGeom>
          <a:noFill/>
          <a:ln/>
        </p:spPr>
        <p:txBody>
          <a:bodyPr wrap="square" lIns="0" tIns="0" rIns="0" bIns="0" rtlCol="0" anchor="ctr"/>
          <a:lstStyle/>
          <a:p>
            <a:pPr indent="0" marL="0">
              <a:buNone/>
            </a:pPr>
            <a:r>
              <a:rPr lang="en-US" sz="1200" dirty="0">
                <a:solidFill>
                  <a:schemeClr val="tx1"/>
                </a:solidFill>
              </a:rPr>
              <a:t>Track KPIs, weekly report</a:t>
            </a:r>
            <a:endParaRPr lang="en-US" sz="1200" dirty="0"/>
          </a:p>
        </p:txBody>
      </p:sp>
      <p:sp>
        <p:nvSpPr>
          <p:cNvPr id="46" name="Task card 11"/>
          <p:cNvSpPr/>
          <p:nvPr/>
        </p:nvSpPr>
        <p:spPr>
          <a:xfrm>
            <a:off x="6766560" y="2834640"/>
            <a:ext cx="1920240" cy="713232"/>
          </a:xfrm>
          <a:prstGeom prst="roundRect">
            <a:avLst>
              <a:gd name="adj" fmla="val 15385"/>
            </a:avLst>
          </a:prstGeom>
          <a:solidFill>
            <a:schemeClr val="bg2"/>
          </a:solidFill>
          <a:ln/>
        </p:spPr>
      </p:sp>
      <p:sp>
        <p:nvSpPr>
          <p:cNvPr id="47" name="Task no 11"/>
          <p:cNvSpPr txBox="1"/>
          <p:nvPr/>
        </p:nvSpPr>
        <p:spPr>
          <a:xfrm>
            <a:off x="6876288" y="2834640"/>
            <a:ext cx="320040" cy="713232"/>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11</a:t>
            </a:r>
            <a:endParaRPr lang="en-US" sz="1800" dirty="0"/>
          </a:p>
        </p:txBody>
      </p:sp>
      <p:sp>
        <p:nvSpPr>
          <p:cNvPr id="48" name="Task text 11"/>
          <p:cNvSpPr txBox="1"/>
          <p:nvPr/>
        </p:nvSpPr>
        <p:spPr>
          <a:xfrm>
            <a:off x="7223760" y="2834640"/>
            <a:ext cx="1371600" cy="713232"/>
          </a:xfrm>
          <a:prstGeom prst="rect">
            <a:avLst/>
          </a:prstGeom>
          <a:noFill/>
          <a:ln/>
        </p:spPr>
        <p:txBody>
          <a:bodyPr wrap="square" lIns="0" tIns="0" rIns="0" bIns="0" rtlCol="0" anchor="ctr"/>
          <a:lstStyle/>
          <a:p>
            <a:pPr indent="0" marL="0">
              <a:buNone/>
            </a:pPr>
            <a:r>
              <a:rPr lang="en-US" sz="1200" dirty="0">
                <a:solidFill>
                  <a:schemeClr val="tx1"/>
                </a:solidFill>
              </a:rPr>
              <a:t>Month-one review and next plan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3  ·  SET A TIMELINE</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Four Weeks, Clear Deadlines</a:t>
            </a:r>
            <a:endParaRPr lang="en-US" sz="3200" dirty="0"/>
          </a:p>
        </p:txBody>
      </p:sp>
      <p:sp>
        <p:nvSpPr>
          <p:cNvPr id="4" name="Week card 1"/>
          <p:cNvSpPr/>
          <p:nvPr/>
        </p:nvSpPr>
        <p:spPr>
          <a:xfrm>
            <a:off x="457200" y="1325880"/>
            <a:ext cx="1920240" cy="3200400"/>
          </a:xfrm>
          <a:prstGeom prst="roundRect">
            <a:avLst>
              <a:gd name="adj" fmla="val 5714"/>
            </a:avLst>
          </a:prstGeom>
          <a:solidFill>
            <a:schemeClr val="bg2"/>
          </a:solidFill>
          <a:ln/>
        </p:spPr>
      </p:sp>
      <p:sp>
        <p:nvSpPr>
          <p:cNvPr id="5" name="Week pill 1"/>
          <p:cNvSpPr/>
          <p:nvPr/>
        </p:nvSpPr>
        <p:spPr>
          <a:xfrm>
            <a:off x="594360" y="1463040"/>
            <a:ext cx="914400" cy="329184"/>
          </a:xfrm>
          <a:prstGeom prst="roundRect">
            <a:avLst>
              <a:gd name="adj" fmla="val 50000"/>
            </a:avLst>
          </a:prstGeom>
          <a:solidFill>
            <a:schemeClr val="accent4"/>
          </a:solidFill>
          <a:ln/>
        </p:spPr>
      </p:sp>
      <p:sp>
        <p:nvSpPr>
          <p:cNvPr id="6" name="Week label 1"/>
          <p:cNvSpPr txBox="1"/>
          <p:nvPr/>
        </p:nvSpPr>
        <p:spPr>
          <a:xfrm>
            <a:off x="594360" y="1463040"/>
            <a:ext cx="914400" cy="329184"/>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1</a:t>
            </a:r>
            <a:endParaRPr lang="en-US" sz="1100" dirty="0"/>
          </a:p>
        </p:txBody>
      </p:sp>
      <p:sp>
        <p:nvSpPr>
          <p:cNvPr id="7" name="Week tasks 1"/>
          <p:cNvSpPr txBox="1"/>
          <p:nvPr/>
        </p:nvSpPr>
        <p:spPr>
          <a:xfrm>
            <a:off x="594360" y="1965960"/>
            <a:ext cx="169164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Market research</a:t>
            </a:r>
            <a:endParaRPr lang="en-US" sz="1300" dirty="0"/>
          </a:p>
          <a:p>
            <a:pPr marL="342900" indent="-342900">
              <a:spcAft>
                <a:spcPts val="500"/>
              </a:spcAft>
              <a:buSzPct val="100000"/>
              <a:buChar char="•"/>
            </a:pPr>
            <a:r>
              <a:rPr lang="en-US" sz="1300" dirty="0">
                <a:solidFill>
                  <a:schemeClr val="tx1"/>
                </a:solidFill>
              </a:rPr>
              <a:t>Target audience</a:t>
            </a:r>
            <a:endParaRPr lang="en-US" sz="1300" dirty="0"/>
          </a:p>
          <a:p>
            <a:pPr marL="342900" indent="-342900">
              <a:spcAft>
                <a:spcPts val="500"/>
              </a:spcAft>
              <a:buSzPct val="100000"/>
              <a:buChar char="•"/>
            </a:pPr>
            <a:r>
              <a:rPr lang="en-US" sz="1300" dirty="0">
                <a:solidFill>
                  <a:schemeClr val="tx1"/>
                </a:solidFill>
              </a:rPr>
              <a:t>Free page audit</a:t>
            </a:r>
            <a:endParaRPr lang="en-US" sz="1300" dirty="0"/>
          </a:p>
          <a:p>
            <a:pPr marL="342900" indent="-342900">
              <a:spcAft>
                <a:spcPts val="500"/>
              </a:spcAft>
              <a:buSzPct val="100000"/>
              <a:buChar char="•"/>
            </a:pPr>
            <a:r>
              <a:rPr lang="en-US" sz="1300" dirty="0">
                <a:solidFill>
                  <a:schemeClr val="tx1"/>
                </a:solidFill>
              </a:rPr>
              <a:t>Start content plan</a:t>
            </a:r>
            <a:endParaRPr lang="en-US" sz="1300" dirty="0"/>
          </a:p>
        </p:txBody>
      </p:sp>
      <p:sp>
        <p:nvSpPr>
          <p:cNvPr id="8" name="Deadline box 1"/>
          <p:cNvSpPr/>
          <p:nvPr/>
        </p:nvSpPr>
        <p:spPr>
          <a:xfrm>
            <a:off x="566928" y="3703320"/>
            <a:ext cx="1700784" cy="685800"/>
          </a:xfrm>
          <a:prstGeom prst="roundRect">
            <a:avLst>
              <a:gd name="adj" fmla="val 16000"/>
            </a:avLst>
          </a:prstGeom>
          <a:solidFill>
            <a:schemeClr val="tx2"/>
          </a:solidFill>
          <a:ln/>
        </p:spPr>
      </p:sp>
      <p:sp>
        <p:nvSpPr>
          <p:cNvPr id="9" name="Deadline text 1"/>
          <p:cNvSpPr txBox="1"/>
          <p:nvPr/>
        </p:nvSpPr>
        <p:spPr>
          <a:xfrm>
            <a:off x="685800" y="3703320"/>
            <a:ext cx="1508760" cy="685800"/>
          </a:xfrm>
          <a:prstGeom prst="rect">
            <a:avLst/>
          </a:prstGeom>
          <a:noFill/>
          <a:ln/>
        </p:spPr>
        <p:txBody>
          <a:bodyPr wrap="square" lIns="0" tIns="0" rIns="0" bIns="0" rtlCol="0" anchor="ctr"/>
          <a:lstStyle/>
          <a:p>
            <a:pPr indent="0" marL="0">
              <a:buNone/>
            </a:pPr>
            <a:r>
              <a:rPr lang="en-US" sz="1000" b="1" spc="100" kern="0" dirty="0">
                <a:solidFill>
                  <a:schemeClr val="accent2"/>
                </a:solidFill>
              </a:rPr>
              <a:t>DEADLINE</a:t>
            </a:r>
            <a:endParaRPr lang="en-US" sz="1000" dirty="0"/>
          </a:p>
          <a:p>
            <a:pPr indent="0" marL="0">
              <a:buNone/>
            </a:pPr>
            <a:r>
              <a:rPr lang="en-US" sz="1300" b="1" dirty="0">
                <a:solidFill>
                  <a:schemeClr val="bg1"/>
                </a:solidFill>
              </a:rPr>
              <a:t>Research done</a:t>
            </a:r>
            <a:endParaRPr lang="en-US" sz="1000" dirty="0"/>
          </a:p>
        </p:txBody>
      </p:sp>
      <p:sp>
        <p:nvSpPr>
          <p:cNvPr id="10" name="Week card 2"/>
          <p:cNvSpPr/>
          <p:nvPr/>
        </p:nvSpPr>
        <p:spPr>
          <a:xfrm>
            <a:off x="2560320" y="1325880"/>
            <a:ext cx="1920240" cy="3200400"/>
          </a:xfrm>
          <a:prstGeom prst="roundRect">
            <a:avLst>
              <a:gd name="adj" fmla="val 5714"/>
            </a:avLst>
          </a:prstGeom>
          <a:solidFill>
            <a:schemeClr val="bg2"/>
          </a:solidFill>
          <a:ln/>
        </p:spPr>
      </p:sp>
      <p:sp>
        <p:nvSpPr>
          <p:cNvPr id="11" name="Week pill 2"/>
          <p:cNvSpPr/>
          <p:nvPr/>
        </p:nvSpPr>
        <p:spPr>
          <a:xfrm>
            <a:off x="2697480" y="1463040"/>
            <a:ext cx="914400" cy="329184"/>
          </a:xfrm>
          <a:prstGeom prst="roundRect">
            <a:avLst>
              <a:gd name="adj" fmla="val 50000"/>
            </a:avLst>
          </a:prstGeom>
          <a:solidFill>
            <a:schemeClr val="accent4"/>
          </a:solidFill>
          <a:ln/>
        </p:spPr>
      </p:sp>
      <p:sp>
        <p:nvSpPr>
          <p:cNvPr id="12" name="Week label 2"/>
          <p:cNvSpPr txBox="1"/>
          <p:nvPr/>
        </p:nvSpPr>
        <p:spPr>
          <a:xfrm>
            <a:off x="2697480" y="1463040"/>
            <a:ext cx="914400" cy="329184"/>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2</a:t>
            </a:r>
            <a:endParaRPr lang="en-US" sz="1100" dirty="0"/>
          </a:p>
        </p:txBody>
      </p:sp>
      <p:sp>
        <p:nvSpPr>
          <p:cNvPr id="13" name="Week tasks 2"/>
          <p:cNvSpPr txBox="1"/>
          <p:nvPr/>
        </p:nvSpPr>
        <p:spPr>
          <a:xfrm>
            <a:off x="2697480" y="1965960"/>
            <a:ext cx="169164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Finish content plan</a:t>
            </a:r>
            <a:endParaRPr lang="en-US" sz="1300" dirty="0"/>
          </a:p>
          <a:p>
            <a:pPr marL="342900" indent="-342900">
              <a:spcAft>
                <a:spcPts val="500"/>
              </a:spcAft>
              <a:buSzPct val="100000"/>
              <a:buChar char="•"/>
            </a:pPr>
            <a:r>
              <a:rPr lang="en-US" sz="1300" dirty="0">
                <a:solidFill>
                  <a:schemeClr val="tx1"/>
                </a:solidFill>
              </a:rPr>
              <a:t>Photo and video shoot</a:t>
            </a:r>
            <a:endParaRPr lang="en-US" sz="1300" dirty="0"/>
          </a:p>
          <a:p>
            <a:pPr marL="342900" indent="-342900">
              <a:spcAft>
                <a:spcPts val="500"/>
              </a:spcAft>
              <a:buSzPct val="100000"/>
              <a:buChar char="•"/>
            </a:pPr>
            <a:r>
              <a:rPr lang="en-US" sz="1300" dirty="0">
                <a:solidFill>
                  <a:schemeClr val="tx1"/>
                </a:solidFill>
              </a:rPr>
              <a:t>Design content</a:t>
            </a:r>
            <a:endParaRPr lang="en-US" sz="1300" dirty="0"/>
          </a:p>
          <a:p>
            <a:pPr marL="342900" indent="-342900">
              <a:spcAft>
                <a:spcPts val="500"/>
              </a:spcAft>
              <a:buSzPct val="100000"/>
              <a:buChar char="•"/>
            </a:pPr>
            <a:r>
              <a:rPr lang="en-US" sz="1300" dirty="0">
                <a:solidFill>
                  <a:schemeClr val="tx1"/>
                </a:solidFill>
              </a:rPr>
              <a:t>Set up the ads</a:t>
            </a:r>
            <a:endParaRPr lang="en-US" sz="1300" dirty="0"/>
          </a:p>
        </p:txBody>
      </p:sp>
      <p:sp>
        <p:nvSpPr>
          <p:cNvPr id="14" name="Deadline box 2"/>
          <p:cNvSpPr/>
          <p:nvPr/>
        </p:nvSpPr>
        <p:spPr>
          <a:xfrm>
            <a:off x="2670048" y="3703320"/>
            <a:ext cx="1700784" cy="685800"/>
          </a:xfrm>
          <a:prstGeom prst="roundRect">
            <a:avLst>
              <a:gd name="adj" fmla="val 16000"/>
            </a:avLst>
          </a:prstGeom>
          <a:solidFill>
            <a:schemeClr val="tx2"/>
          </a:solidFill>
          <a:ln/>
        </p:spPr>
      </p:sp>
      <p:sp>
        <p:nvSpPr>
          <p:cNvPr id="15" name="Deadline text 2"/>
          <p:cNvSpPr txBox="1"/>
          <p:nvPr/>
        </p:nvSpPr>
        <p:spPr>
          <a:xfrm>
            <a:off x="2788920" y="3703320"/>
            <a:ext cx="1508760" cy="685800"/>
          </a:xfrm>
          <a:prstGeom prst="rect">
            <a:avLst/>
          </a:prstGeom>
          <a:noFill/>
          <a:ln/>
        </p:spPr>
        <p:txBody>
          <a:bodyPr wrap="square" lIns="0" tIns="0" rIns="0" bIns="0" rtlCol="0" anchor="ctr"/>
          <a:lstStyle/>
          <a:p>
            <a:pPr indent="0" marL="0">
              <a:buNone/>
            </a:pPr>
            <a:r>
              <a:rPr lang="en-US" sz="1000" b="1" spc="100" kern="0" dirty="0">
                <a:solidFill>
                  <a:schemeClr val="accent2"/>
                </a:solidFill>
              </a:rPr>
              <a:t>DEADLINE</a:t>
            </a:r>
            <a:endParaRPr lang="en-US" sz="1000" dirty="0"/>
          </a:p>
          <a:p>
            <a:pPr indent="0" marL="0">
              <a:buNone/>
            </a:pPr>
            <a:r>
              <a:rPr lang="en-US" sz="1300" b="1" dirty="0">
                <a:solidFill>
                  <a:schemeClr val="bg1"/>
                </a:solidFill>
              </a:rPr>
              <a:t>Content and ads ready</a:t>
            </a:r>
            <a:endParaRPr lang="en-US" sz="1000" dirty="0"/>
          </a:p>
        </p:txBody>
      </p:sp>
      <p:sp>
        <p:nvSpPr>
          <p:cNvPr id="16" name="Week card 3"/>
          <p:cNvSpPr/>
          <p:nvPr/>
        </p:nvSpPr>
        <p:spPr>
          <a:xfrm>
            <a:off x="4663440" y="1325880"/>
            <a:ext cx="1920240" cy="3200400"/>
          </a:xfrm>
          <a:prstGeom prst="roundRect">
            <a:avLst>
              <a:gd name="adj" fmla="val 5714"/>
            </a:avLst>
          </a:prstGeom>
          <a:solidFill>
            <a:schemeClr val="bg2"/>
          </a:solidFill>
          <a:ln/>
        </p:spPr>
      </p:sp>
      <p:sp>
        <p:nvSpPr>
          <p:cNvPr id="17" name="Week pill 3"/>
          <p:cNvSpPr/>
          <p:nvPr/>
        </p:nvSpPr>
        <p:spPr>
          <a:xfrm>
            <a:off x="4800600" y="1463040"/>
            <a:ext cx="914400" cy="329184"/>
          </a:xfrm>
          <a:prstGeom prst="roundRect">
            <a:avLst>
              <a:gd name="adj" fmla="val 50000"/>
            </a:avLst>
          </a:prstGeom>
          <a:solidFill>
            <a:schemeClr val="accent1"/>
          </a:solidFill>
          <a:ln/>
        </p:spPr>
      </p:sp>
      <p:sp>
        <p:nvSpPr>
          <p:cNvPr id="18" name="Week label 3"/>
          <p:cNvSpPr txBox="1"/>
          <p:nvPr/>
        </p:nvSpPr>
        <p:spPr>
          <a:xfrm>
            <a:off x="4800600" y="1463040"/>
            <a:ext cx="914400" cy="329184"/>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3</a:t>
            </a:r>
            <a:endParaRPr lang="en-US" sz="1100" dirty="0"/>
          </a:p>
        </p:txBody>
      </p:sp>
      <p:sp>
        <p:nvSpPr>
          <p:cNvPr id="19" name="Week tasks 3"/>
          <p:cNvSpPr txBox="1"/>
          <p:nvPr/>
        </p:nvSpPr>
        <p:spPr>
          <a:xfrm>
            <a:off x="4800600" y="1965960"/>
            <a:ext cx="169164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Launch the ads</a:t>
            </a:r>
            <a:endParaRPr lang="en-US" sz="1300" dirty="0"/>
          </a:p>
          <a:p>
            <a:pPr marL="342900" indent="-342900">
              <a:spcAft>
                <a:spcPts val="500"/>
              </a:spcAft>
              <a:buSzPct val="100000"/>
              <a:buChar char="•"/>
            </a:pPr>
            <a:r>
              <a:rPr lang="en-US" sz="1300" dirty="0">
                <a:solidFill>
                  <a:schemeClr val="tx1"/>
                </a:solidFill>
              </a:rPr>
              <a:t>Publish and reply</a:t>
            </a:r>
            <a:endParaRPr lang="en-US" sz="1300" dirty="0"/>
          </a:p>
          <a:p>
            <a:pPr marL="342900" indent="-342900">
              <a:spcAft>
                <a:spcPts val="500"/>
              </a:spcAft>
              <a:buSzPct val="100000"/>
              <a:buChar char="•"/>
            </a:pPr>
            <a:r>
              <a:rPr lang="en-US" sz="1300" dirty="0">
                <a:solidFill>
                  <a:schemeClr val="tx1"/>
                </a:solidFill>
              </a:rPr>
              <a:t>Launch offers</a:t>
            </a:r>
            <a:endParaRPr lang="en-US" sz="1300" dirty="0"/>
          </a:p>
          <a:p>
            <a:pPr marL="342900" indent="-342900">
              <a:spcAft>
                <a:spcPts val="500"/>
              </a:spcAft>
              <a:buSzPct val="100000"/>
              <a:buChar char="•"/>
            </a:pPr>
            <a:r>
              <a:rPr lang="en-US" sz="1300" dirty="0">
                <a:solidFill>
                  <a:schemeClr val="tx1"/>
                </a:solidFill>
              </a:rPr>
              <a:t>Keep creating</a:t>
            </a:r>
            <a:endParaRPr lang="en-US" sz="1300" dirty="0"/>
          </a:p>
        </p:txBody>
      </p:sp>
      <p:sp>
        <p:nvSpPr>
          <p:cNvPr id="20" name="Deadline box 3"/>
          <p:cNvSpPr/>
          <p:nvPr/>
        </p:nvSpPr>
        <p:spPr>
          <a:xfrm>
            <a:off x="4773168" y="3703320"/>
            <a:ext cx="1700784" cy="685800"/>
          </a:xfrm>
          <a:prstGeom prst="roundRect">
            <a:avLst>
              <a:gd name="adj" fmla="val 16000"/>
            </a:avLst>
          </a:prstGeom>
          <a:solidFill>
            <a:schemeClr val="tx2"/>
          </a:solidFill>
          <a:ln/>
        </p:spPr>
      </p:sp>
      <p:sp>
        <p:nvSpPr>
          <p:cNvPr id="21" name="Deadline text 3"/>
          <p:cNvSpPr txBox="1"/>
          <p:nvPr/>
        </p:nvSpPr>
        <p:spPr>
          <a:xfrm>
            <a:off x="4892040" y="3703320"/>
            <a:ext cx="1508760" cy="685800"/>
          </a:xfrm>
          <a:prstGeom prst="rect">
            <a:avLst/>
          </a:prstGeom>
          <a:noFill/>
          <a:ln/>
        </p:spPr>
        <p:txBody>
          <a:bodyPr wrap="square" lIns="0" tIns="0" rIns="0" bIns="0" rtlCol="0" anchor="ctr"/>
          <a:lstStyle/>
          <a:p>
            <a:pPr indent="0" marL="0">
              <a:buNone/>
            </a:pPr>
            <a:r>
              <a:rPr lang="en-US" sz="1000" b="1" spc="100" kern="0" dirty="0">
                <a:solidFill>
                  <a:schemeClr val="accent2"/>
                </a:solidFill>
              </a:rPr>
              <a:t>DEADLINE</a:t>
            </a:r>
            <a:endParaRPr lang="en-US" sz="1000" dirty="0"/>
          </a:p>
          <a:p>
            <a:pPr indent="0" marL="0">
              <a:buNone/>
            </a:pPr>
            <a:r>
              <a:rPr lang="en-US" sz="1300" b="1" dirty="0">
                <a:solidFill>
                  <a:schemeClr val="bg1"/>
                </a:solidFill>
              </a:rPr>
              <a:t>Campaign live</a:t>
            </a:r>
            <a:endParaRPr lang="en-US" sz="1000" dirty="0"/>
          </a:p>
        </p:txBody>
      </p:sp>
      <p:sp>
        <p:nvSpPr>
          <p:cNvPr id="22" name="Week card 4"/>
          <p:cNvSpPr/>
          <p:nvPr/>
        </p:nvSpPr>
        <p:spPr>
          <a:xfrm>
            <a:off x="6766560" y="1325880"/>
            <a:ext cx="1920240" cy="3200400"/>
          </a:xfrm>
          <a:prstGeom prst="roundRect">
            <a:avLst>
              <a:gd name="adj" fmla="val 5714"/>
            </a:avLst>
          </a:prstGeom>
          <a:solidFill>
            <a:schemeClr val="bg2"/>
          </a:solidFill>
          <a:ln/>
        </p:spPr>
      </p:sp>
      <p:sp>
        <p:nvSpPr>
          <p:cNvPr id="23" name="Week pill 4"/>
          <p:cNvSpPr/>
          <p:nvPr/>
        </p:nvSpPr>
        <p:spPr>
          <a:xfrm>
            <a:off x="6903720" y="1463040"/>
            <a:ext cx="914400" cy="329184"/>
          </a:xfrm>
          <a:prstGeom prst="roundRect">
            <a:avLst>
              <a:gd name="adj" fmla="val 50000"/>
            </a:avLst>
          </a:prstGeom>
          <a:solidFill>
            <a:schemeClr val="accent4"/>
          </a:solidFill>
          <a:ln/>
        </p:spPr>
      </p:sp>
      <p:sp>
        <p:nvSpPr>
          <p:cNvPr id="24" name="Week label 4"/>
          <p:cNvSpPr txBox="1"/>
          <p:nvPr/>
        </p:nvSpPr>
        <p:spPr>
          <a:xfrm>
            <a:off x="6903720" y="1463040"/>
            <a:ext cx="914400" cy="329184"/>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4</a:t>
            </a:r>
            <a:endParaRPr lang="en-US" sz="1100" dirty="0"/>
          </a:p>
        </p:txBody>
      </p:sp>
      <p:sp>
        <p:nvSpPr>
          <p:cNvPr id="25" name="Week tasks 4"/>
          <p:cNvSpPr txBox="1"/>
          <p:nvPr/>
        </p:nvSpPr>
        <p:spPr>
          <a:xfrm>
            <a:off x="6903720" y="1965960"/>
            <a:ext cx="169164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Keep publishing</a:t>
            </a:r>
            <a:endParaRPr lang="en-US" sz="1300" dirty="0"/>
          </a:p>
          <a:p>
            <a:pPr marL="342900" indent="-342900">
              <a:spcAft>
                <a:spcPts val="500"/>
              </a:spcAft>
              <a:buSzPct val="100000"/>
              <a:buChar char="•"/>
            </a:pPr>
            <a:r>
              <a:rPr lang="en-US" sz="1300" dirty="0">
                <a:solidFill>
                  <a:schemeClr val="tx1"/>
                </a:solidFill>
              </a:rPr>
              <a:t>Adjust the ads</a:t>
            </a:r>
            <a:endParaRPr lang="en-US" sz="1300" dirty="0"/>
          </a:p>
          <a:p>
            <a:pPr marL="342900" indent="-342900">
              <a:spcAft>
                <a:spcPts val="500"/>
              </a:spcAft>
              <a:buSzPct val="100000"/>
              <a:buChar char="•"/>
            </a:pPr>
            <a:r>
              <a:rPr lang="en-US" sz="1300" dirty="0">
                <a:solidFill>
                  <a:schemeClr val="tx1"/>
                </a:solidFill>
              </a:rPr>
              <a:t>Final report</a:t>
            </a:r>
            <a:endParaRPr lang="en-US" sz="1300" dirty="0"/>
          </a:p>
          <a:p>
            <a:pPr marL="342900" indent="-342900">
              <a:spcAft>
                <a:spcPts val="500"/>
              </a:spcAft>
              <a:buSzPct val="100000"/>
              <a:buChar char="•"/>
            </a:pPr>
            <a:r>
              <a:rPr lang="en-US" sz="1300" dirty="0">
                <a:solidFill>
                  <a:schemeClr val="tx1"/>
                </a:solidFill>
              </a:rPr>
              <a:t>Month-one review</a:t>
            </a:r>
            <a:endParaRPr lang="en-US" sz="1300" dirty="0"/>
          </a:p>
        </p:txBody>
      </p:sp>
      <p:sp>
        <p:nvSpPr>
          <p:cNvPr id="26" name="Deadline box 4"/>
          <p:cNvSpPr/>
          <p:nvPr/>
        </p:nvSpPr>
        <p:spPr>
          <a:xfrm>
            <a:off x="6876288" y="3703320"/>
            <a:ext cx="1700784" cy="685800"/>
          </a:xfrm>
          <a:prstGeom prst="roundRect">
            <a:avLst>
              <a:gd name="adj" fmla="val 16000"/>
            </a:avLst>
          </a:prstGeom>
          <a:solidFill>
            <a:schemeClr val="tx2"/>
          </a:solidFill>
          <a:ln/>
        </p:spPr>
      </p:sp>
      <p:sp>
        <p:nvSpPr>
          <p:cNvPr id="27" name="Deadline text 4"/>
          <p:cNvSpPr txBox="1"/>
          <p:nvPr/>
        </p:nvSpPr>
        <p:spPr>
          <a:xfrm>
            <a:off x="6995160" y="3703320"/>
            <a:ext cx="1508760" cy="685800"/>
          </a:xfrm>
          <a:prstGeom prst="rect">
            <a:avLst/>
          </a:prstGeom>
          <a:noFill/>
          <a:ln/>
        </p:spPr>
        <p:txBody>
          <a:bodyPr wrap="square" lIns="0" tIns="0" rIns="0" bIns="0" rtlCol="0" anchor="ctr"/>
          <a:lstStyle/>
          <a:p>
            <a:pPr indent="0" marL="0">
              <a:buNone/>
            </a:pPr>
            <a:r>
              <a:rPr lang="en-US" sz="1000" b="1" spc="100" kern="0" dirty="0">
                <a:solidFill>
                  <a:schemeClr val="accent2"/>
                </a:solidFill>
              </a:rPr>
              <a:t>DEADLINE</a:t>
            </a:r>
            <a:endParaRPr lang="en-US" sz="1000" dirty="0"/>
          </a:p>
          <a:p>
            <a:pPr indent="0" marL="0">
              <a:buNone/>
            </a:pPr>
            <a:r>
              <a:rPr lang="en-US" sz="1300" b="1" dirty="0">
                <a:solidFill>
                  <a:schemeClr val="bg1"/>
                </a:solidFill>
              </a:rPr>
              <a:t>Review delivered</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4  ·  ASSIGN RESPONSIBILITIES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One Clear Owner for Every Task</a:t>
            </a:r>
            <a:endParaRPr lang="en-US" sz="3200" dirty="0"/>
          </a:p>
        </p:txBody>
      </p:sp>
      <p:sp>
        <p:nvSpPr>
          <p:cNvPr id="4" name="Person card 1"/>
          <p:cNvSpPr/>
          <p:nvPr/>
        </p:nvSpPr>
        <p:spPr>
          <a:xfrm>
            <a:off x="457200" y="1325880"/>
            <a:ext cx="1920240" cy="3200400"/>
          </a:xfrm>
          <a:prstGeom prst="roundRect">
            <a:avLst>
              <a:gd name="adj" fmla="val 5714"/>
            </a:avLst>
          </a:prstGeom>
          <a:solidFill>
            <a:schemeClr val="bg2"/>
          </a:solidFill>
          <a:ln/>
        </p:spPr>
      </p:sp>
      <p:sp>
        <p:nvSpPr>
          <p:cNvPr id="5" name="Rahma Khaled circle"/>
          <p:cNvSpPr/>
          <p:nvPr/>
        </p:nvSpPr>
        <p:spPr>
          <a:xfrm>
            <a:off x="640080" y="1481328"/>
            <a:ext cx="566928" cy="566928"/>
          </a:xfrm>
          <a:prstGeom prst="ellipse">
            <a:avLst/>
          </a:prstGeom>
          <a:solidFill>
            <a:schemeClr val="tx2"/>
          </a:solidFill>
          <a:ln/>
        </p:spPr>
      </p:sp>
      <p:pic>
        <p:nvPicPr>
          <p:cNvPr id="6" name="Rahma Khaled icon" descr="Rahma Khaled">    </p:cNvPr>
          <p:cNvPicPr>
            <a:picLocks noChangeAspect="1"/>
          </p:cNvPicPr>
          <p:nvPr/>
        </p:nvPicPr>
        <p:blipFill>
          <a:blip r:embed="rId1"/>
          <a:stretch>
            <a:fillRect/>
          </a:stretch>
        </p:blipFill>
        <p:spPr>
          <a:xfrm>
            <a:off x="793151" y="1634399"/>
            <a:ext cx="260787" cy="260787"/>
          </a:xfrm>
          <a:prstGeom prst="rect">
            <a:avLst/>
          </a:prstGeom>
        </p:spPr>
      </p:pic>
      <p:sp>
        <p:nvSpPr>
          <p:cNvPr id="7" name="Person name 1"/>
          <p:cNvSpPr txBox="1"/>
          <p:nvPr/>
        </p:nvSpPr>
        <p:spPr>
          <a:xfrm>
            <a:off x="640080" y="2176272"/>
            <a:ext cx="1645920" cy="640080"/>
          </a:xfrm>
          <a:prstGeom prst="rect">
            <a:avLst/>
          </a:prstGeom>
          <a:noFill/>
          <a:ln/>
        </p:spPr>
        <p:txBody>
          <a:bodyPr wrap="square" lIns="0" tIns="0" rIns="0" bIns="0" rtlCol="0" anchor="t"/>
          <a:lstStyle/>
          <a:p>
            <a:pPr indent="0" marL="0">
              <a:buNone/>
            </a:pPr>
            <a:r>
              <a:rPr lang="en-US" sz="1500" b="1" dirty="0">
                <a:solidFill>
                  <a:schemeClr val="tx2"/>
                </a:solidFill>
              </a:rPr>
              <a:t>Rahma Khaled</a:t>
            </a:r>
            <a:endParaRPr lang="en-US" sz="1500" dirty="0"/>
          </a:p>
          <a:p>
            <a:pPr indent="0" marL="0">
              <a:buNone/>
            </a:pPr>
            <a:r>
              <a:rPr lang="en-US" sz="1200" b="1" dirty="0">
                <a:solidFill>
                  <a:schemeClr val="accent1"/>
                </a:solidFill>
              </a:rPr>
              <a:t>Account manager</a:t>
            </a:r>
            <a:endParaRPr lang="en-US" sz="1500" dirty="0"/>
          </a:p>
        </p:txBody>
      </p:sp>
      <p:sp>
        <p:nvSpPr>
          <p:cNvPr id="8" name="Owns label 1"/>
          <p:cNvSpPr txBox="1"/>
          <p:nvPr/>
        </p:nvSpPr>
        <p:spPr>
          <a:xfrm>
            <a:off x="640080" y="2852928"/>
            <a:ext cx="164592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OWNS</a:t>
            </a:r>
            <a:endParaRPr lang="en-US" sz="1000" dirty="0"/>
          </a:p>
        </p:txBody>
      </p:sp>
      <p:sp>
        <p:nvSpPr>
          <p:cNvPr id="9" name="Person tasks 1"/>
          <p:cNvSpPr txBox="1"/>
          <p:nvPr/>
        </p:nvSpPr>
        <p:spPr>
          <a:xfrm>
            <a:off x="640080" y="3108960"/>
            <a:ext cx="1645920"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Market research</a:t>
            </a:r>
            <a:endParaRPr lang="en-US" sz="1200" dirty="0"/>
          </a:p>
          <a:p>
            <a:pPr marL="342900" indent="-342900">
              <a:spcAft>
                <a:spcPts val="300"/>
              </a:spcAft>
              <a:buSzPct val="100000"/>
              <a:buChar char="•"/>
            </a:pPr>
            <a:r>
              <a:rPr lang="en-US" sz="1200" dirty="0">
                <a:solidFill>
                  <a:schemeClr val="tx1"/>
                </a:solidFill>
              </a:rPr>
              <a:t>Target audience</a:t>
            </a:r>
            <a:endParaRPr lang="en-US" sz="1200" dirty="0"/>
          </a:p>
          <a:p>
            <a:pPr marL="342900" indent="-342900">
              <a:spcAft>
                <a:spcPts val="300"/>
              </a:spcAft>
              <a:buSzPct val="100000"/>
              <a:buChar char="•"/>
            </a:pPr>
            <a:r>
              <a:rPr lang="en-US" sz="1200" dirty="0">
                <a:solidFill>
                  <a:schemeClr val="tx1"/>
                </a:solidFill>
              </a:rPr>
              <a:t>Month-one review</a:t>
            </a:r>
            <a:endParaRPr lang="en-US" sz="1200" dirty="0"/>
          </a:p>
          <a:p>
            <a:pPr marL="342900" indent="-342900">
              <a:spcAft>
                <a:spcPts val="300"/>
              </a:spcAft>
              <a:buSzPct val="100000"/>
              <a:buChar char="•"/>
            </a:pPr>
            <a:r>
              <a:rPr lang="en-US" sz="1200" dirty="0">
                <a:solidFill>
                  <a:schemeClr val="tx1"/>
                </a:solidFill>
              </a:rPr>
              <a:t>Main contact for the owner</a:t>
            </a:r>
            <a:endParaRPr lang="en-US" sz="1200" dirty="0"/>
          </a:p>
        </p:txBody>
      </p:sp>
      <p:sp>
        <p:nvSpPr>
          <p:cNvPr id="10" name="Person card 2"/>
          <p:cNvSpPr/>
          <p:nvPr/>
        </p:nvSpPr>
        <p:spPr>
          <a:xfrm>
            <a:off x="2560320" y="1325880"/>
            <a:ext cx="1920240" cy="3200400"/>
          </a:xfrm>
          <a:prstGeom prst="roundRect">
            <a:avLst>
              <a:gd name="adj" fmla="val 5714"/>
            </a:avLst>
          </a:prstGeom>
          <a:solidFill>
            <a:schemeClr val="bg2"/>
          </a:solidFill>
          <a:ln/>
        </p:spPr>
      </p:sp>
      <p:sp>
        <p:nvSpPr>
          <p:cNvPr id="11" name="Aya Reda circle"/>
          <p:cNvSpPr/>
          <p:nvPr/>
        </p:nvSpPr>
        <p:spPr>
          <a:xfrm>
            <a:off x="2743200" y="1481328"/>
            <a:ext cx="566928" cy="566928"/>
          </a:xfrm>
          <a:prstGeom prst="ellipse">
            <a:avLst/>
          </a:prstGeom>
          <a:solidFill>
            <a:schemeClr val="accent1"/>
          </a:solidFill>
          <a:ln/>
        </p:spPr>
      </p:sp>
      <p:pic>
        <p:nvPicPr>
          <p:cNvPr id="12" name="Aya Reda icon" descr="Aya Reda">    </p:cNvPr>
          <p:cNvPicPr>
            <a:picLocks noChangeAspect="1"/>
          </p:cNvPicPr>
          <p:nvPr/>
        </p:nvPicPr>
        <p:blipFill>
          <a:blip r:embed="rId2"/>
          <a:stretch>
            <a:fillRect/>
          </a:stretch>
        </p:blipFill>
        <p:spPr>
          <a:xfrm>
            <a:off x="2896271" y="1634399"/>
            <a:ext cx="260787" cy="260787"/>
          </a:xfrm>
          <a:prstGeom prst="rect">
            <a:avLst/>
          </a:prstGeom>
        </p:spPr>
      </p:pic>
      <p:sp>
        <p:nvSpPr>
          <p:cNvPr id="13" name="Person name 2"/>
          <p:cNvSpPr txBox="1"/>
          <p:nvPr/>
        </p:nvSpPr>
        <p:spPr>
          <a:xfrm>
            <a:off x="2743200" y="2176272"/>
            <a:ext cx="1645920" cy="640080"/>
          </a:xfrm>
          <a:prstGeom prst="rect">
            <a:avLst/>
          </a:prstGeom>
          <a:noFill/>
          <a:ln/>
        </p:spPr>
        <p:txBody>
          <a:bodyPr wrap="square" lIns="0" tIns="0" rIns="0" bIns="0" rtlCol="0" anchor="t"/>
          <a:lstStyle/>
          <a:p>
            <a:pPr indent="0" marL="0">
              <a:buNone/>
            </a:pPr>
            <a:r>
              <a:rPr lang="en-US" sz="1500" b="1" dirty="0">
                <a:solidFill>
                  <a:schemeClr val="tx2"/>
                </a:solidFill>
              </a:rPr>
              <a:t>Aya Reda</a:t>
            </a:r>
            <a:endParaRPr lang="en-US" sz="1500" dirty="0"/>
          </a:p>
          <a:p>
            <a:pPr indent="0" marL="0">
              <a:buNone/>
            </a:pPr>
            <a:r>
              <a:rPr lang="en-US" sz="1200" b="1" dirty="0">
                <a:solidFill>
                  <a:schemeClr val="accent1"/>
                </a:solidFill>
              </a:rPr>
              <a:t>Social media and content</a:t>
            </a:r>
            <a:endParaRPr lang="en-US" sz="1500" dirty="0"/>
          </a:p>
        </p:txBody>
      </p:sp>
      <p:sp>
        <p:nvSpPr>
          <p:cNvPr id="14" name="Owns label 2"/>
          <p:cNvSpPr txBox="1"/>
          <p:nvPr/>
        </p:nvSpPr>
        <p:spPr>
          <a:xfrm>
            <a:off x="2743200" y="2852928"/>
            <a:ext cx="164592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OWNS</a:t>
            </a:r>
            <a:endParaRPr lang="en-US" sz="1000" dirty="0"/>
          </a:p>
        </p:txBody>
      </p:sp>
      <p:sp>
        <p:nvSpPr>
          <p:cNvPr id="15" name="Person tasks 2"/>
          <p:cNvSpPr txBox="1"/>
          <p:nvPr/>
        </p:nvSpPr>
        <p:spPr>
          <a:xfrm>
            <a:off x="2743200" y="3108960"/>
            <a:ext cx="1645920"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Content plan</a:t>
            </a:r>
            <a:endParaRPr lang="en-US" sz="1200" dirty="0"/>
          </a:p>
          <a:p>
            <a:pPr marL="342900" indent="-342900">
              <a:spcAft>
                <a:spcPts val="300"/>
              </a:spcAft>
              <a:buSzPct val="100000"/>
              <a:buChar char="•"/>
            </a:pPr>
            <a:r>
              <a:rPr lang="en-US" sz="1200" dirty="0">
                <a:solidFill>
                  <a:schemeClr val="tx1"/>
                </a:solidFill>
              </a:rPr>
              <a:t>Publishing and replies</a:t>
            </a:r>
            <a:endParaRPr lang="en-US" sz="1200" dirty="0"/>
          </a:p>
          <a:p>
            <a:pPr marL="342900" indent="-342900">
              <a:spcAft>
                <a:spcPts val="300"/>
              </a:spcAft>
              <a:buSzPct val="100000"/>
              <a:buChar char="•"/>
            </a:pPr>
            <a:r>
              <a:rPr lang="en-US" sz="1200" dirty="0">
                <a:solidFill>
                  <a:schemeClr val="tx1"/>
                </a:solidFill>
              </a:rPr>
              <a:t>Special offers</a:t>
            </a:r>
            <a:endParaRPr lang="en-US" sz="1200" dirty="0"/>
          </a:p>
        </p:txBody>
      </p:sp>
      <p:sp>
        <p:nvSpPr>
          <p:cNvPr id="16" name="Person card 3"/>
          <p:cNvSpPr/>
          <p:nvPr/>
        </p:nvSpPr>
        <p:spPr>
          <a:xfrm>
            <a:off x="4663440" y="1325880"/>
            <a:ext cx="1920240" cy="3200400"/>
          </a:xfrm>
          <a:prstGeom prst="roundRect">
            <a:avLst>
              <a:gd name="adj" fmla="val 5714"/>
            </a:avLst>
          </a:prstGeom>
          <a:solidFill>
            <a:schemeClr val="bg2"/>
          </a:solidFill>
          <a:ln/>
        </p:spPr>
      </p:sp>
      <p:sp>
        <p:nvSpPr>
          <p:cNvPr id="17" name="Mahmoud Ibrahim circle"/>
          <p:cNvSpPr/>
          <p:nvPr/>
        </p:nvSpPr>
        <p:spPr>
          <a:xfrm>
            <a:off x="4846320" y="1481328"/>
            <a:ext cx="566928" cy="566928"/>
          </a:xfrm>
          <a:prstGeom prst="ellipse">
            <a:avLst/>
          </a:prstGeom>
          <a:solidFill>
            <a:schemeClr val="accent4"/>
          </a:solidFill>
          <a:ln/>
        </p:spPr>
      </p:sp>
      <p:pic>
        <p:nvPicPr>
          <p:cNvPr id="18" name="Mahmoud Ibrahim icon" descr="Mahmoud Ibrahim">    </p:cNvPr>
          <p:cNvPicPr>
            <a:picLocks noChangeAspect="1"/>
          </p:cNvPicPr>
          <p:nvPr/>
        </p:nvPicPr>
        <p:blipFill>
          <a:blip r:embed="rId3"/>
          <a:stretch>
            <a:fillRect/>
          </a:stretch>
        </p:blipFill>
        <p:spPr>
          <a:xfrm>
            <a:off x="4999391" y="1634399"/>
            <a:ext cx="260787" cy="260787"/>
          </a:xfrm>
          <a:prstGeom prst="rect">
            <a:avLst/>
          </a:prstGeom>
        </p:spPr>
      </p:pic>
      <p:sp>
        <p:nvSpPr>
          <p:cNvPr id="19" name="Person name 3"/>
          <p:cNvSpPr txBox="1"/>
          <p:nvPr/>
        </p:nvSpPr>
        <p:spPr>
          <a:xfrm>
            <a:off x="4846320" y="2176272"/>
            <a:ext cx="1645920" cy="640080"/>
          </a:xfrm>
          <a:prstGeom prst="rect">
            <a:avLst/>
          </a:prstGeom>
          <a:noFill/>
          <a:ln/>
        </p:spPr>
        <p:txBody>
          <a:bodyPr wrap="square" lIns="0" tIns="0" rIns="0" bIns="0" rtlCol="0" anchor="t"/>
          <a:lstStyle/>
          <a:p>
            <a:pPr indent="0" marL="0">
              <a:buNone/>
            </a:pPr>
            <a:r>
              <a:rPr lang="en-US" sz="1500" b="1" dirty="0">
                <a:solidFill>
                  <a:schemeClr val="tx2"/>
                </a:solidFill>
              </a:rPr>
              <a:t>Mahmoud Ibrahim</a:t>
            </a:r>
            <a:endParaRPr lang="en-US" sz="1500" dirty="0"/>
          </a:p>
          <a:p>
            <a:pPr indent="0" marL="0">
              <a:buNone/>
            </a:pPr>
            <a:r>
              <a:rPr lang="en-US" sz="1200" b="1" dirty="0">
                <a:solidFill>
                  <a:schemeClr val="accent4"/>
                </a:solidFill>
              </a:rPr>
              <a:t>Ads and analytics</a:t>
            </a:r>
            <a:endParaRPr lang="en-US" sz="1500" dirty="0"/>
          </a:p>
        </p:txBody>
      </p:sp>
      <p:sp>
        <p:nvSpPr>
          <p:cNvPr id="20" name="Owns label 3"/>
          <p:cNvSpPr txBox="1"/>
          <p:nvPr/>
        </p:nvSpPr>
        <p:spPr>
          <a:xfrm>
            <a:off x="4846320" y="2852928"/>
            <a:ext cx="164592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OWNS</a:t>
            </a:r>
            <a:endParaRPr lang="en-US" sz="1000" dirty="0"/>
          </a:p>
        </p:txBody>
      </p:sp>
      <p:sp>
        <p:nvSpPr>
          <p:cNvPr id="21" name="Person tasks 3"/>
          <p:cNvSpPr txBox="1"/>
          <p:nvPr/>
        </p:nvSpPr>
        <p:spPr>
          <a:xfrm>
            <a:off x="4846320" y="3108960"/>
            <a:ext cx="1645920"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Free page audit</a:t>
            </a:r>
            <a:endParaRPr lang="en-US" sz="1200" dirty="0"/>
          </a:p>
          <a:p>
            <a:pPr marL="342900" indent="-342900">
              <a:spcAft>
                <a:spcPts val="300"/>
              </a:spcAft>
              <a:buSzPct val="100000"/>
              <a:buChar char="•"/>
            </a:pPr>
            <a:r>
              <a:rPr lang="en-US" sz="1200" dirty="0">
                <a:solidFill>
                  <a:schemeClr val="tx1"/>
                </a:solidFill>
              </a:rPr>
              <a:t>Facebook and Instagram ads</a:t>
            </a:r>
            <a:endParaRPr lang="en-US" sz="1200" dirty="0"/>
          </a:p>
          <a:p>
            <a:pPr marL="342900" indent="-342900">
              <a:spcAft>
                <a:spcPts val="300"/>
              </a:spcAft>
              <a:buSzPct val="100000"/>
              <a:buChar char="•"/>
            </a:pPr>
            <a:r>
              <a:rPr lang="en-US" sz="1200" dirty="0">
                <a:solidFill>
                  <a:schemeClr val="tx1"/>
                </a:solidFill>
              </a:rPr>
              <a:t>KPIs and weekly report</a:t>
            </a:r>
            <a:endParaRPr lang="en-US" sz="1200" dirty="0"/>
          </a:p>
        </p:txBody>
      </p:sp>
      <p:sp>
        <p:nvSpPr>
          <p:cNvPr id="22" name="Person card 4"/>
          <p:cNvSpPr/>
          <p:nvPr/>
        </p:nvSpPr>
        <p:spPr>
          <a:xfrm>
            <a:off x="6766560" y="1325880"/>
            <a:ext cx="1920240" cy="3200400"/>
          </a:xfrm>
          <a:prstGeom prst="roundRect">
            <a:avLst>
              <a:gd name="adj" fmla="val 5714"/>
            </a:avLst>
          </a:prstGeom>
          <a:solidFill>
            <a:schemeClr val="bg2"/>
          </a:solidFill>
          <a:ln/>
        </p:spPr>
      </p:sp>
      <p:sp>
        <p:nvSpPr>
          <p:cNvPr id="23" name="Abader Zarif circle"/>
          <p:cNvSpPr/>
          <p:nvPr/>
        </p:nvSpPr>
        <p:spPr>
          <a:xfrm>
            <a:off x="6949440" y="1481328"/>
            <a:ext cx="566928" cy="566928"/>
          </a:xfrm>
          <a:prstGeom prst="ellipse">
            <a:avLst/>
          </a:prstGeom>
          <a:solidFill>
            <a:schemeClr val="accent3"/>
          </a:solidFill>
          <a:ln/>
        </p:spPr>
      </p:sp>
      <p:pic>
        <p:nvPicPr>
          <p:cNvPr id="24" name="Abader Zarif icon" descr="Abader Zarif">    </p:cNvPr>
          <p:cNvPicPr>
            <a:picLocks noChangeAspect="1"/>
          </p:cNvPicPr>
          <p:nvPr/>
        </p:nvPicPr>
        <p:blipFill>
          <a:blip r:embed="rId4"/>
          <a:stretch>
            <a:fillRect/>
          </a:stretch>
        </p:blipFill>
        <p:spPr>
          <a:xfrm>
            <a:off x="7102511" y="1634399"/>
            <a:ext cx="260787" cy="260787"/>
          </a:xfrm>
          <a:prstGeom prst="rect">
            <a:avLst/>
          </a:prstGeom>
        </p:spPr>
      </p:pic>
      <p:sp>
        <p:nvSpPr>
          <p:cNvPr id="25" name="Person name 4"/>
          <p:cNvSpPr txBox="1"/>
          <p:nvPr/>
        </p:nvSpPr>
        <p:spPr>
          <a:xfrm>
            <a:off x="6949440" y="2176272"/>
            <a:ext cx="1645920" cy="640080"/>
          </a:xfrm>
          <a:prstGeom prst="rect">
            <a:avLst/>
          </a:prstGeom>
          <a:noFill/>
          <a:ln/>
        </p:spPr>
        <p:txBody>
          <a:bodyPr wrap="square" lIns="0" tIns="0" rIns="0" bIns="0" rtlCol="0" anchor="t"/>
          <a:lstStyle/>
          <a:p>
            <a:pPr indent="0" marL="0">
              <a:buNone/>
            </a:pPr>
            <a:r>
              <a:rPr lang="en-US" sz="1500" b="1" dirty="0">
                <a:solidFill>
                  <a:schemeClr val="tx2"/>
                </a:solidFill>
              </a:rPr>
              <a:t>Abader Zarif</a:t>
            </a:r>
            <a:endParaRPr lang="en-US" sz="1500" dirty="0"/>
          </a:p>
          <a:p>
            <a:pPr indent="0" marL="0">
              <a:buNone/>
            </a:pPr>
            <a:r>
              <a:rPr lang="en-US" sz="1200" b="1" dirty="0">
                <a:solidFill>
                  <a:schemeClr val="accent3"/>
                </a:solidFill>
              </a:rPr>
              <a:t>Design and photography</a:t>
            </a:r>
            <a:endParaRPr lang="en-US" sz="1500" dirty="0"/>
          </a:p>
        </p:txBody>
      </p:sp>
      <p:sp>
        <p:nvSpPr>
          <p:cNvPr id="26" name="Owns label 4"/>
          <p:cNvSpPr txBox="1"/>
          <p:nvPr/>
        </p:nvSpPr>
        <p:spPr>
          <a:xfrm>
            <a:off x="6949440" y="2852928"/>
            <a:ext cx="164592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OWNS</a:t>
            </a:r>
            <a:endParaRPr lang="en-US" sz="1000" dirty="0"/>
          </a:p>
        </p:txBody>
      </p:sp>
      <p:sp>
        <p:nvSpPr>
          <p:cNvPr id="27" name="Person tasks 4"/>
          <p:cNvSpPr txBox="1"/>
          <p:nvPr/>
        </p:nvSpPr>
        <p:spPr>
          <a:xfrm>
            <a:off x="6949440" y="3108960"/>
            <a:ext cx="1645920"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Photo and video shoot</a:t>
            </a:r>
            <a:endParaRPr lang="en-US" sz="1200" dirty="0"/>
          </a:p>
          <a:p>
            <a:pPr marL="342900" indent="-342900">
              <a:spcAft>
                <a:spcPts val="300"/>
              </a:spcAft>
              <a:buSzPct val="100000"/>
              <a:buChar char="•"/>
            </a:pPr>
            <a:r>
              <a:rPr lang="en-US" sz="1200" dirty="0">
                <a:solidFill>
                  <a:schemeClr val="tx1"/>
                </a:solidFill>
              </a:rPr>
              <a:t>Posts, reels and stories design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5  ·  IDENTIFY RESOURCES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What We Need to Succeed</a:t>
            </a:r>
            <a:endParaRPr lang="en-US" sz="3200" dirty="0"/>
          </a:p>
        </p:txBody>
      </p:sp>
      <p:sp>
        <p:nvSpPr>
          <p:cNvPr id="4" name="Resource card 1"/>
          <p:cNvSpPr/>
          <p:nvPr/>
        </p:nvSpPr>
        <p:spPr>
          <a:xfrm>
            <a:off x="457200" y="1325880"/>
            <a:ext cx="2606040" cy="3200400"/>
          </a:xfrm>
          <a:prstGeom prst="roundRect">
            <a:avLst>
              <a:gd name="adj" fmla="val 4211"/>
            </a:avLst>
          </a:prstGeom>
          <a:solidFill>
            <a:schemeClr val="bg2"/>
          </a:solidFill>
          <a:ln/>
        </p:spPr>
      </p:sp>
      <p:pic>
        <p:nvPicPr>
          <p:cNvPr id="5" name="Budget: 13,000 EGP illustration" descr="Budget: 13,000 EGP illustration">    </p:cNvPr>
          <p:cNvPicPr>
            <a:picLocks noChangeAspect="1"/>
          </p:cNvPicPr>
          <p:nvPr/>
        </p:nvPicPr>
        <p:blipFill>
          <a:blip r:embed="rId1"/>
          <a:stretch>
            <a:fillRect/>
          </a:stretch>
        </p:blipFill>
        <p:spPr>
          <a:xfrm>
            <a:off x="548640" y="1417320"/>
            <a:ext cx="2423160" cy="1097280"/>
          </a:xfrm>
          <a:prstGeom prst="rect">
            <a:avLst/>
          </a:prstGeom>
        </p:spPr>
      </p:pic>
      <p:sp>
        <p:nvSpPr>
          <p:cNvPr id="6" name="Resource title 1"/>
          <p:cNvSpPr txBox="1"/>
          <p:nvPr/>
        </p:nvSpPr>
        <p:spPr>
          <a:xfrm>
            <a:off x="640080" y="2651760"/>
            <a:ext cx="2240280" cy="365760"/>
          </a:xfrm>
          <a:prstGeom prst="rect">
            <a:avLst/>
          </a:prstGeom>
          <a:noFill/>
          <a:ln/>
        </p:spPr>
        <p:txBody>
          <a:bodyPr wrap="square" lIns="0" tIns="0" rIns="0" bIns="0" rtlCol="0" anchor="ctr"/>
          <a:lstStyle/>
          <a:p>
            <a:pPr indent="0" marL="0">
              <a:buNone/>
            </a:pPr>
            <a:r>
              <a:rPr lang="en-US" sz="1500" b="1" dirty="0">
                <a:solidFill>
                  <a:schemeClr val="tx2"/>
                </a:solidFill>
              </a:rPr>
              <a:t>Budget: 13,000 EGP</a:t>
            </a:r>
            <a:endParaRPr lang="en-US" sz="1500" dirty="0"/>
          </a:p>
        </p:txBody>
      </p:sp>
      <p:sp>
        <p:nvSpPr>
          <p:cNvPr id="7" name="Resource list 1"/>
          <p:cNvSpPr txBox="1"/>
          <p:nvPr/>
        </p:nvSpPr>
        <p:spPr>
          <a:xfrm>
            <a:off x="640080" y="3108960"/>
            <a:ext cx="2240280" cy="132588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Social media: 5,000 EGP</a:t>
            </a:r>
            <a:endParaRPr lang="en-US" sz="1300" dirty="0"/>
          </a:p>
          <a:p>
            <a:pPr marL="342900" indent="-342900">
              <a:spcAft>
                <a:spcPts val="300"/>
              </a:spcAft>
              <a:buSzPct val="100000"/>
              <a:buChar char="•"/>
            </a:pPr>
            <a:r>
              <a:rPr lang="en-US" sz="1300" dirty="0">
                <a:solidFill>
                  <a:schemeClr val="tx1"/>
                </a:solidFill>
              </a:rPr>
              <a:t>Paid ads: 4,000 EGP</a:t>
            </a:r>
            <a:endParaRPr lang="en-US" sz="1300" dirty="0"/>
          </a:p>
          <a:p>
            <a:pPr marL="342900" indent="-342900">
              <a:spcAft>
                <a:spcPts val="300"/>
              </a:spcAft>
              <a:buSzPct val="100000"/>
              <a:buChar char="•"/>
            </a:pPr>
            <a:r>
              <a:rPr lang="en-US" sz="1300" dirty="0">
                <a:solidFill>
                  <a:schemeClr val="tx1"/>
                </a:solidFill>
              </a:rPr>
              <a:t>Content: 3,000 EGP</a:t>
            </a:r>
            <a:endParaRPr lang="en-US" sz="1300" dirty="0"/>
          </a:p>
          <a:p>
            <a:pPr marL="342900" indent="-342900">
              <a:spcAft>
                <a:spcPts val="300"/>
              </a:spcAft>
              <a:buSzPct val="100000"/>
              <a:buChar char="•"/>
            </a:pPr>
            <a:r>
              <a:rPr lang="en-US" sz="1300" dirty="0">
                <a:solidFill>
                  <a:schemeClr val="tx1"/>
                </a:solidFill>
              </a:rPr>
              <a:t>Reports: 1,000 EGP</a:t>
            </a:r>
            <a:endParaRPr lang="en-US" sz="1300" dirty="0"/>
          </a:p>
        </p:txBody>
      </p:sp>
      <p:sp>
        <p:nvSpPr>
          <p:cNvPr id="8" name="Resource card 2"/>
          <p:cNvSpPr/>
          <p:nvPr/>
        </p:nvSpPr>
        <p:spPr>
          <a:xfrm>
            <a:off x="3268980" y="1325880"/>
            <a:ext cx="2606040" cy="3200400"/>
          </a:xfrm>
          <a:prstGeom prst="roundRect">
            <a:avLst>
              <a:gd name="adj" fmla="val 4211"/>
            </a:avLst>
          </a:prstGeom>
          <a:solidFill>
            <a:schemeClr val="bg2"/>
          </a:solidFill>
          <a:ln/>
        </p:spPr>
      </p:sp>
      <p:pic>
        <p:nvPicPr>
          <p:cNvPr id="9" name="Tools illustration" descr="Tools illustration">    </p:cNvPr>
          <p:cNvPicPr>
            <a:picLocks noChangeAspect="1"/>
          </p:cNvPicPr>
          <p:nvPr/>
        </p:nvPicPr>
        <p:blipFill>
          <a:blip r:embed="rId2"/>
          <a:stretch>
            <a:fillRect/>
          </a:stretch>
        </p:blipFill>
        <p:spPr>
          <a:xfrm>
            <a:off x="3360420" y="1417320"/>
            <a:ext cx="2423160" cy="1097280"/>
          </a:xfrm>
          <a:prstGeom prst="rect">
            <a:avLst/>
          </a:prstGeom>
        </p:spPr>
      </p:pic>
      <p:sp>
        <p:nvSpPr>
          <p:cNvPr id="10" name="Resource title 2"/>
          <p:cNvSpPr txBox="1"/>
          <p:nvPr/>
        </p:nvSpPr>
        <p:spPr>
          <a:xfrm>
            <a:off x="3451860" y="2651760"/>
            <a:ext cx="2240280" cy="365760"/>
          </a:xfrm>
          <a:prstGeom prst="rect">
            <a:avLst/>
          </a:prstGeom>
          <a:noFill/>
          <a:ln/>
        </p:spPr>
        <p:txBody>
          <a:bodyPr wrap="square" lIns="0" tIns="0" rIns="0" bIns="0" rtlCol="0" anchor="ctr"/>
          <a:lstStyle/>
          <a:p>
            <a:pPr indent="0" marL="0">
              <a:buNone/>
            </a:pPr>
            <a:r>
              <a:rPr lang="en-US" sz="1500" b="1" dirty="0">
                <a:solidFill>
                  <a:schemeClr val="tx2"/>
                </a:solidFill>
              </a:rPr>
              <a:t>Tools</a:t>
            </a:r>
            <a:endParaRPr lang="en-US" sz="1500" dirty="0"/>
          </a:p>
        </p:txBody>
      </p:sp>
      <p:sp>
        <p:nvSpPr>
          <p:cNvPr id="11" name="Resource list 2"/>
          <p:cNvSpPr txBox="1"/>
          <p:nvPr/>
        </p:nvSpPr>
        <p:spPr>
          <a:xfrm>
            <a:off x="3451860" y="3108960"/>
            <a:ext cx="2240280" cy="132588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Meta Business Suite</a:t>
            </a:r>
            <a:endParaRPr lang="en-US" sz="1300" dirty="0"/>
          </a:p>
          <a:p>
            <a:pPr marL="342900" indent="-342900">
              <a:spcAft>
                <a:spcPts val="300"/>
              </a:spcAft>
              <a:buSzPct val="100000"/>
              <a:buChar char="•"/>
            </a:pPr>
            <a:r>
              <a:rPr lang="en-US" sz="1300" dirty="0">
                <a:solidFill>
                  <a:schemeClr val="tx1"/>
                </a:solidFill>
              </a:rPr>
              <a:t>Meta Ads Manager</a:t>
            </a:r>
            <a:endParaRPr lang="en-US" sz="1300" dirty="0"/>
          </a:p>
          <a:p>
            <a:pPr marL="342900" indent="-342900">
              <a:spcAft>
                <a:spcPts val="300"/>
              </a:spcAft>
              <a:buSzPct val="100000"/>
              <a:buChar char="•"/>
            </a:pPr>
            <a:r>
              <a:rPr lang="en-US" sz="1300" dirty="0">
                <a:solidFill>
                  <a:schemeClr val="tx1"/>
                </a:solidFill>
              </a:rPr>
              <a:t>Canva and CapCut</a:t>
            </a:r>
            <a:endParaRPr lang="en-US" sz="1300" dirty="0"/>
          </a:p>
          <a:p>
            <a:pPr marL="342900" indent="-342900">
              <a:spcAft>
                <a:spcPts val="300"/>
              </a:spcAft>
              <a:buSzPct val="100000"/>
              <a:buChar char="•"/>
            </a:pPr>
            <a:r>
              <a:rPr lang="en-US" sz="1300" dirty="0">
                <a:solidFill>
                  <a:schemeClr val="tx1"/>
                </a:solidFill>
              </a:rPr>
              <a:t>Google Sheets reports</a:t>
            </a:r>
            <a:endParaRPr lang="en-US" sz="1300" dirty="0"/>
          </a:p>
        </p:txBody>
      </p:sp>
      <p:sp>
        <p:nvSpPr>
          <p:cNvPr id="12" name="Resource card 3"/>
          <p:cNvSpPr/>
          <p:nvPr/>
        </p:nvSpPr>
        <p:spPr>
          <a:xfrm>
            <a:off x="6080760" y="1325880"/>
            <a:ext cx="2606040" cy="3200400"/>
          </a:xfrm>
          <a:prstGeom prst="roundRect">
            <a:avLst>
              <a:gd name="adj" fmla="val 4211"/>
            </a:avLst>
          </a:prstGeom>
          <a:solidFill>
            <a:schemeClr val="bg2"/>
          </a:solidFill>
          <a:ln/>
        </p:spPr>
      </p:sp>
      <p:pic>
        <p:nvPicPr>
          <p:cNvPr id="13" name="From The Daily Cup illustration" descr="From The Daily Cup illustration">    </p:cNvPr>
          <p:cNvPicPr>
            <a:picLocks noChangeAspect="1"/>
          </p:cNvPicPr>
          <p:nvPr/>
        </p:nvPicPr>
        <p:blipFill>
          <a:blip r:embed="rId3"/>
          <a:stretch>
            <a:fillRect/>
          </a:stretch>
        </p:blipFill>
        <p:spPr>
          <a:xfrm>
            <a:off x="6172200" y="1417320"/>
            <a:ext cx="2423160" cy="1097280"/>
          </a:xfrm>
          <a:prstGeom prst="rect">
            <a:avLst/>
          </a:prstGeom>
        </p:spPr>
      </p:pic>
      <p:sp>
        <p:nvSpPr>
          <p:cNvPr id="14" name="Resource title 3"/>
          <p:cNvSpPr txBox="1"/>
          <p:nvPr/>
        </p:nvSpPr>
        <p:spPr>
          <a:xfrm>
            <a:off x="6263640" y="2651760"/>
            <a:ext cx="2240280" cy="365760"/>
          </a:xfrm>
          <a:prstGeom prst="rect">
            <a:avLst/>
          </a:prstGeom>
          <a:noFill/>
          <a:ln/>
        </p:spPr>
        <p:txBody>
          <a:bodyPr wrap="square" lIns="0" tIns="0" rIns="0" bIns="0" rtlCol="0" anchor="ctr"/>
          <a:lstStyle/>
          <a:p>
            <a:pPr indent="0" marL="0">
              <a:buNone/>
            </a:pPr>
            <a:r>
              <a:rPr lang="en-US" sz="1500" b="1" dirty="0">
                <a:solidFill>
                  <a:schemeClr val="tx2"/>
                </a:solidFill>
              </a:rPr>
              <a:t>From The Daily Cup</a:t>
            </a:r>
            <a:endParaRPr lang="en-US" sz="1500" dirty="0"/>
          </a:p>
        </p:txBody>
      </p:sp>
      <p:sp>
        <p:nvSpPr>
          <p:cNvPr id="15" name="Resource list 3"/>
          <p:cNvSpPr txBox="1"/>
          <p:nvPr/>
        </p:nvSpPr>
        <p:spPr>
          <a:xfrm>
            <a:off x="6263640" y="3108960"/>
            <a:ext cx="2240280" cy="132588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Access to the café's pages</a:t>
            </a:r>
            <a:endParaRPr lang="en-US" sz="1300" dirty="0"/>
          </a:p>
          <a:p>
            <a:pPr marL="342900" indent="-342900">
              <a:spcAft>
                <a:spcPts val="300"/>
              </a:spcAft>
              <a:buSzPct val="100000"/>
              <a:buChar char="•"/>
            </a:pPr>
            <a:r>
              <a:rPr lang="en-US" sz="1300" dirty="0">
                <a:solidFill>
                  <a:schemeClr val="tx1"/>
                </a:solidFill>
              </a:rPr>
              <a:t>Menu, prices and offers</a:t>
            </a:r>
            <a:endParaRPr lang="en-US" sz="1300" dirty="0"/>
          </a:p>
          <a:p>
            <a:pPr marL="342900" indent="-342900">
              <a:spcAft>
                <a:spcPts val="300"/>
              </a:spcAft>
              <a:buSzPct val="100000"/>
              <a:buChar char="•"/>
            </a:pPr>
            <a:r>
              <a:rPr lang="en-US" sz="1300" dirty="0">
                <a:solidFill>
                  <a:schemeClr val="tx1"/>
                </a:solidFill>
              </a:rPr>
              <a:t>Time for the photo shoot</a:t>
            </a:r>
            <a:endParaRPr lang="en-US" sz="1300" dirty="0"/>
          </a:p>
          <a:p>
            <a:pPr marL="342900" indent="-342900">
              <a:spcAft>
                <a:spcPts val="300"/>
              </a:spcAft>
              <a:buSzPct val="100000"/>
              <a:buChar char="•"/>
            </a:pPr>
            <a:r>
              <a:rPr lang="en-US" sz="1300" dirty="0">
                <a:solidFill>
                  <a:schemeClr val="tx1"/>
                </a:solidFill>
              </a:rPr>
              <a:t>Weekly sales numbers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6  ·  MONITOR AND ASSESS PROGRESS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How We Track Progress</a:t>
            </a:r>
            <a:endParaRPr lang="en-US" sz="3200" dirty="0"/>
          </a:p>
        </p:txBody>
      </p:sp>
      <p:graphicFrame>
        <p:nvGraphicFramePr>
          <p:cNvPr id="9" name="KPI table"/>
          <p:cNvGraphicFramePr>
            <a:graphicFrameLocks noGrp="1"/>
          </p:cNvGraphicFramePr>
          <p:nvPr>
            <p:extLst>
              <p:ext uri="{D42A27DB-BD31-4B8C-83A1-F6EECF244321}">
                <p14:modId xmlns:p14="http://schemas.microsoft.com/office/powerpoint/2010/main" val="1579011935"/>
              </p:ext>
            </p:extLst>
          </p:nvPr>
        </p:nvGraphicFramePr>
        <p:xfrm>
          <a:off x="457200" y="1298448"/>
          <a:ext cx="8229600" cy="914400"/>
        </p:xfrm>
        <a:graphic>
          <a:graphicData uri="http://schemas.openxmlformats.org/drawingml/2006/table">
            <a:tbl>
              <a:tblPr/>
              <a:tblGrid>
                <a:gridCol w="2103120"/>
                <a:gridCol w="1645920"/>
                <a:gridCol w="2834640"/>
                <a:gridCol w="1645920"/>
              </a:tblGrid>
              <a:tr h="338328">
                <a:tc>
                  <a:txBody>
                    <a:bodyPr/>
                    <a:lstStyle/>
                    <a:p>
                      <a:pPr indent="0" marL="0">
                        <a:buNone/>
                      </a:pPr>
                      <a:r>
                        <a:rPr lang="en-US" sz="1300" b="1" dirty="0">
                          <a:solidFill>
                            <a:schemeClr val="bg1"/>
                          </a:solidFill>
                        </a:rPr>
                        <a:t>KPI</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300" b="1" dirty="0">
                          <a:solidFill>
                            <a:schemeClr val="bg1"/>
                          </a:solidFill>
                        </a:rPr>
                        <a:t>Target</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300" b="1" dirty="0">
                          <a:solidFill>
                            <a:schemeClr val="bg1"/>
                          </a:solidFill>
                        </a:rPr>
                        <a:t>How we check</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300" b="1" dirty="0">
                          <a:solidFill>
                            <a:schemeClr val="bg1"/>
                          </a:solidFill>
                        </a:rPr>
                        <a:t>How often</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tx2"/>
                    </a:solidFill>
                  </a:tcPr>
                </a:tc>
              </a:tr>
              <a:tr h="338328">
                <a:tc>
                  <a:txBody>
                    <a:bodyPr/>
                    <a:lstStyle/>
                    <a:p>
                      <a:pPr indent="0" marL="0">
                        <a:buNone/>
                      </a:pPr>
                      <a:r>
                        <a:rPr lang="en-US" sz="1300" b="1" dirty="0">
                          <a:solidFill>
                            <a:schemeClr val="tx2"/>
                          </a:solidFill>
                        </a:rPr>
                        <a:t>Reach</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b="1" dirty="0">
                          <a:solidFill>
                            <a:schemeClr val="accent1"/>
                          </a:solidFill>
                        </a:rPr>
                        <a:t>40K+</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Meta Ads Manager</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Every week</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338328">
                <a:tc>
                  <a:txBody>
                    <a:bodyPr/>
                    <a:lstStyle/>
                    <a:p>
                      <a:pPr indent="0" marL="0">
                        <a:buNone/>
                      </a:pPr>
                      <a:r>
                        <a:rPr lang="en-US" sz="1300" b="1" dirty="0">
                          <a:solidFill>
                            <a:schemeClr val="tx2"/>
                          </a:solidFill>
                        </a:rPr>
                        <a:t>New followers</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b="1" dirty="0">
                          <a:solidFill>
                            <a:schemeClr val="accent1"/>
                          </a:solidFill>
                        </a:rPr>
                        <a:t>+500</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Instagram Insights</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Every week</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38328">
                <a:tc>
                  <a:txBody>
                    <a:bodyPr/>
                    <a:lstStyle/>
                    <a:p>
                      <a:pPr indent="0" marL="0">
                        <a:buNone/>
                      </a:pPr>
                      <a:r>
                        <a:rPr lang="en-US" sz="1300" b="1" dirty="0">
                          <a:solidFill>
                            <a:schemeClr val="tx2"/>
                          </a:solidFill>
                        </a:rPr>
                        <a:t>Inquiries</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b="1" dirty="0">
                          <a:solidFill>
                            <a:schemeClr val="accent1"/>
                          </a:solidFill>
                        </a:rPr>
                        <a:t>100+</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Messages and calls log</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Every week</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338328">
                <a:tc>
                  <a:txBody>
                    <a:bodyPr/>
                    <a:lstStyle/>
                    <a:p>
                      <a:pPr indent="0" marL="0">
                        <a:buNone/>
                      </a:pPr>
                      <a:r>
                        <a:rPr lang="en-US" sz="1300" b="1" dirty="0">
                          <a:solidFill>
                            <a:schemeClr val="tx2"/>
                          </a:solidFill>
                        </a:rPr>
                        <a:t>Cost per inquiry</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b="1" dirty="0">
                          <a:solidFill>
                            <a:schemeClr val="accent1"/>
                          </a:solidFill>
                        </a:rPr>
                        <a:t>Under 40 EGP</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Meta Ads Manager</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Every week</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38328">
                <a:tc>
                  <a:txBody>
                    <a:bodyPr/>
                    <a:lstStyle/>
                    <a:p>
                      <a:pPr indent="0" marL="0">
                        <a:buNone/>
                      </a:pPr>
                      <a:r>
                        <a:rPr lang="en-US" sz="1300" b="1" dirty="0">
                          <a:solidFill>
                            <a:schemeClr val="tx2"/>
                          </a:solidFill>
                        </a:rPr>
                        <a:t>Daily customers</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b="1" dirty="0">
                          <a:solidFill>
                            <a:schemeClr val="accent1"/>
                          </a:solidFill>
                        </a:rPr>
                        <a:t>+10</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Café sales records</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Every week</a:t>
                      </a:r>
                      <a:endParaRPr lang="en-US" sz="13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Rhythm card 1"/>
          <p:cNvSpPr/>
          <p:nvPr/>
        </p:nvSpPr>
        <p:spPr>
          <a:xfrm>
            <a:off x="457200" y="3611880"/>
            <a:ext cx="2606040" cy="914400"/>
          </a:xfrm>
          <a:prstGeom prst="roundRect">
            <a:avLst>
              <a:gd name="adj" fmla="val 12000"/>
            </a:avLst>
          </a:prstGeom>
          <a:solidFill>
            <a:schemeClr val="bg2"/>
          </a:solidFill>
          <a:ln/>
        </p:spPr>
      </p:sp>
      <p:sp>
        <p:nvSpPr>
          <p:cNvPr id="6" name="Every day circle"/>
          <p:cNvSpPr/>
          <p:nvPr/>
        </p:nvSpPr>
        <p:spPr>
          <a:xfrm>
            <a:off x="621792" y="3813048"/>
            <a:ext cx="512064" cy="512064"/>
          </a:xfrm>
          <a:prstGeom prst="ellipse">
            <a:avLst/>
          </a:prstGeom>
          <a:solidFill>
            <a:schemeClr val="accent1"/>
          </a:solidFill>
          <a:ln/>
        </p:spPr>
      </p:sp>
      <p:pic>
        <p:nvPicPr>
          <p:cNvPr id="7" name="Every day icon" descr="Every day">    </p:cNvPr>
          <p:cNvPicPr>
            <a:picLocks noChangeAspect="1"/>
          </p:cNvPicPr>
          <p:nvPr/>
        </p:nvPicPr>
        <p:blipFill>
          <a:blip r:embed="rId1"/>
          <a:stretch>
            <a:fillRect/>
          </a:stretch>
        </p:blipFill>
        <p:spPr>
          <a:xfrm>
            <a:off x="760049" y="3951305"/>
            <a:ext cx="235549" cy="235549"/>
          </a:xfrm>
          <a:prstGeom prst="rect">
            <a:avLst/>
          </a:prstGeom>
        </p:spPr>
      </p:pic>
      <p:sp>
        <p:nvSpPr>
          <p:cNvPr id="8" name="Rhythm text 1"/>
          <p:cNvSpPr txBox="1"/>
          <p:nvPr/>
        </p:nvSpPr>
        <p:spPr>
          <a:xfrm>
            <a:off x="1280160" y="3611880"/>
            <a:ext cx="1691640" cy="914400"/>
          </a:xfrm>
          <a:prstGeom prst="rect">
            <a:avLst/>
          </a:prstGeom>
          <a:noFill/>
          <a:ln/>
        </p:spPr>
        <p:txBody>
          <a:bodyPr wrap="square" lIns="0" tIns="0" rIns="0" bIns="0" rtlCol="0" anchor="ctr"/>
          <a:lstStyle/>
          <a:p>
            <a:pPr indent="0" marL="0">
              <a:buNone/>
            </a:pPr>
            <a:r>
              <a:rPr lang="en-US" sz="1400" b="1" dirty="0">
                <a:solidFill>
                  <a:schemeClr val="tx2"/>
                </a:solidFill>
              </a:rPr>
              <a:t>Every day</a:t>
            </a:r>
            <a:endParaRPr lang="en-US" sz="1400" dirty="0"/>
          </a:p>
          <a:p>
            <a:pPr indent="0" marL="0">
              <a:buNone/>
            </a:pPr>
            <a:r>
              <a:rPr lang="en-US" sz="1200" dirty="0">
                <a:solidFill>
                  <a:schemeClr val="tx1"/>
                </a:solidFill>
              </a:rPr>
              <a:t>Check ads, comments and messages</a:t>
            </a:r>
            <a:endParaRPr lang="en-US" sz="1400" dirty="0"/>
          </a:p>
        </p:txBody>
      </p:sp>
      <p:sp>
        <p:nvSpPr>
          <p:cNvPr id="9" name="Rhythm card 2"/>
          <p:cNvSpPr/>
          <p:nvPr/>
        </p:nvSpPr>
        <p:spPr>
          <a:xfrm>
            <a:off x="3268980" y="3611880"/>
            <a:ext cx="2606040" cy="914400"/>
          </a:xfrm>
          <a:prstGeom prst="roundRect">
            <a:avLst>
              <a:gd name="adj" fmla="val 12000"/>
            </a:avLst>
          </a:prstGeom>
          <a:solidFill>
            <a:schemeClr val="bg2"/>
          </a:solidFill>
          <a:ln/>
        </p:spPr>
      </p:sp>
      <p:sp>
        <p:nvSpPr>
          <p:cNvPr id="10" name="Every Sunday circle"/>
          <p:cNvSpPr/>
          <p:nvPr/>
        </p:nvSpPr>
        <p:spPr>
          <a:xfrm>
            <a:off x="3433572" y="3813048"/>
            <a:ext cx="512064" cy="512064"/>
          </a:xfrm>
          <a:prstGeom prst="ellipse">
            <a:avLst/>
          </a:prstGeom>
          <a:solidFill>
            <a:schemeClr val="accent4"/>
          </a:solidFill>
          <a:ln/>
        </p:spPr>
      </p:sp>
      <p:pic>
        <p:nvPicPr>
          <p:cNvPr id="11" name="Every Sunday icon" descr="Every Sunday">    </p:cNvPr>
          <p:cNvPicPr>
            <a:picLocks noChangeAspect="1"/>
          </p:cNvPicPr>
          <p:nvPr/>
        </p:nvPicPr>
        <p:blipFill>
          <a:blip r:embed="rId2"/>
          <a:stretch>
            <a:fillRect/>
          </a:stretch>
        </p:blipFill>
        <p:spPr>
          <a:xfrm>
            <a:off x="3571829" y="3951305"/>
            <a:ext cx="235549" cy="235549"/>
          </a:xfrm>
          <a:prstGeom prst="rect">
            <a:avLst/>
          </a:prstGeom>
        </p:spPr>
      </p:pic>
      <p:sp>
        <p:nvSpPr>
          <p:cNvPr id="12" name="Rhythm text 2"/>
          <p:cNvSpPr txBox="1"/>
          <p:nvPr/>
        </p:nvSpPr>
        <p:spPr>
          <a:xfrm>
            <a:off x="4091940" y="3611880"/>
            <a:ext cx="1691640" cy="914400"/>
          </a:xfrm>
          <a:prstGeom prst="rect">
            <a:avLst/>
          </a:prstGeom>
          <a:noFill/>
          <a:ln/>
        </p:spPr>
        <p:txBody>
          <a:bodyPr wrap="square" lIns="0" tIns="0" rIns="0" bIns="0" rtlCol="0" anchor="ctr"/>
          <a:lstStyle/>
          <a:p>
            <a:pPr indent="0" marL="0">
              <a:buNone/>
            </a:pPr>
            <a:r>
              <a:rPr lang="en-US" sz="1400" b="1" dirty="0">
                <a:solidFill>
                  <a:schemeClr val="tx2"/>
                </a:solidFill>
              </a:rPr>
              <a:t>Every Sunday</a:t>
            </a:r>
            <a:endParaRPr lang="en-US" sz="1400" dirty="0"/>
          </a:p>
          <a:p>
            <a:pPr indent="0" marL="0">
              <a:buNone/>
            </a:pPr>
            <a:r>
              <a:rPr lang="en-US" sz="1200" dirty="0">
                <a:solidFill>
                  <a:schemeClr val="tx1"/>
                </a:solidFill>
              </a:rPr>
              <a:t>Progress report to the owner</a:t>
            </a:r>
            <a:endParaRPr lang="en-US" sz="1400" dirty="0"/>
          </a:p>
        </p:txBody>
      </p:sp>
      <p:sp>
        <p:nvSpPr>
          <p:cNvPr id="13" name="Rhythm card 3"/>
          <p:cNvSpPr/>
          <p:nvPr/>
        </p:nvSpPr>
        <p:spPr>
          <a:xfrm>
            <a:off x="6080760" y="3611880"/>
            <a:ext cx="2606040" cy="914400"/>
          </a:xfrm>
          <a:prstGeom prst="roundRect">
            <a:avLst>
              <a:gd name="adj" fmla="val 12000"/>
            </a:avLst>
          </a:prstGeom>
          <a:solidFill>
            <a:schemeClr val="bg2"/>
          </a:solidFill>
          <a:ln/>
        </p:spPr>
      </p:sp>
      <p:sp>
        <p:nvSpPr>
          <p:cNvPr id="14" name="End of week 4 circle"/>
          <p:cNvSpPr/>
          <p:nvPr/>
        </p:nvSpPr>
        <p:spPr>
          <a:xfrm>
            <a:off x="6245352" y="3813048"/>
            <a:ext cx="512064" cy="512064"/>
          </a:xfrm>
          <a:prstGeom prst="ellipse">
            <a:avLst/>
          </a:prstGeom>
          <a:solidFill>
            <a:schemeClr val="tx2"/>
          </a:solidFill>
          <a:ln/>
        </p:spPr>
      </p:sp>
      <p:pic>
        <p:nvPicPr>
          <p:cNvPr id="15" name="End of week 4 icon" descr="End of week 4">    </p:cNvPr>
          <p:cNvPicPr>
            <a:picLocks noChangeAspect="1"/>
          </p:cNvPicPr>
          <p:nvPr/>
        </p:nvPicPr>
        <p:blipFill>
          <a:blip r:embed="rId3"/>
          <a:stretch>
            <a:fillRect/>
          </a:stretch>
        </p:blipFill>
        <p:spPr>
          <a:xfrm>
            <a:off x="6383609" y="3951305"/>
            <a:ext cx="235549" cy="235549"/>
          </a:xfrm>
          <a:prstGeom prst="rect">
            <a:avLst/>
          </a:prstGeom>
        </p:spPr>
      </p:pic>
      <p:sp>
        <p:nvSpPr>
          <p:cNvPr id="16" name="Rhythm text 3"/>
          <p:cNvSpPr txBox="1"/>
          <p:nvPr/>
        </p:nvSpPr>
        <p:spPr>
          <a:xfrm>
            <a:off x="6903720" y="3611880"/>
            <a:ext cx="1691640" cy="914400"/>
          </a:xfrm>
          <a:prstGeom prst="rect">
            <a:avLst/>
          </a:prstGeom>
          <a:noFill/>
          <a:ln/>
        </p:spPr>
        <p:txBody>
          <a:bodyPr wrap="square" lIns="0" tIns="0" rIns="0" bIns="0" rtlCol="0" anchor="ctr"/>
          <a:lstStyle/>
          <a:p>
            <a:pPr indent="0" marL="0">
              <a:buNone/>
            </a:pPr>
            <a:r>
              <a:rPr lang="en-US" sz="1400" b="1" dirty="0">
                <a:solidFill>
                  <a:schemeClr val="tx2"/>
                </a:solidFill>
              </a:rPr>
              <a:t>End of week 4</a:t>
            </a:r>
            <a:endParaRPr lang="en-US" sz="1400" dirty="0"/>
          </a:p>
          <a:p>
            <a:pPr indent="0" marL="0">
              <a:buNone/>
            </a:pPr>
            <a:r>
              <a:rPr lang="en-US" sz="1200" dirty="0">
                <a:solidFill>
                  <a:schemeClr val="tx1"/>
                </a:solidFill>
              </a:rPr>
              <a:t>Full results review</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7  ·  REVIEW AND ADJUST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When the Numbers Talk, We Act</a:t>
            </a:r>
            <a:endParaRPr lang="en-US" sz="3200" dirty="0"/>
          </a:p>
        </p:txBody>
      </p:sp>
      <p:sp>
        <p:nvSpPr>
          <p:cNvPr id="4" name="Rule card 1"/>
          <p:cNvSpPr/>
          <p:nvPr/>
        </p:nvSpPr>
        <p:spPr>
          <a:xfrm>
            <a:off x="457200" y="1325880"/>
            <a:ext cx="4023360" cy="1051560"/>
          </a:xfrm>
          <a:prstGeom prst="roundRect">
            <a:avLst>
              <a:gd name="adj" fmla="val 10435"/>
            </a:avLst>
          </a:prstGeom>
          <a:solidFill>
            <a:schemeClr val="bg2"/>
          </a:solidFill>
          <a:ln/>
        </p:spPr>
      </p:sp>
      <p:sp>
        <p:nvSpPr>
          <p:cNvPr id="5" name="Reach is below target circle"/>
          <p:cNvSpPr/>
          <p:nvPr/>
        </p:nvSpPr>
        <p:spPr>
          <a:xfrm>
            <a:off x="640080" y="1591056"/>
            <a:ext cx="512064" cy="512064"/>
          </a:xfrm>
          <a:prstGeom prst="ellipse">
            <a:avLst/>
          </a:prstGeom>
          <a:solidFill>
            <a:schemeClr val="accent6"/>
          </a:solidFill>
          <a:ln/>
        </p:spPr>
      </p:sp>
      <p:pic>
        <p:nvPicPr>
          <p:cNvPr id="6" name="Reach is below target icon" descr="Reach is below target">    </p:cNvPr>
          <p:cNvPicPr>
            <a:picLocks noChangeAspect="1"/>
          </p:cNvPicPr>
          <p:nvPr/>
        </p:nvPicPr>
        <p:blipFill>
          <a:blip r:embed="rId1"/>
          <a:stretch>
            <a:fillRect/>
          </a:stretch>
        </p:blipFill>
        <p:spPr>
          <a:xfrm>
            <a:off x="778337" y="1729313"/>
            <a:ext cx="235549" cy="235549"/>
          </a:xfrm>
          <a:prstGeom prst="rect">
            <a:avLst/>
          </a:prstGeom>
        </p:spPr>
      </p:pic>
      <p:sp>
        <p:nvSpPr>
          <p:cNvPr id="7" name="Rule text 1"/>
          <p:cNvSpPr txBox="1"/>
          <p:nvPr/>
        </p:nvSpPr>
        <p:spPr>
          <a:xfrm>
            <a:off x="1325880" y="1325880"/>
            <a:ext cx="3063240" cy="1051560"/>
          </a:xfrm>
          <a:prstGeom prst="rect">
            <a:avLst/>
          </a:prstGeom>
          <a:noFill/>
          <a:ln/>
        </p:spPr>
        <p:txBody>
          <a:bodyPr wrap="square" lIns="0" tIns="0" rIns="0" bIns="0" rtlCol="0" anchor="ctr"/>
          <a:lstStyle/>
          <a:p>
            <a:pPr indent="0" marL="0">
              <a:spcAft>
                <a:spcPts val="400"/>
              </a:spcAft>
              <a:buNone/>
            </a:pPr>
            <a:r>
              <a:rPr lang="en-US" sz="1100" b="1" dirty="0">
                <a:solidFill>
                  <a:schemeClr val="accent6"/>
                </a:solidFill>
              </a:rPr>
              <a:t>IF  </a:t>
            </a:r>
            <a:pPr indent="0" marL="0">
              <a:spcAft>
                <a:spcPts val="400"/>
              </a:spcAft>
              <a:buNone/>
            </a:pPr>
            <a:r>
              <a:rPr lang="en-US" sz="1400" b="1" dirty="0">
                <a:solidFill>
                  <a:schemeClr val="tx2"/>
                </a:solidFill>
              </a:rPr>
              <a:t>Reach is below target</a:t>
            </a:r>
            <a:endParaRPr lang="en-US" sz="1100" dirty="0"/>
          </a:p>
          <a:p>
            <a:pPr indent="0" marL="0">
              <a:spcAft>
                <a:spcPts val="400"/>
              </a:spcAft>
              <a:buNone/>
            </a:pPr>
            <a:r>
              <a:rPr lang="en-US" sz="1100" b="1" dirty="0">
                <a:solidFill>
                  <a:schemeClr val="accent4"/>
                </a:solidFill>
              </a:rPr>
              <a:t>THEN  </a:t>
            </a:r>
            <a:pPr indent="0" marL="0">
              <a:spcAft>
                <a:spcPts val="400"/>
              </a:spcAft>
              <a:buNone/>
            </a:pPr>
            <a:r>
              <a:rPr lang="en-US" sz="1300" dirty="0">
                <a:solidFill>
                  <a:schemeClr val="tx1"/>
                </a:solidFill>
              </a:rPr>
              <a:t>Move the budget to the best-performing ad</a:t>
            </a:r>
            <a:endParaRPr lang="en-US" sz="1100" dirty="0"/>
          </a:p>
        </p:txBody>
      </p:sp>
      <p:sp>
        <p:nvSpPr>
          <p:cNvPr id="8" name="Rule card 2"/>
          <p:cNvSpPr/>
          <p:nvPr/>
        </p:nvSpPr>
        <p:spPr>
          <a:xfrm>
            <a:off x="4663440" y="1325880"/>
            <a:ext cx="4023360" cy="1051560"/>
          </a:xfrm>
          <a:prstGeom prst="roundRect">
            <a:avLst>
              <a:gd name="adj" fmla="val 10435"/>
            </a:avLst>
          </a:prstGeom>
          <a:solidFill>
            <a:schemeClr val="bg2"/>
          </a:solidFill>
          <a:ln/>
        </p:spPr>
      </p:sp>
      <p:sp>
        <p:nvSpPr>
          <p:cNvPr id="9" name="Few likes and comments circle"/>
          <p:cNvSpPr/>
          <p:nvPr/>
        </p:nvSpPr>
        <p:spPr>
          <a:xfrm>
            <a:off x="4846320" y="1591056"/>
            <a:ext cx="512064" cy="512064"/>
          </a:xfrm>
          <a:prstGeom prst="ellipse">
            <a:avLst/>
          </a:prstGeom>
          <a:solidFill>
            <a:schemeClr val="accent6"/>
          </a:solidFill>
          <a:ln/>
        </p:spPr>
      </p:sp>
      <p:pic>
        <p:nvPicPr>
          <p:cNvPr id="10" name="Few likes and comments icon" descr="Few likes and comments">    </p:cNvPr>
          <p:cNvPicPr>
            <a:picLocks noChangeAspect="1"/>
          </p:cNvPicPr>
          <p:nvPr/>
        </p:nvPicPr>
        <p:blipFill>
          <a:blip r:embed="rId2"/>
          <a:stretch>
            <a:fillRect/>
          </a:stretch>
        </p:blipFill>
        <p:spPr>
          <a:xfrm>
            <a:off x="4984577" y="1729313"/>
            <a:ext cx="235549" cy="235549"/>
          </a:xfrm>
          <a:prstGeom prst="rect">
            <a:avLst/>
          </a:prstGeom>
        </p:spPr>
      </p:pic>
      <p:sp>
        <p:nvSpPr>
          <p:cNvPr id="11" name="Rule text 2"/>
          <p:cNvSpPr txBox="1"/>
          <p:nvPr/>
        </p:nvSpPr>
        <p:spPr>
          <a:xfrm>
            <a:off x="5532120" y="1325880"/>
            <a:ext cx="3063240" cy="1051560"/>
          </a:xfrm>
          <a:prstGeom prst="rect">
            <a:avLst/>
          </a:prstGeom>
          <a:noFill/>
          <a:ln/>
        </p:spPr>
        <p:txBody>
          <a:bodyPr wrap="square" lIns="0" tIns="0" rIns="0" bIns="0" rtlCol="0" anchor="ctr"/>
          <a:lstStyle/>
          <a:p>
            <a:pPr indent="0" marL="0">
              <a:spcAft>
                <a:spcPts val="400"/>
              </a:spcAft>
              <a:buNone/>
            </a:pPr>
            <a:r>
              <a:rPr lang="en-US" sz="1100" b="1" dirty="0">
                <a:solidFill>
                  <a:schemeClr val="accent6"/>
                </a:solidFill>
              </a:rPr>
              <a:t>IF  </a:t>
            </a:r>
            <a:pPr indent="0" marL="0">
              <a:spcAft>
                <a:spcPts val="400"/>
              </a:spcAft>
              <a:buNone/>
            </a:pPr>
            <a:r>
              <a:rPr lang="en-US" sz="1400" b="1" dirty="0">
                <a:solidFill>
                  <a:schemeClr val="tx2"/>
                </a:solidFill>
              </a:rPr>
              <a:t>Few likes and comments</a:t>
            </a:r>
            <a:endParaRPr lang="en-US" sz="1100" dirty="0"/>
          </a:p>
          <a:p>
            <a:pPr indent="0" marL="0">
              <a:spcAft>
                <a:spcPts val="400"/>
              </a:spcAft>
              <a:buNone/>
            </a:pPr>
            <a:r>
              <a:rPr lang="en-US" sz="1100" b="1" dirty="0">
                <a:solidFill>
                  <a:schemeClr val="accent4"/>
                </a:solidFill>
              </a:rPr>
              <a:t>THEN  </a:t>
            </a:r>
            <a:pPr indent="0" marL="0">
              <a:spcAft>
                <a:spcPts val="400"/>
              </a:spcAft>
              <a:buNone/>
            </a:pPr>
            <a:r>
              <a:rPr lang="en-US" sz="1300" dirty="0">
                <a:solidFill>
                  <a:schemeClr val="tx1"/>
                </a:solidFill>
              </a:rPr>
              <a:t>Post more reels and test new posting times</a:t>
            </a:r>
            <a:endParaRPr lang="en-US" sz="1100" dirty="0"/>
          </a:p>
        </p:txBody>
      </p:sp>
      <p:sp>
        <p:nvSpPr>
          <p:cNvPr id="12" name="Rule card 3"/>
          <p:cNvSpPr/>
          <p:nvPr/>
        </p:nvSpPr>
        <p:spPr>
          <a:xfrm>
            <a:off x="457200" y="2514600"/>
            <a:ext cx="4023360" cy="1051560"/>
          </a:xfrm>
          <a:prstGeom prst="roundRect">
            <a:avLst>
              <a:gd name="adj" fmla="val 10435"/>
            </a:avLst>
          </a:prstGeom>
          <a:solidFill>
            <a:schemeClr val="bg2"/>
          </a:solidFill>
          <a:ln/>
        </p:spPr>
      </p:sp>
      <p:sp>
        <p:nvSpPr>
          <p:cNvPr id="13" name="Many views, few messages circle"/>
          <p:cNvSpPr/>
          <p:nvPr/>
        </p:nvSpPr>
        <p:spPr>
          <a:xfrm>
            <a:off x="640080" y="2779776"/>
            <a:ext cx="512064" cy="512064"/>
          </a:xfrm>
          <a:prstGeom prst="ellipse">
            <a:avLst/>
          </a:prstGeom>
          <a:solidFill>
            <a:schemeClr val="accent6"/>
          </a:solidFill>
          <a:ln/>
        </p:spPr>
      </p:sp>
      <p:pic>
        <p:nvPicPr>
          <p:cNvPr id="14" name="Many views, few messages icon" descr="Many views, few messages">    </p:cNvPr>
          <p:cNvPicPr>
            <a:picLocks noChangeAspect="1"/>
          </p:cNvPicPr>
          <p:nvPr/>
        </p:nvPicPr>
        <p:blipFill>
          <a:blip r:embed="rId3"/>
          <a:stretch>
            <a:fillRect/>
          </a:stretch>
        </p:blipFill>
        <p:spPr>
          <a:xfrm>
            <a:off x="778337" y="2918033"/>
            <a:ext cx="235549" cy="235549"/>
          </a:xfrm>
          <a:prstGeom prst="rect">
            <a:avLst/>
          </a:prstGeom>
        </p:spPr>
      </p:pic>
      <p:sp>
        <p:nvSpPr>
          <p:cNvPr id="15" name="Rule text 3"/>
          <p:cNvSpPr txBox="1"/>
          <p:nvPr/>
        </p:nvSpPr>
        <p:spPr>
          <a:xfrm>
            <a:off x="1325880" y="2514600"/>
            <a:ext cx="3063240" cy="1051560"/>
          </a:xfrm>
          <a:prstGeom prst="rect">
            <a:avLst/>
          </a:prstGeom>
          <a:noFill/>
          <a:ln/>
        </p:spPr>
        <p:txBody>
          <a:bodyPr wrap="square" lIns="0" tIns="0" rIns="0" bIns="0" rtlCol="0" anchor="ctr"/>
          <a:lstStyle/>
          <a:p>
            <a:pPr indent="0" marL="0">
              <a:spcAft>
                <a:spcPts val="400"/>
              </a:spcAft>
              <a:buNone/>
            </a:pPr>
            <a:r>
              <a:rPr lang="en-US" sz="1100" b="1" dirty="0">
                <a:solidFill>
                  <a:schemeClr val="accent6"/>
                </a:solidFill>
              </a:rPr>
              <a:t>IF  </a:t>
            </a:r>
            <a:pPr indent="0" marL="0">
              <a:spcAft>
                <a:spcPts val="400"/>
              </a:spcAft>
              <a:buNone/>
            </a:pPr>
            <a:r>
              <a:rPr lang="en-US" sz="1400" b="1" dirty="0">
                <a:solidFill>
                  <a:schemeClr val="tx2"/>
                </a:solidFill>
              </a:rPr>
              <a:t>Many views, few messages</a:t>
            </a:r>
            <a:endParaRPr lang="en-US" sz="1100" dirty="0"/>
          </a:p>
          <a:p>
            <a:pPr indent="0" marL="0">
              <a:spcAft>
                <a:spcPts val="400"/>
              </a:spcAft>
              <a:buNone/>
            </a:pPr>
            <a:r>
              <a:rPr lang="en-US" sz="1100" b="1" dirty="0">
                <a:solidFill>
                  <a:schemeClr val="accent4"/>
                </a:solidFill>
              </a:rPr>
              <a:t>THEN  </a:t>
            </a:r>
            <a:pPr indent="0" marL="0">
              <a:spcAft>
                <a:spcPts val="400"/>
              </a:spcAft>
              <a:buNone/>
            </a:pPr>
            <a:r>
              <a:rPr lang="en-US" sz="1300" dirty="0">
                <a:solidFill>
                  <a:schemeClr val="tx1"/>
                </a:solidFill>
              </a:rPr>
              <a:t>Add a clearer offer and call to action</a:t>
            </a:r>
            <a:endParaRPr lang="en-US" sz="1100" dirty="0"/>
          </a:p>
        </p:txBody>
      </p:sp>
      <p:sp>
        <p:nvSpPr>
          <p:cNvPr id="16" name="Rule card 4"/>
          <p:cNvSpPr/>
          <p:nvPr/>
        </p:nvSpPr>
        <p:spPr>
          <a:xfrm>
            <a:off x="4663440" y="2514600"/>
            <a:ext cx="4023360" cy="1051560"/>
          </a:xfrm>
          <a:prstGeom prst="roundRect">
            <a:avLst>
              <a:gd name="adj" fmla="val 10435"/>
            </a:avLst>
          </a:prstGeom>
          <a:solidFill>
            <a:schemeClr val="bg2"/>
          </a:solidFill>
          <a:ln/>
        </p:spPr>
      </p:sp>
      <p:sp>
        <p:nvSpPr>
          <p:cNvPr id="17" name="Few new visits circle"/>
          <p:cNvSpPr/>
          <p:nvPr/>
        </p:nvSpPr>
        <p:spPr>
          <a:xfrm>
            <a:off x="4846320" y="2779776"/>
            <a:ext cx="512064" cy="512064"/>
          </a:xfrm>
          <a:prstGeom prst="ellipse">
            <a:avLst/>
          </a:prstGeom>
          <a:solidFill>
            <a:schemeClr val="accent6"/>
          </a:solidFill>
          <a:ln/>
        </p:spPr>
      </p:sp>
      <p:pic>
        <p:nvPicPr>
          <p:cNvPr id="18" name="Few new visits icon" descr="Few new visits">    </p:cNvPr>
          <p:cNvPicPr>
            <a:picLocks noChangeAspect="1"/>
          </p:cNvPicPr>
          <p:nvPr/>
        </p:nvPicPr>
        <p:blipFill>
          <a:blip r:embed="rId4"/>
          <a:stretch>
            <a:fillRect/>
          </a:stretch>
        </p:blipFill>
        <p:spPr>
          <a:xfrm>
            <a:off x="4984577" y="2918033"/>
            <a:ext cx="235549" cy="235549"/>
          </a:xfrm>
          <a:prstGeom prst="rect">
            <a:avLst/>
          </a:prstGeom>
        </p:spPr>
      </p:pic>
      <p:sp>
        <p:nvSpPr>
          <p:cNvPr id="19" name="Rule text 4"/>
          <p:cNvSpPr txBox="1"/>
          <p:nvPr/>
        </p:nvSpPr>
        <p:spPr>
          <a:xfrm>
            <a:off x="5532120" y="2514600"/>
            <a:ext cx="3063240" cy="1051560"/>
          </a:xfrm>
          <a:prstGeom prst="rect">
            <a:avLst/>
          </a:prstGeom>
          <a:noFill/>
          <a:ln/>
        </p:spPr>
        <p:txBody>
          <a:bodyPr wrap="square" lIns="0" tIns="0" rIns="0" bIns="0" rtlCol="0" anchor="ctr"/>
          <a:lstStyle/>
          <a:p>
            <a:pPr indent="0" marL="0">
              <a:spcAft>
                <a:spcPts val="400"/>
              </a:spcAft>
              <a:buNone/>
            </a:pPr>
            <a:r>
              <a:rPr lang="en-US" sz="1100" b="1" dirty="0">
                <a:solidFill>
                  <a:schemeClr val="accent6"/>
                </a:solidFill>
              </a:rPr>
              <a:t>IF  </a:t>
            </a:r>
            <a:pPr indent="0" marL="0">
              <a:spcAft>
                <a:spcPts val="400"/>
              </a:spcAft>
              <a:buNone/>
            </a:pPr>
            <a:r>
              <a:rPr lang="en-US" sz="1400" b="1" dirty="0">
                <a:solidFill>
                  <a:schemeClr val="tx2"/>
                </a:solidFill>
              </a:rPr>
              <a:t>Few new visits</a:t>
            </a:r>
            <a:endParaRPr lang="en-US" sz="1100" dirty="0"/>
          </a:p>
          <a:p>
            <a:pPr indent="0" marL="0">
              <a:spcAft>
                <a:spcPts val="400"/>
              </a:spcAft>
              <a:buNone/>
            </a:pPr>
            <a:r>
              <a:rPr lang="en-US" sz="1100" b="1" dirty="0">
                <a:solidFill>
                  <a:schemeClr val="accent4"/>
                </a:solidFill>
              </a:rPr>
              <a:t>THEN  </a:t>
            </a:r>
            <a:pPr indent="0" marL="0">
              <a:spcAft>
                <a:spcPts val="400"/>
              </a:spcAft>
              <a:buNone/>
            </a:pPr>
            <a:r>
              <a:rPr lang="en-US" sz="1300" dirty="0">
                <a:solidFill>
                  <a:schemeClr val="tx1"/>
                </a:solidFill>
              </a:rPr>
              <a:t>Stronger offer, target people closer to the café</a:t>
            </a:r>
            <a:endParaRPr lang="en-US" sz="1100" dirty="0"/>
          </a:p>
        </p:txBody>
      </p:sp>
      <p:sp>
        <p:nvSpPr>
          <p:cNvPr id="20" name="Month review bar"/>
          <p:cNvSpPr/>
          <p:nvPr/>
        </p:nvSpPr>
        <p:spPr>
          <a:xfrm>
            <a:off x="457200" y="3749040"/>
            <a:ext cx="8229600" cy="777240"/>
          </a:xfrm>
          <a:prstGeom prst="roundRect">
            <a:avLst>
              <a:gd name="adj" fmla="val 14118"/>
            </a:avLst>
          </a:prstGeom>
          <a:solidFill>
            <a:schemeClr val="tx2"/>
          </a:solidFill>
          <a:ln/>
        </p:spPr>
      </p:sp>
      <p:sp>
        <p:nvSpPr>
          <p:cNvPr id="21" name="Monthly review circle"/>
          <p:cNvSpPr/>
          <p:nvPr/>
        </p:nvSpPr>
        <p:spPr>
          <a:xfrm>
            <a:off x="658368" y="3867912"/>
            <a:ext cx="530352" cy="530352"/>
          </a:xfrm>
          <a:prstGeom prst="ellipse">
            <a:avLst/>
          </a:prstGeom>
          <a:solidFill>
            <a:schemeClr val="accent4"/>
          </a:solidFill>
          <a:ln/>
        </p:spPr>
      </p:sp>
      <p:pic>
        <p:nvPicPr>
          <p:cNvPr id="22" name="Monthly review icon" descr="Monthly review">    </p:cNvPr>
          <p:cNvPicPr>
            <a:picLocks noChangeAspect="1"/>
          </p:cNvPicPr>
          <p:nvPr/>
        </p:nvPicPr>
        <p:blipFill>
          <a:blip r:embed="rId5"/>
          <a:stretch>
            <a:fillRect/>
          </a:stretch>
        </p:blipFill>
        <p:spPr>
          <a:xfrm>
            <a:off x="801563" y="4011107"/>
            <a:ext cx="243962" cy="243962"/>
          </a:xfrm>
          <a:prstGeom prst="rect">
            <a:avLst/>
          </a:prstGeom>
        </p:spPr>
      </p:pic>
      <p:sp>
        <p:nvSpPr>
          <p:cNvPr id="23" name="Month review text"/>
          <p:cNvSpPr txBox="1"/>
          <p:nvPr/>
        </p:nvSpPr>
        <p:spPr>
          <a:xfrm>
            <a:off x="1371600" y="3749040"/>
            <a:ext cx="7132320" cy="777240"/>
          </a:xfrm>
          <a:prstGeom prst="rect">
            <a:avLst/>
          </a:prstGeom>
          <a:noFill/>
          <a:ln/>
        </p:spPr>
        <p:txBody>
          <a:bodyPr wrap="square" lIns="0" tIns="0" rIns="0" bIns="0" rtlCol="0" anchor="ctr"/>
          <a:lstStyle/>
          <a:p>
            <a:pPr indent="0" marL="0">
              <a:buNone/>
            </a:pPr>
            <a:r>
              <a:rPr lang="en-US" sz="1500" b="1" dirty="0">
                <a:solidFill>
                  <a:schemeClr val="accent2"/>
                </a:solidFill>
              </a:rPr>
              <a:t>End of month:  </a:t>
            </a:r>
            <a:pPr indent="0" marL="0">
              <a:buNone/>
            </a:pPr>
            <a:r>
              <a:rPr lang="en-US" sz="1500" dirty="0">
                <a:solidFill>
                  <a:schemeClr val="bg1"/>
                </a:solidFill>
              </a:rPr>
              <a:t>we review everything with the owner and plan month two</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SUMMARY</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Action Plan at a Glance</a:t>
            </a:r>
            <a:endParaRPr lang="en-US" sz="3200" dirty="0"/>
          </a:p>
        </p:txBody>
      </p:sp>
      <p:graphicFrame>
        <p:nvGraphicFramePr>
          <p:cNvPr id="11" name="Action plan 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3749040"/>
                <a:gridCol w="1188720"/>
                <a:gridCol w="822960"/>
                <a:gridCol w="822960"/>
                <a:gridCol w="822960"/>
                <a:gridCol w="822960"/>
              </a:tblGrid>
              <a:tr h="265176">
                <a:tc>
                  <a:txBody>
                    <a:bodyPr/>
                    <a:lstStyle/>
                    <a:p>
                      <a:pPr indent="0" marL="0">
                        <a:buNone/>
                      </a:pPr>
                      <a:r>
                        <a:rPr lang="en-US" sz="1200" b="1" dirty="0">
                          <a:solidFill>
                            <a:schemeClr val="bg1"/>
                          </a:solidFill>
                        </a:rPr>
                        <a:t>Task</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Owner</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1</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2</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3</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Week 4</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r>
              <a:tr h="265176">
                <a:tc>
                  <a:txBody>
                    <a:bodyPr/>
                    <a:lstStyle/>
                    <a:p>
                      <a:pPr indent="0" marL="0">
                        <a:buNone/>
                      </a:pPr>
                      <a:r>
                        <a:rPr lang="en-US" sz="1200" dirty="0">
                          <a:solidFill>
                            <a:schemeClr val="tx1"/>
                          </a:solidFill>
                        </a:rPr>
                        <a:t>Market and competitor research</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Rahma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Define the target audience</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Rahma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Free audit of the café's pages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Mahmoud</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Monthly content plan</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Aya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Photo and video shoot at the café</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3"/>
                          </a:solidFill>
                        </a:rPr>
                        <a:t>Abader</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Design posts, reels and stories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3"/>
                          </a:solidFill>
                        </a:rPr>
                        <a:t>Abader</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r>
              <a:tr h="265176">
                <a:tc>
                  <a:txBody>
                    <a:bodyPr/>
                    <a:lstStyle/>
                    <a:p>
                      <a:pPr indent="0" marL="0">
                        <a:buNone/>
                      </a:pPr>
                      <a:r>
                        <a:rPr lang="en-US" sz="1200" dirty="0">
                          <a:solidFill>
                            <a:schemeClr val="tx1"/>
                          </a:solidFill>
                        </a:rPr>
                        <a:t>Set up and launch Facebook and Instagram ads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Mahmoud</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Publish content and reply to comments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Aya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r>
              <a:tr h="265176">
                <a:tc>
                  <a:txBody>
                    <a:bodyPr/>
                    <a:lstStyle/>
                    <a:p>
                      <a:pPr indent="0" marL="0">
                        <a:buNone/>
                      </a:pPr>
                      <a:r>
                        <a:rPr lang="en-US" sz="1200" dirty="0">
                          <a:solidFill>
                            <a:schemeClr val="tx1"/>
                          </a:solidFill>
                        </a:rPr>
                        <a:t>Launch the special offers</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1"/>
                          </a:solidFill>
                        </a:rPr>
                        <a:t>Aya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r>
              <a:tr h="265176">
                <a:tc>
                  <a:txBody>
                    <a:bodyPr/>
                    <a:lstStyle/>
                    <a:p>
                      <a:pPr indent="0" marL="0">
                        <a:buNone/>
                      </a:pPr>
                      <a:r>
                        <a:rPr lang="en-US" sz="1200" dirty="0">
                          <a:solidFill>
                            <a:schemeClr val="tx1"/>
                          </a:solidFill>
                        </a:rPr>
                        <a:t>Track KPIs and send the weekly report</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Mahmoud</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r>
              <a:tr h="265176">
                <a:tc>
                  <a:txBody>
                    <a:bodyPr/>
                    <a:lstStyle/>
                    <a:p>
                      <a:pPr indent="0" marL="0">
                        <a:buNone/>
                      </a:pPr>
                      <a:r>
                        <a:rPr lang="en-US" sz="1200" dirty="0">
                          <a:solidFill>
                            <a:schemeClr val="tx1"/>
                          </a:solidFill>
                        </a:rPr>
                        <a:t>Month-one review and next month's plan</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Rahma</a:t>
                      </a: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91440" marR="91440" marT="18288" marB="18288"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NEXT STEP</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Let's Make It Happen!</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Approve the plan today, and work starts in week 1.</a:t>
            </a:r>
            <a:endParaRPr lang="en-US" sz="1500" dirty="0"/>
          </a:p>
        </p:txBody>
      </p:sp>
      <p:sp>
        <p:nvSpPr>
          <p:cNvPr id="5" name="Agency name"/>
          <p:cNvSpPr txBox="1"/>
          <p:nvPr/>
        </p:nvSpPr>
        <p:spPr>
          <a:xfrm>
            <a:off x="548640" y="4206240"/>
            <a:ext cx="4389120" cy="320040"/>
          </a:xfrm>
          <a:prstGeom prst="rect">
            <a:avLst/>
          </a:prstGeom>
          <a:noFill/>
          <a:ln/>
        </p:spPr>
        <p:txBody>
          <a:bodyPr wrap="square" lIns="0" tIns="0" rIns="0" bIns="0" rtlCol="0" anchor="ctr"/>
          <a:lstStyle/>
          <a:p>
            <a:pPr indent="0" marL="0">
              <a:buNone/>
            </a:pPr>
            <a:r>
              <a:rPr lang="en-US" sz="1300" dirty="0">
                <a:solidFill>
                  <a:schemeClr val="accent2"/>
                </a:solidFill>
              </a:rPr>
              <a:t>Pulse Marketing</a:t>
            </a:r>
            <a:endParaRPr lang="en-US" sz="1300" dirty="0"/>
          </a:p>
        </p:txBody>
      </p:sp>
      <p:pic>
        <p:nvPicPr>
          <p:cNvPr id="6" name="Plan summary illustration" descr="Plan summary illustration">    </p:cNvPr>
          <p:cNvPicPr>
            <a:picLocks noChangeAspect="1"/>
          </p:cNvPicPr>
          <p:nvPr/>
        </p:nvPicPr>
        <p:blipFill>
          <a:blip r:embed="rId1"/>
          <a:stretch>
            <a:fillRect/>
          </a:stretch>
        </p:blipFill>
        <p:spPr>
          <a:xfrm>
            <a:off x="5166360" y="594360"/>
            <a:ext cx="3520440" cy="3931920"/>
          </a:xfrm>
          <a:prstGeom prst="rect">
            <a:avLst/>
          </a:prstGeom>
        </p:spPr>
      </p:pic>
    </p:spTree>
  </p:cSld>
  <p:clrMapOvr>
    <a:masterClrMapping/>
  </p:clrMapOvr>
</p:sld>
</file>

<file path=ppt/theme/theme1.xml><?xml version="1.0" encoding="utf-8"?>
<a:theme xmlns:a="http://schemas.openxmlformats.org/drawingml/2006/main" name="Espresso">
  <a:themeElements>
    <a:clrScheme name="Espresso">
      <a:dk1>
        <a:srgbClr val="231B16"/>
      </a:dk1>
      <a:lt1>
        <a:srgbClr val="FFFFFF"/>
      </a:lt1>
      <a:dk2>
        <a:srgbClr val="2E1F17"/>
      </a:dk2>
      <a:lt2>
        <a:srgbClr val="F4ECE5"/>
      </a:lt2>
      <a:accent1>
        <a:srgbClr val="C27A3A"/>
      </a:accent1>
      <a:accent2>
        <a:srgbClr val="E8C9A6"/>
      </a:accent2>
      <a:accent3>
        <a:srgbClr val="6F4E37"/>
      </a:accent3>
      <a:accent4>
        <a:srgbClr val="5B7F5E"/>
      </a:accent4>
      <a:accent5>
        <a:srgbClr val="8C7F76"/>
      </a:accent5>
      <a:accent6>
        <a:srgbClr val="A6513A"/>
      </a:accent6>
      <a:hlink>
        <a:srgbClr val="C27A3A"/>
      </a:hlink>
      <a:folHlink>
        <a:srgbClr val="6F4E37"/>
      </a:folHlink>
    </a:clrScheme>
    <a:fontScheme name="Espres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Action Plan - The Daily Cup</dc:title>
  <dc:subject>PptxGenJS Presentation</dc:subject>
  <dc:creator>Pulse Marketing</dc:creator>
  <cp:lastModifiedBy>Pulse Marketing</cp:lastModifiedBy>
  <cp:revision>1</cp:revision>
  <dcterms:created xsi:type="dcterms:W3CDTF">2026-10-20T12:13:00Z</dcterms:created>
  <dcterms:modified xsi:type="dcterms:W3CDTF">2026-10-20T12:13:00Z</dcterms:modified>
</cp:coreProperties>
</file>