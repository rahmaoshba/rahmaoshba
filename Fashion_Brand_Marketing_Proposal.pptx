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2a5e0e-e88b-f141-bf2c-2739b54ae053}">
          <p14:sldIdLst>
            <p14:sldId id="256"/>
            <p14:sldId id="257"/>
          </p14:sldIdLst>
        </p14:section>
        <p14:section name="The Challenge" id="{e5d91a46-6b2f-0dd4-e62d-55706b59cedf}">
          <p14:sldIdLst>
            <p14:sldId id="258"/>
          </p14:sldIdLst>
        </p14:section>
        <p14:section name="Our Plan" id="{e13fe623-c765-28d2-f61e-b41368c54aed}">
          <p14:sldIdLst>
            <p14:sldId id="259"/>
            <p14:sldId id="260"/>
            <p14:sldId id="261"/>
            <p14:sldId id="262"/>
          </p14:sldIdLst>
        </p14:section>
        <p14:section name="Impact" id="{ec8dd9b8-9015-5b97-e717-40f96e3ab20e}">
          <p14:sldIdLst>
            <p14:sldId id="263"/>
            <p14:sldId id="264"/>
            <p14:sldId id="265"/>
          </p14:sldIdLst>
        </p14:section>
        <p14:section name="Next Steps" id="{b61fec21-e5a6-3b9c-3c4c-faef74447ca6}">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1E2F"/>
                </a:solidFill>
                <a:latin typeface="+mn-lt"/>
              </a:defRPr>
            </a:pPr>
            <a:r>
              <a:rPr sz="1200" b="0" i="0" u="none" strike="noStrike">
                <a:solidFill>
                  <a:srgbClr val="2B1E2F"/>
                </a:solidFill>
                <a:latin typeface="+mn-lt"/>
              </a:rPr>
              <a:t>Where the money goes (EGP K)</a:t>
            </a:r>
          </a:p>
        </c:rich>
      </c:tx>
      <c:layout/>
      <c:overlay val="0"/>
    </c:title>
    <c:autoTitleDeleted val="0"/>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2B1E2F"/>
              </a:solidFill>
              <a:effectLst/>
            </c:spPr>
          </c:dPt>
          <c:dPt>
            <c:idx val="1"/>
            <c:bubble3D val="0"/>
            <c:spPr>
              <a:solidFill>
                <a:srgbClr val="C8475B"/>
              </a:solidFill>
              <a:effectLst/>
            </c:spPr>
          </c:dPt>
          <c:dPt>
            <c:idx val="2"/>
            <c:bubble3D val="0"/>
            <c:spPr>
              <a:solidFill>
                <a:srgbClr val="E8B4B8"/>
              </a:solidFill>
              <a:effectLst/>
            </c:spPr>
          </c:dPt>
          <c:dLbls>
            <c:dLbl>
              <c:idx val="0"/>
              <c:numFmt formatCode="General" sourceLinked="0"/>
              <c:spPr/>
              <c:txPr>
                <a:bodyPr/>
                <a:lstStyle/>
                <a:p>
                  <a:pPr>
                    <a:defRPr sz="11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Agency services</c:v>
                </c:pt>
                <c:pt idx="1">
                  <c:v>Ads and creators</c:v>
                </c:pt>
                <c:pt idx="2">
                  <c:v>Production</c:v>
                </c:pt>
              </c:strCache>
            </c:strRef>
          </c:cat>
          <c:val>
            <c:numRef>
              <c:f>Sheet1!$B$2:$B$4</c:f>
              <c:numCache>
                <c:ptCount val="3"/>
                <c:pt idx="0">
                  <c:v>250</c:v>
                </c:pt>
                <c:pt idx="1">
                  <c:v>250</c:v>
                </c:pt>
                <c:pt idx="2">
                  <c:v>60</c:v>
                </c:pt>
              </c:numCache>
            </c:numRef>
          </c:val>
        </c:ser>
        <c:firstSliceAng val="0"/>
        <c:holeSize val="55"/>
      </c:doughnutChart>
      <c:spPr>
        <a:noFill/>
        <a:ln>
          <a:noFill/>
        </a:ln>
        <a:effectLst/>
      </c:spPr>
    </c:plotArea>
    <c:legend>
      <c:legendPos val="b"/>
      <c:overlay val="0"/>
      <c:txPr>
        <a:bodyPr/>
        <a:lstStyle/>
        <a:p>
          <a:pPr>
            <a:defRPr sz="1100">
              <a:solidFill>
                <a:srgbClr val="1E1A1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1E2F"/>
                </a:solidFill>
                <a:latin typeface="+mn-lt"/>
              </a:defRPr>
            </a:pPr>
            <a:r>
              <a:rPr sz="1200" b="0" i="0" u="none" strike="noStrike">
                <a:solidFill>
                  <a:srgbClr val="2B1E2F"/>
                </a:solidFill>
                <a:latin typeface="+mn-lt"/>
              </a:rPr>
              <a:t>Projected online orders per month</a:t>
            </a:r>
          </a:p>
        </c:rich>
      </c:tx>
      <c:layout/>
      <c:overlay val="0"/>
    </c:title>
    <c:autoTitleDeleted val="0"/>
    <c:plotArea>
      <c:layout/>
      <c:barChart>
        <c:barDir val="col"/>
        <c:grouping val="clustered"/>
        <c:varyColors val="0"/>
        <c:ser>
          <c:idx val="0"/>
          <c:order val="0"/>
          <c:tx>
            <c:strRef>
              <c:f>Sheet1!$B$1</c:f>
              <c:strCache>
                <c:ptCount val="1"/>
                <c:pt idx="0">
                  <c:v>Online orders</c:v>
                </c:pt>
              </c:strCache>
            </c:strRef>
          </c:tx>
          <c:spPr>
            <a:solidFill>
              <a:srgbClr val="C8475B"/>
            </a:solidFill>
            <a:effectLst/>
          </c:spPr>
          <c:invertIfNegative val="0"/>
          <c:dLbls>
            <c:numFmt formatCode="#,##0" sourceLinked="0"/>
            <c:txPr>
              <a:bodyPr/>
              <a:lstStyle/>
              <a:p>
                <a:pPr>
                  <a:defRPr b="0" i="0" strike="noStrike" sz="1100" u="none">
                    <a:solidFill>
                      <a:srgbClr val="2B1E2F"/>
                    </a:solidFill>
                    <a:latin typeface="+mn-lt"/>
                  </a:defRPr>
                </a:pPr>
              </a:p>
            </c:txPr>
            <c:showLegendKey val="0"/>
            <c:showVal val="1"/>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40</c:v>
                </c:pt>
                <c:pt idx="1">
                  <c:v>90</c:v>
                </c:pt>
                <c:pt idx="2">
                  <c:v>160</c:v>
                </c:pt>
                <c:pt idx="3">
                  <c:v>250</c:v>
                </c:pt>
                <c:pt idx="4">
                  <c:v>380</c:v>
                </c:pt>
                <c:pt idx="5">
                  <c:v>400</c:v>
                </c:pt>
              </c:numCache>
            </c:numRef>
          </c:val>
        </c:ser>
        <c:dLbls>
          <c:numFmt formatCode="#,##0" sourceLinked="0"/>
          <c:txPr>
            <a:bodyPr/>
            <a:lstStyle/>
            <a:p>
              <a:pPr>
                <a:defRPr b="0" i="0" strike="noStrike" sz="1100" u="none">
                  <a:solidFill>
                    <a:srgbClr val="2B1E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808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owner. Thank them for their time. Say what this presentation covers: the challenges we see, our plan, the investment, and the results they can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proposal in one slide. If the owner only remembers one thing: a 6-month plan, in 3 phases, for EGP 560K, targeting 3x return on every pound spent on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pain points clearly; the owner should recognize their own business. Ask: which of these feels most urgent to you? The bottom box explains why standing still is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pillar answers one of the problems: identity fixes the weak brand, content and creators fix reach, performance ads fix wasted budget, the online store opens a new sales channel, and the VIP club fixes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what happens in each phase. Phase 2 is where most of the growth happens. Reassure the owner: we send a performance report at the end of every month, and we meet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almost half the budget goes straight into media (ads and creators) that reaches customers. Agency fees cover strategy, content and management. The budget can be scaled down by reducing ad spend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 dates are based on a November 2026 start. White Friday and Ramadan/Eid are the biggest fashion shopping moments in Egypt, so our launch and the second photoshoot are timed to be ready before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in the owner's language: more sales, less wasted money, less of their own time. The 'more time for you' point is often what convinces busy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targets, not guarantees, and depend on product, pricing and stock. The jump in month 5 reflects the Eid shopping season. We track every number in a monthly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owner this is a long-term partnership. Once the foundation works, we can expand into marketplaces, physical pop-ups and eventually the Gulf.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approval to start in November so we are ready for White Friday. Leave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rtlCol="0"/>
          <a:lstStyle>
            <a:lvl1pPr indent="0" marL="0">
              <a:buNone/>
              <a:defRPr lang="en-US" sz="1300" b="1" spc="3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1508760"/>
            <a:ext cx="804672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3063240"/>
            <a:ext cx="7315200" cy="82296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[Agency Name]  |  Marketing Proposal for [Brand Name]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300" b="1" spc="300" kern="0" dirty="0">
                <a:solidFill>
                  <a:schemeClr val="accent2"/>
                </a:solidFill>
              </a:rPr>
              <a:t>MARKETING PROPOSAL  |  OCTOBER 2026</a:t>
            </a:r>
            <a:endParaRPr lang="en-US" sz="13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Growing Your Fashion Brand Online and In-Store</a:t>
            </a:r>
            <a:endParaRPr lang="en-US" sz="4400" dirty="0"/>
          </a:p>
        </p:txBody>
      </p:sp>
      <p:sp>
        <p:nvSpPr>
          <p:cNvPr id="4" name="Text 0"/>
          <p:cNvSpPr/>
          <p:nvPr>
            <p:ph idx="102" type="body" hasCustomPrompt="1"/>
          </p:nvPr>
        </p:nvSpPr>
        <p:spPr>
          <a:xfrm>
            <a:off x="548640" y="3063240"/>
            <a:ext cx="7315200" cy="822960"/>
          </a:xfrm>
          <a:prstGeom prst="rect">
            <a:avLst/>
          </a:prstGeom>
          <a:noFill/>
          <a:ln/>
        </p:spPr>
        <p:txBody>
          <a:bodyPr wrap="square" lIns="0" tIns="0" rIns="0" bIns="0" rtlCol="0" anchor="t"/>
          <a:lstStyle/>
          <a:p>
            <a:pPr indent="0" marL="0">
              <a:buNone/>
            </a:pPr>
            <a:r>
              <a:rPr lang="en-US" sz="1600" dirty="0">
                <a:solidFill>
                  <a:schemeClr val="accent2"/>
                </a:solidFill>
              </a:rPr>
              <a:t>A 6-month marketing partnership for [Brand Name]</a:t>
            </a:r>
            <a:endParaRPr lang="en-US" sz="1600" dirty="0"/>
          </a:p>
          <a:p>
            <a:pPr indent="0" marL="0">
              <a:buNone/>
            </a:pPr>
            <a:r>
              <a:rPr lang="en-US" sz="1600" dirty="0">
                <a:solidFill>
                  <a:schemeClr val="accent2"/>
                </a:solidFill>
              </a:rPr>
              <a:t>Presented by [Agency Name]</a:t>
            </a:r>
            <a:endParaRPr lang="en-US" sz="1600" dirty="0"/>
          </a:p>
        </p:txBody>
      </p:sp>
      <p:sp>
        <p:nvSpPr>
          <p:cNvPr id="5" name="Fashion circle"/>
          <p:cNvSpPr/>
          <p:nvPr/>
        </p:nvSpPr>
        <p:spPr>
          <a:xfrm>
            <a:off x="7726680" y="3977640"/>
            <a:ext cx="731520" cy="731520"/>
          </a:xfrm>
          <a:prstGeom prst="ellipse">
            <a:avLst/>
          </a:prstGeom>
          <a:solidFill>
            <a:schemeClr val="accent1"/>
          </a:solidFill>
          <a:ln/>
        </p:spPr>
      </p:sp>
      <p:pic>
        <p:nvPicPr>
          <p:cNvPr id="6" name="Fashion icon" descr="Fashion">    </p:cNvPr>
          <p:cNvPicPr>
            <a:picLocks noChangeAspect="1"/>
          </p:cNvPicPr>
          <p:nvPr/>
        </p:nvPicPr>
        <p:blipFill>
          <a:blip r:embed="rId1"/>
          <a:stretch>
            <a:fillRect/>
          </a:stretch>
        </p:blipFill>
        <p:spPr>
          <a:xfrm>
            <a:off x="7924190" y="4175150"/>
            <a:ext cx="336499" cy="3364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01  EXECUTIVE SUMMARY</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Executive Summary</a:t>
            </a:r>
            <a:endParaRPr lang="en-US" sz="3200" dirty="0"/>
          </a:p>
        </p:txBody>
      </p:sp>
      <p:sp>
        <p:nvSpPr>
          <p:cNvPr id="4" name="Summary text"/>
          <p:cNvSpPr txBox="1"/>
          <p:nvPr/>
        </p:nvSpPr>
        <p:spPr>
          <a:xfrm>
            <a:off x="457200" y="1325880"/>
            <a:ext cx="4297680" cy="274320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Your brand has great products, but they aren't reaching enough of the right people.</a:t>
            </a:r>
            <a:endParaRPr lang="en-US" sz="1400" dirty="0"/>
          </a:p>
          <a:p>
            <a:pPr indent="0" marL="0">
              <a:spcAft>
                <a:spcPts val="400"/>
              </a:spcAft>
              <a:buNone/>
            </a:pPr>
            <a:r>
              <a:rPr lang="en-US" sz="800" dirty="0">
                <a:solidFill>
                  <a:schemeClr val="tx1"/>
                </a:solidFill>
              </a:rPr>
              <a:t> </a:t>
            </a:r>
            <a:endParaRPr lang="en-US" sz="1400" dirty="0"/>
          </a:p>
          <a:p>
            <a:pPr indent="0" marL="0">
              <a:spcAft>
                <a:spcPts val="400"/>
              </a:spcAft>
              <a:buNone/>
            </a:pPr>
            <a:r>
              <a:rPr lang="en-US" sz="1400" dirty="0">
                <a:solidFill>
                  <a:schemeClr val="tx1"/>
                </a:solidFill>
              </a:rPr>
              <a:t>We propose a 6-month, 360° marketing plan that:</a:t>
            </a:r>
            <a:endParaRPr lang="en-US" sz="1400" dirty="0"/>
          </a:p>
          <a:p>
            <a:pPr marL="342900" indent="-342900">
              <a:spcAft>
                <a:spcPts val="400"/>
              </a:spcAft>
              <a:buSzPct val="100000"/>
              <a:buChar char="•"/>
            </a:pPr>
            <a:r>
              <a:rPr lang="en-US" sz="1400" dirty="0">
                <a:solidFill>
                  <a:schemeClr val="tx1"/>
                </a:solidFill>
              </a:rPr>
              <a:t>Builds a distinctive, recognizable brand identity</a:t>
            </a:r>
            <a:endParaRPr lang="en-US" sz="1400" dirty="0"/>
          </a:p>
          <a:p>
            <a:pPr marL="342900" indent="-342900">
              <a:spcAft>
                <a:spcPts val="400"/>
              </a:spcAft>
              <a:buSzPct val="100000"/>
              <a:buChar char="•"/>
            </a:pPr>
            <a:r>
              <a:rPr lang="en-US" sz="1400" dirty="0">
                <a:solidFill>
                  <a:schemeClr val="tx1"/>
                </a:solidFill>
              </a:rPr>
              <a:t>Grows an engaged community on Instagram, TikTok and Facebook</a:t>
            </a:r>
            <a:endParaRPr lang="en-US" sz="1400" dirty="0"/>
          </a:p>
          <a:p>
            <a:pPr marL="342900" indent="-342900">
              <a:spcAft>
                <a:spcPts val="400"/>
              </a:spcAft>
              <a:buSzPct val="100000"/>
              <a:buChar char="•"/>
            </a:pPr>
            <a:r>
              <a:rPr lang="en-US" sz="1400" dirty="0">
                <a:solidFill>
                  <a:schemeClr val="tx1"/>
                </a:solidFill>
              </a:rPr>
              <a:t>Opens a direct online sales channel with WhatsApp ordering and cash on delivery</a:t>
            </a:r>
            <a:endParaRPr lang="en-US" sz="1400" dirty="0"/>
          </a:p>
          <a:p>
            <a:pPr marL="342900" indent="-342900">
              <a:spcAft>
                <a:spcPts val="400"/>
              </a:spcAft>
              <a:buSzPct val="100000"/>
              <a:buChar char="•"/>
            </a:pPr>
            <a:r>
              <a:rPr lang="en-US" sz="1400" dirty="0">
                <a:solidFill>
                  <a:schemeClr val="tx1"/>
                </a:solidFill>
              </a:rPr>
              <a:t>Turns first-time buyers into loyal, repeat customers</a:t>
            </a:r>
            <a:endParaRPr lang="en-US" sz="1400" dirty="0"/>
          </a:p>
        </p:txBody>
      </p:sp>
      <p:sp>
        <p:nvSpPr>
          <p:cNvPr id="5" name="Season note"/>
          <p:cNvSpPr txBox="1"/>
          <p:nvPr/>
        </p:nvSpPr>
        <p:spPr>
          <a:xfrm>
            <a:off x="457200" y="4114800"/>
            <a:ext cx="4297680" cy="457200"/>
          </a:xfrm>
          <a:prstGeom prst="rect">
            <a:avLst/>
          </a:prstGeom>
          <a:noFill/>
          <a:ln/>
        </p:spPr>
        <p:txBody>
          <a:bodyPr wrap="square" lIns="0" tIns="0" rIns="0" bIns="0" rtlCol="0" anchor="ctr"/>
          <a:lstStyle/>
          <a:p>
            <a:pPr indent="0" marL="0">
              <a:buNone/>
            </a:pPr>
            <a:r>
              <a:rPr lang="en-US" sz="1400" i="1" dirty="0">
                <a:solidFill>
                  <a:schemeClr val="accent1"/>
                </a:solidFill>
              </a:rPr>
              <a:t>Timed around the biggest seasons: White Friday, Ramadan and Eid.</a:t>
            </a:r>
            <a:endParaRPr lang="en-US" sz="1400" dirty="0"/>
          </a:p>
        </p:txBody>
      </p:sp>
      <p:sp>
        <p:nvSpPr>
          <p:cNvPr id="6" name="Stat card 1"/>
          <p:cNvSpPr/>
          <p:nvPr/>
        </p:nvSpPr>
        <p:spPr>
          <a:xfrm>
            <a:off x="5120640" y="1325880"/>
            <a:ext cx="1691640" cy="1463040"/>
          </a:xfrm>
          <a:prstGeom prst="roundRect">
            <a:avLst>
              <a:gd name="adj" fmla="val 7500"/>
            </a:avLst>
          </a:prstGeom>
          <a:solidFill>
            <a:schemeClr val="bg2"/>
          </a:solidFill>
          <a:ln/>
        </p:spPr>
      </p:sp>
      <p:sp>
        <p:nvSpPr>
          <p:cNvPr id="7" name="Stat value 1"/>
          <p:cNvSpPr txBox="1"/>
          <p:nvPr/>
        </p:nvSpPr>
        <p:spPr>
          <a:xfrm>
            <a:off x="5257800" y="1463040"/>
            <a:ext cx="1417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8" name="Stat label 1"/>
          <p:cNvSpPr txBox="1"/>
          <p:nvPr/>
        </p:nvSpPr>
        <p:spPr>
          <a:xfrm>
            <a:off x="5257800" y="2148840"/>
            <a:ext cx="1463040" cy="548640"/>
          </a:xfrm>
          <a:prstGeom prst="rect">
            <a:avLst/>
          </a:prstGeom>
          <a:noFill/>
          <a:ln/>
        </p:spPr>
        <p:txBody>
          <a:bodyPr wrap="square" lIns="0" tIns="0" rIns="0" bIns="0" rtlCol="0" anchor="t"/>
          <a:lstStyle/>
          <a:p>
            <a:pPr indent="0" marL="0">
              <a:buNone/>
            </a:pPr>
            <a:r>
              <a:rPr lang="en-US" sz="1200" b="1" dirty="0">
                <a:solidFill>
                  <a:schemeClr val="tx2"/>
                </a:solidFill>
              </a:rPr>
              <a:t>months</a:t>
            </a:r>
            <a:endParaRPr lang="en-US" sz="1200" dirty="0"/>
          </a:p>
          <a:p>
            <a:pPr indent="0" marL="0">
              <a:buNone/>
            </a:pPr>
            <a:r>
              <a:rPr lang="en-US" sz="1200" dirty="0">
                <a:solidFill>
                  <a:schemeClr val="tx2"/>
                </a:solidFill>
              </a:rPr>
              <a:t>partnership</a:t>
            </a:r>
            <a:endParaRPr lang="en-US" sz="1200" dirty="0"/>
          </a:p>
        </p:txBody>
      </p:sp>
      <p:sp>
        <p:nvSpPr>
          <p:cNvPr id="9" name="Stat card 2"/>
          <p:cNvSpPr/>
          <p:nvPr/>
        </p:nvSpPr>
        <p:spPr>
          <a:xfrm>
            <a:off x="6949440" y="1325880"/>
            <a:ext cx="1691640" cy="1463040"/>
          </a:xfrm>
          <a:prstGeom prst="roundRect">
            <a:avLst>
              <a:gd name="adj" fmla="val 7500"/>
            </a:avLst>
          </a:prstGeom>
          <a:solidFill>
            <a:schemeClr val="bg2"/>
          </a:solidFill>
          <a:ln/>
        </p:spPr>
      </p:sp>
      <p:sp>
        <p:nvSpPr>
          <p:cNvPr id="10" name="Stat value 2"/>
          <p:cNvSpPr txBox="1"/>
          <p:nvPr/>
        </p:nvSpPr>
        <p:spPr>
          <a:xfrm>
            <a:off x="7086600" y="1463040"/>
            <a:ext cx="1417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1" name="Stat label 2"/>
          <p:cNvSpPr txBox="1"/>
          <p:nvPr/>
        </p:nvSpPr>
        <p:spPr>
          <a:xfrm>
            <a:off x="7086600" y="2148840"/>
            <a:ext cx="1463040" cy="548640"/>
          </a:xfrm>
          <a:prstGeom prst="rect">
            <a:avLst/>
          </a:prstGeom>
          <a:noFill/>
          <a:ln/>
        </p:spPr>
        <p:txBody>
          <a:bodyPr wrap="square" lIns="0" tIns="0" rIns="0" bIns="0" rtlCol="0" anchor="t"/>
          <a:lstStyle/>
          <a:p>
            <a:pPr indent="0" marL="0">
              <a:buNone/>
            </a:pPr>
            <a:r>
              <a:rPr lang="en-US" sz="1200" b="1" dirty="0">
                <a:solidFill>
                  <a:schemeClr val="tx2"/>
                </a:solidFill>
              </a:rPr>
              <a:t>phases</a:t>
            </a:r>
            <a:endParaRPr lang="en-US" sz="1200" dirty="0"/>
          </a:p>
          <a:p>
            <a:pPr indent="0" marL="0">
              <a:buNone/>
            </a:pPr>
            <a:r>
              <a:rPr lang="en-US" sz="1200" dirty="0">
                <a:solidFill>
                  <a:schemeClr val="tx2"/>
                </a:solidFill>
              </a:rPr>
              <a:t>build, grow, retain</a:t>
            </a:r>
            <a:endParaRPr lang="en-US" sz="1200" dirty="0"/>
          </a:p>
        </p:txBody>
      </p:sp>
      <p:sp>
        <p:nvSpPr>
          <p:cNvPr id="12" name="Stat card 3"/>
          <p:cNvSpPr/>
          <p:nvPr/>
        </p:nvSpPr>
        <p:spPr>
          <a:xfrm>
            <a:off x="5120640" y="2971800"/>
            <a:ext cx="1691640" cy="1463040"/>
          </a:xfrm>
          <a:prstGeom prst="roundRect">
            <a:avLst>
              <a:gd name="adj" fmla="val 7500"/>
            </a:avLst>
          </a:prstGeom>
          <a:solidFill>
            <a:schemeClr val="tx2"/>
          </a:solidFill>
          <a:ln/>
        </p:spPr>
      </p:sp>
      <p:sp>
        <p:nvSpPr>
          <p:cNvPr id="13" name="Stat value 3"/>
          <p:cNvSpPr txBox="1"/>
          <p:nvPr/>
        </p:nvSpPr>
        <p:spPr>
          <a:xfrm>
            <a:off x="5257800" y="3108960"/>
            <a:ext cx="1417320" cy="6858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560K</a:t>
            </a:r>
            <a:endParaRPr lang="en-US" sz="3600" dirty="0"/>
          </a:p>
        </p:txBody>
      </p:sp>
      <p:sp>
        <p:nvSpPr>
          <p:cNvPr id="14" name="Stat label 3"/>
          <p:cNvSpPr txBox="1"/>
          <p:nvPr/>
        </p:nvSpPr>
        <p:spPr>
          <a:xfrm>
            <a:off x="5257800" y="3794760"/>
            <a:ext cx="1463040" cy="548640"/>
          </a:xfrm>
          <a:prstGeom prst="rect">
            <a:avLst/>
          </a:prstGeom>
          <a:noFill/>
          <a:ln/>
        </p:spPr>
        <p:txBody>
          <a:bodyPr wrap="square" lIns="0" tIns="0" rIns="0" bIns="0" rtlCol="0" anchor="t"/>
          <a:lstStyle/>
          <a:p>
            <a:pPr indent="0" marL="0">
              <a:buNone/>
            </a:pPr>
            <a:r>
              <a:rPr lang="en-US" sz="1200" b="1" dirty="0">
                <a:solidFill>
                  <a:schemeClr val="accent2"/>
                </a:solidFill>
              </a:rPr>
              <a:t>EGP</a:t>
            </a:r>
            <a:endParaRPr lang="en-US" sz="1200" dirty="0"/>
          </a:p>
          <a:p>
            <a:pPr indent="0" marL="0">
              <a:buNone/>
            </a:pPr>
            <a:r>
              <a:rPr lang="en-US" sz="1200" dirty="0">
                <a:solidFill>
                  <a:schemeClr val="accent2"/>
                </a:solidFill>
              </a:rPr>
              <a:t>total investment</a:t>
            </a:r>
            <a:endParaRPr lang="en-US" sz="1200" dirty="0"/>
          </a:p>
        </p:txBody>
      </p:sp>
      <p:sp>
        <p:nvSpPr>
          <p:cNvPr id="15" name="Stat card 4"/>
          <p:cNvSpPr/>
          <p:nvPr/>
        </p:nvSpPr>
        <p:spPr>
          <a:xfrm>
            <a:off x="6949440" y="2971800"/>
            <a:ext cx="1691640" cy="1463040"/>
          </a:xfrm>
          <a:prstGeom prst="roundRect">
            <a:avLst>
              <a:gd name="adj" fmla="val 7500"/>
            </a:avLst>
          </a:prstGeom>
          <a:solidFill>
            <a:schemeClr val="bg2"/>
          </a:solidFill>
          <a:ln/>
        </p:spPr>
      </p:sp>
      <p:sp>
        <p:nvSpPr>
          <p:cNvPr id="16" name="Stat value 4"/>
          <p:cNvSpPr txBox="1"/>
          <p:nvPr/>
        </p:nvSpPr>
        <p:spPr>
          <a:xfrm>
            <a:off x="7086600" y="3108960"/>
            <a:ext cx="1417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3x</a:t>
            </a:r>
            <a:endParaRPr lang="en-US" sz="3600" dirty="0"/>
          </a:p>
        </p:txBody>
      </p:sp>
      <p:sp>
        <p:nvSpPr>
          <p:cNvPr id="17" name="Stat label 4"/>
          <p:cNvSpPr txBox="1"/>
          <p:nvPr/>
        </p:nvSpPr>
        <p:spPr>
          <a:xfrm>
            <a:off x="7086600" y="3794760"/>
            <a:ext cx="1463040" cy="548640"/>
          </a:xfrm>
          <a:prstGeom prst="rect">
            <a:avLst/>
          </a:prstGeom>
          <a:noFill/>
          <a:ln/>
        </p:spPr>
        <p:txBody>
          <a:bodyPr wrap="square" lIns="0" tIns="0" rIns="0" bIns="0" rtlCol="0" anchor="t"/>
          <a:lstStyle/>
          <a:p>
            <a:pPr indent="0" marL="0">
              <a:buNone/>
            </a:pPr>
            <a:r>
              <a:rPr lang="en-US" sz="1200" b="1" dirty="0">
                <a:solidFill>
                  <a:schemeClr val="tx2"/>
                </a:solidFill>
              </a:rPr>
              <a:t>target</a:t>
            </a:r>
            <a:endParaRPr lang="en-US" sz="1200" dirty="0"/>
          </a:p>
          <a:p>
            <a:pPr indent="0" marL="0">
              <a:buNone/>
            </a:pPr>
            <a:r>
              <a:rPr lang="en-US" sz="1200" dirty="0">
                <a:solidFill>
                  <a:schemeClr val="tx2"/>
                </a:solidFill>
              </a:rPr>
              <a:t>return on ad spend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02  PROBLEM STATEMENT</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Why Sales Aren't Growing Today</a:t>
            </a:r>
            <a:endParaRPr lang="en-US" sz="3200" dirty="0"/>
          </a:p>
        </p:txBody>
      </p:sp>
      <p:sp>
        <p:nvSpPr>
          <p:cNvPr id="4" name="Problem card 1"/>
          <p:cNvSpPr/>
          <p:nvPr/>
        </p:nvSpPr>
        <p:spPr>
          <a:xfrm>
            <a:off x="457200" y="1325880"/>
            <a:ext cx="1920240" cy="2423160"/>
          </a:xfrm>
          <a:prstGeom prst="roundRect">
            <a:avLst>
              <a:gd name="adj" fmla="val 5714"/>
            </a:avLst>
          </a:prstGeom>
          <a:solidFill>
            <a:schemeClr val="bg2"/>
          </a:solidFill>
          <a:ln/>
        </p:spPr>
      </p:sp>
      <p:sp>
        <p:nvSpPr>
          <p:cNvPr id="5" name="Weak brand identity circle"/>
          <p:cNvSpPr/>
          <p:nvPr/>
        </p:nvSpPr>
        <p:spPr>
          <a:xfrm>
            <a:off x="640080" y="1508760"/>
            <a:ext cx="548640" cy="548640"/>
          </a:xfrm>
          <a:prstGeom prst="ellipse">
            <a:avLst/>
          </a:prstGeom>
          <a:solidFill>
            <a:schemeClr val="accent1"/>
          </a:solidFill>
          <a:ln/>
        </p:spPr>
      </p:sp>
      <p:pic>
        <p:nvPicPr>
          <p:cNvPr id="6" name="Weak brand identity icon" descr="Weak brand identity">    </p:cNvPr>
          <p:cNvPicPr>
            <a:picLocks noChangeAspect="1"/>
          </p:cNvPicPr>
          <p:nvPr/>
        </p:nvPicPr>
        <p:blipFill>
          <a:blip r:embed="rId1"/>
          <a:stretch>
            <a:fillRect/>
          </a:stretch>
        </p:blipFill>
        <p:spPr>
          <a:xfrm>
            <a:off x="788213" y="1656893"/>
            <a:ext cx="252374" cy="252374"/>
          </a:xfrm>
          <a:prstGeom prst="rect">
            <a:avLst/>
          </a:prstGeom>
        </p:spPr>
      </p:pic>
      <p:sp>
        <p:nvSpPr>
          <p:cNvPr id="7" name="Problem title 1"/>
          <p:cNvSpPr txBox="1"/>
          <p:nvPr/>
        </p:nvSpPr>
        <p:spPr>
          <a:xfrm>
            <a:off x="640080" y="2148840"/>
            <a:ext cx="1600200" cy="502920"/>
          </a:xfrm>
          <a:prstGeom prst="rect">
            <a:avLst/>
          </a:prstGeom>
          <a:noFill/>
          <a:ln/>
        </p:spPr>
        <p:txBody>
          <a:bodyPr wrap="square" lIns="0" tIns="0" rIns="0" bIns="0" rtlCol="0" anchor="t"/>
          <a:lstStyle/>
          <a:p>
            <a:pPr indent="0" marL="0">
              <a:buNone/>
            </a:pPr>
            <a:r>
              <a:rPr lang="en-US" sz="1500" b="1" dirty="0">
                <a:solidFill>
                  <a:schemeClr val="tx2"/>
                </a:solidFill>
              </a:rPr>
              <a:t>Weak brand identity</a:t>
            </a:r>
            <a:endParaRPr lang="en-US" sz="1500" dirty="0"/>
          </a:p>
        </p:txBody>
      </p:sp>
      <p:sp>
        <p:nvSpPr>
          <p:cNvPr id="8" name="Problem text 1"/>
          <p:cNvSpPr txBox="1"/>
          <p:nvPr/>
        </p:nvSpPr>
        <p:spPr>
          <a:xfrm>
            <a:off x="640080" y="2651760"/>
            <a:ext cx="1600200" cy="1051560"/>
          </a:xfrm>
          <a:prstGeom prst="rect">
            <a:avLst/>
          </a:prstGeom>
          <a:noFill/>
          <a:ln/>
        </p:spPr>
        <p:txBody>
          <a:bodyPr wrap="square" lIns="0" tIns="0" rIns="0" bIns="0" rtlCol="0" anchor="t"/>
          <a:lstStyle/>
          <a:p>
            <a:pPr indent="0" marL="0">
              <a:buNone/>
            </a:pPr>
            <a:r>
              <a:rPr lang="en-US" sz="1200" dirty="0">
                <a:solidFill>
                  <a:schemeClr val="tx1"/>
                </a:solidFill>
              </a:rPr>
              <a:t>The brand looks like hundreds of other Instagram stores, with no clear story or style.</a:t>
            </a:r>
            <a:endParaRPr lang="en-US" sz="1200" dirty="0"/>
          </a:p>
        </p:txBody>
      </p:sp>
      <p:sp>
        <p:nvSpPr>
          <p:cNvPr id="9" name="Problem card 2"/>
          <p:cNvSpPr/>
          <p:nvPr/>
        </p:nvSpPr>
        <p:spPr>
          <a:xfrm>
            <a:off x="2560320" y="1325880"/>
            <a:ext cx="1920240" cy="2423160"/>
          </a:xfrm>
          <a:prstGeom prst="roundRect">
            <a:avLst>
              <a:gd name="adj" fmla="val 5714"/>
            </a:avLst>
          </a:prstGeom>
          <a:solidFill>
            <a:schemeClr val="bg2"/>
          </a:solidFill>
          <a:ln/>
        </p:spPr>
      </p:sp>
      <p:sp>
        <p:nvSpPr>
          <p:cNvPr id="10" name="Low reach and engagement circle"/>
          <p:cNvSpPr/>
          <p:nvPr/>
        </p:nvSpPr>
        <p:spPr>
          <a:xfrm>
            <a:off x="2743200" y="1508760"/>
            <a:ext cx="548640" cy="548640"/>
          </a:xfrm>
          <a:prstGeom prst="ellipse">
            <a:avLst/>
          </a:prstGeom>
          <a:solidFill>
            <a:schemeClr val="accent1"/>
          </a:solidFill>
          <a:ln/>
        </p:spPr>
      </p:sp>
      <p:pic>
        <p:nvPicPr>
          <p:cNvPr id="11" name="Low reach and engagement icon" descr="Low reach and engagement">    </p:cNvPr>
          <p:cNvPicPr>
            <a:picLocks noChangeAspect="1"/>
          </p:cNvPicPr>
          <p:nvPr/>
        </p:nvPicPr>
        <p:blipFill>
          <a:blip r:embed="rId2"/>
          <a:stretch>
            <a:fillRect/>
          </a:stretch>
        </p:blipFill>
        <p:spPr>
          <a:xfrm>
            <a:off x="2891333" y="1656893"/>
            <a:ext cx="252374" cy="252374"/>
          </a:xfrm>
          <a:prstGeom prst="rect">
            <a:avLst/>
          </a:prstGeom>
        </p:spPr>
      </p:pic>
      <p:sp>
        <p:nvSpPr>
          <p:cNvPr id="12" name="Problem title 2"/>
          <p:cNvSpPr txBox="1"/>
          <p:nvPr/>
        </p:nvSpPr>
        <p:spPr>
          <a:xfrm>
            <a:off x="2743200" y="2148840"/>
            <a:ext cx="1600200" cy="502920"/>
          </a:xfrm>
          <a:prstGeom prst="rect">
            <a:avLst/>
          </a:prstGeom>
          <a:noFill/>
          <a:ln/>
        </p:spPr>
        <p:txBody>
          <a:bodyPr wrap="square" lIns="0" tIns="0" rIns="0" bIns="0" rtlCol="0" anchor="t"/>
          <a:lstStyle/>
          <a:p>
            <a:pPr indent="0" marL="0">
              <a:buNone/>
            </a:pPr>
            <a:r>
              <a:rPr lang="en-US" sz="1500" b="1" dirty="0">
                <a:solidFill>
                  <a:schemeClr val="tx2"/>
                </a:solidFill>
              </a:rPr>
              <a:t>Low reach and engagement</a:t>
            </a:r>
            <a:endParaRPr lang="en-US" sz="1500" dirty="0"/>
          </a:p>
        </p:txBody>
      </p:sp>
      <p:sp>
        <p:nvSpPr>
          <p:cNvPr id="13" name="Problem text 2"/>
          <p:cNvSpPr txBox="1"/>
          <p:nvPr/>
        </p:nvSpPr>
        <p:spPr>
          <a:xfrm>
            <a:off x="2743200" y="2651760"/>
            <a:ext cx="1600200" cy="1051560"/>
          </a:xfrm>
          <a:prstGeom prst="rect">
            <a:avLst/>
          </a:prstGeom>
          <a:noFill/>
          <a:ln/>
        </p:spPr>
        <p:txBody>
          <a:bodyPr wrap="square" lIns="0" tIns="0" rIns="0" bIns="0" rtlCol="0" anchor="t"/>
          <a:lstStyle/>
          <a:p>
            <a:pPr indent="0" marL="0">
              <a:buNone/>
            </a:pPr>
            <a:r>
              <a:rPr lang="en-US" sz="1200" dirty="0">
                <a:solidFill>
                  <a:schemeClr val="tx1"/>
                </a:solidFill>
              </a:rPr>
              <a:t>Posts get few likes and shares, and organic reach keeps dropping.</a:t>
            </a:r>
            <a:endParaRPr lang="en-US" sz="1200" dirty="0"/>
          </a:p>
        </p:txBody>
      </p:sp>
      <p:sp>
        <p:nvSpPr>
          <p:cNvPr id="14" name="Problem card 3"/>
          <p:cNvSpPr/>
          <p:nvPr/>
        </p:nvSpPr>
        <p:spPr>
          <a:xfrm>
            <a:off x="4663440" y="1325880"/>
            <a:ext cx="1920240" cy="2423160"/>
          </a:xfrm>
          <a:prstGeom prst="roundRect">
            <a:avLst>
              <a:gd name="adj" fmla="val 5714"/>
            </a:avLst>
          </a:prstGeom>
          <a:solidFill>
            <a:schemeClr val="bg2"/>
          </a:solidFill>
          <a:ln/>
        </p:spPr>
      </p:sp>
      <p:sp>
        <p:nvSpPr>
          <p:cNvPr id="15" name="Ads that don't pay back circle"/>
          <p:cNvSpPr/>
          <p:nvPr/>
        </p:nvSpPr>
        <p:spPr>
          <a:xfrm>
            <a:off x="4846320" y="1508760"/>
            <a:ext cx="548640" cy="548640"/>
          </a:xfrm>
          <a:prstGeom prst="ellipse">
            <a:avLst/>
          </a:prstGeom>
          <a:solidFill>
            <a:schemeClr val="accent1"/>
          </a:solidFill>
          <a:ln/>
        </p:spPr>
      </p:sp>
      <p:pic>
        <p:nvPicPr>
          <p:cNvPr id="16" name="Ads that don't pay back icon" descr="Ads that don't pay back">    </p:cNvPr>
          <p:cNvPicPr>
            <a:picLocks noChangeAspect="1"/>
          </p:cNvPicPr>
          <p:nvPr/>
        </p:nvPicPr>
        <p:blipFill>
          <a:blip r:embed="rId3"/>
          <a:stretch>
            <a:fillRect/>
          </a:stretch>
        </p:blipFill>
        <p:spPr>
          <a:xfrm>
            <a:off x="4994453" y="1656893"/>
            <a:ext cx="252374" cy="252374"/>
          </a:xfrm>
          <a:prstGeom prst="rect">
            <a:avLst/>
          </a:prstGeom>
        </p:spPr>
      </p:pic>
      <p:sp>
        <p:nvSpPr>
          <p:cNvPr id="17" name="Problem title 3"/>
          <p:cNvSpPr txBox="1"/>
          <p:nvPr/>
        </p:nvSpPr>
        <p:spPr>
          <a:xfrm>
            <a:off x="4846320" y="2148840"/>
            <a:ext cx="1600200" cy="502920"/>
          </a:xfrm>
          <a:prstGeom prst="rect">
            <a:avLst/>
          </a:prstGeom>
          <a:noFill/>
          <a:ln/>
        </p:spPr>
        <p:txBody>
          <a:bodyPr wrap="square" lIns="0" tIns="0" rIns="0" bIns="0" rtlCol="0" anchor="t"/>
          <a:lstStyle/>
          <a:p>
            <a:pPr indent="0" marL="0">
              <a:buNone/>
            </a:pPr>
            <a:r>
              <a:rPr lang="en-US" sz="1500" b="1" dirty="0">
                <a:solidFill>
                  <a:schemeClr val="tx2"/>
                </a:solidFill>
              </a:rPr>
              <a:t>Ads that don't pay back</a:t>
            </a:r>
            <a:endParaRPr lang="en-US" sz="1500" dirty="0"/>
          </a:p>
        </p:txBody>
      </p:sp>
      <p:sp>
        <p:nvSpPr>
          <p:cNvPr id="18" name="Problem text 3"/>
          <p:cNvSpPr txBox="1"/>
          <p:nvPr/>
        </p:nvSpPr>
        <p:spPr>
          <a:xfrm>
            <a:off x="4846320" y="2651760"/>
            <a:ext cx="1600200" cy="1051560"/>
          </a:xfrm>
          <a:prstGeom prst="rect">
            <a:avLst/>
          </a:prstGeom>
          <a:noFill/>
          <a:ln/>
        </p:spPr>
        <p:txBody>
          <a:bodyPr wrap="square" lIns="0" tIns="0" rIns="0" bIns="0" rtlCol="0" anchor="t"/>
          <a:lstStyle/>
          <a:p>
            <a:pPr indent="0" marL="0">
              <a:buNone/>
            </a:pPr>
            <a:r>
              <a:rPr lang="en-US" sz="1200" dirty="0">
                <a:solidFill>
                  <a:schemeClr val="tx1"/>
                </a:solidFill>
              </a:rPr>
              <a:t>Boosted posts without targeting, tracking or retargeting waste the budget.</a:t>
            </a:r>
            <a:endParaRPr lang="en-US" sz="1200" dirty="0"/>
          </a:p>
        </p:txBody>
      </p:sp>
      <p:sp>
        <p:nvSpPr>
          <p:cNvPr id="19" name="Problem card 4"/>
          <p:cNvSpPr/>
          <p:nvPr/>
        </p:nvSpPr>
        <p:spPr>
          <a:xfrm>
            <a:off x="6766560" y="1325880"/>
            <a:ext cx="1920240" cy="2423160"/>
          </a:xfrm>
          <a:prstGeom prst="roundRect">
            <a:avLst>
              <a:gd name="adj" fmla="val 5714"/>
            </a:avLst>
          </a:prstGeom>
          <a:solidFill>
            <a:schemeClr val="bg2"/>
          </a:solidFill>
          <a:ln/>
        </p:spPr>
      </p:sp>
      <p:sp>
        <p:nvSpPr>
          <p:cNvPr id="20" name="No repeat customers circle"/>
          <p:cNvSpPr/>
          <p:nvPr/>
        </p:nvSpPr>
        <p:spPr>
          <a:xfrm>
            <a:off x="6949440" y="1508760"/>
            <a:ext cx="548640" cy="548640"/>
          </a:xfrm>
          <a:prstGeom prst="ellipse">
            <a:avLst/>
          </a:prstGeom>
          <a:solidFill>
            <a:schemeClr val="accent1"/>
          </a:solidFill>
          <a:ln/>
        </p:spPr>
      </p:sp>
      <p:pic>
        <p:nvPicPr>
          <p:cNvPr id="21" name="No repeat customers icon" descr="No repeat customers">    </p:cNvPr>
          <p:cNvPicPr>
            <a:picLocks noChangeAspect="1"/>
          </p:cNvPicPr>
          <p:nvPr/>
        </p:nvPicPr>
        <p:blipFill>
          <a:blip r:embed="rId4"/>
          <a:stretch>
            <a:fillRect/>
          </a:stretch>
        </p:blipFill>
        <p:spPr>
          <a:xfrm>
            <a:off x="7097573" y="1656893"/>
            <a:ext cx="252374" cy="252374"/>
          </a:xfrm>
          <a:prstGeom prst="rect">
            <a:avLst/>
          </a:prstGeom>
        </p:spPr>
      </p:pic>
      <p:sp>
        <p:nvSpPr>
          <p:cNvPr id="22" name="Problem title 4"/>
          <p:cNvSpPr txBox="1"/>
          <p:nvPr/>
        </p:nvSpPr>
        <p:spPr>
          <a:xfrm>
            <a:off x="6949440" y="2148840"/>
            <a:ext cx="1600200" cy="502920"/>
          </a:xfrm>
          <a:prstGeom prst="rect">
            <a:avLst/>
          </a:prstGeom>
          <a:noFill/>
          <a:ln/>
        </p:spPr>
        <p:txBody>
          <a:bodyPr wrap="square" lIns="0" tIns="0" rIns="0" bIns="0" rtlCol="0" anchor="t"/>
          <a:lstStyle/>
          <a:p>
            <a:pPr indent="0" marL="0">
              <a:buNone/>
            </a:pPr>
            <a:r>
              <a:rPr lang="en-US" sz="1500" b="1" dirty="0">
                <a:solidFill>
                  <a:schemeClr val="tx2"/>
                </a:solidFill>
              </a:rPr>
              <a:t>No repeat customers</a:t>
            </a:r>
            <a:endParaRPr lang="en-US" sz="1500" dirty="0"/>
          </a:p>
        </p:txBody>
      </p:sp>
      <p:sp>
        <p:nvSpPr>
          <p:cNvPr id="23" name="Problem text 4"/>
          <p:cNvSpPr txBox="1"/>
          <p:nvPr/>
        </p:nvSpPr>
        <p:spPr>
          <a:xfrm>
            <a:off x="6949440" y="2651760"/>
            <a:ext cx="1600200" cy="1051560"/>
          </a:xfrm>
          <a:prstGeom prst="rect">
            <a:avLst/>
          </a:prstGeom>
          <a:noFill/>
          <a:ln/>
        </p:spPr>
        <p:txBody>
          <a:bodyPr wrap="square" lIns="0" tIns="0" rIns="0" bIns="0" rtlCol="0" anchor="t"/>
          <a:lstStyle/>
          <a:p>
            <a:pPr indent="0" marL="0">
              <a:buNone/>
            </a:pPr>
            <a:r>
              <a:rPr lang="en-US" sz="1200" dirty="0">
                <a:solidFill>
                  <a:schemeClr val="tx1"/>
                </a:solidFill>
              </a:rPr>
              <a:t>No customer data and no follow-up, so most buyers purchase once and never come back.</a:t>
            </a:r>
            <a:endParaRPr lang="en-US" sz="1200" dirty="0"/>
          </a:p>
        </p:txBody>
      </p:sp>
      <p:sp>
        <p:nvSpPr>
          <p:cNvPr id="24" name="Market context box"/>
          <p:cNvSpPr/>
          <p:nvPr/>
        </p:nvSpPr>
        <p:spPr>
          <a:xfrm>
            <a:off x="457200" y="3931920"/>
            <a:ext cx="8229600" cy="685800"/>
          </a:xfrm>
          <a:prstGeom prst="roundRect">
            <a:avLst>
              <a:gd name="adj" fmla="val 13333"/>
            </a:avLst>
          </a:prstGeom>
          <a:solidFill>
            <a:schemeClr val="tx2"/>
          </a:solidFill>
          <a:ln/>
        </p:spPr>
      </p:sp>
      <p:sp>
        <p:nvSpPr>
          <p:cNvPr id="25" name="Market context text"/>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300" b="1" dirty="0">
                <a:solidFill>
                  <a:schemeClr val="accent2"/>
                </a:solidFill>
              </a:rPr>
              <a:t>The market: </a:t>
            </a:r>
            <a:pPr indent="0" marL="0">
              <a:buNone/>
            </a:pPr>
            <a:r>
              <a:rPr lang="en-US" sz="1300" dirty="0">
                <a:solidFill>
                  <a:schemeClr val="bg1"/>
                </a:solidFill>
              </a:rPr>
              <a:t>International chains and hundreds of Instagram brands are competing for the same customer, and inflation is making shoppers more price-sensitive than ever.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03  PROPOSED SOLUTION</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 360° Plan Built on Six Pillars</a:t>
            </a:r>
            <a:endParaRPr lang="en-US" sz="3200" dirty="0"/>
          </a:p>
        </p:txBody>
      </p:sp>
      <p:sp>
        <p:nvSpPr>
          <p:cNvPr id="4" name="Pillar card 1"/>
          <p:cNvSpPr/>
          <p:nvPr/>
        </p:nvSpPr>
        <p:spPr>
          <a:xfrm>
            <a:off x="457200" y="1325880"/>
            <a:ext cx="2606040" cy="1508760"/>
          </a:xfrm>
          <a:prstGeom prst="roundRect">
            <a:avLst>
              <a:gd name="adj" fmla="val 7273"/>
            </a:avLst>
          </a:prstGeom>
          <a:solidFill>
            <a:schemeClr val="bg2"/>
          </a:solidFill>
          <a:ln/>
        </p:spPr>
      </p:sp>
      <p:sp>
        <p:nvSpPr>
          <p:cNvPr id="5" name="Brand identity refresh circle"/>
          <p:cNvSpPr/>
          <p:nvPr/>
        </p:nvSpPr>
        <p:spPr>
          <a:xfrm>
            <a:off x="640080" y="1508760"/>
            <a:ext cx="457200" cy="457200"/>
          </a:xfrm>
          <a:prstGeom prst="ellipse">
            <a:avLst/>
          </a:prstGeom>
          <a:solidFill>
            <a:schemeClr val="accent1"/>
          </a:solidFill>
          <a:ln/>
        </p:spPr>
      </p:sp>
      <p:pic>
        <p:nvPicPr>
          <p:cNvPr id="6" name="Brand identity refresh icon" descr="Brand identity refresh">    </p:cNvPr>
          <p:cNvPicPr>
            <a:picLocks noChangeAspect="1"/>
          </p:cNvPicPr>
          <p:nvPr/>
        </p:nvPicPr>
        <p:blipFill>
          <a:blip r:embed="rId1"/>
          <a:stretch>
            <a:fillRect/>
          </a:stretch>
        </p:blipFill>
        <p:spPr>
          <a:xfrm>
            <a:off x="763524" y="1632204"/>
            <a:ext cx="210312" cy="210312"/>
          </a:xfrm>
          <a:prstGeom prst="rect">
            <a:avLst/>
          </a:prstGeom>
        </p:spPr>
      </p:pic>
      <p:sp>
        <p:nvSpPr>
          <p:cNvPr id="7" name="Pillar title 1"/>
          <p:cNvSpPr txBox="1"/>
          <p:nvPr/>
        </p:nvSpPr>
        <p:spPr>
          <a:xfrm>
            <a:off x="1234440" y="150876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Brand identity refresh</a:t>
            </a:r>
            <a:endParaRPr lang="en-US" sz="1400" dirty="0"/>
          </a:p>
        </p:txBody>
      </p:sp>
      <p:sp>
        <p:nvSpPr>
          <p:cNvPr id="8" name="Pillar text 1"/>
          <p:cNvSpPr txBox="1"/>
          <p:nvPr/>
        </p:nvSpPr>
        <p:spPr>
          <a:xfrm>
            <a:off x="640080" y="2057400"/>
            <a:ext cx="2286000" cy="731520"/>
          </a:xfrm>
          <a:prstGeom prst="rect">
            <a:avLst/>
          </a:prstGeom>
          <a:noFill/>
          <a:ln/>
        </p:spPr>
        <p:txBody>
          <a:bodyPr wrap="square" lIns="0" tIns="0" rIns="0" bIns="0" rtlCol="0" anchor="t"/>
          <a:lstStyle/>
          <a:p>
            <a:pPr indent="0" marL="0">
              <a:buNone/>
            </a:pPr>
            <a:r>
              <a:rPr lang="en-US" sz="1200" dirty="0">
                <a:solidFill>
                  <a:schemeClr val="tx1"/>
                </a:solidFill>
              </a:rPr>
              <a:t>A clear position, visual style and tone of voice that make the brand instantly recognizable.</a:t>
            </a:r>
            <a:endParaRPr lang="en-US" sz="1200" dirty="0"/>
          </a:p>
        </p:txBody>
      </p:sp>
      <p:sp>
        <p:nvSpPr>
          <p:cNvPr id="9" name="Pillar card 2"/>
          <p:cNvSpPr/>
          <p:nvPr/>
        </p:nvSpPr>
        <p:spPr>
          <a:xfrm>
            <a:off x="3268980" y="1325880"/>
            <a:ext cx="2606040" cy="1508760"/>
          </a:xfrm>
          <a:prstGeom prst="roundRect">
            <a:avLst>
              <a:gd name="adj" fmla="val 7273"/>
            </a:avLst>
          </a:prstGeom>
          <a:solidFill>
            <a:schemeClr val="bg2"/>
          </a:solidFill>
          <a:ln/>
        </p:spPr>
      </p:sp>
      <p:sp>
        <p:nvSpPr>
          <p:cNvPr id="10" name="Content and social media circle"/>
          <p:cNvSpPr/>
          <p:nvPr/>
        </p:nvSpPr>
        <p:spPr>
          <a:xfrm>
            <a:off x="3451860" y="1508760"/>
            <a:ext cx="457200" cy="457200"/>
          </a:xfrm>
          <a:prstGeom prst="ellipse">
            <a:avLst/>
          </a:prstGeom>
          <a:solidFill>
            <a:schemeClr val="accent1"/>
          </a:solidFill>
          <a:ln/>
        </p:spPr>
      </p:sp>
      <p:pic>
        <p:nvPicPr>
          <p:cNvPr id="11" name="Content and social media icon" descr="Content and social media">    </p:cNvPr>
          <p:cNvPicPr>
            <a:picLocks noChangeAspect="1"/>
          </p:cNvPicPr>
          <p:nvPr/>
        </p:nvPicPr>
        <p:blipFill>
          <a:blip r:embed="rId2"/>
          <a:stretch>
            <a:fillRect/>
          </a:stretch>
        </p:blipFill>
        <p:spPr>
          <a:xfrm>
            <a:off x="3575304" y="1632204"/>
            <a:ext cx="210312" cy="210312"/>
          </a:xfrm>
          <a:prstGeom prst="rect">
            <a:avLst/>
          </a:prstGeom>
        </p:spPr>
      </p:pic>
      <p:sp>
        <p:nvSpPr>
          <p:cNvPr id="12" name="Pillar title 2"/>
          <p:cNvSpPr txBox="1"/>
          <p:nvPr/>
        </p:nvSpPr>
        <p:spPr>
          <a:xfrm>
            <a:off x="4046220" y="150876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Content and social media</a:t>
            </a:r>
            <a:endParaRPr lang="en-US" sz="1400" dirty="0"/>
          </a:p>
        </p:txBody>
      </p:sp>
      <p:sp>
        <p:nvSpPr>
          <p:cNvPr id="13" name="Pillar text 2"/>
          <p:cNvSpPr txBox="1"/>
          <p:nvPr/>
        </p:nvSpPr>
        <p:spPr>
          <a:xfrm>
            <a:off x="3451860" y="2057400"/>
            <a:ext cx="2286000" cy="731520"/>
          </a:xfrm>
          <a:prstGeom prst="rect">
            <a:avLst/>
          </a:prstGeom>
          <a:noFill/>
          <a:ln/>
        </p:spPr>
        <p:txBody>
          <a:bodyPr wrap="square" lIns="0" tIns="0" rIns="0" bIns="0" rtlCol="0" anchor="t"/>
          <a:lstStyle/>
          <a:p>
            <a:pPr indent="0" marL="0">
              <a:buNone/>
            </a:pPr>
            <a:r>
              <a:rPr lang="en-US" sz="1200" dirty="0">
                <a:solidFill>
                  <a:schemeClr val="tx1"/>
                </a:solidFill>
              </a:rPr>
              <a:t>Lookbooks, try-on reels and behind-the-scenes stories on Instagram, TikTok and Facebook.</a:t>
            </a:r>
            <a:endParaRPr lang="en-US" sz="1200" dirty="0"/>
          </a:p>
        </p:txBody>
      </p:sp>
      <p:sp>
        <p:nvSpPr>
          <p:cNvPr id="14" name="Pillar card 3"/>
          <p:cNvSpPr/>
          <p:nvPr/>
        </p:nvSpPr>
        <p:spPr>
          <a:xfrm>
            <a:off x="6080760" y="1325880"/>
            <a:ext cx="2606040" cy="1508760"/>
          </a:xfrm>
          <a:prstGeom prst="roundRect">
            <a:avLst>
              <a:gd name="adj" fmla="val 7273"/>
            </a:avLst>
          </a:prstGeom>
          <a:solidFill>
            <a:schemeClr val="bg2"/>
          </a:solidFill>
          <a:ln/>
        </p:spPr>
      </p:sp>
      <p:sp>
        <p:nvSpPr>
          <p:cNvPr id="15" name="Creator partnerships circle"/>
          <p:cNvSpPr/>
          <p:nvPr/>
        </p:nvSpPr>
        <p:spPr>
          <a:xfrm>
            <a:off x="6263640" y="1508760"/>
            <a:ext cx="457200" cy="457200"/>
          </a:xfrm>
          <a:prstGeom prst="ellipse">
            <a:avLst/>
          </a:prstGeom>
          <a:solidFill>
            <a:schemeClr val="accent1"/>
          </a:solidFill>
          <a:ln/>
        </p:spPr>
      </p:sp>
      <p:pic>
        <p:nvPicPr>
          <p:cNvPr id="16" name="Creator partnerships icon" descr="Creator partnerships">    </p:cNvPr>
          <p:cNvPicPr>
            <a:picLocks noChangeAspect="1"/>
          </p:cNvPicPr>
          <p:nvPr/>
        </p:nvPicPr>
        <p:blipFill>
          <a:blip r:embed="rId3"/>
          <a:stretch>
            <a:fillRect/>
          </a:stretch>
        </p:blipFill>
        <p:spPr>
          <a:xfrm>
            <a:off x="6387084" y="1632204"/>
            <a:ext cx="210312" cy="210312"/>
          </a:xfrm>
          <a:prstGeom prst="rect">
            <a:avLst/>
          </a:prstGeom>
        </p:spPr>
      </p:pic>
      <p:sp>
        <p:nvSpPr>
          <p:cNvPr id="17" name="Pillar title 3"/>
          <p:cNvSpPr txBox="1"/>
          <p:nvPr/>
        </p:nvSpPr>
        <p:spPr>
          <a:xfrm>
            <a:off x="6858000" y="150876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Creator partnerships</a:t>
            </a:r>
            <a:endParaRPr lang="en-US" sz="1400" dirty="0"/>
          </a:p>
        </p:txBody>
      </p:sp>
      <p:sp>
        <p:nvSpPr>
          <p:cNvPr id="18" name="Pillar text 3"/>
          <p:cNvSpPr txBox="1"/>
          <p:nvPr/>
        </p:nvSpPr>
        <p:spPr>
          <a:xfrm>
            <a:off x="6263640" y="2057400"/>
            <a:ext cx="2286000" cy="731520"/>
          </a:xfrm>
          <a:prstGeom prst="rect">
            <a:avLst/>
          </a:prstGeom>
          <a:noFill/>
          <a:ln/>
        </p:spPr>
        <p:txBody>
          <a:bodyPr wrap="square" lIns="0" tIns="0" rIns="0" bIns="0" rtlCol="0" anchor="t"/>
          <a:lstStyle/>
          <a:p>
            <a:pPr indent="0" marL="0">
              <a:buNone/>
            </a:pPr>
            <a:r>
              <a:rPr lang="en-US" sz="1200" dirty="0">
                <a:solidFill>
                  <a:schemeClr val="tx1"/>
                </a:solidFill>
              </a:rPr>
              <a:t>Collaborations with Egyptian fashion micro-influencers whose followers match your customers.</a:t>
            </a:r>
            <a:endParaRPr lang="en-US" sz="1200" dirty="0"/>
          </a:p>
        </p:txBody>
      </p:sp>
      <p:sp>
        <p:nvSpPr>
          <p:cNvPr id="19" name="Pillar card 4"/>
          <p:cNvSpPr/>
          <p:nvPr/>
        </p:nvSpPr>
        <p:spPr>
          <a:xfrm>
            <a:off x="457200" y="3017520"/>
            <a:ext cx="2606040" cy="1508760"/>
          </a:xfrm>
          <a:prstGeom prst="roundRect">
            <a:avLst>
              <a:gd name="adj" fmla="val 7273"/>
            </a:avLst>
          </a:prstGeom>
          <a:solidFill>
            <a:schemeClr val="bg2"/>
          </a:solidFill>
          <a:ln/>
        </p:spPr>
      </p:sp>
      <p:sp>
        <p:nvSpPr>
          <p:cNvPr id="20" name="Performance ads circle"/>
          <p:cNvSpPr/>
          <p:nvPr/>
        </p:nvSpPr>
        <p:spPr>
          <a:xfrm>
            <a:off x="640080" y="3200400"/>
            <a:ext cx="457200" cy="457200"/>
          </a:xfrm>
          <a:prstGeom prst="ellipse">
            <a:avLst/>
          </a:prstGeom>
          <a:solidFill>
            <a:schemeClr val="accent1"/>
          </a:solidFill>
          <a:ln/>
        </p:spPr>
      </p:sp>
      <p:pic>
        <p:nvPicPr>
          <p:cNvPr id="21" name="Performance ads icon" descr="Performance ads">    </p:cNvPr>
          <p:cNvPicPr>
            <a:picLocks noChangeAspect="1"/>
          </p:cNvPicPr>
          <p:nvPr/>
        </p:nvPicPr>
        <p:blipFill>
          <a:blip r:embed="rId4"/>
          <a:stretch>
            <a:fillRect/>
          </a:stretch>
        </p:blipFill>
        <p:spPr>
          <a:xfrm>
            <a:off x="763524" y="3323844"/>
            <a:ext cx="210312" cy="210312"/>
          </a:xfrm>
          <a:prstGeom prst="rect">
            <a:avLst/>
          </a:prstGeom>
        </p:spPr>
      </p:pic>
      <p:sp>
        <p:nvSpPr>
          <p:cNvPr id="22" name="Pillar title 4"/>
          <p:cNvSpPr txBox="1"/>
          <p:nvPr/>
        </p:nvSpPr>
        <p:spPr>
          <a:xfrm>
            <a:off x="1234440" y="320040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Performance ads</a:t>
            </a:r>
            <a:endParaRPr lang="en-US" sz="1400" dirty="0"/>
          </a:p>
        </p:txBody>
      </p:sp>
      <p:sp>
        <p:nvSpPr>
          <p:cNvPr id="23" name="Pillar text 4"/>
          <p:cNvSpPr txBox="1"/>
          <p:nvPr/>
        </p:nvSpPr>
        <p:spPr>
          <a:xfrm>
            <a:off x="640080" y="3749040"/>
            <a:ext cx="2286000" cy="731520"/>
          </a:xfrm>
          <a:prstGeom prst="rect">
            <a:avLst/>
          </a:prstGeom>
          <a:noFill/>
          <a:ln/>
        </p:spPr>
        <p:txBody>
          <a:bodyPr wrap="square" lIns="0" tIns="0" rIns="0" bIns="0" rtlCol="0" anchor="t"/>
          <a:lstStyle/>
          <a:p>
            <a:pPr indent="0" marL="0">
              <a:buNone/>
            </a:pPr>
            <a:r>
              <a:rPr lang="en-US" sz="1200" dirty="0">
                <a:solidFill>
                  <a:schemeClr val="tx1"/>
                </a:solidFill>
              </a:rPr>
              <a:t>Targeted Meta and TikTok campaigns with pixel tracking and retargeting of warm audiences.</a:t>
            </a:r>
            <a:endParaRPr lang="en-US" sz="1200" dirty="0"/>
          </a:p>
        </p:txBody>
      </p:sp>
      <p:sp>
        <p:nvSpPr>
          <p:cNvPr id="24" name="Pillar card 5"/>
          <p:cNvSpPr/>
          <p:nvPr/>
        </p:nvSpPr>
        <p:spPr>
          <a:xfrm>
            <a:off x="3268980" y="3017520"/>
            <a:ext cx="2606040" cy="1508760"/>
          </a:xfrm>
          <a:prstGeom prst="roundRect">
            <a:avLst>
              <a:gd name="adj" fmla="val 7273"/>
            </a:avLst>
          </a:prstGeom>
          <a:solidFill>
            <a:schemeClr val="bg2"/>
          </a:solidFill>
          <a:ln/>
        </p:spPr>
      </p:sp>
      <p:sp>
        <p:nvSpPr>
          <p:cNvPr id="25" name="Online store and WhatsApp circle"/>
          <p:cNvSpPr/>
          <p:nvPr/>
        </p:nvSpPr>
        <p:spPr>
          <a:xfrm>
            <a:off x="3451860" y="3200400"/>
            <a:ext cx="457200" cy="457200"/>
          </a:xfrm>
          <a:prstGeom prst="ellipse">
            <a:avLst/>
          </a:prstGeom>
          <a:solidFill>
            <a:schemeClr val="accent1"/>
          </a:solidFill>
          <a:ln/>
        </p:spPr>
      </p:sp>
      <p:pic>
        <p:nvPicPr>
          <p:cNvPr id="26" name="Online store and WhatsApp icon" descr="Online store and WhatsApp">    </p:cNvPr>
          <p:cNvPicPr>
            <a:picLocks noChangeAspect="1"/>
          </p:cNvPicPr>
          <p:nvPr/>
        </p:nvPicPr>
        <p:blipFill>
          <a:blip r:embed="rId5"/>
          <a:stretch>
            <a:fillRect/>
          </a:stretch>
        </p:blipFill>
        <p:spPr>
          <a:xfrm>
            <a:off x="3575304" y="3323844"/>
            <a:ext cx="210312" cy="210312"/>
          </a:xfrm>
          <a:prstGeom prst="rect">
            <a:avLst/>
          </a:prstGeom>
        </p:spPr>
      </p:pic>
      <p:sp>
        <p:nvSpPr>
          <p:cNvPr id="27" name="Pillar title 5"/>
          <p:cNvSpPr txBox="1"/>
          <p:nvPr/>
        </p:nvSpPr>
        <p:spPr>
          <a:xfrm>
            <a:off x="4046220" y="320040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Online store and WhatsApp</a:t>
            </a:r>
            <a:endParaRPr lang="en-US" sz="1400" dirty="0"/>
          </a:p>
        </p:txBody>
      </p:sp>
      <p:sp>
        <p:nvSpPr>
          <p:cNvPr id="28" name="Pillar text 5"/>
          <p:cNvSpPr txBox="1"/>
          <p:nvPr/>
        </p:nvSpPr>
        <p:spPr>
          <a:xfrm>
            <a:off x="3451860" y="3749040"/>
            <a:ext cx="2286000" cy="731520"/>
          </a:xfrm>
          <a:prstGeom prst="rect">
            <a:avLst/>
          </a:prstGeom>
          <a:noFill/>
          <a:ln/>
        </p:spPr>
        <p:txBody>
          <a:bodyPr wrap="square" lIns="0" tIns="0" rIns="0" bIns="0" rtlCol="0" anchor="t"/>
          <a:lstStyle/>
          <a:p>
            <a:pPr indent="0" marL="0">
              <a:buNone/>
            </a:pPr>
            <a:r>
              <a:rPr lang="en-US" sz="1200" dirty="0">
                <a:solidFill>
                  <a:schemeClr val="tx1"/>
                </a:solidFill>
              </a:rPr>
              <a:t>Instagram Shop, a WhatsApp Business catalog and a simple website, with cash on delivery.</a:t>
            </a:r>
            <a:endParaRPr lang="en-US" sz="1200" dirty="0"/>
          </a:p>
        </p:txBody>
      </p:sp>
      <p:sp>
        <p:nvSpPr>
          <p:cNvPr id="29" name="Pillar card 6"/>
          <p:cNvSpPr/>
          <p:nvPr/>
        </p:nvSpPr>
        <p:spPr>
          <a:xfrm>
            <a:off x="6080760" y="3017520"/>
            <a:ext cx="2606040" cy="1508760"/>
          </a:xfrm>
          <a:prstGeom prst="roundRect">
            <a:avLst>
              <a:gd name="adj" fmla="val 7273"/>
            </a:avLst>
          </a:prstGeom>
          <a:solidFill>
            <a:schemeClr val="bg2"/>
          </a:solidFill>
          <a:ln/>
        </p:spPr>
      </p:sp>
      <p:sp>
        <p:nvSpPr>
          <p:cNvPr id="30" name="Loyalty and VIP club circle"/>
          <p:cNvSpPr/>
          <p:nvPr/>
        </p:nvSpPr>
        <p:spPr>
          <a:xfrm>
            <a:off x="6263640" y="3200400"/>
            <a:ext cx="457200" cy="457200"/>
          </a:xfrm>
          <a:prstGeom prst="ellipse">
            <a:avLst/>
          </a:prstGeom>
          <a:solidFill>
            <a:schemeClr val="accent1"/>
          </a:solidFill>
          <a:ln/>
        </p:spPr>
      </p:sp>
      <p:pic>
        <p:nvPicPr>
          <p:cNvPr id="31" name="Loyalty and VIP club icon" descr="Loyalty and VIP club">    </p:cNvPr>
          <p:cNvPicPr>
            <a:picLocks noChangeAspect="1"/>
          </p:cNvPicPr>
          <p:nvPr/>
        </p:nvPicPr>
        <p:blipFill>
          <a:blip r:embed="rId6"/>
          <a:stretch>
            <a:fillRect/>
          </a:stretch>
        </p:blipFill>
        <p:spPr>
          <a:xfrm>
            <a:off x="6387084" y="3323844"/>
            <a:ext cx="210312" cy="210312"/>
          </a:xfrm>
          <a:prstGeom prst="rect">
            <a:avLst/>
          </a:prstGeom>
        </p:spPr>
      </p:pic>
      <p:sp>
        <p:nvSpPr>
          <p:cNvPr id="32" name="Pillar title 6"/>
          <p:cNvSpPr txBox="1"/>
          <p:nvPr/>
        </p:nvSpPr>
        <p:spPr>
          <a:xfrm>
            <a:off x="6858000" y="3200400"/>
            <a:ext cx="1691640" cy="457200"/>
          </a:xfrm>
          <a:prstGeom prst="rect">
            <a:avLst/>
          </a:prstGeom>
          <a:noFill/>
          <a:ln/>
        </p:spPr>
        <p:txBody>
          <a:bodyPr wrap="square" lIns="0" tIns="0" rIns="0" bIns="0" rtlCol="0" anchor="ctr"/>
          <a:lstStyle/>
          <a:p>
            <a:pPr indent="0" marL="0">
              <a:buNone/>
            </a:pPr>
            <a:r>
              <a:rPr lang="en-US" sz="1400" b="1" dirty="0">
                <a:solidFill>
                  <a:schemeClr val="tx2"/>
                </a:solidFill>
              </a:rPr>
              <a:t>Loyalty and VIP club</a:t>
            </a:r>
            <a:endParaRPr lang="en-US" sz="1400" dirty="0"/>
          </a:p>
        </p:txBody>
      </p:sp>
      <p:sp>
        <p:nvSpPr>
          <p:cNvPr id="33" name="Pillar text 6"/>
          <p:cNvSpPr txBox="1"/>
          <p:nvPr/>
        </p:nvSpPr>
        <p:spPr>
          <a:xfrm>
            <a:off x="6263640" y="3749040"/>
            <a:ext cx="2286000" cy="731520"/>
          </a:xfrm>
          <a:prstGeom prst="rect">
            <a:avLst/>
          </a:prstGeom>
          <a:noFill/>
          <a:ln/>
        </p:spPr>
        <p:txBody>
          <a:bodyPr wrap="square" lIns="0" tIns="0" rIns="0" bIns="0" rtlCol="0" anchor="t"/>
          <a:lstStyle/>
          <a:p>
            <a:pPr indent="0" marL="0">
              <a:buNone/>
            </a:pPr>
            <a:r>
              <a:rPr lang="en-US" sz="1200" dirty="0">
                <a:solidFill>
                  <a:schemeClr val="tx1"/>
                </a:solidFill>
              </a:rPr>
              <a:t>Early access to new drops, member offers and WhatsApp broadcasts that bring buyers back.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04  IMPLEMENTATION PLAN</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Three Phases, One Clear Path</a:t>
            </a:r>
            <a:endParaRPr lang="en-US" sz="3200" dirty="0"/>
          </a:p>
        </p:txBody>
      </p:sp>
      <p:sp>
        <p:nvSpPr>
          <p:cNvPr id="4" name="Phase card 1"/>
          <p:cNvSpPr/>
          <p:nvPr/>
        </p:nvSpPr>
        <p:spPr>
          <a:xfrm>
            <a:off x="457200" y="1325880"/>
            <a:ext cx="2606040" cy="3291840"/>
          </a:xfrm>
          <a:prstGeom prst="roundRect">
            <a:avLst>
              <a:gd name="adj" fmla="val 4211"/>
            </a:avLst>
          </a:prstGeom>
          <a:solidFill>
            <a:schemeClr val="bg2"/>
          </a:solidFill>
          <a:ln/>
        </p:spPr>
      </p:sp>
      <p:sp>
        <p:nvSpPr>
          <p:cNvPr id="5" name="Phase number circle 1"/>
          <p:cNvSpPr/>
          <p:nvPr/>
        </p:nvSpPr>
        <p:spPr>
          <a:xfrm>
            <a:off x="640080" y="1508760"/>
            <a:ext cx="502920" cy="502920"/>
          </a:xfrm>
          <a:prstGeom prst="ellipse">
            <a:avLst/>
          </a:prstGeom>
          <a:solidFill>
            <a:schemeClr val="accent1"/>
          </a:solidFill>
          <a:ln/>
        </p:spPr>
      </p:sp>
      <p:sp>
        <p:nvSpPr>
          <p:cNvPr id="6" name="Phase number 1"/>
          <p:cNvSpPr txBox="1"/>
          <p:nvPr/>
        </p:nvSpPr>
        <p:spPr>
          <a:xfrm>
            <a:off x="640080" y="150876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7" name="Phase header 1"/>
          <p:cNvSpPr txBox="1"/>
          <p:nvPr/>
        </p:nvSpPr>
        <p:spPr>
          <a:xfrm>
            <a:off x="1280160" y="149047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Build the Foundation</a:t>
            </a:r>
            <a:endParaRPr lang="en-US" sz="1500" dirty="0"/>
          </a:p>
          <a:p>
            <a:pPr indent="0" marL="0">
              <a:buNone/>
            </a:pPr>
            <a:r>
              <a:rPr lang="en-US" sz="1200" b="1" dirty="0">
                <a:solidFill>
                  <a:schemeClr val="accent1"/>
                </a:solidFill>
              </a:rPr>
              <a:t>Month 1</a:t>
            </a:r>
            <a:endParaRPr lang="en-US" sz="1500" dirty="0"/>
          </a:p>
        </p:txBody>
      </p:sp>
      <p:sp>
        <p:nvSpPr>
          <p:cNvPr id="8" name="Phase tasks 1"/>
          <p:cNvSpPr txBox="1"/>
          <p:nvPr/>
        </p:nvSpPr>
        <p:spPr>
          <a:xfrm>
            <a:off x="640080" y="2194560"/>
            <a:ext cx="2286000" cy="2331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Brand and competitor audit</a:t>
            </a:r>
            <a:endParaRPr lang="en-US" sz="1200" dirty="0"/>
          </a:p>
          <a:p>
            <a:pPr marL="342900" indent="-342900">
              <a:spcAft>
                <a:spcPts val="500"/>
              </a:spcAft>
              <a:buSzPct val="100000"/>
              <a:buChar char="•"/>
            </a:pPr>
            <a:r>
              <a:rPr lang="en-US" sz="1200" dirty="0">
                <a:solidFill>
                  <a:schemeClr val="tx1"/>
                </a:solidFill>
              </a:rPr>
              <a:t>Brand identity refresh and guidelines</a:t>
            </a:r>
            <a:endParaRPr lang="en-US" sz="1200" dirty="0"/>
          </a:p>
          <a:p>
            <a:pPr marL="342900" indent="-342900">
              <a:spcAft>
                <a:spcPts val="500"/>
              </a:spcAft>
              <a:buSzPct val="100000"/>
              <a:buChar char="•"/>
            </a:pPr>
            <a:r>
              <a:rPr lang="en-US" sz="1200" dirty="0">
                <a:solidFill>
                  <a:schemeClr val="tx1"/>
                </a:solidFill>
              </a:rPr>
              <a:t>First lookbook photoshoot</a:t>
            </a:r>
            <a:endParaRPr lang="en-US" sz="1200" dirty="0"/>
          </a:p>
          <a:p>
            <a:pPr marL="342900" indent="-342900">
              <a:spcAft>
                <a:spcPts val="500"/>
              </a:spcAft>
              <a:buSzPct val="100000"/>
              <a:buChar char="•"/>
            </a:pPr>
            <a:r>
              <a:rPr lang="en-US" sz="1200" dirty="0">
                <a:solidFill>
                  <a:schemeClr val="tx1"/>
                </a:solidFill>
              </a:rPr>
              <a:t>Set up Meta Pixel, Instagram Shop and WhatsApp catalog</a:t>
            </a:r>
            <a:endParaRPr lang="en-US" sz="1200" dirty="0"/>
          </a:p>
          <a:p>
            <a:pPr marL="342900" indent="-342900">
              <a:spcAft>
                <a:spcPts val="500"/>
              </a:spcAft>
              <a:buSzPct val="100000"/>
              <a:buChar char="•"/>
            </a:pPr>
            <a:r>
              <a:rPr lang="en-US" sz="1200" dirty="0">
                <a:solidFill>
                  <a:schemeClr val="tx1"/>
                </a:solidFill>
              </a:rPr>
              <a:t>Content calendar for the first 90 days</a:t>
            </a:r>
            <a:endParaRPr lang="en-US" sz="1200" dirty="0"/>
          </a:p>
        </p:txBody>
      </p:sp>
      <p:sp>
        <p:nvSpPr>
          <p:cNvPr id="9" name="Phase card 2"/>
          <p:cNvSpPr/>
          <p:nvPr/>
        </p:nvSpPr>
        <p:spPr>
          <a:xfrm>
            <a:off x="3268980" y="1325880"/>
            <a:ext cx="2606040" cy="3291840"/>
          </a:xfrm>
          <a:prstGeom prst="roundRect">
            <a:avLst>
              <a:gd name="adj" fmla="val 4211"/>
            </a:avLst>
          </a:prstGeom>
          <a:solidFill>
            <a:schemeClr val="tx2"/>
          </a:solidFill>
          <a:ln/>
        </p:spPr>
      </p:sp>
      <p:sp>
        <p:nvSpPr>
          <p:cNvPr id="10" name="Phase number circle 2"/>
          <p:cNvSpPr/>
          <p:nvPr/>
        </p:nvSpPr>
        <p:spPr>
          <a:xfrm>
            <a:off x="3451860" y="1508760"/>
            <a:ext cx="502920" cy="502920"/>
          </a:xfrm>
          <a:prstGeom prst="ellipse">
            <a:avLst/>
          </a:prstGeom>
          <a:solidFill>
            <a:schemeClr val="accent1"/>
          </a:solidFill>
          <a:ln/>
        </p:spPr>
      </p:sp>
      <p:sp>
        <p:nvSpPr>
          <p:cNvPr id="11" name="Phase number 2"/>
          <p:cNvSpPr txBox="1"/>
          <p:nvPr/>
        </p:nvSpPr>
        <p:spPr>
          <a:xfrm>
            <a:off x="3451860" y="150876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2" name="Phase header 2"/>
          <p:cNvSpPr txBox="1"/>
          <p:nvPr/>
        </p:nvSpPr>
        <p:spPr>
          <a:xfrm>
            <a:off x="4091940" y="1490472"/>
            <a:ext cx="1691640" cy="548640"/>
          </a:xfrm>
          <a:prstGeom prst="rect">
            <a:avLst/>
          </a:prstGeom>
          <a:noFill/>
          <a:ln/>
        </p:spPr>
        <p:txBody>
          <a:bodyPr wrap="square" lIns="0" tIns="0" rIns="0" bIns="0" rtlCol="0" anchor="ctr"/>
          <a:lstStyle/>
          <a:p>
            <a:pPr indent="0" marL="0">
              <a:buNone/>
            </a:pPr>
            <a:r>
              <a:rPr lang="en-US" sz="1500" b="1" dirty="0">
                <a:solidFill>
                  <a:schemeClr val="bg1"/>
                </a:solidFill>
              </a:rPr>
              <a:t>Launch and Grow</a:t>
            </a:r>
            <a:endParaRPr lang="en-US" sz="1500" dirty="0"/>
          </a:p>
          <a:p>
            <a:pPr indent="0" marL="0">
              <a:buNone/>
            </a:pPr>
            <a:r>
              <a:rPr lang="en-US" sz="1200" b="1" dirty="0">
                <a:solidFill>
                  <a:schemeClr val="accent2"/>
                </a:solidFill>
              </a:rPr>
              <a:t>Months 2–4</a:t>
            </a:r>
            <a:endParaRPr lang="en-US" sz="1500" dirty="0"/>
          </a:p>
        </p:txBody>
      </p:sp>
      <p:sp>
        <p:nvSpPr>
          <p:cNvPr id="13" name="Phase tasks 2"/>
          <p:cNvSpPr txBox="1"/>
          <p:nvPr/>
        </p:nvSpPr>
        <p:spPr>
          <a:xfrm>
            <a:off x="3451860" y="2194560"/>
            <a:ext cx="2286000" cy="2331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20 posts and 12 reels every month</a:t>
            </a:r>
            <a:endParaRPr lang="en-US" sz="1200" dirty="0"/>
          </a:p>
          <a:p>
            <a:pPr marL="342900" indent="-342900">
              <a:spcAft>
                <a:spcPts val="500"/>
              </a:spcAft>
              <a:buSzPct val="100000"/>
              <a:buChar char="•"/>
            </a:pPr>
            <a:r>
              <a:rPr lang="en-US" sz="1200" dirty="0">
                <a:solidFill>
                  <a:schemeClr val="bg1"/>
                </a:solidFill>
              </a:rPr>
              <a:t>Creator collaborations every month</a:t>
            </a:r>
            <a:endParaRPr lang="en-US" sz="1200" dirty="0"/>
          </a:p>
          <a:p>
            <a:pPr marL="342900" indent="-342900">
              <a:spcAft>
                <a:spcPts val="500"/>
              </a:spcAft>
              <a:buSzPct val="100000"/>
              <a:buChar char="•"/>
            </a:pPr>
            <a:r>
              <a:rPr lang="en-US" sz="1200" dirty="0">
                <a:solidFill>
                  <a:schemeClr val="bg1"/>
                </a:solidFill>
              </a:rPr>
              <a:t>Meta and TikTok ads with retargeting</a:t>
            </a:r>
            <a:endParaRPr lang="en-US" sz="1200" dirty="0"/>
          </a:p>
          <a:p>
            <a:pPr marL="342900" indent="-342900">
              <a:spcAft>
                <a:spcPts val="500"/>
              </a:spcAft>
              <a:buSzPct val="100000"/>
              <a:buChar char="•"/>
            </a:pPr>
            <a:r>
              <a:rPr lang="en-US" sz="1200" dirty="0">
                <a:solidFill>
                  <a:schemeClr val="bg1"/>
                </a:solidFill>
              </a:rPr>
              <a:t>Online store launch with cash on delivery</a:t>
            </a:r>
            <a:endParaRPr lang="en-US" sz="1200" dirty="0"/>
          </a:p>
          <a:p>
            <a:pPr marL="342900" indent="-342900">
              <a:spcAft>
                <a:spcPts val="500"/>
              </a:spcAft>
              <a:buSzPct val="100000"/>
              <a:buChar char="•"/>
            </a:pPr>
            <a:r>
              <a:rPr lang="en-US" sz="1200" dirty="0">
                <a:solidFill>
                  <a:schemeClr val="bg1"/>
                </a:solidFill>
              </a:rPr>
              <a:t>Ramadan and Eid collection campaign</a:t>
            </a:r>
            <a:endParaRPr lang="en-US" sz="1200" dirty="0"/>
          </a:p>
        </p:txBody>
      </p:sp>
      <p:sp>
        <p:nvSpPr>
          <p:cNvPr id="14" name="Phase card 3"/>
          <p:cNvSpPr/>
          <p:nvPr/>
        </p:nvSpPr>
        <p:spPr>
          <a:xfrm>
            <a:off x="6080760" y="1325880"/>
            <a:ext cx="2606040" cy="3291840"/>
          </a:xfrm>
          <a:prstGeom prst="roundRect">
            <a:avLst>
              <a:gd name="adj" fmla="val 4211"/>
            </a:avLst>
          </a:prstGeom>
          <a:solidFill>
            <a:schemeClr val="bg2"/>
          </a:solidFill>
          <a:ln/>
        </p:spPr>
      </p:sp>
      <p:sp>
        <p:nvSpPr>
          <p:cNvPr id="15" name="Phase number circle 3"/>
          <p:cNvSpPr/>
          <p:nvPr/>
        </p:nvSpPr>
        <p:spPr>
          <a:xfrm>
            <a:off x="6263640" y="1508760"/>
            <a:ext cx="502920" cy="502920"/>
          </a:xfrm>
          <a:prstGeom prst="ellipse">
            <a:avLst/>
          </a:prstGeom>
          <a:solidFill>
            <a:schemeClr val="accent1"/>
          </a:solidFill>
          <a:ln/>
        </p:spPr>
      </p:sp>
      <p:sp>
        <p:nvSpPr>
          <p:cNvPr id="16" name="Phase number 3"/>
          <p:cNvSpPr txBox="1"/>
          <p:nvPr/>
        </p:nvSpPr>
        <p:spPr>
          <a:xfrm>
            <a:off x="6263640" y="150876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7" name="Phase header 3"/>
          <p:cNvSpPr txBox="1"/>
          <p:nvPr/>
        </p:nvSpPr>
        <p:spPr>
          <a:xfrm>
            <a:off x="6903720" y="149047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Retain and Scale</a:t>
            </a:r>
            <a:endParaRPr lang="en-US" sz="1500" dirty="0"/>
          </a:p>
          <a:p>
            <a:pPr indent="0" marL="0">
              <a:buNone/>
            </a:pPr>
            <a:r>
              <a:rPr lang="en-US" sz="1200" b="1" dirty="0">
                <a:solidFill>
                  <a:schemeClr val="accent1"/>
                </a:solidFill>
              </a:rPr>
              <a:t>Months 5–6</a:t>
            </a:r>
            <a:endParaRPr lang="en-US" sz="1500" dirty="0"/>
          </a:p>
        </p:txBody>
      </p:sp>
      <p:sp>
        <p:nvSpPr>
          <p:cNvPr id="18" name="Phase tasks 3"/>
          <p:cNvSpPr txBox="1"/>
          <p:nvPr/>
        </p:nvSpPr>
        <p:spPr>
          <a:xfrm>
            <a:off x="6263640" y="2194560"/>
            <a:ext cx="2286000" cy="2331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Launch the VIP club and loyalty offers</a:t>
            </a:r>
            <a:endParaRPr lang="en-US" sz="1200" dirty="0"/>
          </a:p>
          <a:p>
            <a:pPr marL="342900" indent="-342900">
              <a:spcAft>
                <a:spcPts val="500"/>
              </a:spcAft>
              <a:buSzPct val="100000"/>
              <a:buChar char="•"/>
            </a:pPr>
            <a:r>
              <a:rPr lang="en-US" sz="1200" dirty="0">
                <a:solidFill>
                  <a:schemeClr val="tx1"/>
                </a:solidFill>
              </a:rPr>
              <a:t>WhatsApp broadcasts for new drops</a:t>
            </a:r>
            <a:endParaRPr lang="en-US" sz="1200" dirty="0"/>
          </a:p>
          <a:p>
            <a:pPr marL="342900" indent="-342900">
              <a:spcAft>
                <a:spcPts val="500"/>
              </a:spcAft>
              <a:buSzPct val="100000"/>
              <a:buChar char="•"/>
            </a:pPr>
            <a:r>
              <a:rPr lang="en-US" sz="1200" dirty="0">
                <a:solidFill>
                  <a:schemeClr val="tx1"/>
                </a:solidFill>
              </a:rPr>
              <a:t>A/B test creatives, scale winning ads</a:t>
            </a:r>
            <a:endParaRPr lang="en-US" sz="1200" dirty="0"/>
          </a:p>
          <a:p>
            <a:pPr marL="342900" indent="-342900">
              <a:spcAft>
                <a:spcPts val="500"/>
              </a:spcAft>
              <a:buSzPct val="100000"/>
              <a:buChar char="•"/>
            </a:pPr>
            <a:r>
              <a:rPr lang="en-US" sz="1200" dirty="0">
                <a:solidFill>
                  <a:schemeClr val="tx1"/>
                </a:solidFill>
              </a:rPr>
              <a:t>Full 6-month results review</a:t>
            </a:r>
            <a:endParaRPr lang="en-US" sz="1200" dirty="0"/>
          </a:p>
          <a:p>
            <a:pPr marL="342900" indent="-342900">
              <a:spcAft>
                <a:spcPts val="500"/>
              </a:spcAft>
              <a:buSzPct val="100000"/>
              <a:buChar char="•"/>
            </a:pPr>
            <a:r>
              <a:rPr lang="en-US" sz="1200" dirty="0">
                <a:solidFill>
                  <a:schemeClr val="tx1"/>
                </a:solidFill>
              </a:rPr>
              <a:t>Plan for the next 6 months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05  BUDGET</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Investment: EGP 560,000 over 6 Months</a:t>
            </a:r>
            <a:endParaRPr lang="en-US" sz="3200" dirty="0"/>
          </a:p>
        </p:txBody>
      </p:sp>
      <p:graphicFrame>
        <p:nvGraphicFramePr>
          <p:cNvPr id="7" name="Budget table"/>
          <p:cNvGraphicFramePr>
            <a:graphicFrameLocks noGrp="1"/>
          </p:cNvGraphicFramePr>
          <p:nvPr>
            <p:extLst>
              <p:ext uri="{D42A27DB-BD31-4B8C-83A1-F6EECF244321}">
                <p14:modId xmlns:p14="http://schemas.microsoft.com/office/powerpoint/2010/main" val="1579011935"/>
              </p:ext>
            </p:extLst>
          </p:nvPr>
        </p:nvGraphicFramePr>
        <p:xfrm>
          <a:off x="457200" y="1280160"/>
          <a:ext cx="5212080" cy="914400"/>
        </p:xfrm>
        <a:graphic>
          <a:graphicData uri="http://schemas.openxmlformats.org/drawingml/2006/table">
            <a:tbl>
              <a:tblPr/>
              <a:tblGrid>
                <a:gridCol w="2514600"/>
                <a:gridCol w="1508760"/>
                <a:gridCol w="1188720"/>
              </a:tblGrid>
              <a:tr h="329184">
                <a:tc>
                  <a:txBody>
                    <a:bodyPr/>
                    <a:lstStyle/>
                    <a:p>
                      <a:pPr indent="0" marL="0">
                        <a:buNone/>
                      </a:pPr>
                      <a:r>
                        <a:rPr lang="en-US" sz="1300" b="1" dirty="0">
                          <a:solidFill>
                            <a:schemeClr val="bg1"/>
                          </a:solidFill>
                        </a:rPr>
                        <a:t>Item</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Timing</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300" b="1" dirty="0">
                          <a:solidFill>
                            <a:schemeClr val="bg1"/>
                          </a:solidFill>
                        </a:rPr>
                        <a:t>Cost (EGP)</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indent="0" marL="0">
                        <a:buNone/>
                      </a:pPr>
                      <a:r>
                        <a:rPr lang="en-US" sz="1300" dirty="0">
                          <a:solidFill>
                            <a:schemeClr val="tx1"/>
                          </a:solidFill>
                        </a:rPr>
                        <a:t>Brand identity and strategy</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5"/>
                          </a:solidFill>
                        </a:rPr>
                        <a:t>Month 1</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40,000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Lookbook photoshoots (×2)</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5"/>
                          </a:solidFill>
                        </a:rPr>
                        <a:t>Months 1 and 3</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60,000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Social media and content</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5"/>
                          </a:solidFill>
                        </a:rPr>
                        <a:t>Monthly</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150,000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Paid ads budget*</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5"/>
                          </a:solidFill>
                        </a:rPr>
                        <a:t>Months 1–6</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150,000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Creator collaborations*</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5"/>
                          </a:solidFill>
                        </a:rPr>
                        <a:t>Months 2–6</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100,000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Online store setup</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5"/>
                          </a:solidFill>
                        </a:rPr>
                        <a:t>Months 2–3</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35,000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VIP club and launch event</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5"/>
                          </a:solidFill>
                        </a:rPr>
                        <a:t>Month 5</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25,000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b="1" dirty="0">
                          <a:solidFill>
                            <a:schemeClr val="bg1"/>
                          </a:solidFill>
                        </a:rPr>
                        <a:t>Total (6 months)</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300" b="1" dirty="0">
                          <a:solidFill>
                            <a:schemeClr val="bg1"/>
                          </a:solidFill>
                        </a:rPr>
                        <a:t>560,000</a:t>
                      </a:r>
                      <a:endParaRPr lang="en-US" sz="13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r>
            </a:tbl>
          </a:graphicData>
        </a:graphic>
      </p:graphicFrame>
      <p:sp>
        <p:nvSpPr>
          <p:cNvPr id="5" name="Budget footnote"/>
          <p:cNvSpPr txBox="1"/>
          <p:nvPr/>
        </p:nvSpPr>
        <p:spPr>
          <a:xfrm>
            <a:off x="457200" y="4343400"/>
            <a:ext cx="5212080" cy="365760"/>
          </a:xfrm>
          <a:prstGeom prst="rect">
            <a:avLst/>
          </a:prstGeom>
          <a:noFill/>
          <a:ln/>
        </p:spPr>
        <p:txBody>
          <a:bodyPr wrap="square" lIns="0" tIns="0" rIns="0" bIns="0" rtlCol="0" anchor="t"/>
          <a:lstStyle/>
          <a:p>
            <a:pPr indent="0" marL="0">
              <a:buNone/>
            </a:pPr>
            <a:r>
              <a:rPr lang="en-US" sz="1000" dirty="0">
                <a:solidFill>
                  <a:schemeClr val="accent5"/>
                </a:solidFill>
              </a:rPr>
              <a:t>*Paid at cost directly to the ad platforms and creators. Prices exclude 14% VAT. Average ≈ EGP 93K per month.</a:t>
            </a:r>
            <a:endParaRPr lang="en-US" sz="1000" dirty="0"/>
          </a:p>
        </p:txBody>
      </p:sp>
      <p:graphicFrame>
        <p:nvGraphicFramePr>
          <p:cNvPr id="6" name="Budget allocation chart" descr=""/>
          <p:cNvGraphicFramePr/>
          <p:nvPr/>
        </p:nvGraphicFramePr>
        <p:xfrm>
          <a:off x="5897880" y="1188720"/>
          <a:ext cx="283464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06  TIMELINE</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Six Months, Timed to Peak Seasons</a:t>
            </a:r>
            <a:endParaRPr lang="en-US" sz="3200" dirty="0"/>
          </a:p>
        </p:txBody>
      </p:sp>
      <p:sp>
        <p:nvSpPr>
          <p:cNvPr id="4" name="Month 1"/>
          <p:cNvSpPr txBox="1"/>
          <p:nvPr/>
        </p:nvSpPr>
        <p:spPr>
          <a:xfrm>
            <a:off x="27432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M1  </a:t>
            </a:r>
            <a:pPr algn="ctr" indent="0" marL="0">
              <a:buNone/>
            </a:pPr>
            <a:r>
              <a:rPr lang="en-US" sz="1100" dirty="0">
                <a:solidFill>
                  <a:schemeClr val="accent5"/>
                </a:solidFill>
              </a:rPr>
              <a:t>Nov</a:t>
            </a:r>
            <a:endParaRPr lang="en-US" sz="1100" dirty="0"/>
          </a:p>
        </p:txBody>
      </p:sp>
      <p:sp>
        <p:nvSpPr>
          <p:cNvPr id="5" name="Month 2"/>
          <p:cNvSpPr txBox="1"/>
          <p:nvPr/>
        </p:nvSpPr>
        <p:spPr>
          <a:xfrm>
            <a:off x="37338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M2  </a:t>
            </a:r>
            <a:pPr algn="ctr" indent="0" marL="0">
              <a:buNone/>
            </a:pPr>
            <a:r>
              <a:rPr lang="en-US" sz="1100" dirty="0">
                <a:solidFill>
                  <a:schemeClr val="accent5"/>
                </a:solidFill>
              </a:rPr>
              <a:t>Dec</a:t>
            </a:r>
            <a:endParaRPr lang="en-US" sz="1100" dirty="0"/>
          </a:p>
        </p:txBody>
      </p:sp>
      <p:sp>
        <p:nvSpPr>
          <p:cNvPr id="6" name="Month 3"/>
          <p:cNvSpPr txBox="1"/>
          <p:nvPr/>
        </p:nvSpPr>
        <p:spPr>
          <a:xfrm>
            <a:off x="47244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M3  </a:t>
            </a:r>
            <a:pPr algn="ctr" indent="0" marL="0">
              <a:buNone/>
            </a:pPr>
            <a:r>
              <a:rPr lang="en-US" sz="1100" dirty="0">
                <a:solidFill>
                  <a:schemeClr val="accent5"/>
                </a:solidFill>
              </a:rPr>
              <a:t>Jan</a:t>
            </a:r>
            <a:endParaRPr lang="en-US" sz="1100" dirty="0"/>
          </a:p>
        </p:txBody>
      </p:sp>
      <p:sp>
        <p:nvSpPr>
          <p:cNvPr id="7" name="Month 4"/>
          <p:cNvSpPr txBox="1"/>
          <p:nvPr/>
        </p:nvSpPr>
        <p:spPr>
          <a:xfrm>
            <a:off x="57150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M4  </a:t>
            </a:r>
            <a:pPr algn="ctr" indent="0" marL="0">
              <a:buNone/>
            </a:pPr>
            <a:r>
              <a:rPr lang="en-US" sz="1100" dirty="0">
                <a:solidFill>
                  <a:schemeClr val="accent5"/>
                </a:solidFill>
              </a:rPr>
              <a:t>Feb</a:t>
            </a:r>
            <a:endParaRPr lang="en-US" sz="1100" dirty="0"/>
          </a:p>
        </p:txBody>
      </p:sp>
      <p:sp>
        <p:nvSpPr>
          <p:cNvPr id="8" name="Month 5"/>
          <p:cNvSpPr txBox="1"/>
          <p:nvPr/>
        </p:nvSpPr>
        <p:spPr>
          <a:xfrm>
            <a:off x="67056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M5  </a:t>
            </a:r>
            <a:pPr algn="ctr" indent="0" marL="0">
              <a:buNone/>
            </a:pPr>
            <a:r>
              <a:rPr lang="en-US" sz="1100" dirty="0">
                <a:solidFill>
                  <a:schemeClr val="accent5"/>
                </a:solidFill>
              </a:rPr>
              <a:t>Mar</a:t>
            </a:r>
            <a:endParaRPr lang="en-US" sz="1100" dirty="0"/>
          </a:p>
        </p:txBody>
      </p:sp>
      <p:sp>
        <p:nvSpPr>
          <p:cNvPr id="9" name="Month 6"/>
          <p:cNvSpPr txBox="1"/>
          <p:nvPr/>
        </p:nvSpPr>
        <p:spPr>
          <a:xfrm>
            <a:off x="7696200" y="1280160"/>
            <a:ext cx="990600" cy="274320"/>
          </a:xfrm>
          <a:prstGeom prst="rect">
            <a:avLst/>
          </a:prstGeom>
          <a:noFill/>
          <a:ln/>
        </p:spPr>
        <p:txBody>
          <a:bodyPr wrap="square" lIns="0" tIns="0" rIns="0" bIns="0" rtlCol="0" anchor="ctr"/>
          <a:lstStyle/>
          <a:p>
            <a:pPr algn="ctr" indent="0" marL="0">
              <a:buNone/>
            </a:pPr>
            <a:r>
              <a:rPr lang="en-US" sz="1100" b="1" dirty="0">
                <a:solidFill>
                  <a:schemeClr val="tx2"/>
                </a:solidFill>
              </a:rPr>
              <a:t>M6  </a:t>
            </a:r>
            <a:pPr algn="ctr" indent="0" marL="0">
              <a:buNone/>
            </a:pPr>
            <a:r>
              <a:rPr lang="en-US" sz="1100" dirty="0">
                <a:solidFill>
                  <a:schemeClr val="accent5"/>
                </a:solidFill>
              </a:rPr>
              <a:t>Apr</a:t>
            </a:r>
            <a:endParaRPr lang="en-US" sz="1100" dirty="0"/>
          </a:p>
        </p:txBody>
      </p:sp>
      <p:sp>
        <p:nvSpPr>
          <p:cNvPr id="10" name="Row band 1"/>
          <p:cNvSpPr/>
          <p:nvPr/>
        </p:nvSpPr>
        <p:spPr>
          <a:xfrm>
            <a:off x="457200" y="1645920"/>
            <a:ext cx="8229600" cy="310896"/>
          </a:xfrm>
          <a:prstGeom prst="rect">
            <a:avLst/>
          </a:prstGeom>
          <a:solidFill>
            <a:schemeClr val="bg2"/>
          </a:solidFill>
          <a:ln/>
        </p:spPr>
      </p:sp>
      <p:sp>
        <p:nvSpPr>
          <p:cNvPr id="11" name="Task 1"/>
          <p:cNvSpPr txBox="1"/>
          <p:nvPr/>
        </p:nvSpPr>
        <p:spPr>
          <a:xfrm>
            <a:off x="548640" y="1645920"/>
            <a:ext cx="2148840" cy="310896"/>
          </a:xfrm>
          <a:prstGeom prst="rect">
            <a:avLst/>
          </a:prstGeom>
          <a:noFill/>
          <a:ln/>
        </p:spPr>
        <p:txBody>
          <a:bodyPr wrap="square" lIns="0" tIns="0" rIns="0" bIns="0" rtlCol="0" anchor="ctr"/>
          <a:lstStyle/>
          <a:p>
            <a:pPr indent="0" marL="0">
              <a:buNone/>
            </a:pPr>
            <a:r>
              <a:rPr lang="en-US" sz="1200" dirty="0">
                <a:solidFill>
                  <a:schemeClr val="tx1"/>
                </a:solidFill>
              </a:rPr>
              <a:t>Audit and strategy</a:t>
            </a:r>
            <a:endParaRPr lang="en-US" sz="1200" dirty="0"/>
          </a:p>
        </p:txBody>
      </p:sp>
      <p:sp>
        <p:nvSpPr>
          <p:cNvPr id="12" name="Bar 1.1"/>
          <p:cNvSpPr/>
          <p:nvPr/>
        </p:nvSpPr>
        <p:spPr>
          <a:xfrm>
            <a:off x="2770632" y="1719072"/>
            <a:ext cx="440436" cy="164592"/>
          </a:xfrm>
          <a:prstGeom prst="roundRect">
            <a:avLst>
              <a:gd name="adj" fmla="val 44444"/>
            </a:avLst>
          </a:prstGeom>
          <a:solidFill>
            <a:schemeClr val="accent3"/>
          </a:solidFill>
          <a:ln/>
        </p:spPr>
      </p:sp>
      <p:sp>
        <p:nvSpPr>
          <p:cNvPr id="13" name="Task 2"/>
          <p:cNvSpPr txBox="1"/>
          <p:nvPr/>
        </p:nvSpPr>
        <p:spPr>
          <a:xfrm>
            <a:off x="548640" y="1956816"/>
            <a:ext cx="2148840" cy="310896"/>
          </a:xfrm>
          <a:prstGeom prst="rect">
            <a:avLst/>
          </a:prstGeom>
          <a:noFill/>
          <a:ln/>
        </p:spPr>
        <p:txBody>
          <a:bodyPr wrap="square" lIns="0" tIns="0" rIns="0" bIns="0" rtlCol="0" anchor="ctr"/>
          <a:lstStyle/>
          <a:p>
            <a:pPr indent="0" marL="0">
              <a:buNone/>
            </a:pPr>
            <a:r>
              <a:rPr lang="en-US" sz="1200" dirty="0">
                <a:solidFill>
                  <a:schemeClr val="tx1"/>
                </a:solidFill>
              </a:rPr>
              <a:t>Brand identity refresh</a:t>
            </a:r>
            <a:endParaRPr lang="en-US" sz="1200" dirty="0"/>
          </a:p>
        </p:txBody>
      </p:sp>
      <p:sp>
        <p:nvSpPr>
          <p:cNvPr id="14" name="Bar 2.1"/>
          <p:cNvSpPr/>
          <p:nvPr/>
        </p:nvSpPr>
        <p:spPr>
          <a:xfrm>
            <a:off x="3018282" y="2029968"/>
            <a:ext cx="688086" cy="164592"/>
          </a:xfrm>
          <a:prstGeom prst="roundRect">
            <a:avLst>
              <a:gd name="adj" fmla="val 44444"/>
            </a:avLst>
          </a:prstGeom>
          <a:solidFill>
            <a:schemeClr val="accent3"/>
          </a:solidFill>
          <a:ln/>
        </p:spPr>
      </p:sp>
      <p:sp>
        <p:nvSpPr>
          <p:cNvPr id="15" name="Row band 3"/>
          <p:cNvSpPr/>
          <p:nvPr/>
        </p:nvSpPr>
        <p:spPr>
          <a:xfrm>
            <a:off x="457200" y="2267712"/>
            <a:ext cx="8229600" cy="310896"/>
          </a:xfrm>
          <a:prstGeom prst="rect">
            <a:avLst/>
          </a:prstGeom>
          <a:solidFill>
            <a:schemeClr val="bg2"/>
          </a:solidFill>
          <a:ln/>
        </p:spPr>
      </p:sp>
      <p:sp>
        <p:nvSpPr>
          <p:cNvPr id="16" name="Task 3"/>
          <p:cNvSpPr txBox="1"/>
          <p:nvPr/>
        </p:nvSpPr>
        <p:spPr>
          <a:xfrm>
            <a:off x="548640" y="2267712"/>
            <a:ext cx="2148840" cy="310896"/>
          </a:xfrm>
          <a:prstGeom prst="rect">
            <a:avLst/>
          </a:prstGeom>
          <a:noFill/>
          <a:ln/>
        </p:spPr>
        <p:txBody>
          <a:bodyPr wrap="square" lIns="0" tIns="0" rIns="0" bIns="0" rtlCol="0" anchor="ctr"/>
          <a:lstStyle/>
          <a:p>
            <a:pPr indent="0" marL="0">
              <a:buNone/>
            </a:pPr>
            <a:r>
              <a:rPr lang="en-US" sz="1200" dirty="0">
                <a:solidFill>
                  <a:schemeClr val="tx1"/>
                </a:solidFill>
              </a:rPr>
              <a:t>Lookbook photoshoots</a:t>
            </a:r>
            <a:endParaRPr lang="en-US" sz="1200" dirty="0"/>
          </a:p>
        </p:txBody>
      </p:sp>
      <p:sp>
        <p:nvSpPr>
          <p:cNvPr id="17" name="Bar 3.1"/>
          <p:cNvSpPr/>
          <p:nvPr/>
        </p:nvSpPr>
        <p:spPr>
          <a:xfrm>
            <a:off x="3265932" y="2340864"/>
            <a:ext cx="440436" cy="164592"/>
          </a:xfrm>
          <a:prstGeom prst="roundRect">
            <a:avLst>
              <a:gd name="adj" fmla="val 44444"/>
            </a:avLst>
          </a:prstGeom>
          <a:solidFill>
            <a:schemeClr val="accent3"/>
          </a:solidFill>
          <a:ln/>
        </p:spPr>
      </p:sp>
      <p:sp>
        <p:nvSpPr>
          <p:cNvPr id="18" name="Bar 3.2"/>
          <p:cNvSpPr/>
          <p:nvPr/>
        </p:nvSpPr>
        <p:spPr>
          <a:xfrm>
            <a:off x="4751832" y="2340864"/>
            <a:ext cx="440436" cy="164592"/>
          </a:xfrm>
          <a:prstGeom prst="roundRect">
            <a:avLst>
              <a:gd name="adj" fmla="val 44444"/>
            </a:avLst>
          </a:prstGeom>
          <a:solidFill>
            <a:schemeClr val="accent3"/>
          </a:solidFill>
          <a:ln/>
        </p:spPr>
      </p:sp>
      <p:sp>
        <p:nvSpPr>
          <p:cNvPr id="19" name="Task 4"/>
          <p:cNvSpPr txBox="1"/>
          <p:nvPr/>
        </p:nvSpPr>
        <p:spPr>
          <a:xfrm>
            <a:off x="548640" y="2578608"/>
            <a:ext cx="2148840" cy="310896"/>
          </a:xfrm>
          <a:prstGeom prst="rect">
            <a:avLst/>
          </a:prstGeom>
          <a:noFill/>
          <a:ln/>
        </p:spPr>
        <p:txBody>
          <a:bodyPr wrap="square" lIns="0" tIns="0" rIns="0" bIns="0" rtlCol="0" anchor="ctr"/>
          <a:lstStyle/>
          <a:p>
            <a:pPr indent="0" marL="0">
              <a:buNone/>
            </a:pPr>
            <a:r>
              <a:rPr lang="en-US" sz="1200" dirty="0">
                <a:solidFill>
                  <a:schemeClr val="tx1"/>
                </a:solidFill>
              </a:rPr>
              <a:t>Social media and content</a:t>
            </a:r>
            <a:endParaRPr lang="en-US" sz="1200" dirty="0"/>
          </a:p>
        </p:txBody>
      </p:sp>
      <p:sp>
        <p:nvSpPr>
          <p:cNvPr id="20" name="Bar 4.1"/>
          <p:cNvSpPr/>
          <p:nvPr/>
        </p:nvSpPr>
        <p:spPr>
          <a:xfrm>
            <a:off x="3265932" y="2651760"/>
            <a:ext cx="5393436" cy="164592"/>
          </a:xfrm>
          <a:prstGeom prst="roundRect">
            <a:avLst>
              <a:gd name="adj" fmla="val 44444"/>
            </a:avLst>
          </a:prstGeom>
          <a:solidFill>
            <a:schemeClr val="accent1"/>
          </a:solidFill>
          <a:ln/>
        </p:spPr>
      </p:sp>
      <p:sp>
        <p:nvSpPr>
          <p:cNvPr id="21" name="Row band 5"/>
          <p:cNvSpPr/>
          <p:nvPr/>
        </p:nvSpPr>
        <p:spPr>
          <a:xfrm>
            <a:off x="457200" y="2889504"/>
            <a:ext cx="8229600" cy="310896"/>
          </a:xfrm>
          <a:prstGeom prst="rect">
            <a:avLst/>
          </a:prstGeom>
          <a:solidFill>
            <a:schemeClr val="bg2"/>
          </a:solidFill>
          <a:ln/>
        </p:spPr>
      </p:sp>
      <p:sp>
        <p:nvSpPr>
          <p:cNvPr id="22" name="Task 5"/>
          <p:cNvSpPr txBox="1"/>
          <p:nvPr/>
        </p:nvSpPr>
        <p:spPr>
          <a:xfrm>
            <a:off x="548640" y="2889504"/>
            <a:ext cx="2148840" cy="310896"/>
          </a:xfrm>
          <a:prstGeom prst="rect">
            <a:avLst/>
          </a:prstGeom>
          <a:noFill/>
          <a:ln/>
        </p:spPr>
        <p:txBody>
          <a:bodyPr wrap="square" lIns="0" tIns="0" rIns="0" bIns="0" rtlCol="0" anchor="ctr"/>
          <a:lstStyle/>
          <a:p>
            <a:pPr indent="0" marL="0">
              <a:buNone/>
            </a:pPr>
            <a:r>
              <a:rPr lang="en-US" sz="1200" dirty="0">
                <a:solidFill>
                  <a:schemeClr val="tx1"/>
                </a:solidFill>
              </a:rPr>
              <a:t>Paid ads (Meta and TikTok)</a:t>
            </a:r>
            <a:endParaRPr lang="en-US" sz="1200" dirty="0"/>
          </a:p>
        </p:txBody>
      </p:sp>
      <p:sp>
        <p:nvSpPr>
          <p:cNvPr id="23" name="Bar 5.1"/>
          <p:cNvSpPr/>
          <p:nvPr/>
        </p:nvSpPr>
        <p:spPr>
          <a:xfrm>
            <a:off x="3513582" y="2962656"/>
            <a:ext cx="5145786" cy="164592"/>
          </a:xfrm>
          <a:prstGeom prst="roundRect">
            <a:avLst>
              <a:gd name="adj" fmla="val 44444"/>
            </a:avLst>
          </a:prstGeom>
          <a:solidFill>
            <a:schemeClr val="accent1"/>
          </a:solidFill>
          <a:ln/>
        </p:spPr>
      </p:sp>
      <p:sp>
        <p:nvSpPr>
          <p:cNvPr id="24" name="Task 6"/>
          <p:cNvSpPr txBox="1"/>
          <p:nvPr/>
        </p:nvSpPr>
        <p:spPr>
          <a:xfrm>
            <a:off x="548640" y="3200400"/>
            <a:ext cx="2148840" cy="310896"/>
          </a:xfrm>
          <a:prstGeom prst="rect">
            <a:avLst/>
          </a:prstGeom>
          <a:noFill/>
          <a:ln/>
        </p:spPr>
        <p:txBody>
          <a:bodyPr wrap="square" lIns="0" tIns="0" rIns="0" bIns="0" rtlCol="0" anchor="ctr"/>
          <a:lstStyle/>
          <a:p>
            <a:pPr indent="0" marL="0">
              <a:buNone/>
            </a:pPr>
            <a:r>
              <a:rPr lang="en-US" sz="1200" dirty="0">
                <a:solidFill>
                  <a:schemeClr val="tx1"/>
                </a:solidFill>
              </a:rPr>
              <a:t>Creator collaborations</a:t>
            </a:r>
            <a:endParaRPr lang="en-US" sz="1200" dirty="0"/>
          </a:p>
        </p:txBody>
      </p:sp>
      <p:sp>
        <p:nvSpPr>
          <p:cNvPr id="25" name="Bar 6.1"/>
          <p:cNvSpPr/>
          <p:nvPr/>
        </p:nvSpPr>
        <p:spPr>
          <a:xfrm>
            <a:off x="3761232" y="3273552"/>
            <a:ext cx="4898136" cy="164592"/>
          </a:xfrm>
          <a:prstGeom prst="roundRect">
            <a:avLst>
              <a:gd name="adj" fmla="val 44444"/>
            </a:avLst>
          </a:prstGeom>
          <a:solidFill>
            <a:schemeClr val="accent1"/>
          </a:solidFill>
          <a:ln/>
        </p:spPr>
      </p:sp>
      <p:sp>
        <p:nvSpPr>
          <p:cNvPr id="26" name="Row band 7"/>
          <p:cNvSpPr/>
          <p:nvPr/>
        </p:nvSpPr>
        <p:spPr>
          <a:xfrm>
            <a:off x="457200" y="3511296"/>
            <a:ext cx="8229600" cy="310896"/>
          </a:xfrm>
          <a:prstGeom prst="rect">
            <a:avLst/>
          </a:prstGeom>
          <a:solidFill>
            <a:schemeClr val="bg2"/>
          </a:solidFill>
          <a:ln/>
        </p:spPr>
      </p:sp>
      <p:sp>
        <p:nvSpPr>
          <p:cNvPr id="27" name="Task 7"/>
          <p:cNvSpPr txBox="1"/>
          <p:nvPr/>
        </p:nvSpPr>
        <p:spPr>
          <a:xfrm>
            <a:off x="548640" y="3511296"/>
            <a:ext cx="2148840" cy="310896"/>
          </a:xfrm>
          <a:prstGeom prst="rect">
            <a:avLst/>
          </a:prstGeom>
          <a:noFill/>
          <a:ln/>
        </p:spPr>
        <p:txBody>
          <a:bodyPr wrap="square" lIns="0" tIns="0" rIns="0" bIns="0" rtlCol="0" anchor="ctr"/>
          <a:lstStyle/>
          <a:p>
            <a:pPr indent="0" marL="0">
              <a:buNone/>
            </a:pPr>
            <a:r>
              <a:rPr lang="en-US" sz="1200" dirty="0">
                <a:solidFill>
                  <a:schemeClr val="tx1"/>
                </a:solidFill>
              </a:rPr>
              <a:t>Online store launch</a:t>
            </a:r>
            <a:endParaRPr lang="en-US" sz="1200" dirty="0"/>
          </a:p>
        </p:txBody>
      </p:sp>
      <p:sp>
        <p:nvSpPr>
          <p:cNvPr id="28" name="Bar 7.1"/>
          <p:cNvSpPr/>
          <p:nvPr/>
        </p:nvSpPr>
        <p:spPr>
          <a:xfrm>
            <a:off x="3761232" y="3584448"/>
            <a:ext cx="1431036" cy="164592"/>
          </a:xfrm>
          <a:prstGeom prst="roundRect">
            <a:avLst>
              <a:gd name="adj" fmla="val 44444"/>
            </a:avLst>
          </a:prstGeom>
          <a:solidFill>
            <a:schemeClr val="accent1"/>
          </a:solidFill>
          <a:ln/>
        </p:spPr>
      </p:sp>
      <p:sp>
        <p:nvSpPr>
          <p:cNvPr id="29" name="Task 8"/>
          <p:cNvSpPr txBox="1"/>
          <p:nvPr/>
        </p:nvSpPr>
        <p:spPr>
          <a:xfrm>
            <a:off x="548640" y="3822192"/>
            <a:ext cx="2148840" cy="310896"/>
          </a:xfrm>
          <a:prstGeom prst="rect">
            <a:avLst/>
          </a:prstGeom>
          <a:noFill/>
          <a:ln/>
        </p:spPr>
        <p:txBody>
          <a:bodyPr wrap="square" lIns="0" tIns="0" rIns="0" bIns="0" rtlCol="0" anchor="ctr"/>
          <a:lstStyle/>
          <a:p>
            <a:pPr indent="0" marL="0">
              <a:buNone/>
            </a:pPr>
            <a:r>
              <a:rPr lang="en-US" sz="1200" dirty="0">
                <a:solidFill>
                  <a:schemeClr val="tx1"/>
                </a:solidFill>
              </a:rPr>
              <a:t>VIP club and loyalty</a:t>
            </a:r>
            <a:endParaRPr lang="en-US" sz="1200" dirty="0"/>
          </a:p>
        </p:txBody>
      </p:sp>
      <p:sp>
        <p:nvSpPr>
          <p:cNvPr id="30" name="Bar 8.1"/>
          <p:cNvSpPr/>
          <p:nvPr/>
        </p:nvSpPr>
        <p:spPr>
          <a:xfrm>
            <a:off x="6733032" y="3895344"/>
            <a:ext cx="1926336" cy="164592"/>
          </a:xfrm>
          <a:prstGeom prst="roundRect">
            <a:avLst>
              <a:gd name="adj" fmla="val 44444"/>
            </a:avLst>
          </a:prstGeom>
          <a:solidFill>
            <a:schemeClr val="accent4"/>
          </a:solidFill>
          <a:ln/>
        </p:spPr>
      </p:sp>
      <p:sp>
        <p:nvSpPr>
          <p:cNvPr id="31" name="Season line 1"/>
          <p:cNvSpPr/>
          <p:nvPr/>
        </p:nvSpPr>
        <p:spPr>
          <a:xfrm>
            <a:off x="3585210" y="1645920"/>
            <a:ext cx="0" cy="2624328"/>
          </a:xfrm>
          <a:prstGeom prst="line">
            <a:avLst/>
          </a:prstGeom>
          <a:noFill/>
          <a:ln w="12700">
            <a:solidFill>
              <a:srgbClr val="2B1E2F"/>
            </a:solidFill>
            <a:prstDash val="dash"/>
          </a:ln>
        </p:spPr>
      </p:sp>
      <p:sp>
        <p:nvSpPr>
          <p:cNvPr id="32" name="Season marker 1"/>
          <p:cNvSpPr/>
          <p:nvPr/>
        </p:nvSpPr>
        <p:spPr>
          <a:xfrm>
            <a:off x="3512058" y="4251960"/>
            <a:ext cx="146304" cy="146304"/>
          </a:xfrm>
          <a:prstGeom prst="diamond">
            <a:avLst/>
          </a:prstGeom>
          <a:solidFill>
            <a:schemeClr val="tx2"/>
          </a:solidFill>
          <a:ln/>
        </p:spPr>
      </p:sp>
      <p:sp>
        <p:nvSpPr>
          <p:cNvPr id="33" name="Season label 1"/>
          <p:cNvSpPr txBox="1"/>
          <p:nvPr/>
        </p:nvSpPr>
        <p:spPr>
          <a:xfrm>
            <a:off x="2899410" y="4416552"/>
            <a:ext cx="1371600" cy="228600"/>
          </a:xfrm>
          <a:prstGeom prst="rect">
            <a:avLst/>
          </a:prstGeom>
          <a:noFill/>
          <a:ln/>
        </p:spPr>
        <p:txBody>
          <a:bodyPr wrap="square" lIns="0" tIns="0" rIns="0" bIns="0" rtlCol="0" anchor="ctr"/>
          <a:lstStyle/>
          <a:p>
            <a:pPr algn="ctr" indent="0" marL="0">
              <a:buNone/>
            </a:pPr>
            <a:r>
              <a:rPr lang="en-US" sz="1100" b="1" dirty="0">
                <a:solidFill>
                  <a:schemeClr val="tx2"/>
                </a:solidFill>
              </a:rPr>
              <a:t>White Friday</a:t>
            </a:r>
            <a:endParaRPr lang="en-US" sz="1100" dirty="0"/>
          </a:p>
        </p:txBody>
      </p:sp>
      <p:sp>
        <p:nvSpPr>
          <p:cNvPr id="34" name="Season line 2"/>
          <p:cNvSpPr/>
          <p:nvPr/>
        </p:nvSpPr>
        <p:spPr>
          <a:xfrm>
            <a:off x="6012180" y="1645920"/>
            <a:ext cx="0" cy="2624328"/>
          </a:xfrm>
          <a:prstGeom prst="line">
            <a:avLst/>
          </a:prstGeom>
          <a:noFill/>
          <a:ln w="12700">
            <a:solidFill>
              <a:srgbClr val="2B1E2F"/>
            </a:solidFill>
            <a:prstDash val="dash"/>
          </a:ln>
        </p:spPr>
      </p:sp>
      <p:sp>
        <p:nvSpPr>
          <p:cNvPr id="35" name="Season marker 2"/>
          <p:cNvSpPr/>
          <p:nvPr/>
        </p:nvSpPr>
        <p:spPr>
          <a:xfrm>
            <a:off x="5939028" y="4251960"/>
            <a:ext cx="146304" cy="146304"/>
          </a:xfrm>
          <a:prstGeom prst="diamond">
            <a:avLst/>
          </a:prstGeom>
          <a:solidFill>
            <a:schemeClr val="tx2"/>
          </a:solidFill>
          <a:ln/>
        </p:spPr>
      </p:sp>
      <p:sp>
        <p:nvSpPr>
          <p:cNvPr id="36" name="Season label 2"/>
          <p:cNvSpPr txBox="1"/>
          <p:nvPr/>
        </p:nvSpPr>
        <p:spPr>
          <a:xfrm>
            <a:off x="5326380" y="4416552"/>
            <a:ext cx="1371600" cy="228600"/>
          </a:xfrm>
          <a:prstGeom prst="rect">
            <a:avLst/>
          </a:prstGeom>
          <a:noFill/>
          <a:ln/>
        </p:spPr>
        <p:txBody>
          <a:bodyPr wrap="square" lIns="0" tIns="0" rIns="0" bIns="0" rtlCol="0" anchor="ctr"/>
          <a:lstStyle/>
          <a:p>
            <a:pPr algn="ctr" indent="0" marL="0">
              <a:buNone/>
            </a:pPr>
            <a:r>
              <a:rPr lang="en-US" sz="1100" b="1" dirty="0">
                <a:solidFill>
                  <a:schemeClr val="tx2"/>
                </a:solidFill>
              </a:rPr>
              <a:t>Ramadan begins</a:t>
            </a:r>
            <a:endParaRPr lang="en-US" sz="1100" dirty="0"/>
          </a:p>
        </p:txBody>
      </p:sp>
      <p:sp>
        <p:nvSpPr>
          <p:cNvPr id="37" name="Season line 3"/>
          <p:cNvSpPr/>
          <p:nvPr/>
        </p:nvSpPr>
        <p:spPr>
          <a:xfrm>
            <a:off x="7002780" y="1645920"/>
            <a:ext cx="0" cy="2624328"/>
          </a:xfrm>
          <a:prstGeom prst="line">
            <a:avLst/>
          </a:prstGeom>
          <a:noFill/>
          <a:ln w="12700">
            <a:solidFill>
              <a:srgbClr val="2B1E2F"/>
            </a:solidFill>
            <a:prstDash val="dash"/>
          </a:ln>
        </p:spPr>
      </p:sp>
      <p:sp>
        <p:nvSpPr>
          <p:cNvPr id="38" name="Season marker 3"/>
          <p:cNvSpPr/>
          <p:nvPr/>
        </p:nvSpPr>
        <p:spPr>
          <a:xfrm>
            <a:off x="6929628" y="4251960"/>
            <a:ext cx="146304" cy="146304"/>
          </a:xfrm>
          <a:prstGeom prst="diamond">
            <a:avLst/>
          </a:prstGeom>
          <a:solidFill>
            <a:schemeClr val="tx2"/>
          </a:solidFill>
          <a:ln/>
        </p:spPr>
      </p:sp>
      <p:sp>
        <p:nvSpPr>
          <p:cNvPr id="39" name="Season label 3"/>
          <p:cNvSpPr txBox="1"/>
          <p:nvPr/>
        </p:nvSpPr>
        <p:spPr>
          <a:xfrm>
            <a:off x="6316980" y="4416552"/>
            <a:ext cx="1371600" cy="228600"/>
          </a:xfrm>
          <a:prstGeom prst="rect">
            <a:avLst/>
          </a:prstGeom>
          <a:noFill/>
          <a:ln/>
        </p:spPr>
        <p:txBody>
          <a:bodyPr wrap="square" lIns="0" tIns="0" rIns="0" bIns="0" rtlCol="0" anchor="ctr"/>
          <a:lstStyle/>
          <a:p>
            <a:pPr algn="ctr" indent="0" marL="0">
              <a:buNone/>
            </a:pPr>
            <a:r>
              <a:rPr lang="en-US" sz="1100" b="1" dirty="0">
                <a:solidFill>
                  <a:schemeClr val="tx2"/>
                </a:solidFill>
              </a:rPr>
              <a:t>Eid al-Fitr</a:t>
            </a:r>
            <a:endParaRPr lang="en-US" sz="1100" dirty="0"/>
          </a:p>
        </p:txBody>
      </p:sp>
      <p:sp>
        <p:nvSpPr>
          <p:cNvPr id="40" name="Phase legend"/>
          <p:cNvSpPr txBox="1"/>
          <p:nvPr/>
        </p:nvSpPr>
        <p:spPr>
          <a:xfrm>
            <a:off x="548640" y="1280160"/>
            <a:ext cx="2194560" cy="274320"/>
          </a:xfrm>
          <a:prstGeom prst="rect">
            <a:avLst/>
          </a:prstGeom>
          <a:noFill/>
          <a:ln/>
        </p:spPr>
        <p:txBody>
          <a:bodyPr wrap="square" lIns="0" tIns="0" rIns="0" bIns="0" rtlCol="0" anchor="ctr"/>
          <a:lstStyle/>
          <a:p>
            <a:pPr indent="0" marL="0">
              <a:buNone/>
            </a:pPr>
            <a:r>
              <a:rPr lang="en-US" sz="1000" dirty="0">
                <a:solidFill>
                  <a:schemeClr val="accent3"/>
                </a:solidFill>
              </a:rPr>
              <a:t>■ Foundation   </a:t>
            </a:r>
            <a:pPr indent="0" marL="0">
              <a:buNone/>
            </a:pPr>
            <a:r>
              <a:rPr lang="en-US" sz="1000" dirty="0">
                <a:solidFill>
                  <a:schemeClr val="accent1"/>
                </a:solidFill>
              </a:rPr>
              <a:t>■ Grow   </a:t>
            </a:r>
            <a:pPr indent="0" marL="0">
              <a:buNone/>
            </a:pPr>
            <a:r>
              <a:rPr lang="en-US" sz="1000" dirty="0">
                <a:solidFill>
                  <a:schemeClr val="accent4"/>
                </a:solidFill>
              </a:rPr>
              <a:t>■ Retain</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07  BENEFITS</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What Your Brand Gains</a:t>
            </a:r>
            <a:endParaRPr lang="en-US" sz="3200" dirty="0"/>
          </a:p>
        </p:txBody>
      </p:sp>
      <p:sp>
        <p:nvSpPr>
          <p:cNvPr id="4" name="More sales, online and in-store circle"/>
          <p:cNvSpPr/>
          <p:nvPr/>
        </p:nvSpPr>
        <p:spPr>
          <a:xfrm>
            <a:off x="457200" y="1371600"/>
            <a:ext cx="548640" cy="548640"/>
          </a:xfrm>
          <a:prstGeom prst="ellipse">
            <a:avLst/>
          </a:prstGeom>
          <a:solidFill>
            <a:schemeClr val="accent1"/>
          </a:solidFill>
          <a:ln/>
        </p:spPr>
      </p:sp>
      <p:pic>
        <p:nvPicPr>
          <p:cNvPr id="5" name="More sales, online and in-store icon" descr="More sales, online and in-store">    </p:cNvPr>
          <p:cNvPicPr>
            <a:picLocks noChangeAspect="1"/>
          </p:cNvPicPr>
          <p:nvPr/>
        </p:nvPicPr>
        <p:blipFill>
          <a:blip r:embed="rId1"/>
          <a:stretch>
            <a:fillRect/>
          </a:stretch>
        </p:blipFill>
        <p:spPr>
          <a:xfrm>
            <a:off x="605333" y="1519733"/>
            <a:ext cx="252374" cy="252374"/>
          </a:xfrm>
          <a:prstGeom prst="rect">
            <a:avLst/>
          </a:prstGeom>
        </p:spPr>
      </p:pic>
      <p:sp>
        <p:nvSpPr>
          <p:cNvPr id="6" name="Benefit title 1"/>
          <p:cNvSpPr txBox="1"/>
          <p:nvPr/>
        </p:nvSpPr>
        <p:spPr>
          <a:xfrm>
            <a:off x="1188720" y="1325880"/>
            <a:ext cx="3200400" cy="320040"/>
          </a:xfrm>
          <a:prstGeom prst="rect">
            <a:avLst/>
          </a:prstGeom>
          <a:noFill/>
          <a:ln/>
        </p:spPr>
        <p:txBody>
          <a:bodyPr wrap="square" lIns="0" tIns="0" rIns="0" bIns="0" rtlCol="0" anchor="t"/>
          <a:lstStyle/>
          <a:p>
            <a:pPr indent="0" marL="0">
              <a:buNone/>
            </a:pPr>
            <a:r>
              <a:rPr lang="en-US" sz="1500" b="1" dirty="0">
                <a:solidFill>
                  <a:schemeClr val="tx2"/>
                </a:solidFill>
              </a:rPr>
              <a:t>More sales, online and in-store</a:t>
            </a:r>
            <a:endParaRPr lang="en-US" sz="1500" dirty="0"/>
          </a:p>
        </p:txBody>
      </p:sp>
      <p:sp>
        <p:nvSpPr>
          <p:cNvPr id="7" name="Benefit text 1"/>
          <p:cNvSpPr txBox="1"/>
          <p:nvPr/>
        </p:nvSpPr>
        <p:spPr>
          <a:xfrm>
            <a:off x="1188720" y="1655064"/>
            <a:ext cx="3200400" cy="548640"/>
          </a:xfrm>
          <a:prstGeom prst="rect">
            <a:avLst/>
          </a:prstGeom>
          <a:noFill/>
          <a:ln/>
        </p:spPr>
        <p:txBody>
          <a:bodyPr wrap="square" lIns="0" tIns="0" rIns="0" bIns="0" rtlCol="0" anchor="t"/>
          <a:lstStyle/>
          <a:p>
            <a:pPr indent="0" marL="0">
              <a:buNone/>
            </a:pPr>
            <a:r>
              <a:rPr lang="en-US" sz="1300" dirty="0">
                <a:solidFill>
                  <a:schemeClr val="tx1"/>
                </a:solidFill>
              </a:rPr>
              <a:t>New customers find you on social media, then buy online or visit the store.</a:t>
            </a:r>
            <a:endParaRPr lang="en-US" sz="1300" dirty="0"/>
          </a:p>
        </p:txBody>
      </p:sp>
      <p:sp>
        <p:nvSpPr>
          <p:cNvPr id="8" name="A brand people remember circle"/>
          <p:cNvSpPr/>
          <p:nvPr/>
        </p:nvSpPr>
        <p:spPr>
          <a:xfrm>
            <a:off x="4663440" y="1371600"/>
            <a:ext cx="548640" cy="548640"/>
          </a:xfrm>
          <a:prstGeom prst="ellipse">
            <a:avLst/>
          </a:prstGeom>
          <a:solidFill>
            <a:schemeClr val="accent1"/>
          </a:solidFill>
          <a:ln/>
        </p:spPr>
      </p:sp>
      <p:pic>
        <p:nvPicPr>
          <p:cNvPr id="9" name="A brand people remember icon" descr="A brand people remember">    </p:cNvPr>
          <p:cNvPicPr>
            <a:picLocks noChangeAspect="1"/>
          </p:cNvPicPr>
          <p:nvPr/>
        </p:nvPicPr>
        <p:blipFill>
          <a:blip r:embed="rId2"/>
          <a:stretch>
            <a:fillRect/>
          </a:stretch>
        </p:blipFill>
        <p:spPr>
          <a:xfrm>
            <a:off x="4811573" y="1519733"/>
            <a:ext cx="252374" cy="252374"/>
          </a:xfrm>
          <a:prstGeom prst="rect">
            <a:avLst/>
          </a:prstGeom>
        </p:spPr>
      </p:pic>
      <p:sp>
        <p:nvSpPr>
          <p:cNvPr id="10" name="Benefit title 2"/>
          <p:cNvSpPr txBox="1"/>
          <p:nvPr/>
        </p:nvSpPr>
        <p:spPr>
          <a:xfrm>
            <a:off x="5394960" y="1325880"/>
            <a:ext cx="3200400" cy="320040"/>
          </a:xfrm>
          <a:prstGeom prst="rect">
            <a:avLst/>
          </a:prstGeom>
          <a:noFill/>
          <a:ln/>
        </p:spPr>
        <p:txBody>
          <a:bodyPr wrap="square" lIns="0" tIns="0" rIns="0" bIns="0" rtlCol="0" anchor="t"/>
          <a:lstStyle/>
          <a:p>
            <a:pPr indent="0" marL="0">
              <a:buNone/>
            </a:pPr>
            <a:r>
              <a:rPr lang="en-US" sz="1500" b="1" dirty="0">
                <a:solidFill>
                  <a:schemeClr val="tx2"/>
                </a:solidFill>
              </a:rPr>
              <a:t>A brand people remember</a:t>
            </a:r>
            <a:endParaRPr lang="en-US" sz="1500" dirty="0"/>
          </a:p>
        </p:txBody>
      </p:sp>
      <p:sp>
        <p:nvSpPr>
          <p:cNvPr id="11" name="Benefit text 2"/>
          <p:cNvSpPr txBox="1"/>
          <p:nvPr/>
        </p:nvSpPr>
        <p:spPr>
          <a:xfrm>
            <a:off x="5394960" y="1655064"/>
            <a:ext cx="3200400" cy="548640"/>
          </a:xfrm>
          <a:prstGeom prst="rect">
            <a:avLst/>
          </a:prstGeom>
          <a:noFill/>
          <a:ln/>
        </p:spPr>
        <p:txBody>
          <a:bodyPr wrap="square" lIns="0" tIns="0" rIns="0" bIns="0" rtlCol="0" anchor="t"/>
          <a:lstStyle/>
          <a:p>
            <a:pPr indent="0" marL="0">
              <a:buNone/>
            </a:pPr>
            <a:r>
              <a:rPr lang="en-US" sz="1300" dirty="0">
                <a:solidFill>
                  <a:schemeClr val="tx1"/>
                </a:solidFill>
              </a:rPr>
              <a:t>A consistent look and story that sets you apart from the chains.</a:t>
            </a:r>
            <a:endParaRPr lang="en-US" sz="1300" dirty="0"/>
          </a:p>
        </p:txBody>
      </p:sp>
      <p:sp>
        <p:nvSpPr>
          <p:cNvPr id="12" name="Every pound measured circle"/>
          <p:cNvSpPr/>
          <p:nvPr/>
        </p:nvSpPr>
        <p:spPr>
          <a:xfrm>
            <a:off x="457200" y="2468880"/>
            <a:ext cx="548640" cy="548640"/>
          </a:xfrm>
          <a:prstGeom prst="ellipse">
            <a:avLst/>
          </a:prstGeom>
          <a:solidFill>
            <a:schemeClr val="accent1"/>
          </a:solidFill>
          <a:ln/>
        </p:spPr>
      </p:sp>
      <p:pic>
        <p:nvPicPr>
          <p:cNvPr id="13" name="Every pound measured icon" descr="Every pound measured">    </p:cNvPr>
          <p:cNvPicPr>
            <a:picLocks noChangeAspect="1"/>
          </p:cNvPicPr>
          <p:nvPr/>
        </p:nvPicPr>
        <p:blipFill>
          <a:blip r:embed="rId3"/>
          <a:stretch>
            <a:fillRect/>
          </a:stretch>
        </p:blipFill>
        <p:spPr>
          <a:xfrm>
            <a:off x="605333" y="2617013"/>
            <a:ext cx="252374" cy="252374"/>
          </a:xfrm>
          <a:prstGeom prst="rect">
            <a:avLst/>
          </a:prstGeom>
        </p:spPr>
      </p:pic>
      <p:sp>
        <p:nvSpPr>
          <p:cNvPr id="14" name="Benefit title 3"/>
          <p:cNvSpPr txBox="1"/>
          <p:nvPr/>
        </p:nvSpPr>
        <p:spPr>
          <a:xfrm>
            <a:off x="1188720" y="2423160"/>
            <a:ext cx="3200400" cy="320040"/>
          </a:xfrm>
          <a:prstGeom prst="rect">
            <a:avLst/>
          </a:prstGeom>
          <a:noFill/>
          <a:ln/>
        </p:spPr>
        <p:txBody>
          <a:bodyPr wrap="square" lIns="0" tIns="0" rIns="0" bIns="0" rtlCol="0" anchor="t"/>
          <a:lstStyle/>
          <a:p>
            <a:pPr indent="0" marL="0">
              <a:buNone/>
            </a:pPr>
            <a:r>
              <a:rPr lang="en-US" sz="1500" b="1" dirty="0">
                <a:solidFill>
                  <a:schemeClr val="tx2"/>
                </a:solidFill>
              </a:rPr>
              <a:t>Every pound measured</a:t>
            </a:r>
            <a:endParaRPr lang="en-US" sz="1500" dirty="0"/>
          </a:p>
        </p:txBody>
      </p:sp>
      <p:sp>
        <p:nvSpPr>
          <p:cNvPr id="15" name="Benefit text 3"/>
          <p:cNvSpPr txBox="1"/>
          <p:nvPr/>
        </p:nvSpPr>
        <p:spPr>
          <a:xfrm>
            <a:off x="1188720" y="2752344"/>
            <a:ext cx="3200400" cy="548640"/>
          </a:xfrm>
          <a:prstGeom prst="rect">
            <a:avLst/>
          </a:prstGeom>
          <a:noFill/>
          <a:ln/>
        </p:spPr>
        <p:txBody>
          <a:bodyPr wrap="square" lIns="0" tIns="0" rIns="0" bIns="0" rtlCol="0" anchor="t"/>
          <a:lstStyle/>
          <a:p>
            <a:pPr indent="0" marL="0">
              <a:buNone/>
            </a:pPr>
            <a:r>
              <a:rPr lang="en-US" sz="1300" dirty="0">
                <a:solidFill>
                  <a:schemeClr val="tx1"/>
                </a:solidFill>
              </a:rPr>
              <a:t>Pixel tracking and monthly reports show exactly what each campaign returns.</a:t>
            </a:r>
            <a:endParaRPr lang="en-US" sz="1300" dirty="0"/>
          </a:p>
        </p:txBody>
      </p:sp>
      <p:sp>
        <p:nvSpPr>
          <p:cNvPr id="16" name="Customers who come back circle"/>
          <p:cNvSpPr/>
          <p:nvPr/>
        </p:nvSpPr>
        <p:spPr>
          <a:xfrm>
            <a:off x="4663440" y="2468880"/>
            <a:ext cx="548640" cy="548640"/>
          </a:xfrm>
          <a:prstGeom prst="ellipse">
            <a:avLst/>
          </a:prstGeom>
          <a:solidFill>
            <a:schemeClr val="accent1"/>
          </a:solidFill>
          <a:ln/>
        </p:spPr>
      </p:sp>
      <p:pic>
        <p:nvPicPr>
          <p:cNvPr id="17" name="Customers who come back icon" descr="Customers who come back">    </p:cNvPr>
          <p:cNvPicPr>
            <a:picLocks noChangeAspect="1"/>
          </p:cNvPicPr>
          <p:nvPr/>
        </p:nvPicPr>
        <p:blipFill>
          <a:blip r:embed="rId4"/>
          <a:stretch>
            <a:fillRect/>
          </a:stretch>
        </p:blipFill>
        <p:spPr>
          <a:xfrm>
            <a:off x="4811573" y="2617013"/>
            <a:ext cx="252374" cy="252374"/>
          </a:xfrm>
          <a:prstGeom prst="rect">
            <a:avLst/>
          </a:prstGeom>
        </p:spPr>
      </p:pic>
      <p:sp>
        <p:nvSpPr>
          <p:cNvPr id="18" name="Benefit title 4"/>
          <p:cNvSpPr txBox="1"/>
          <p:nvPr/>
        </p:nvSpPr>
        <p:spPr>
          <a:xfrm>
            <a:off x="5394960" y="2423160"/>
            <a:ext cx="3200400" cy="320040"/>
          </a:xfrm>
          <a:prstGeom prst="rect">
            <a:avLst/>
          </a:prstGeom>
          <a:noFill/>
          <a:ln/>
        </p:spPr>
        <p:txBody>
          <a:bodyPr wrap="square" lIns="0" tIns="0" rIns="0" bIns="0" rtlCol="0" anchor="t"/>
          <a:lstStyle/>
          <a:p>
            <a:pPr indent="0" marL="0">
              <a:buNone/>
            </a:pPr>
            <a:r>
              <a:rPr lang="en-US" sz="1500" b="1" dirty="0">
                <a:solidFill>
                  <a:schemeClr val="tx2"/>
                </a:solidFill>
              </a:rPr>
              <a:t>Customers who come back</a:t>
            </a:r>
            <a:endParaRPr lang="en-US" sz="1500" dirty="0"/>
          </a:p>
        </p:txBody>
      </p:sp>
      <p:sp>
        <p:nvSpPr>
          <p:cNvPr id="19" name="Benefit text 4"/>
          <p:cNvSpPr txBox="1"/>
          <p:nvPr/>
        </p:nvSpPr>
        <p:spPr>
          <a:xfrm>
            <a:off x="5394960" y="2752344"/>
            <a:ext cx="3200400" cy="548640"/>
          </a:xfrm>
          <a:prstGeom prst="rect">
            <a:avLst/>
          </a:prstGeom>
          <a:noFill/>
          <a:ln/>
        </p:spPr>
        <p:txBody>
          <a:bodyPr wrap="square" lIns="0" tIns="0" rIns="0" bIns="0" rtlCol="0" anchor="t"/>
          <a:lstStyle/>
          <a:p>
            <a:pPr indent="0" marL="0">
              <a:buNone/>
            </a:pPr>
            <a:r>
              <a:rPr lang="en-US" sz="1300" dirty="0">
                <a:solidFill>
                  <a:schemeClr val="tx1"/>
                </a:solidFill>
              </a:rPr>
              <a:t>The VIP club turns one-time buyers into a loyal community.</a:t>
            </a:r>
            <a:endParaRPr lang="en-US" sz="1300" dirty="0"/>
          </a:p>
        </p:txBody>
      </p:sp>
      <p:sp>
        <p:nvSpPr>
          <p:cNvPr id="20" name="Ready for peak seasons circle"/>
          <p:cNvSpPr/>
          <p:nvPr/>
        </p:nvSpPr>
        <p:spPr>
          <a:xfrm>
            <a:off x="457200" y="3566160"/>
            <a:ext cx="548640" cy="548640"/>
          </a:xfrm>
          <a:prstGeom prst="ellipse">
            <a:avLst/>
          </a:prstGeom>
          <a:solidFill>
            <a:schemeClr val="accent1"/>
          </a:solidFill>
          <a:ln/>
        </p:spPr>
      </p:sp>
      <p:pic>
        <p:nvPicPr>
          <p:cNvPr id="21" name="Ready for peak seasons icon" descr="Ready for peak seasons">    </p:cNvPr>
          <p:cNvPicPr>
            <a:picLocks noChangeAspect="1"/>
          </p:cNvPicPr>
          <p:nvPr/>
        </p:nvPicPr>
        <p:blipFill>
          <a:blip r:embed="rId5"/>
          <a:stretch>
            <a:fillRect/>
          </a:stretch>
        </p:blipFill>
        <p:spPr>
          <a:xfrm>
            <a:off x="605333" y="3714293"/>
            <a:ext cx="252374" cy="252374"/>
          </a:xfrm>
          <a:prstGeom prst="rect">
            <a:avLst/>
          </a:prstGeom>
        </p:spPr>
      </p:pic>
      <p:sp>
        <p:nvSpPr>
          <p:cNvPr id="22" name="Benefit title 5"/>
          <p:cNvSpPr txBox="1"/>
          <p:nvPr/>
        </p:nvSpPr>
        <p:spPr>
          <a:xfrm>
            <a:off x="1188720" y="35204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Ready for peak seasons</a:t>
            </a:r>
            <a:endParaRPr lang="en-US" sz="1500" dirty="0"/>
          </a:p>
        </p:txBody>
      </p:sp>
      <p:sp>
        <p:nvSpPr>
          <p:cNvPr id="23" name="Benefit text 5"/>
          <p:cNvSpPr txBox="1"/>
          <p:nvPr/>
        </p:nvSpPr>
        <p:spPr>
          <a:xfrm>
            <a:off x="1188720" y="3849624"/>
            <a:ext cx="3200400" cy="548640"/>
          </a:xfrm>
          <a:prstGeom prst="rect">
            <a:avLst/>
          </a:prstGeom>
          <a:noFill/>
          <a:ln/>
        </p:spPr>
        <p:txBody>
          <a:bodyPr wrap="square" lIns="0" tIns="0" rIns="0" bIns="0" rtlCol="0" anchor="t"/>
          <a:lstStyle/>
          <a:p>
            <a:pPr indent="0" marL="0">
              <a:buNone/>
            </a:pPr>
            <a:r>
              <a:rPr lang="en-US" sz="1300" dirty="0">
                <a:solidFill>
                  <a:schemeClr val="tx1"/>
                </a:solidFill>
              </a:rPr>
              <a:t>Campaigns are planned ahead for White Friday, Ramadan and Eid.</a:t>
            </a:r>
            <a:endParaRPr lang="en-US" sz="1300" dirty="0"/>
          </a:p>
        </p:txBody>
      </p:sp>
      <p:sp>
        <p:nvSpPr>
          <p:cNvPr id="24" name="More time for you circle"/>
          <p:cNvSpPr/>
          <p:nvPr/>
        </p:nvSpPr>
        <p:spPr>
          <a:xfrm>
            <a:off x="4663440" y="3566160"/>
            <a:ext cx="548640" cy="548640"/>
          </a:xfrm>
          <a:prstGeom prst="ellipse">
            <a:avLst/>
          </a:prstGeom>
          <a:solidFill>
            <a:schemeClr val="accent1"/>
          </a:solidFill>
          <a:ln/>
        </p:spPr>
      </p:sp>
      <p:pic>
        <p:nvPicPr>
          <p:cNvPr id="25" name="More time for you icon" descr="More time for you">    </p:cNvPr>
          <p:cNvPicPr>
            <a:picLocks noChangeAspect="1"/>
          </p:cNvPicPr>
          <p:nvPr/>
        </p:nvPicPr>
        <p:blipFill>
          <a:blip r:embed="rId6"/>
          <a:stretch>
            <a:fillRect/>
          </a:stretch>
        </p:blipFill>
        <p:spPr>
          <a:xfrm>
            <a:off x="4811573" y="3714293"/>
            <a:ext cx="252374" cy="252374"/>
          </a:xfrm>
          <a:prstGeom prst="rect">
            <a:avLst/>
          </a:prstGeom>
        </p:spPr>
      </p:pic>
      <p:sp>
        <p:nvSpPr>
          <p:cNvPr id="26" name="Benefit title 6"/>
          <p:cNvSpPr txBox="1"/>
          <p:nvPr/>
        </p:nvSpPr>
        <p:spPr>
          <a:xfrm>
            <a:off x="5394960" y="35204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More time for you</a:t>
            </a:r>
            <a:endParaRPr lang="en-US" sz="1500" dirty="0"/>
          </a:p>
        </p:txBody>
      </p:sp>
      <p:sp>
        <p:nvSpPr>
          <p:cNvPr id="27" name="Benefit text 6"/>
          <p:cNvSpPr txBox="1"/>
          <p:nvPr/>
        </p:nvSpPr>
        <p:spPr>
          <a:xfrm>
            <a:off x="5394960" y="3849624"/>
            <a:ext cx="3200400" cy="548640"/>
          </a:xfrm>
          <a:prstGeom prst="rect">
            <a:avLst/>
          </a:prstGeom>
          <a:noFill/>
          <a:ln/>
        </p:spPr>
        <p:txBody>
          <a:bodyPr wrap="square" lIns="0" tIns="0" rIns="0" bIns="0" rtlCol="0" anchor="t"/>
          <a:lstStyle/>
          <a:p>
            <a:pPr indent="0" marL="0">
              <a:buNone/>
            </a:pPr>
            <a:r>
              <a:rPr lang="en-US" sz="1300" dirty="0">
                <a:solidFill>
                  <a:schemeClr val="tx1"/>
                </a:solidFill>
              </a:rPr>
              <a:t>One team handles strategy, content and ads, so you can focus on the product.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08  EXPECTED RESULTS</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Our Targets after 6 Months</a:t>
            </a:r>
            <a:endParaRPr lang="en-US" sz="3200" dirty="0"/>
          </a:p>
        </p:txBody>
      </p:sp>
      <p:sp>
        <p:nvSpPr>
          <p:cNvPr id="4" name="KPI card 1"/>
          <p:cNvSpPr/>
          <p:nvPr/>
        </p:nvSpPr>
        <p:spPr>
          <a:xfrm>
            <a:off x="457200" y="1325880"/>
            <a:ext cx="1783080" cy="1280160"/>
          </a:xfrm>
          <a:prstGeom prst="roundRect">
            <a:avLst>
              <a:gd name="adj" fmla="val 8571"/>
            </a:avLst>
          </a:prstGeom>
          <a:solidFill>
            <a:schemeClr val="bg2"/>
          </a:solidFill>
          <a:ln/>
        </p:spPr>
      </p:sp>
      <p:sp>
        <p:nvSpPr>
          <p:cNvPr id="5" name="KPI value 1"/>
          <p:cNvSpPr txBox="1"/>
          <p:nvPr/>
        </p:nvSpPr>
        <p:spPr>
          <a:xfrm>
            <a:off x="594360" y="1463040"/>
            <a:ext cx="15544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+10K</a:t>
            </a:r>
            <a:endParaRPr lang="en-US" sz="3200" dirty="0"/>
          </a:p>
        </p:txBody>
      </p:sp>
      <p:sp>
        <p:nvSpPr>
          <p:cNvPr id="6" name="KPI label 1"/>
          <p:cNvSpPr txBox="1"/>
          <p:nvPr/>
        </p:nvSpPr>
        <p:spPr>
          <a:xfrm>
            <a:off x="594360" y="2075688"/>
            <a:ext cx="1554480" cy="457200"/>
          </a:xfrm>
          <a:prstGeom prst="rect">
            <a:avLst/>
          </a:prstGeom>
          <a:noFill/>
          <a:ln/>
        </p:spPr>
        <p:txBody>
          <a:bodyPr wrap="square" lIns="0" tIns="0" rIns="0" bIns="0" rtlCol="0" anchor="t"/>
          <a:lstStyle/>
          <a:p>
            <a:pPr indent="0" marL="0">
              <a:buNone/>
            </a:pPr>
            <a:r>
              <a:rPr lang="en-US" sz="1200" dirty="0">
                <a:solidFill>
                  <a:schemeClr val="tx2"/>
                </a:solidFill>
              </a:rPr>
              <a:t>new Instagram followers</a:t>
            </a:r>
            <a:endParaRPr lang="en-US" sz="1200" dirty="0"/>
          </a:p>
        </p:txBody>
      </p:sp>
      <p:sp>
        <p:nvSpPr>
          <p:cNvPr id="7" name="KPI card 2"/>
          <p:cNvSpPr/>
          <p:nvPr/>
        </p:nvSpPr>
        <p:spPr>
          <a:xfrm>
            <a:off x="2377440" y="1325880"/>
            <a:ext cx="1783080" cy="1280160"/>
          </a:xfrm>
          <a:prstGeom prst="roundRect">
            <a:avLst>
              <a:gd name="adj" fmla="val 8571"/>
            </a:avLst>
          </a:prstGeom>
          <a:solidFill>
            <a:schemeClr val="bg2"/>
          </a:solidFill>
          <a:ln/>
        </p:spPr>
      </p:sp>
      <p:sp>
        <p:nvSpPr>
          <p:cNvPr id="8" name="KPI value 2"/>
          <p:cNvSpPr txBox="1"/>
          <p:nvPr/>
        </p:nvSpPr>
        <p:spPr>
          <a:xfrm>
            <a:off x="2514600" y="1463040"/>
            <a:ext cx="15544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3x</a:t>
            </a:r>
            <a:endParaRPr lang="en-US" sz="3200" dirty="0"/>
          </a:p>
        </p:txBody>
      </p:sp>
      <p:sp>
        <p:nvSpPr>
          <p:cNvPr id="9" name="KPI label 2"/>
          <p:cNvSpPr txBox="1"/>
          <p:nvPr/>
        </p:nvSpPr>
        <p:spPr>
          <a:xfrm>
            <a:off x="2514600" y="2075688"/>
            <a:ext cx="1554480" cy="457200"/>
          </a:xfrm>
          <a:prstGeom prst="rect">
            <a:avLst/>
          </a:prstGeom>
          <a:noFill/>
          <a:ln/>
        </p:spPr>
        <p:txBody>
          <a:bodyPr wrap="square" lIns="0" tIns="0" rIns="0" bIns="0" rtlCol="0" anchor="t"/>
          <a:lstStyle/>
          <a:p>
            <a:pPr indent="0" marL="0">
              <a:buNone/>
            </a:pPr>
            <a:r>
              <a:rPr lang="en-US" sz="1200" dirty="0">
                <a:solidFill>
                  <a:schemeClr val="tx2"/>
                </a:solidFill>
              </a:rPr>
              <a:t>return on ad spend</a:t>
            </a:r>
            <a:endParaRPr lang="en-US" sz="1200" dirty="0"/>
          </a:p>
        </p:txBody>
      </p:sp>
      <p:sp>
        <p:nvSpPr>
          <p:cNvPr id="10" name="KPI card 3"/>
          <p:cNvSpPr/>
          <p:nvPr/>
        </p:nvSpPr>
        <p:spPr>
          <a:xfrm>
            <a:off x="457200" y="2743200"/>
            <a:ext cx="1783080" cy="1280160"/>
          </a:xfrm>
          <a:prstGeom prst="roundRect">
            <a:avLst>
              <a:gd name="adj" fmla="val 8571"/>
            </a:avLst>
          </a:prstGeom>
          <a:solidFill>
            <a:schemeClr val="bg2"/>
          </a:solidFill>
          <a:ln/>
        </p:spPr>
      </p:sp>
      <p:sp>
        <p:nvSpPr>
          <p:cNvPr id="11" name="KPI value 3"/>
          <p:cNvSpPr txBox="1"/>
          <p:nvPr/>
        </p:nvSpPr>
        <p:spPr>
          <a:xfrm>
            <a:off x="594360" y="2880360"/>
            <a:ext cx="15544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400+</a:t>
            </a:r>
            <a:endParaRPr lang="en-US" sz="3200" dirty="0"/>
          </a:p>
        </p:txBody>
      </p:sp>
      <p:sp>
        <p:nvSpPr>
          <p:cNvPr id="12" name="KPI label 3"/>
          <p:cNvSpPr txBox="1"/>
          <p:nvPr/>
        </p:nvSpPr>
        <p:spPr>
          <a:xfrm>
            <a:off x="594360" y="3493008"/>
            <a:ext cx="1554480" cy="457200"/>
          </a:xfrm>
          <a:prstGeom prst="rect">
            <a:avLst/>
          </a:prstGeom>
          <a:noFill/>
          <a:ln/>
        </p:spPr>
        <p:txBody>
          <a:bodyPr wrap="square" lIns="0" tIns="0" rIns="0" bIns="0" rtlCol="0" anchor="t"/>
          <a:lstStyle/>
          <a:p>
            <a:pPr indent="0" marL="0">
              <a:buNone/>
            </a:pPr>
            <a:r>
              <a:rPr lang="en-US" sz="1200" dirty="0">
                <a:solidFill>
                  <a:schemeClr val="tx2"/>
                </a:solidFill>
              </a:rPr>
              <a:t>online orders per month</a:t>
            </a:r>
            <a:endParaRPr lang="en-US" sz="1200" dirty="0"/>
          </a:p>
        </p:txBody>
      </p:sp>
      <p:sp>
        <p:nvSpPr>
          <p:cNvPr id="13" name="KPI card 4"/>
          <p:cNvSpPr/>
          <p:nvPr/>
        </p:nvSpPr>
        <p:spPr>
          <a:xfrm>
            <a:off x="2377440" y="2743200"/>
            <a:ext cx="1783080" cy="1280160"/>
          </a:xfrm>
          <a:prstGeom prst="roundRect">
            <a:avLst>
              <a:gd name="adj" fmla="val 8571"/>
            </a:avLst>
          </a:prstGeom>
          <a:solidFill>
            <a:schemeClr val="bg2"/>
          </a:solidFill>
          <a:ln/>
        </p:spPr>
      </p:sp>
      <p:sp>
        <p:nvSpPr>
          <p:cNvPr id="14" name="KPI value 4"/>
          <p:cNvSpPr txBox="1"/>
          <p:nvPr/>
        </p:nvSpPr>
        <p:spPr>
          <a:xfrm>
            <a:off x="2514600" y="2880360"/>
            <a:ext cx="15544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a:t>
            </a:r>
            <a:endParaRPr lang="en-US" sz="3200" dirty="0"/>
          </a:p>
        </p:txBody>
      </p:sp>
      <p:sp>
        <p:nvSpPr>
          <p:cNvPr id="15" name="KPI label 4"/>
          <p:cNvSpPr txBox="1"/>
          <p:nvPr/>
        </p:nvSpPr>
        <p:spPr>
          <a:xfrm>
            <a:off x="2514600" y="3493008"/>
            <a:ext cx="1554480" cy="457200"/>
          </a:xfrm>
          <a:prstGeom prst="rect">
            <a:avLst/>
          </a:prstGeom>
          <a:noFill/>
          <a:ln/>
        </p:spPr>
        <p:txBody>
          <a:bodyPr wrap="square" lIns="0" tIns="0" rIns="0" bIns="0" rtlCol="0" anchor="t"/>
          <a:lstStyle/>
          <a:p>
            <a:pPr indent="0" marL="0">
              <a:buNone/>
            </a:pPr>
            <a:r>
              <a:rPr lang="en-US" sz="1200" dirty="0">
                <a:solidFill>
                  <a:schemeClr val="tx2"/>
                </a:solidFill>
              </a:rPr>
              <a:t>more store visits</a:t>
            </a:r>
            <a:endParaRPr lang="en-US" sz="1200" dirty="0"/>
          </a:p>
        </p:txBody>
      </p:sp>
      <p:sp>
        <p:nvSpPr>
          <p:cNvPr id="16" name="Targets note"/>
          <p:cNvSpPr txBox="1"/>
          <p:nvPr/>
        </p:nvSpPr>
        <p:spPr>
          <a:xfrm>
            <a:off x="457200" y="4224528"/>
            <a:ext cx="3703320" cy="365760"/>
          </a:xfrm>
          <a:prstGeom prst="rect">
            <a:avLst/>
          </a:prstGeom>
          <a:noFill/>
          <a:ln/>
        </p:spPr>
        <p:txBody>
          <a:bodyPr wrap="square" lIns="0" tIns="0" rIns="0" bIns="0" rtlCol="0" anchor="ctr"/>
          <a:lstStyle/>
          <a:p>
            <a:pPr indent="0" marL="0">
              <a:buNone/>
            </a:pPr>
            <a:r>
              <a:rPr lang="en-US" sz="1200" i="1" dirty="0">
                <a:solidFill>
                  <a:schemeClr val="accent5"/>
                </a:solidFill>
              </a:rPr>
              <a:t>Targets, measured and reported every month.</a:t>
            </a:r>
            <a:endParaRPr lang="en-US" sz="1200" dirty="0"/>
          </a:p>
        </p:txBody>
      </p:sp>
      <p:graphicFrame>
        <p:nvGraphicFramePr>
          <p:cNvPr id="17" name="Projected orders chart" descr=""/>
          <p:cNvGraphicFramePr/>
          <p:nvPr/>
        </p:nvGraphicFramePr>
        <p:xfrm>
          <a:off x="4434840" y="1234440"/>
          <a:ext cx="4297680" cy="3429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09  FUTURE WORK</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Beyond the First 6 Months</a:t>
            </a:r>
            <a:endParaRPr lang="en-US" sz="3200" dirty="0"/>
          </a:p>
        </p:txBody>
      </p:sp>
      <p:sp>
        <p:nvSpPr>
          <p:cNvPr id="4" name="Horizon chevron 1"/>
          <p:cNvSpPr/>
          <p:nvPr/>
        </p:nvSpPr>
        <p:spPr>
          <a:xfrm>
            <a:off x="457200" y="1325880"/>
            <a:ext cx="2606040" cy="548640"/>
          </a:xfrm>
          <a:prstGeom prst="chevron">
            <a:avLst/>
          </a:prstGeom>
          <a:solidFill>
            <a:schemeClr val="tx2"/>
          </a:solidFill>
          <a:ln/>
        </p:spPr>
      </p:sp>
      <p:sp>
        <p:nvSpPr>
          <p:cNvPr id="5" name="Horizon label 1"/>
          <p:cNvSpPr txBox="1"/>
          <p:nvPr/>
        </p:nvSpPr>
        <p:spPr>
          <a:xfrm>
            <a:off x="731520" y="1325880"/>
            <a:ext cx="2057400" cy="548640"/>
          </a:xfrm>
          <a:prstGeom prst="rect">
            <a:avLst/>
          </a:prstGeom>
          <a:noFill/>
          <a:ln/>
        </p:spPr>
        <p:txBody>
          <a:bodyPr wrap="square" lIns="0" tIns="0" rIns="0" bIns="0" rtlCol="0" anchor="ctr"/>
          <a:lstStyle/>
          <a:p>
            <a:pPr algn="ctr" indent="0" marL="0">
              <a:buNone/>
            </a:pPr>
            <a:r>
              <a:rPr lang="en-US" sz="1500" b="1" dirty="0">
                <a:solidFill>
                  <a:schemeClr val="bg1"/>
                </a:solidFill>
              </a:rPr>
              <a:t>Months 7–9</a:t>
            </a:r>
            <a:endParaRPr lang="en-US" sz="1500" dirty="0"/>
          </a:p>
        </p:txBody>
      </p:sp>
      <p:sp>
        <p:nvSpPr>
          <p:cNvPr id="6" name="Idea card 1.1"/>
          <p:cNvSpPr/>
          <p:nvPr/>
        </p:nvSpPr>
        <p:spPr>
          <a:xfrm>
            <a:off x="457200" y="2103120"/>
            <a:ext cx="2606040" cy="713232"/>
          </a:xfrm>
          <a:prstGeom prst="roundRect">
            <a:avLst>
              <a:gd name="adj" fmla="val 12821"/>
            </a:avLst>
          </a:prstGeom>
          <a:solidFill>
            <a:schemeClr val="bg2"/>
          </a:solidFill>
          <a:ln/>
        </p:spPr>
      </p:sp>
      <p:sp>
        <p:nvSpPr>
          <p:cNvPr id="7" name="Sell on Noon and Amazon.eg circle"/>
          <p:cNvSpPr/>
          <p:nvPr/>
        </p:nvSpPr>
        <p:spPr>
          <a:xfrm>
            <a:off x="594360" y="2258568"/>
            <a:ext cx="402336" cy="402336"/>
          </a:xfrm>
          <a:prstGeom prst="ellipse">
            <a:avLst/>
          </a:prstGeom>
          <a:solidFill>
            <a:schemeClr val="accent1"/>
          </a:solidFill>
          <a:ln/>
        </p:spPr>
      </p:sp>
      <p:pic>
        <p:nvPicPr>
          <p:cNvPr id="8" name="Sell on Noon and Amazon.eg icon" descr="Sell on Noon and Amazon.eg">    </p:cNvPr>
          <p:cNvPicPr>
            <a:picLocks noChangeAspect="1"/>
          </p:cNvPicPr>
          <p:nvPr/>
        </p:nvPicPr>
        <p:blipFill>
          <a:blip r:embed="rId1"/>
          <a:stretch>
            <a:fillRect/>
          </a:stretch>
        </p:blipFill>
        <p:spPr>
          <a:xfrm>
            <a:off x="702991" y="2367199"/>
            <a:ext cx="185075" cy="185075"/>
          </a:xfrm>
          <a:prstGeom prst="rect">
            <a:avLst/>
          </a:prstGeom>
        </p:spPr>
      </p:pic>
      <p:sp>
        <p:nvSpPr>
          <p:cNvPr id="9" name="Idea text 1.1"/>
          <p:cNvSpPr txBox="1"/>
          <p:nvPr/>
        </p:nvSpPr>
        <p:spPr>
          <a:xfrm>
            <a:off x="1115568" y="2103120"/>
            <a:ext cx="1828800" cy="713232"/>
          </a:xfrm>
          <a:prstGeom prst="rect">
            <a:avLst/>
          </a:prstGeom>
          <a:noFill/>
          <a:ln/>
        </p:spPr>
        <p:txBody>
          <a:bodyPr wrap="square" lIns="0" tIns="0" rIns="0" bIns="0" rtlCol="0" anchor="ctr"/>
          <a:lstStyle/>
          <a:p>
            <a:pPr indent="0" marL="0">
              <a:buNone/>
            </a:pPr>
            <a:r>
              <a:rPr lang="en-US" sz="1200" dirty="0">
                <a:solidFill>
                  <a:schemeClr val="tx1"/>
                </a:solidFill>
              </a:rPr>
              <a:t>Sell on Noon and Amazon.eg</a:t>
            </a:r>
            <a:endParaRPr lang="en-US" sz="1200" dirty="0"/>
          </a:p>
        </p:txBody>
      </p:sp>
      <p:sp>
        <p:nvSpPr>
          <p:cNvPr id="10" name="Idea card 1.2"/>
          <p:cNvSpPr/>
          <p:nvPr/>
        </p:nvSpPr>
        <p:spPr>
          <a:xfrm>
            <a:off x="457200" y="2944368"/>
            <a:ext cx="2606040" cy="713232"/>
          </a:xfrm>
          <a:prstGeom prst="roundRect">
            <a:avLst>
              <a:gd name="adj" fmla="val 12821"/>
            </a:avLst>
          </a:prstGeom>
          <a:solidFill>
            <a:schemeClr val="bg2"/>
          </a:solidFill>
          <a:ln/>
        </p:spPr>
      </p:sp>
      <p:sp>
        <p:nvSpPr>
          <p:cNvPr id="11" name="Summer and back-to-school campaigns circle"/>
          <p:cNvSpPr/>
          <p:nvPr/>
        </p:nvSpPr>
        <p:spPr>
          <a:xfrm>
            <a:off x="594360" y="3099816"/>
            <a:ext cx="402336" cy="402336"/>
          </a:xfrm>
          <a:prstGeom prst="ellipse">
            <a:avLst/>
          </a:prstGeom>
          <a:solidFill>
            <a:schemeClr val="accent1"/>
          </a:solidFill>
          <a:ln/>
        </p:spPr>
      </p:sp>
      <p:pic>
        <p:nvPicPr>
          <p:cNvPr id="12" name="Summer and back-to-school campaigns icon" descr="Summer and back-to-school campaigns">    </p:cNvPr>
          <p:cNvPicPr>
            <a:picLocks noChangeAspect="1"/>
          </p:cNvPicPr>
          <p:nvPr/>
        </p:nvPicPr>
        <p:blipFill>
          <a:blip r:embed="rId2"/>
          <a:stretch>
            <a:fillRect/>
          </a:stretch>
        </p:blipFill>
        <p:spPr>
          <a:xfrm>
            <a:off x="702991" y="3208447"/>
            <a:ext cx="185075" cy="185075"/>
          </a:xfrm>
          <a:prstGeom prst="rect">
            <a:avLst/>
          </a:prstGeom>
        </p:spPr>
      </p:pic>
      <p:sp>
        <p:nvSpPr>
          <p:cNvPr id="13" name="Idea text 1.2"/>
          <p:cNvSpPr txBox="1"/>
          <p:nvPr/>
        </p:nvSpPr>
        <p:spPr>
          <a:xfrm>
            <a:off x="1115568" y="2944368"/>
            <a:ext cx="1828800" cy="713232"/>
          </a:xfrm>
          <a:prstGeom prst="rect">
            <a:avLst/>
          </a:prstGeom>
          <a:noFill/>
          <a:ln/>
        </p:spPr>
        <p:txBody>
          <a:bodyPr wrap="square" lIns="0" tIns="0" rIns="0" bIns="0" rtlCol="0" anchor="ctr"/>
          <a:lstStyle/>
          <a:p>
            <a:pPr indent="0" marL="0">
              <a:buNone/>
            </a:pPr>
            <a:r>
              <a:rPr lang="en-US" sz="1200" dirty="0">
                <a:solidFill>
                  <a:schemeClr val="tx1"/>
                </a:solidFill>
              </a:rPr>
              <a:t>Summer and back-to-school campaigns</a:t>
            </a:r>
            <a:endParaRPr lang="en-US" sz="1200" dirty="0"/>
          </a:p>
        </p:txBody>
      </p:sp>
      <p:sp>
        <p:nvSpPr>
          <p:cNvPr id="14" name="Idea card 1.3"/>
          <p:cNvSpPr/>
          <p:nvPr/>
        </p:nvSpPr>
        <p:spPr>
          <a:xfrm>
            <a:off x="457200" y="3785616"/>
            <a:ext cx="2606040" cy="713232"/>
          </a:xfrm>
          <a:prstGeom prst="roundRect">
            <a:avLst>
              <a:gd name="adj" fmla="val 12821"/>
            </a:avLst>
          </a:prstGeom>
          <a:solidFill>
            <a:schemeClr val="bg2"/>
          </a:solidFill>
          <a:ln/>
        </p:spPr>
      </p:sp>
      <p:sp>
        <p:nvSpPr>
          <p:cNvPr id="15" name="Brand ambassador program circle"/>
          <p:cNvSpPr/>
          <p:nvPr/>
        </p:nvSpPr>
        <p:spPr>
          <a:xfrm>
            <a:off x="594360" y="3941064"/>
            <a:ext cx="402336" cy="402336"/>
          </a:xfrm>
          <a:prstGeom prst="ellipse">
            <a:avLst/>
          </a:prstGeom>
          <a:solidFill>
            <a:schemeClr val="accent1"/>
          </a:solidFill>
          <a:ln/>
        </p:spPr>
      </p:sp>
      <p:pic>
        <p:nvPicPr>
          <p:cNvPr id="16" name="Brand ambassador program icon" descr="Brand ambassador program">    </p:cNvPr>
          <p:cNvPicPr>
            <a:picLocks noChangeAspect="1"/>
          </p:cNvPicPr>
          <p:nvPr/>
        </p:nvPicPr>
        <p:blipFill>
          <a:blip r:embed="rId3"/>
          <a:stretch>
            <a:fillRect/>
          </a:stretch>
        </p:blipFill>
        <p:spPr>
          <a:xfrm>
            <a:off x="702991" y="4049695"/>
            <a:ext cx="185075" cy="185075"/>
          </a:xfrm>
          <a:prstGeom prst="rect">
            <a:avLst/>
          </a:prstGeom>
        </p:spPr>
      </p:pic>
      <p:sp>
        <p:nvSpPr>
          <p:cNvPr id="17" name="Idea text 1.3"/>
          <p:cNvSpPr txBox="1"/>
          <p:nvPr/>
        </p:nvSpPr>
        <p:spPr>
          <a:xfrm>
            <a:off x="1115568" y="3785616"/>
            <a:ext cx="1828800" cy="713232"/>
          </a:xfrm>
          <a:prstGeom prst="rect">
            <a:avLst/>
          </a:prstGeom>
          <a:noFill/>
          <a:ln/>
        </p:spPr>
        <p:txBody>
          <a:bodyPr wrap="square" lIns="0" tIns="0" rIns="0" bIns="0" rtlCol="0" anchor="ctr"/>
          <a:lstStyle/>
          <a:p>
            <a:pPr indent="0" marL="0">
              <a:buNone/>
            </a:pPr>
            <a:r>
              <a:rPr lang="en-US" sz="1200" dirty="0">
                <a:solidFill>
                  <a:schemeClr val="tx1"/>
                </a:solidFill>
              </a:rPr>
              <a:t>Brand ambassador program</a:t>
            </a:r>
            <a:endParaRPr lang="en-US" sz="1200" dirty="0"/>
          </a:p>
        </p:txBody>
      </p:sp>
      <p:sp>
        <p:nvSpPr>
          <p:cNvPr id="18" name="Horizon chevron 2"/>
          <p:cNvSpPr/>
          <p:nvPr/>
        </p:nvSpPr>
        <p:spPr>
          <a:xfrm>
            <a:off x="3268980" y="1325880"/>
            <a:ext cx="2606040" cy="548640"/>
          </a:xfrm>
          <a:prstGeom prst="chevron">
            <a:avLst/>
          </a:prstGeom>
          <a:solidFill>
            <a:schemeClr val="tx2"/>
          </a:solidFill>
          <a:ln/>
        </p:spPr>
      </p:sp>
      <p:sp>
        <p:nvSpPr>
          <p:cNvPr id="19" name="Horizon label 2"/>
          <p:cNvSpPr txBox="1"/>
          <p:nvPr/>
        </p:nvSpPr>
        <p:spPr>
          <a:xfrm>
            <a:off x="3543300" y="1325880"/>
            <a:ext cx="2057400" cy="548640"/>
          </a:xfrm>
          <a:prstGeom prst="rect">
            <a:avLst/>
          </a:prstGeom>
          <a:noFill/>
          <a:ln/>
        </p:spPr>
        <p:txBody>
          <a:bodyPr wrap="square" lIns="0" tIns="0" rIns="0" bIns="0" rtlCol="0" anchor="ctr"/>
          <a:lstStyle/>
          <a:p>
            <a:pPr algn="ctr" indent="0" marL="0">
              <a:buNone/>
            </a:pPr>
            <a:r>
              <a:rPr lang="en-US" sz="1500" b="1" dirty="0">
                <a:solidFill>
                  <a:schemeClr val="bg1"/>
                </a:solidFill>
              </a:rPr>
              <a:t>Months 10–12</a:t>
            </a:r>
            <a:endParaRPr lang="en-US" sz="1500" dirty="0"/>
          </a:p>
        </p:txBody>
      </p:sp>
      <p:sp>
        <p:nvSpPr>
          <p:cNvPr id="20" name="Idea card 2.1"/>
          <p:cNvSpPr/>
          <p:nvPr/>
        </p:nvSpPr>
        <p:spPr>
          <a:xfrm>
            <a:off x="3268980" y="2103120"/>
            <a:ext cx="2606040" cy="713232"/>
          </a:xfrm>
          <a:prstGeom prst="roundRect">
            <a:avLst>
              <a:gd name="adj" fmla="val 12821"/>
            </a:avLst>
          </a:prstGeom>
          <a:solidFill>
            <a:schemeClr val="bg2"/>
          </a:solidFill>
          <a:ln/>
        </p:spPr>
      </p:sp>
      <p:sp>
        <p:nvSpPr>
          <p:cNvPr id="21" name="Pop-up stores in malls and bazaars circle"/>
          <p:cNvSpPr/>
          <p:nvPr/>
        </p:nvSpPr>
        <p:spPr>
          <a:xfrm>
            <a:off x="3406140" y="2258568"/>
            <a:ext cx="402336" cy="402336"/>
          </a:xfrm>
          <a:prstGeom prst="ellipse">
            <a:avLst/>
          </a:prstGeom>
          <a:solidFill>
            <a:schemeClr val="accent1"/>
          </a:solidFill>
          <a:ln/>
        </p:spPr>
      </p:sp>
      <p:pic>
        <p:nvPicPr>
          <p:cNvPr id="22" name="Pop-up stores in malls and bazaars icon" descr="Pop-up stores in malls and bazaars">    </p:cNvPr>
          <p:cNvPicPr>
            <a:picLocks noChangeAspect="1"/>
          </p:cNvPicPr>
          <p:nvPr/>
        </p:nvPicPr>
        <p:blipFill>
          <a:blip r:embed="rId4"/>
          <a:stretch>
            <a:fillRect/>
          </a:stretch>
        </p:blipFill>
        <p:spPr>
          <a:xfrm>
            <a:off x="3514771" y="2367199"/>
            <a:ext cx="185075" cy="185075"/>
          </a:xfrm>
          <a:prstGeom prst="rect">
            <a:avLst/>
          </a:prstGeom>
        </p:spPr>
      </p:pic>
      <p:sp>
        <p:nvSpPr>
          <p:cNvPr id="23" name="Idea text 2.1"/>
          <p:cNvSpPr txBox="1"/>
          <p:nvPr/>
        </p:nvSpPr>
        <p:spPr>
          <a:xfrm>
            <a:off x="3927348" y="2103120"/>
            <a:ext cx="1828800" cy="713232"/>
          </a:xfrm>
          <a:prstGeom prst="rect">
            <a:avLst/>
          </a:prstGeom>
          <a:noFill/>
          <a:ln/>
        </p:spPr>
        <p:txBody>
          <a:bodyPr wrap="square" lIns="0" tIns="0" rIns="0" bIns="0" rtlCol="0" anchor="ctr"/>
          <a:lstStyle/>
          <a:p>
            <a:pPr indent="0" marL="0">
              <a:buNone/>
            </a:pPr>
            <a:r>
              <a:rPr lang="en-US" sz="1200" dirty="0">
                <a:solidFill>
                  <a:schemeClr val="tx1"/>
                </a:solidFill>
              </a:rPr>
              <a:t>Pop-up stores in malls and bazaars</a:t>
            </a:r>
            <a:endParaRPr lang="en-US" sz="1200" dirty="0"/>
          </a:p>
        </p:txBody>
      </p:sp>
      <p:sp>
        <p:nvSpPr>
          <p:cNvPr id="24" name="Idea card 2.2"/>
          <p:cNvSpPr/>
          <p:nvPr/>
        </p:nvSpPr>
        <p:spPr>
          <a:xfrm>
            <a:off x="3268980" y="2944368"/>
            <a:ext cx="2606040" cy="713232"/>
          </a:xfrm>
          <a:prstGeom prst="roundRect">
            <a:avLst>
              <a:gd name="adj" fmla="val 12821"/>
            </a:avLst>
          </a:prstGeom>
          <a:solidFill>
            <a:schemeClr val="bg2"/>
          </a:solidFill>
          <a:ln/>
        </p:spPr>
      </p:sp>
      <p:sp>
        <p:nvSpPr>
          <p:cNvPr id="25" name="Full e-commerce website with reviews circle"/>
          <p:cNvSpPr/>
          <p:nvPr/>
        </p:nvSpPr>
        <p:spPr>
          <a:xfrm>
            <a:off x="3406140" y="3099816"/>
            <a:ext cx="402336" cy="402336"/>
          </a:xfrm>
          <a:prstGeom prst="ellipse">
            <a:avLst/>
          </a:prstGeom>
          <a:solidFill>
            <a:schemeClr val="accent1"/>
          </a:solidFill>
          <a:ln/>
        </p:spPr>
      </p:sp>
      <p:pic>
        <p:nvPicPr>
          <p:cNvPr id="26" name="Full e-commerce website with reviews icon" descr="Full e-commerce website with reviews">    </p:cNvPr>
          <p:cNvPicPr>
            <a:picLocks noChangeAspect="1"/>
          </p:cNvPicPr>
          <p:nvPr/>
        </p:nvPicPr>
        <p:blipFill>
          <a:blip r:embed="rId5"/>
          <a:stretch>
            <a:fillRect/>
          </a:stretch>
        </p:blipFill>
        <p:spPr>
          <a:xfrm>
            <a:off x="3514771" y="3208447"/>
            <a:ext cx="185075" cy="185075"/>
          </a:xfrm>
          <a:prstGeom prst="rect">
            <a:avLst/>
          </a:prstGeom>
        </p:spPr>
      </p:pic>
      <p:sp>
        <p:nvSpPr>
          <p:cNvPr id="27" name="Idea text 2.2"/>
          <p:cNvSpPr txBox="1"/>
          <p:nvPr/>
        </p:nvSpPr>
        <p:spPr>
          <a:xfrm>
            <a:off x="3927348" y="2944368"/>
            <a:ext cx="1828800" cy="713232"/>
          </a:xfrm>
          <a:prstGeom prst="rect">
            <a:avLst/>
          </a:prstGeom>
          <a:noFill/>
          <a:ln/>
        </p:spPr>
        <p:txBody>
          <a:bodyPr wrap="square" lIns="0" tIns="0" rIns="0" bIns="0" rtlCol="0" anchor="ctr"/>
          <a:lstStyle/>
          <a:p>
            <a:pPr indent="0" marL="0">
              <a:buNone/>
            </a:pPr>
            <a:r>
              <a:rPr lang="en-US" sz="1200" dirty="0">
                <a:solidFill>
                  <a:schemeClr val="tx1"/>
                </a:solidFill>
              </a:rPr>
              <a:t>Full e-commerce website with reviews</a:t>
            </a:r>
            <a:endParaRPr lang="en-US" sz="1200" dirty="0"/>
          </a:p>
        </p:txBody>
      </p:sp>
      <p:sp>
        <p:nvSpPr>
          <p:cNvPr id="28" name="Idea card 2.3"/>
          <p:cNvSpPr/>
          <p:nvPr/>
        </p:nvSpPr>
        <p:spPr>
          <a:xfrm>
            <a:off x="3268980" y="3785616"/>
            <a:ext cx="2606040" cy="713232"/>
          </a:xfrm>
          <a:prstGeom prst="roundRect">
            <a:avLst>
              <a:gd name="adj" fmla="val 12821"/>
            </a:avLst>
          </a:prstGeom>
          <a:solidFill>
            <a:schemeClr val="bg2"/>
          </a:solidFill>
          <a:ln/>
        </p:spPr>
      </p:sp>
      <p:sp>
        <p:nvSpPr>
          <p:cNvPr id="29" name="Email and SMS automation circle"/>
          <p:cNvSpPr/>
          <p:nvPr/>
        </p:nvSpPr>
        <p:spPr>
          <a:xfrm>
            <a:off x="3406140" y="3941064"/>
            <a:ext cx="402336" cy="402336"/>
          </a:xfrm>
          <a:prstGeom prst="ellipse">
            <a:avLst/>
          </a:prstGeom>
          <a:solidFill>
            <a:schemeClr val="accent1"/>
          </a:solidFill>
          <a:ln/>
        </p:spPr>
      </p:sp>
      <p:pic>
        <p:nvPicPr>
          <p:cNvPr id="30" name="Email and SMS automation icon" descr="Email and SMS automation">    </p:cNvPr>
          <p:cNvPicPr>
            <a:picLocks noChangeAspect="1"/>
          </p:cNvPicPr>
          <p:nvPr/>
        </p:nvPicPr>
        <p:blipFill>
          <a:blip r:embed="rId6"/>
          <a:stretch>
            <a:fillRect/>
          </a:stretch>
        </p:blipFill>
        <p:spPr>
          <a:xfrm>
            <a:off x="3514771" y="4049695"/>
            <a:ext cx="185075" cy="185075"/>
          </a:xfrm>
          <a:prstGeom prst="rect">
            <a:avLst/>
          </a:prstGeom>
        </p:spPr>
      </p:pic>
      <p:sp>
        <p:nvSpPr>
          <p:cNvPr id="31" name="Idea text 2.3"/>
          <p:cNvSpPr txBox="1"/>
          <p:nvPr/>
        </p:nvSpPr>
        <p:spPr>
          <a:xfrm>
            <a:off x="3927348" y="3785616"/>
            <a:ext cx="1828800" cy="713232"/>
          </a:xfrm>
          <a:prstGeom prst="rect">
            <a:avLst/>
          </a:prstGeom>
          <a:noFill/>
          <a:ln/>
        </p:spPr>
        <p:txBody>
          <a:bodyPr wrap="square" lIns="0" tIns="0" rIns="0" bIns="0" rtlCol="0" anchor="ctr"/>
          <a:lstStyle/>
          <a:p>
            <a:pPr indent="0" marL="0">
              <a:buNone/>
            </a:pPr>
            <a:r>
              <a:rPr lang="en-US" sz="1200" dirty="0">
                <a:solidFill>
                  <a:schemeClr val="tx1"/>
                </a:solidFill>
              </a:rPr>
              <a:t>Email and SMS automation</a:t>
            </a:r>
            <a:endParaRPr lang="en-US" sz="1200" dirty="0"/>
          </a:p>
        </p:txBody>
      </p:sp>
      <p:sp>
        <p:nvSpPr>
          <p:cNvPr id="32" name="Horizon chevron 3"/>
          <p:cNvSpPr/>
          <p:nvPr/>
        </p:nvSpPr>
        <p:spPr>
          <a:xfrm>
            <a:off x="6080760" y="1325880"/>
            <a:ext cx="2606040" cy="548640"/>
          </a:xfrm>
          <a:prstGeom prst="chevron">
            <a:avLst/>
          </a:prstGeom>
          <a:solidFill>
            <a:schemeClr val="accent1"/>
          </a:solidFill>
          <a:ln/>
        </p:spPr>
      </p:sp>
      <p:sp>
        <p:nvSpPr>
          <p:cNvPr id="33" name="Horizon label 3"/>
          <p:cNvSpPr txBox="1"/>
          <p:nvPr/>
        </p:nvSpPr>
        <p:spPr>
          <a:xfrm>
            <a:off x="6355080" y="1325880"/>
            <a:ext cx="2057400" cy="548640"/>
          </a:xfrm>
          <a:prstGeom prst="rect">
            <a:avLst/>
          </a:prstGeom>
          <a:noFill/>
          <a:ln/>
        </p:spPr>
        <p:txBody>
          <a:bodyPr wrap="square" lIns="0" tIns="0" rIns="0" bIns="0" rtlCol="0" anchor="ctr"/>
          <a:lstStyle/>
          <a:p>
            <a:pPr algn="ctr" indent="0" marL="0">
              <a:buNone/>
            </a:pPr>
            <a:r>
              <a:rPr lang="en-US" sz="1500" b="1" dirty="0">
                <a:solidFill>
                  <a:schemeClr val="bg1"/>
                </a:solidFill>
              </a:rPr>
              <a:t>Year 2</a:t>
            </a:r>
            <a:endParaRPr lang="en-US" sz="1500" dirty="0"/>
          </a:p>
        </p:txBody>
      </p:sp>
      <p:sp>
        <p:nvSpPr>
          <p:cNvPr id="34" name="Idea card 3.1"/>
          <p:cNvSpPr/>
          <p:nvPr/>
        </p:nvSpPr>
        <p:spPr>
          <a:xfrm>
            <a:off x="6080760" y="2103120"/>
            <a:ext cx="2606040" cy="713232"/>
          </a:xfrm>
          <a:prstGeom prst="roundRect">
            <a:avLst>
              <a:gd name="adj" fmla="val 12821"/>
            </a:avLst>
          </a:prstGeom>
          <a:solidFill>
            <a:schemeClr val="bg2"/>
          </a:solidFill>
          <a:ln/>
        </p:spPr>
      </p:sp>
      <p:sp>
        <p:nvSpPr>
          <p:cNvPr id="35" name="Ship to Gulf markets (KSA, UAE) circle"/>
          <p:cNvSpPr/>
          <p:nvPr/>
        </p:nvSpPr>
        <p:spPr>
          <a:xfrm>
            <a:off x="6217920" y="2258568"/>
            <a:ext cx="402336" cy="402336"/>
          </a:xfrm>
          <a:prstGeom prst="ellipse">
            <a:avLst/>
          </a:prstGeom>
          <a:solidFill>
            <a:schemeClr val="accent1"/>
          </a:solidFill>
          <a:ln/>
        </p:spPr>
      </p:sp>
      <p:pic>
        <p:nvPicPr>
          <p:cNvPr id="36" name="Ship to Gulf markets (KSA, UAE) icon" descr="Ship to Gulf markets (KSA, UAE)">    </p:cNvPr>
          <p:cNvPicPr>
            <a:picLocks noChangeAspect="1"/>
          </p:cNvPicPr>
          <p:nvPr/>
        </p:nvPicPr>
        <p:blipFill>
          <a:blip r:embed="rId7"/>
          <a:stretch>
            <a:fillRect/>
          </a:stretch>
        </p:blipFill>
        <p:spPr>
          <a:xfrm>
            <a:off x="6326551" y="2367199"/>
            <a:ext cx="185075" cy="185075"/>
          </a:xfrm>
          <a:prstGeom prst="rect">
            <a:avLst/>
          </a:prstGeom>
        </p:spPr>
      </p:pic>
      <p:sp>
        <p:nvSpPr>
          <p:cNvPr id="37" name="Idea text 3.1"/>
          <p:cNvSpPr txBox="1"/>
          <p:nvPr/>
        </p:nvSpPr>
        <p:spPr>
          <a:xfrm>
            <a:off x="6739128" y="2103120"/>
            <a:ext cx="1828800" cy="713232"/>
          </a:xfrm>
          <a:prstGeom prst="rect">
            <a:avLst/>
          </a:prstGeom>
          <a:noFill/>
          <a:ln/>
        </p:spPr>
        <p:txBody>
          <a:bodyPr wrap="square" lIns="0" tIns="0" rIns="0" bIns="0" rtlCol="0" anchor="ctr"/>
          <a:lstStyle/>
          <a:p>
            <a:pPr indent="0" marL="0">
              <a:buNone/>
            </a:pPr>
            <a:r>
              <a:rPr lang="en-US" sz="1200" dirty="0">
                <a:solidFill>
                  <a:schemeClr val="tx1"/>
                </a:solidFill>
              </a:rPr>
              <a:t>Ship to Gulf markets (KSA, UAE)</a:t>
            </a:r>
            <a:endParaRPr lang="en-US" sz="1200" dirty="0"/>
          </a:p>
        </p:txBody>
      </p:sp>
      <p:sp>
        <p:nvSpPr>
          <p:cNvPr id="38" name="Idea card 3.2"/>
          <p:cNvSpPr/>
          <p:nvPr/>
        </p:nvSpPr>
        <p:spPr>
          <a:xfrm>
            <a:off x="6080760" y="2944368"/>
            <a:ext cx="2606040" cy="713232"/>
          </a:xfrm>
          <a:prstGeom prst="roundRect">
            <a:avLst>
              <a:gd name="adj" fmla="val 12821"/>
            </a:avLst>
          </a:prstGeom>
          <a:solidFill>
            <a:schemeClr val="bg2"/>
          </a:solidFill>
          <a:ln/>
        </p:spPr>
      </p:sp>
      <p:sp>
        <p:nvSpPr>
          <p:cNvPr id="39" name="Collabs with Egyptian designers circle"/>
          <p:cNvSpPr/>
          <p:nvPr/>
        </p:nvSpPr>
        <p:spPr>
          <a:xfrm>
            <a:off x="6217920" y="3099816"/>
            <a:ext cx="402336" cy="402336"/>
          </a:xfrm>
          <a:prstGeom prst="ellipse">
            <a:avLst/>
          </a:prstGeom>
          <a:solidFill>
            <a:schemeClr val="accent1"/>
          </a:solidFill>
          <a:ln/>
        </p:spPr>
      </p:sp>
      <p:pic>
        <p:nvPicPr>
          <p:cNvPr id="40" name="Collabs with Egyptian designers icon" descr="Collabs with Egyptian designers">    </p:cNvPr>
          <p:cNvPicPr>
            <a:picLocks noChangeAspect="1"/>
          </p:cNvPicPr>
          <p:nvPr/>
        </p:nvPicPr>
        <p:blipFill>
          <a:blip r:embed="rId8"/>
          <a:stretch>
            <a:fillRect/>
          </a:stretch>
        </p:blipFill>
        <p:spPr>
          <a:xfrm>
            <a:off x="6326551" y="3208447"/>
            <a:ext cx="185075" cy="185075"/>
          </a:xfrm>
          <a:prstGeom prst="rect">
            <a:avLst/>
          </a:prstGeom>
        </p:spPr>
      </p:pic>
      <p:sp>
        <p:nvSpPr>
          <p:cNvPr id="41" name="Idea text 3.2"/>
          <p:cNvSpPr txBox="1"/>
          <p:nvPr/>
        </p:nvSpPr>
        <p:spPr>
          <a:xfrm>
            <a:off x="6739128" y="2944368"/>
            <a:ext cx="1828800" cy="713232"/>
          </a:xfrm>
          <a:prstGeom prst="rect">
            <a:avLst/>
          </a:prstGeom>
          <a:noFill/>
          <a:ln/>
        </p:spPr>
        <p:txBody>
          <a:bodyPr wrap="square" lIns="0" tIns="0" rIns="0" bIns="0" rtlCol="0" anchor="ctr"/>
          <a:lstStyle/>
          <a:p>
            <a:pPr indent="0" marL="0">
              <a:buNone/>
            </a:pPr>
            <a:r>
              <a:rPr lang="en-US" sz="1200" dirty="0">
                <a:solidFill>
                  <a:schemeClr val="tx1"/>
                </a:solidFill>
              </a:rPr>
              <a:t>Collabs with Egyptian designers</a:t>
            </a:r>
            <a:endParaRPr lang="en-US" sz="1200" dirty="0"/>
          </a:p>
        </p:txBody>
      </p:sp>
      <p:sp>
        <p:nvSpPr>
          <p:cNvPr id="42" name="Idea card 3.3"/>
          <p:cNvSpPr/>
          <p:nvPr/>
        </p:nvSpPr>
        <p:spPr>
          <a:xfrm>
            <a:off x="6080760" y="3785616"/>
            <a:ext cx="2606040" cy="713232"/>
          </a:xfrm>
          <a:prstGeom prst="roundRect">
            <a:avLst>
              <a:gd name="adj" fmla="val 12821"/>
            </a:avLst>
          </a:prstGeom>
          <a:solidFill>
            <a:schemeClr val="bg2"/>
          </a:solidFill>
          <a:ln/>
        </p:spPr>
      </p:sp>
      <p:sp>
        <p:nvSpPr>
          <p:cNvPr id="43" name="Mobile app, if demand supports it circle"/>
          <p:cNvSpPr/>
          <p:nvPr/>
        </p:nvSpPr>
        <p:spPr>
          <a:xfrm>
            <a:off x="6217920" y="3941064"/>
            <a:ext cx="402336" cy="402336"/>
          </a:xfrm>
          <a:prstGeom prst="ellipse">
            <a:avLst/>
          </a:prstGeom>
          <a:solidFill>
            <a:schemeClr val="accent1"/>
          </a:solidFill>
          <a:ln/>
        </p:spPr>
      </p:sp>
      <p:pic>
        <p:nvPicPr>
          <p:cNvPr id="44" name="Mobile app, if demand supports it icon" descr="Mobile app, if demand supports it">    </p:cNvPr>
          <p:cNvPicPr>
            <a:picLocks noChangeAspect="1"/>
          </p:cNvPicPr>
          <p:nvPr/>
        </p:nvPicPr>
        <p:blipFill>
          <a:blip r:embed="rId9"/>
          <a:stretch>
            <a:fillRect/>
          </a:stretch>
        </p:blipFill>
        <p:spPr>
          <a:xfrm>
            <a:off x="6326551" y="4049695"/>
            <a:ext cx="185075" cy="185075"/>
          </a:xfrm>
          <a:prstGeom prst="rect">
            <a:avLst/>
          </a:prstGeom>
        </p:spPr>
      </p:pic>
      <p:sp>
        <p:nvSpPr>
          <p:cNvPr id="45" name="Idea text 3.3"/>
          <p:cNvSpPr txBox="1"/>
          <p:nvPr/>
        </p:nvSpPr>
        <p:spPr>
          <a:xfrm>
            <a:off x="6739128" y="3785616"/>
            <a:ext cx="1828800" cy="713232"/>
          </a:xfrm>
          <a:prstGeom prst="rect">
            <a:avLst/>
          </a:prstGeom>
          <a:noFill/>
          <a:ln/>
        </p:spPr>
        <p:txBody>
          <a:bodyPr wrap="square" lIns="0" tIns="0" rIns="0" bIns="0" rtlCol="0" anchor="ctr"/>
          <a:lstStyle/>
          <a:p>
            <a:pPr indent="0" marL="0">
              <a:buNone/>
            </a:pPr>
            <a:r>
              <a:rPr lang="en-US" sz="1200" dirty="0">
                <a:solidFill>
                  <a:schemeClr val="tx1"/>
                </a:solidFill>
              </a:rPr>
              <a:t>Mobile app, if demand supports it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300" b="1" spc="300" kern="0" dirty="0">
                <a:solidFill>
                  <a:schemeClr val="accent2"/>
                </a:solidFill>
              </a:rPr>
              <a:t>NEXT STEPS</a:t>
            </a:r>
            <a:endParaRPr lang="en-US" sz="13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Let's Grow Your Brand Together</a:t>
            </a:r>
            <a:endParaRPr lang="en-US" sz="4400" dirty="0"/>
          </a:p>
        </p:txBody>
      </p:sp>
      <p:sp>
        <p:nvSpPr>
          <p:cNvPr id="4" name="Step circle 1"/>
          <p:cNvSpPr/>
          <p:nvPr/>
        </p:nvSpPr>
        <p:spPr>
          <a:xfrm>
            <a:off x="548640" y="2514600"/>
            <a:ext cx="502920" cy="502920"/>
          </a:xfrm>
          <a:prstGeom prst="ellipse">
            <a:avLst/>
          </a:prstGeom>
          <a:solidFill>
            <a:schemeClr val="accent1"/>
          </a:solidFill>
          <a:ln/>
        </p:spPr>
      </p:sp>
      <p:sp>
        <p:nvSpPr>
          <p:cNvPr id="5" name="Step number 1"/>
          <p:cNvSpPr txBox="1"/>
          <p:nvPr/>
        </p:nvSpPr>
        <p:spPr>
          <a:xfrm>
            <a:off x="548640" y="2514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Step text 1"/>
          <p:cNvSpPr txBox="1"/>
          <p:nvPr/>
        </p:nvSpPr>
        <p:spPr>
          <a:xfrm>
            <a:off x="1188720" y="2468880"/>
            <a:ext cx="1874520" cy="594360"/>
          </a:xfrm>
          <a:prstGeom prst="rect">
            <a:avLst/>
          </a:prstGeom>
          <a:noFill/>
          <a:ln/>
        </p:spPr>
        <p:txBody>
          <a:bodyPr wrap="square" lIns="0" tIns="0" rIns="0" bIns="0" rtlCol="0" anchor="ctr"/>
          <a:lstStyle/>
          <a:p>
            <a:pPr indent="0" marL="0">
              <a:buNone/>
            </a:pPr>
            <a:r>
              <a:rPr lang="en-US" sz="1400" dirty="0">
                <a:solidFill>
                  <a:schemeClr val="bg1"/>
                </a:solidFill>
              </a:rPr>
              <a:t>Approve the proposal</a:t>
            </a:r>
            <a:endParaRPr lang="en-US" sz="1400" dirty="0"/>
          </a:p>
        </p:txBody>
      </p:sp>
      <p:sp>
        <p:nvSpPr>
          <p:cNvPr id="7" name="Step circle 2"/>
          <p:cNvSpPr/>
          <p:nvPr/>
        </p:nvSpPr>
        <p:spPr>
          <a:xfrm>
            <a:off x="3246120" y="2514600"/>
            <a:ext cx="502920" cy="502920"/>
          </a:xfrm>
          <a:prstGeom prst="ellipse">
            <a:avLst/>
          </a:prstGeom>
          <a:solidFill>
            <a:schemeClr val="accent1"/>
          </a:solidFill>
          <a:ln/>
        </p:spPr>
      </p:sp>
      <p:sp>
        <p:nvSpPr>
          <p:cNvPr id="8" name="Step number 2"/>
          <p:cNvSpPr txBox="1"/>
          <p:nvPr/>
        </p:nvSpPr>
        <p:spPr>
          <a:xfrm>
            <a:off x="3246120" y="2514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9" name="Step text 2"/>
          <p:cNvSpPr txBox="1"/>
          <p:nvPr/>
        </p:nvSpPr>
        <p:spPr>
          <a:xfrm>
            <a:off x="3886200" y="2468880"/>
            <a:ext cx="1874520" cy="594360"/>
          </a:xfrm>
          <a:prstGeom prst="rect">
            <a:avLst/>
          </a:prstGeom>
          <a:noFill/>
          <a:ln/>
        </p:spPr>
        <p:txBody>
          <a:bodyPr wrap="square" lIns="0" tIns="0" rIns="0" bIns="0" rtlCol="0" anchor="ctr"/>
          <a:lstStyle/>
          <a:p>
            <a:pPr indent="0" marL="0">
              <a:buNone/>
            </a:pPr>
            <a:r>
              <a:rPr lang="en-US" sz="1400" dirty="0">
                <a:solidFill>
                  <a:schemeClr val="bg1"/>
                </a:solidFill>
              </a:rPr>
              <a:t>Kick-off meeting and brand audit (week 1)</a:t>
            </a:r>
            <a:endParaRPr lang="en-US" sz="1400" dirty="0"/>
          </a:p>
        </p:txBody>
      </p:sp>
      <p:sp>
        <p:nvSpPr>
          <p:cNvPr id="10" name="Step circle 3"/>
          <p:cNvSpPr/>
          <p:nvPr/>
        </p:nvSpPr>
        <p:spPr>
          <a:xfrm>
            <a:off x="5943600" y="2514600"/>
            <a:ext cx="502920" cy="502920"/>
          </a:xfrm>
          <a:prstGeom prst="ellipse">
            <a:avLst/>
          </a:prstGeom>
          <a:solidFill>
            <a:schemeClr val="accent1"/>
          </a:solidFill>
          <a:ln/>
        </p:spPr>
      </p:sp>
      <p:sp>
        <p:nvSpPr>
          <p:cNvPr id="11" name="Step number 3"/>
          <p:cNvSpPr txBox="1"/>
          <p:nvPr/>
        </p:nvSpPr>
        <p:spPr>
          <a:xfrm>
            <a:off x="5943600" y="2514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2" name="Step text 3"/>
          <p:cNvSpPr txBox="1"/>
          <p:nvPr/>
        </p:nvSpPr>
        <p:spPr>
          <a:xfrm>
            <a:off x="6583680" y="2468880"/>
            <a:ext cx="1874520" cy="594360"/>
          </a:xfrm>
          <a:prstGeom prst="rect">
            <a:avLst/>
          </a:prstGeom>
          <a:noFill/>
          <a:ln/>
        </p:spPr>
        <p:txBody>
          <a:bodyPr wrap="square" lIns="0" tIns="0" rIns="0" bIns="0" rtlCol="0" anchor="ctr"/>
          <a:lstStyle/>
          <a:p>
            <a:pPr indent="0" marL="0">
              <a:buNone/>
            </a:pPr>
            <a:r>
              <a:rPr lang="en-US" sz="1400" dirty="0">
                <a:solidFill>
                  <a:schemeClr val="bg1"/>
                </a:solidFill>
              </a:rPr>
              <a:t>First content goes live (week 2)</a:t>
            </a:r>
            <a:endParaRPr lang="en-US" sz="1400" dirty="0"/>
          </a:p>
        </p:txBody>
      </p:sp>
      <p:sp>
        <p:nvSpPr>
          <p:cNvPr id="13" name="Contact detail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300" dirty="0">
                <a:solidFill>
                  <a:schemeClr val="accent2"/>
                </a:solidFill>
              </a:rPr>
              <a:t>[Agency Name]   |   [Phone]   |   [Email]   |   [Instagram]</a:t>
            </a:r>
            <a:endParaRPr lang="en-US" sz="1300" dirty="0"/>
          </a:p>
        </p:txBody>
      </p:sp>
      <p:sp>
        <p:nvSpPr>
          <p:cNvPr id="15" name="Text 0"/>
          <p:cNvSpPr/>
          <p:nvPr>
            <p:ph idx="102" type="body" hasCustomPrompt="1"/>
          </p:nvPr>
        </p:nvSpPr>
        <p:spPr>
          <a:xfrm>
            <a:off x="548640" y="3063240"/>
            <a:ext cx="7315200" cy="822960"/>
          </a:xfrm>
          <a:prstGeom prst="rect">
            <a:avLst/>
          </a:prstGeom>
          <a:noFill/>
          <a:ln/>
        </p:spPr>
        <p:txBody>
          <a:bodyPr wrap="square" lIns="0" tIns="0" rIns="0" bIns="0" rtlCol="0" anchor="t"/>
          <a:lstStyle/>
          <a:p>
            <a:pPr indent="0" marL="0">
              <a:buNone/>
            </a:pPr>
            <a:endParaRPr lang="en-US" sz="1600" dirty="0"/>
          </a:p>
        </p:txBody>
      </p:sp>
    </p:spTree>
  </p:cSld>
  <p:clrMapOvr>
    <a:masterClrMapping/>
  </p:clrMapOvr>
</p:sld>
</file>

<file path=ppt/theme/theme1.xml><?xml version="1.0" encoding="utf-8"?>
<a:theme xmlns:a="http://schemas.openxmlformats.org/drawingml/2006/main" name="Atelier">
  <a:themeElements>
    <a:clrScheme name="Atelier">
      <a:dk1>
        <a:srgbClr val="1E1A1D"/>
      </a:dk1>
      <a:lt1>
        <a:srgbClr val="FFFFFF"/>
      </a:lt1>
      <a:dk2>
        <a:srgbClr val="2B1E2F"/>
      </a:dk2>
      <a:lt2>
        <a:srgbClr val="F7EEF0"/>
      </a:lt2>
      <a:accent1>
        <a:srgbClr val="C8475B"/>
      </a:accent1>
      <a:accent2>
        <a:srgbClr val="E8B4B8"/>
      </a:accent2>
      <a:accent3>
        <a:srgbClr val="6B4E71"/>
      </a:accent3>
      <a:accent4>
        <a:srgbClr val="C99A5B"/>
      </a:accent4>
      <a:accent5>
        <a:srgbClr val="8A8088"/>
      </a:accent5>
      <a:accent6>
        <a:srgbClr val="3D8361"/>
      </a:accent6>
      <a:hlink>
        <a:srgbClr val="C8475B"/>
      </a:hlink>
      <a:folHlink>
        <a:srgbClr val="6B4E71"/>
      </a:folHlink>
    </a:clrScheme>
    <a:fontScheme name="Ateli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Proposal - Fashion Brand</dc:title>
  <dc:subject>PptxGenJS Presentation</dc:subject>
  <dc:creator>[Agency Name]</dc:creator>
  <cp:lastModifiedBy>[Agency Name]</cp:lastModifiedBy>
  <cp:revision>1</cp:revision>
  <dcterms:created xsi:type="dcterms:W3CDTF">2026-10-20T08:08:01Z</dcterms:created>
  <dcterms:modified xsi:type="dcterms:W3CDTF">2026-10-20T08:08:01Z</dcterms:modified>
</cp:coreProperties>
</file>